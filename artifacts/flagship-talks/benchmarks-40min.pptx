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caa6b18d3f140ef" /><Relationship Type="http://schemas.openxmlformats.org/officeDocument/2006/relationships/extended-properties" Target="/docProps/app.xml" Id="R260b49117afd49f8" /><Relationship Type="http://schemas.openxmlformats.org/officeDocument/2006/relationships/officeDocument" Target="/ppt/presentation.xml" Id="R43a72d954ff94d18"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7ab96fde468b4df4"/>
  </p:sldMasterIdLst>
  <p:notesMasterIdLst>
    <p:notesMasterId xmlns:r="http://schemas.openxmlformats.org/officeDocument/2006/relationships" r:id="R2eaeb61bd2e747e2"/>
  </p:notesMasterIdLst>
  <p:sldIdLst>
    <p:sldId xmlns:r="http://schemas.openxmlformats.org/officeDocument/2006/relationships" id="256" r:id="R20ab790efc924c53"/>
    <p:sldId xmlns:r="http://schemas.openxmlformats.org/officeDocument/2006/relationships" id="257" r:id="Rcd9d493b39f04ccc"/>
    <p:sldId xmlns:r="http://schemas.openxmlformats.org/officeDocument/2006/relationships" id="258" r:id="R3d2d2c60c5a742b3"/>
    <p:sldId xmlns:r="http://schemas.openxmlformats.org/officeDocument/2006/relationships" id="259" r:id="R484c0064ef194531"/>
    <p:sldId xmlns:r="http://schemas.openxmlformats.org/officeDocument/2006/relationships" id="260" r:id="R6227c7dd21d44764"/>
    <p:sldId xmlns:r="http://schemas.openxmlformats.org/officeDocument/2006/relationships" id="261" r:id="Rafe555c8906d4e31"/>
    <p:sldId xmlns:r="http://schemas.openxmlformats.org/officeDocument/2006/relationships" id="262" r:id="R5ae331df770443ce"/>
    <p:sldId xmlns:r="http://schemas.openxmlformats.org/officeDocument/2006/relationships" id="263" r:id="Ra4ee43d9e8364564"/>
    <p:sldId xmlns:r="http://schemas.openxmlformats.org/officeDocument/2006/relationships" id="264" r:id="Rb73c8a77007f4088"/>
    <p:sldId xmlns:r="http://schemas.openxmlformats.org/officeDocument/2006/relationships" id="265" r:id="Ree53b9cdf9614b5d"/>
    <p:sldId xmlns:r="http://schemas.openxmlformats.org/officeDocument/2006/relationships" id="266" r:id="Rb3545783899c4a55"/>
    <p:sldId xmlns:r="http://schemas.openxmlformats.org/officeDocument/2006/relationships" id="267" r:id="R0f477334b7c74d88"/>
    <p:sldId xmlns:r="http://schemas.openxmlformats.org/officeDocument/2006/relationships" id="268" r:id="Rbc76eedfc2d541a7"/>
    <p:sldId xmlns:r="http://schemas.openxmlformats.org/officeDocument/2006/relationships" id="269" r:id="Rffc33d715c7f4bb7"/>
    <p:sldId xmlns:r="http://schemas.openxmlformats.org/officeDocument/2006/relationships" id="270" r:id="Rffb05f9140154b57"/>
    <p:sldId xmlns:r="http://schemas.openxmlformats.org/officeDocument/2006/relationships" id="271" r:id="Rcc35817f8f0f40be"/>
    <p:sldId xmlns:r="http://schemas.openxmlformats.org/officeDocument/2006/relationships" id="272" r:id="R25df06874ed34f06"/>
    <p:sldId xmlns:r="http://schemas.openxmlformats.org/officeDocument/2006/relationships" id="273" r:id="R2dabe35c68e4456b"/>
  </p:sldIdLst>
  <p:sldSz cx="12192000" cy="6858000"/>
  <p:notesSz cx="6858000" cy="9144000"/>
  <p:embeddedFontLst>
    <p:embeddedFont>
      <p:font typeface="OpenAI Sans"/>
      <p:regular xmlns:r="http://schemas.openxmlformats.org/officeDocument/2006/relationships" r:id="R06580f5ad27d4cb2"/>
      <p:bold xmlns:r="http://schemas.openxmlformats.org/officeDocument/2006/relationships" r:id="R5b21c4d06ffe4108"/>
      <p:italic xmlns:r="http://schemas.openxmlformats.org/officeDocument/2006/relationships" r:id="R7dd18f75f1f0430b"/>
      <p:boldItalic xmlns:r="http://schemas.openxmlformats.org/officeDocument/2006/relationships" r:id="Rf5e6310ab65846d9"/>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ba33638ea8b24c63" /><Relationship Type="http://schemas.openxmlformats.org/officeDocument/2006/relationships/slideMaster" Target="/ppt/slideMasters/slideMaster1.xml" Id="R7ab96fde468b4df4" /><Relationship Type="http://schemas.openxmlformats.org/officeDocument/2006/relationships/notesMaster" Target="/ppt/notesMasters/notesMaster1.xml" Id="R2eaeb61bd2e747e2" /><Relationship Type="http://schemas.openxmlformats.org/officeDocument/2006/relationships/presProps" Target="/ppt/presProps.xml" Id="R22d6769b0dd64c85" /><Relationship Type="http://schemas.openxmlformats.org/officeDocument/2006/relationships/viewProps" Target="/ppt/viewProps.xml" Id="R715b8c5129af4184" /><Relationship Type="http://schemas.openxmlformats.org/officeDocument/2006/relationships/tableStyles" Target="/ppt/tableStyles.xml" Id="R82b8a870fed2404c" /><Relationship Type="http://schemas.openxmlformats.org/officeDocument/2006/relationships/font" Target="/ppt/fonts/font.dat" Id="R06580f5ad27d4cb2" /><Relationship Type="http://schemas.openxmlformats.org/officeDocument/2006/relationships/font" Target="/ppt/fonts/font2.dat" Id="R5b21c4d06ffe4108" /><Relationship Type="http://schemas.openxmlformats.org/officeDocument/2006/relationships/font" Target="/ppt/fonts/font3.dat" Id="R7dd18f75f1f0430b" /><Relationship Type="http://schemas.openxmlformats.org/officeDocument/2006/relationships/font" Target="/ppt/fonts/font4.dat" Id="Rf5e6310ab65846d9" /><Relationship Type="http://schemas.openxmlformats.org/officeDocument/2006/relationships/slide" Target="/ppt/slides/slide1.xml" Id="R20ab790efc924c53" /><Relationship Type="http://schemas.openxmlformats.org/officeDocument/2006/relationships/slide" Target="/ppt/slides/slide2.xml" Id="Rcd9d493b39f04ccc" /><Relationship Type="http://schemas.openxmlformats.org/officeDocument/2006/relationships/slide" Target="/ppt/slides/slide3.xml" Id="R3d2d2c60c5a742b3" /><Relationship Type="http://schemas.openxmlformats.org/officeDocument/2006/relationships/slide" Target="/ppt/slides/slide4.xml" Id="R484c0064ef194531" /><Relationship Type="http://schemas.openxmlformats.org/officeDocument/2006/relationships/slide" Target="/ppt/slides/slide5.xml" Id="R6227c7dd21d44764" /><Relationship Type="http://schemas.openxmlformats.org/officeDocument/2006/relationships/slide" Target="/ppt/slides/slide6.xml" Id="Rafe555c8906d4e31" /><Relationship Type="http://schemas.openxmlformats.org/officeDocument/2006/relationships/slide" Target="/ppt/slides/slide7.xml" Id="R5ae331df770443ce" /><Relationship Type="http://schemas.openxmlformats.org/officeDocument/2006/relationships/slide" Target="/ppt/slides/slide8.xml" Id="Ra4ee43d9e8364564" /><Relationship Type="http://schemas.openxmlformats.org/officeDocument/2006/relationships/slide" Target="/ppt/slides/slide9.xml" Id="Rb73c8a77007f4088" /><Relationship Type="http://schemas.openxmlformats.org/officeDocument/2006/relationships/slide" Target="/ppt/slides/slide10.xml" Id="Ree53b9cdf9614b5d" /><Relationship Type="http://schemas.openxmlformats.org/officeDocument/2006/relationships/slide" Target="/ppt/slides/slide11.xml" Id="Rb3545783899c4a55" /><Relationship Type="http://schemas.openxmlformats.org/officeDocument/2006/relationships/slide" Target="/ppt/slides/slide12.xml" Id="R0f477334b7c74d88" /><Relationship Type="http://schemas.openxmlformats.org/officeDocument/2006/relationships/slide" Target="/ppt/slides/slide13.xml" Id="Rbc76eedfc2d541a7" /><Relationship Type="http://schemas.openxmlformats.org/officeDocument/2006/relationships/slide" Target="/ppt/slides/slide14.xml" Id="Rffc33d715c7f4bb7" /><Relationship Type="http://schemas.openxmlformats.org/officeDocument/2006/relationships/slide" Target="/ppt/slides/slide15.xml" Id="Rffb05f9140154b57" /><Relationship Type="http://schemas.openxmlformats.org/officeDocument/2006/relationships/slide" Target="/ppt/slides/slide16.xml" Id="Rcc35817f8f0f40be" /><Relationship Type="http://schemas.openxmlformats.org/officeDocument/2006/relationships/slide" Target="/ppt/slides/slide17.xml" Id="R25df06874ed34f06" /><Relationship Type="http://schemas.openxmlformats.org/officeDocument/2006/relationships/slide" Target="/ppt/slides/slide18.xml" Id="R2dabe35c68e4456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50a124e9ba44ed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dk1" tx1="lt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5854ef207824b4f" /><Relationship Type="http://schemas.openxmlformats.org/officeDocument/2006/relationships/notesMaster" Target="/ppt/notesMasters/notesMaster1.xml" Id="R587e58d64cd64fd5" /></Relationships>
</file>

<file path=ppt/notesSlides/_rels/notesSlide2.xml.rels>&#65279;<?xml version="1.0" encoding="utf-8"?><Relationships xmlns="http://schemas.openxmlformats.org/package/2006/relationships"><Relationship Type="http://schemas.openxmlformats.org/officeDocument/2006/relationships/slide" Target="/ppt/slides/slide2.xml" Id="R529ce91451944bee" /><Relationship Type="http://schemas.openxmlformats.org/officeDocument/2006/relationships/notesMaster" Target="/ppt/notesMasters/notesMaster1.xml" Id="R4ddc5373f448448e" /></Relationships>
</file>

<file path=ppt/notesSlides/_rels/notesSlide3.xml.rels>&#65279;<?xml version="1.0" encoding="utf-8"?><Relationships xmlns="http://schemas.openxmlformats.org/package/2006/relationships"><Relationship Type="http://schemas.openxmlformats.org/officeDocument/2006/relationships/slide" Target="/ppt/slides/slide3.xml" Id="Ra527d550942b4636" /><Relationship Type="http://schemas.openxmlformats.org/officeDocument/2006/relationships/notesMaster" Target="/ppt/notesMasters/notesMaster1.xml" Id="R88c6d052cf124195" /></Relationships>
</file>

<file path=ppt/notesSlides/_rels/notesSlide4.xml.rels>&#65279;<?xml version="1.0" encoding="utf-8"?><Relationships xmlns="http://schemas.openxmlformats.org/package/2006/relationships"><Relationship Type="http://schemas.openxmlformats.org/officeDocument/2006/relationships/slide" Target="/ppt/slides/slide4.xml" Id="R2be27d974ce746af" /><Relationship Type="http://schemas.openxmlformats.org/officeDocument/2006/relationships/notesMaster" Target="/ppt/notesMasters/notesMaster1.xml" Id="R7df192ce7af4437e" /></Relationships>
</file>

<file path=ppt/notesSlides/_rels/notesSlide5.xml.rels>&#65279;<?xml version="1.0" encoding="utf-8"?><Relationships xmlns="http://schemas.openxmlformats.org/package/2006/relationships"><Relationship Type="http://schemas.openxmlformats.org/officeDocument/2006/relationships/slide" Target="/ppt/slides/slide5.xml" Id="Rd29d52ed7bb24dc1" /><Relationship Type="http://schemas.openxmlformats.org/officeDocument/2006/relationships/notesMaster" Target="/ppt/notesMasters/notesMaster1.xml" Id="R33f903efdd2041cb" /></Relationships>
</file>

<file path=ppt/notesSlides/_rels/notesSlide6.xml.rels>&#65279;<?xml version="1.0" encoding="utf-8"?><Relationships xmlns="http://schemas.openxmlformats.org/package/2006/relationships"><Relationship Type="http://schemas.openxmlformats.org/officeDocument/2006/relationships/slide" Target="/ppt/slides/slide6.xml" Id="R1cc3462d6c474d41" /><Relationship Type="http://schemas.openxmlformats.org/officeDocument/2006/relationships/notesMaster" Target="/ppt/notesMasters/notesMaster1.xml" Id="R8694a6f62d27471d" /></Relationships>
</file>

<file path=ppt/notesSlides/_rels/notesSlide7.xml.rels>&#65279;<?xml version="1.0" encoding="utf-8"?><Relationships xmlns="http://schemas.openxmlformats.org/package/2006/relationships"><Relationship Type="http://schemas.openxmlformats.org/officeDocument/2006/relationships/slide" Target="/ppt/slides/slide7.xml" Id="R759d95982792407d" /><Relationship Type="http://schemas.openxmlformats.org/officeDocument/2006/relationships/notesMaster" Target="/ppt/notesMasters/notesMaster1.xml" Id="R4290cf9fc6284fd0" /></Relationships>
</file>

<file path=ppt/notesSlides/_rels/notesSlide8.xml.rels>&#65279;<?xml version="1.0" encoding="utf-8"?><Relationships xmlns="http://schemas.openxmlformats.org/package/2006/relationships"><Relationship Type="http://schemas.openxmlformats.org/officeDocument/2006/relationships/slide" Target="/ppt/slides/slide8.xml" Id="Rda3a8b3027eb4b53" /><Relationship Type="http://schemas.openxmlformats.org/officeDocument/2006/relationships/notesMaster" Target="/ppt/notesMasters/notesMaster1.xml" Id="R011461219c8e4d0f" /></Relationships>
</file>

<file path=ppt/notesSlides/_rels/notesSlide9.xml.rels>&#65279;<?xml version="1.0" encoding="utf-8"?><Relationships xmlns="http://schemas.openxmlformats.org/package/2006/relationships"><Relationship Type="http://schemas.openxmlformats.org/officeDocument/2006/relationships/slide" Target="/ppt/slides/slide9.xml" Id="R3516b9c91b734d18" /><Relationship Type="http://schemas.openxmlformats.org/officeDocument/2006/relationships/notesMaster" Target="/ppt/notesMasters/notesMaster1.xml" Id="R856586ee5e43419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19a0d00c2a6430b" /><Relationship Type="http://schemas.openxmlformats.org/officeDocument/2006/relationships/notesMaster" Target="/ppt/notesMasters/notesMaster1.xml" Id="R85607d85863e4e4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3c5fb9cfee44380" /><Relationship Type="http://schemas.openxmlformats.org/officeDocument/2006/relationships/notesMaster" Target="/ppt/notesMasters/notesMaster1.xml" Id="R84fdec2196e642e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c79346aa98347b5" /><Relationship Type="http://schemas.openxmlformats.org/officeDocument/2006/relationships/notesMaster" Target="/ppt/notesMasters/notesMaster1.xml" Id="Reb1992899b194f6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56194698f8d407f" /><Relationship Type="http://schemas.openxmlformats.org/officeDocument/2006/relationships/notesMaster" Target="/ppt/notesMasters/notesMaster1.xml" Id="Re51185852602476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34db7f2511f4735" /><Relationship Type="http://schemas.openxmlformats.org/officeDocument/2006/relationships/notesMaster" Target="/ppt/notesMasters/notesMaster1.xml" Id="R90fde6c987c04eb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0befe5fc7354858" /><Relationship Type="http://schemas.openxmlformats.org/officeDocument/2006/relationships/notesMaster" Target="/ppt/notesMasters/notesMaster1.xml" Id="Rc52521b76d0b46b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8c2b3f0d9e44107" /><Relationship Type="http://schemas.openxmlformats.org/officeDocument/2006/relationships/notesMaster" Target="/ppt/notesMasters/notesMaster1.xml" Id="R4f8dd9787d5d4051"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220e8a67a554482" /><Relationship Type="http://schemas.openxmlformats.org/officeDocument/2006/relationships/notesMaster" Target="/ppt/notesMasters/notesMaster1.xml" Id="R1c4cb0e5f503422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5cc3fffa0e2458a" /><Relationship Type="http://schemas.openxmlformats.org/officeDocument/2006/relationships/notesMaster" Target="/ppt/notesMasters/notesMaster1.xml" Id="R5cc73d6fee3a4d0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1.5 minutes.</a:t>
            </a:r>
            <a:endParaRPr/>
          </a:p>
          <a:p xmlns:a="http://schemas.openxmlformats.org/drawingml/2006/main">
            <a:r>
              <a:t/>
            </a:r>
            <a:endParaRPr/>
          </a:p>
          <a:p xmlns:a="http://schemas.openxmlformats.org/drawingml/2006/main">
            <a:r>
              <a:t>Open with the question teams keep asking: which model should we use? Explain that the talk replaces that question with a more useful one: what work must this system perform, and what counts as a passing result? Public benchmarks still help with an initial shortlist. They cannot choose the shipping configuration for your product. Promise one practical method people can start with a handful of real examples, rather than an evaluation platform procurement project. Move directly to the fictional leaderboard.</a:t>
            </a:r>
            <a:endParaRPr/>
          </a:p>
          <a:p xmlns:a="http://schemas.openxmlformats.org/drawingml/2006/main">
            <a:r>
              <a:t/>
            </a:r>
            <a:endParaRPr/>
          </a:p>
          <a:p xmlns:a="http://schemas.openxmlformats.org/drawingml/2006/main">
            <a:r>
              <a:t>Source: talk concept and examples supplied by Dan Levy for this presentation. Examples are illustrative unless explicitly described otherwise.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p>
          <a:p xmlns:a="http://schemas.openxmlformats.org/drawingml/2006/main">
            <a:r>
              <a:t>Present the leaderboard alone and invite a quick show of hands. Do not identify these fictional labels with actual vendors or imply that the scores come from a real evaluation. Ask what information is missing: task definition, sample size, price, latency, and the meaning of a point. A public score can tell us something about performance under its published conditions. The trouble starts when we silently substitute our own product requirements for those conditions. Reveal that the next slide changes the task distribution without changing the candidates.</a:t>
            </a:r>
          </a:p>
          <a:p xmlns:a="http://schemas.openxmlformats.org/drawingml/2006/main">
            <a:r>
              <a:t/>
            </a:r>
          </a:p>
          <a:p xmlns:a="http://schemas.openxmlformats.org/drawingml/2006/main">
            <a:r>
              <a:t>Source: talk concept and examples supplied by Dan Levy for this presentation. Examples are illustrative unless explicitly described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2 minutes.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Ask the audience to pick a model using only the public scores, then read the workload pass rates and prices. Say explicitly that these are invented teaching numbers, not measured model results. The apparent winner changes because the question changes. Even C is not automatically the production choice: a two-point difference might matter in a critical slice, and we have said nothing about sample size or latency. The example establishes why a leaderboard supplies a candidate list, while a workload evaluation supplies decision evidence.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talk concept and examples supplied by Dan Levy for this presentation. Examples are illustrative unless explicitly described otherwise.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2 minutes.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Give public benchmarks their due. Shared datasets and protocols make research comparisons and some regression tracking possible. Their limitation is scope, not moral failure. Your assistant might use specialized terminology, unusually long tool chains, or a cancellation policy that the benchmark never tests. Explain the compressed-specification line: every benchmark encodes choices about what matters and how success is counted. Read those choices before applying the result. Then turn to why a single score feels so attractive even when engineers know their product has multiple constraints.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talk concept and examples supplied by Dan Levy for this presentation. Examples are illustrative unless explicitly described otherwise.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2 minutes.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 leaderboard reduces a hard decision to an apparently objective rank. Production asks harder questions: how long may a request take, what failure rate is tolerable, and which actions must never occur? Separate constraints from preferences. A configuration that violates an authorization requirement should not win by being faster on average. Among configurations that pass, there may be a cost-quality tradeoff rather than one universal winner. Avoid inventing weights just to manufacture a single answer. The team must own those tradeoffs before shopping for a model.</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talk concept and examples supplied by Dan Levy for this presentation. Examples are illustrative unless explicitly described otherwise.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2 minutes.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Use a support assistant as the running example. Password resets, billing lookups, cancellations, and technical diagnosis require different behavior. Sample enough ordinary traffic to estimate routine performance, then deliberately add rare cases whose failure is costly. Keep those two views separate so an oversampled challenge set does not masquerade as production prevalence. Define success before generating answers: a cancellation might require the correct account, policy, and confirmed state change. Transition from workload definition to where the examples come from.</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talk concept and examples supplied by Dan Levy for this presentation. Examples are illustrative unless explicitly described otherwise.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2 minutes.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Take cancellation beyond whether the final message sounds helpful. A passing run might need to resolve the right account, retrieve the applicable policy, obtain any required confirmation, perform the permitted action, and verify the resulting state. Some checks belong on tool traces or backend fixtures, not on the final prose. Include the expected refusal or escalation path when prerequisites are missing. These criteria also expose product ambiguity: engineers cannot evaluate a policy nobody has agreed on. That ambiguity is useful to find before thousands of test runs make it look quantitative.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talk concept and examples supplied by Dan Levy for this presentation. Examples are illustrative unless explicitly described otherwise.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2 minutes.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Walk through the anatomy of one regression case. Preserve the information needed to reproduce the problem, including tool outputs or a controlled fixture when live systems would drift. Record what happened and what should have happened separately. Attach a failure class and severity so later reports can group related problems. Be deliberate about sensitive information and access permissions in the dataset. Corrections, overrides, retry loops, and surprising successes can all reveal missing coverage. A pile of traces becomes useful evaluation material only after somebody supplies an answerable question.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talk concept and examples supplied by Dan Levy for this presentation. Examples are illustrative unless explicitly described otherwise.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2 minutes.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If you repeatedly tune prompts against every available example, improvements may reflect familiarity with the set rather than broader reliability. Reserve examples for a held-out comparison and limit how often their detailed results feed development. Keep provenance so near-duplicate cases do not quietly straddle the split. A frozen set also ages: new products, policies, and users create coverage gaps. Maintain both stable regression cases and fresh coverage, with their roles visible. A holdout is evidence under a sampling design, not a permanent certificate that the system will handle anything.</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talk concept and examples supplied by Dan Levy for this presentation. Examples are illustrative unless explicitly described otherwise.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p>
          <a:p xmlns:a="http://schemas.openxmlformats.org/drawingml/2006/main">
            <a:r>
              <a:t>Describe the ladder as a choice of evidence, not a maturity contest in which everyone eventually replaces assertions with a model. Schema validation and state checks are often better answered deterministically. Heuristics can provide cheap signals but may reward superficial matches. Judges can assess a specified quality when acceptable responses vary. Experts handle ambiguity and help calibrate those judges. A single case may combine several levels: a verified account change, grounded explanation, and human review of a novel exception. Use the least expensive method that supports the decision you actually need.</a:t>
            </a:r>
          </a:p>
          <a:p xmlns:a="http://schemas.openxmlformats.org/drawingml/2006/main">
            <a:r>
              <a:t/>
            </a:r>
          </a:p>
          <a:p xmlns:a="http://schemas.openxmlformats.org/drawingml/2006/main">
            <a:r>
              <a:t>Source: talk concept and examples supplied by Dan Levy for this presentation. Examples are illustrative unless explicitly described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3 minutes.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Take a small set of outputs with expert labels and run the judge against them. Look for systematic disagreements: excessive preference for verbosity, failures to notice unsupported claims, or inconsistent treatment of refusals. Revise the rubric using development examples and recheck on separate cases. For comparisons, conceal candidate identity and test whether answer order changes the verdict. A judge may be consistent and still be wrong, so agreement alone is insufficient. Keep the judge configuration fixed during a candidate comparison and disclose its limitations beside the score.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talk concept and examples supplied by Dan Levy for this presentation. Examples are illustrative unless explicitly described otherwise.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2.5 minutes.</a:t>
            </a:r>
          </a:p>
          <a:p xmlns:a="http://schemas.openxmlformats.org/drawingml/2006/main">
            <a:r>
              <a:t/>
            </a:r>
          </a:p>
          <a:p xmlns:a="http://schemas.openxmlformats.org/drawingml/2006/main">
            <a:r>
              <a:t>A system can score well overall while failing cancellations because the workload contains many easy account questions. Do not claim that a specific overall percentage follows from an unspecified workload mix. Instead show the shape of the problem: frequent successes conceal a small, completely broken slice. Report per-slice counts, rates, and critical failures alongside the weighted total. A slice with three cases supports less confidence than one with three hundred. Repeat stochastic runs when variation could change your decision. The goal is a shipping decision with visible limitations.</a:t>
            </a:r>
          </a:p>
          <a:p xmlns:a="http://schemas.openxmlformats.org/drawingml/2006/main">
            <a:r>
              <a:t/>
            </a:r>
          </a:p>
          <a:p xmlns:a="http://schemas.openxmlformats.org/drawingml/2006/main">
            <a:r>
              <a:t>Source: talk concept and examples supplied by Dan Levy for this presentation. Examples are illustrative unless explicitly described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2.5 minutes.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Define the accounting boundary before doing arithmetic. At minimum, a model-centric comparison should include all calls made by the evaluated workflow, including unsuccessful attempts, retrieval, tools, judges, and recovery where applicable. Human intervention and infrastructure can be included or reported separately, but should not vanish. Divide that total by tasks meeting the stated acceptance criteria. Also show the success rate: cheap cost per success can coexist with an unacceptable number of abandoned tasks. Keep latency distributions visible because retries can improve completion while making the experience too slow.</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talk concept and examples supplied by Dan Levy for this presentation. Examples are illustrative unless explicitly described otherwise.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2.5 minutes.</a:t>
            </a:r>
          </a:p>
          <a:p xmlns:a="http://schemas.openxmlformats.org/drawingml/2006/main">
            <a:r>
              <a:t/>
            </a:r>
          </a:p>
          <a:p xmlns:a="http://schemas.openxmlformats.org/drawingml/2006/main">
            <a:r>
              <a:t>Routing can exploit differences between models, but its classifier introduces its own errors and costs. Evaluate the full policy on held-out workloads: which requests are misrouted, which fallbacks recover them, and how much delay recovery adds. A model's self-reported confidence is not sufficient evidence that escalation is unnecessary. Prefer observable checks and calibrated signals where available. Do not stitch together ideal slice scores as though the router already knows the right branch. The cheapest acceptable system may include deterministic handling, caching, and a human path as well as models.</a:t>
            </a:r>
          </a:p>
          <a:p xmlns:a="http://schemas.openxmlformats.org/drawingml/2006/main">
            <a:r>
              <a:t/>
            </a:r>
          </a:p>
          <a:p xmlns:a="http://schemas.openxmlformats.org/drawingml/2006/main">
            <a:r>
              <a:t>Source: talk concept and examples supplied by Dan Levy for this presentation. Examples are illustrative unless explicitly described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2.5 minutes.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Show how a model-only comparison misses the actual product. Retrieval chooses the evidence; tool descriptions influence actions; orchestration controls retries; permissions bound what can happen. Freeze and record those settings when comparing candidates, then evaluate intended changes as complete configurations. Use controlled tool fixtures for repeatable tests and selected integration checks to detect mismatches with real services. This does not require testing every imaginable combination. It requires knowing what changed and running checks that can expose its likely effects. The resulting report is a system release artifact.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talk concept and examples supplied by Dan Levy for this presentation. Examples are illustrative unless explicitly described otherwise.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2 minutes.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 useful report identifies the baseline and candidate, the dataset version, and the scoring configuration. Report slice-level changes with counts, costs, and latency instead of only an aggregate improvement. Define release gates before seeing the new model's flattering number. A critical regression may block rollout even if routine cases improve. When uncertainty remains, add targeted examples or use a limited rollout with monitoring. Keep offline tests and production observation connected: neither sees every failure mode alone. This turns evaluation from an occasional bake-off into ordinary release discipline.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talk concept and examples supplied by Dan Levy for this presentation. Examples are illustrative unless explicitly described otherwise.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2 minutes.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Use the flywheel as a work queue, not a promise that each incident warrants a unique permanent test. Deduplicate recurring symptoms and preserve cases that represent a distinct failure mechanism or important boundary. Assign ownership for label quality, stale fixtures, and policy updates; otherwise the corpus becomes a museum. Track whether fixes survive later changes, and remove tests only with a reason recorded. Some problems belong in deterministic code rather than a better prompt. Over time, the collection should make previous mistakes easier to detect and new decisions easier to justify.</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talk concept and examples supplied by Dan Levy for this presentation. Examples are illustrative unless explicitly described otherwise.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2.5 minutes.</a:t>
            </a:r>
          </a:p>
          <a:p xmlns:a="http://schemas.openxmlformats.org/drawingml/2006/main">
            <a:r>
              <a:t/>
            </a:r>
          </a:p>
          <a:p xmlns:a="http://schemas.openxmlformats.org/drawingml/2006/main">
            <a:r>
              <a:t>Ask the room to choose one real workflow and list the first twenty cases they would collect tomorrow. Clarify that twenty starts the conversation; it does not establish reliability for every failure rate or workload. Their next steps are to agree on acceptance criteria, preserve a holdout, run the current system, and inspect failures before selecting alternatives. Return to the opening leaderboard: it was useful information answering a different question. The team now has a method for asking its own. Finish with the title and leave space for questions about particular workloads.</a:t>
            </a:r>
          </a:p>
          <a:p xmlns:a="http://schemas.openxmlformats.org/drawingml/2006/main">
            <a:r>
              <a:t/>
            </a:r>
          </a:p>
          <a:p xmlns:a="http://schemas.openxmlformats.org/drawingml/2006/main">
            <a:r>
              <a:t>Source: talk concept and examples supplied by Dan Levy for this presentation. Examples are illustrative unless explicitly described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01ac6d2634e4c4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421ee0a3312438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ce6775ec8984b7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80a6e27b94a4cd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c95ea69327a4ce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645a1468ca34289"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6439e4ffdadf4368"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d15a3748f0f14de3" /></Relationships>
</file>

<file path=ppt/slideLayouts/slideLayout1.xml><?xml version="1.0" encoding="utf-8"?>
<p:sldLayout xmlns:p="http://schemas.openxmlformats.org/presentationml/2006/main" preserve="1" userDrawn="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83004A5-B645-655E-5362-4217D55892E1}"/>
              </a:ext>
            </a:extLst>
          </p:cNvPr>
          <p:cNvSpPr>
            <a:spLocks xmlns:a="http://schemas.openxmlformats.org/drawingml/2006/main" noGrp="1"/>
          </p:cNvSpPr>
          <p:nvPr>
            <p:ph type="ctrTitle" idx="0"/>
          </p:nvPr>
        </p:nvSpPr>
        <p:spPr>
          <a:xfrm xmlns:a="http://schemas.openxmlformats.org/drawingml/2006/main">
            <a:off x="393700" y="1041400"/>
            <a:ext cx="7493000" cy="2491490"/>
          </a:xfrm>
        </p:spPr>
        <p:txBody>
          <a:bodyPr xmlns:a="http://schemas.openxmlformats.org/drawingml/2006/main" anchor="b"/>
          <a:lstStyle xmlns:a="http://schemas.openxmlformats.org/drawingml/2006/main">
            <a:lvl1pPr algn="l">
              <a:buNone/>
              <a:defRPr sz="6000"/>
            </a:lvl1pPr>
          </a:lstStyle>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C57031B1-59B2-C235-9FDD-8050418A5FD8}"/>
              </a:ext>
            </a:extLst>
          </p:cNvPr>
          <p:cNvSpPr>
            <a:spLocks xmlns:a="http://schemas.openxmlformats.org/drawingml/2006/main" noGrp="1"/>
          </p:cNvSpPr>
          <p:nvPr>
            <p:ph type="subTitle" idx="1"/>
          </p:nvPr>
        </p:nvSpPr>
        <p:spPr>
          <a:xfrm xmlns:a="http://schemas.openxmlformats.org/drawingml/2006/main">
            <a:off x="393700" y="4356100"/>
            <a:ext cx="5537200" cy="1638300"/>
          </a:xfrm>
        </p:spPr>
        <p:txBody>
          <a:bodyPr xmlns:a="http://schemas.openxmlformats.org/drawingml/2006/main"/>
          <a:lstStyle xmlns:a="http://schemas.openxmlformats.org/drawingml/2006/main">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p>
        </p:txBody>
      </p:sp>
    </p:spTree>
  </p:cSld>
</p:sldLayout>
</file>

<file path=ppt/slideLayouts/slideLayout2.xml><?xml version="1.0" encoding="utf-8"?>
<p:sldLayout xmlns:p="http://schemas.openxmlformats.org/presentationml/2006/main" preserve="1" userDrawn="1">
  <p:cSld name="Title and Content">
    <p:spTree>
      <p:nvGrpSpPr>
        <p:cNvPr id="1" name=""/>
        <p:cNvGrpSpPr/>
        <p:nvPr/>
      </p:nvGrpSpPr>
      <p:grpSpPr>
        <a:xfrm xmlns:a="http://schemas.openxmlformats.org/drawingml/2006/main"/>
      </p:grpSpPr>
      <p:sp>
        <p:nvSpPr>
          <p:cNvPr id="8" name="Text Placeholder 2">
            <a:extLst xmlns:a="http://schemas.openxmlformats.org/drawingml/2006/main">
              <a:ext uri="{FF2B5EF4-FFF2-40B4-BE49-F238E27FC236}">
                <a16:creationId xmlns:a16="http://schemas.microsoft.com/office/drawing/2014/main" id="{5E851FDE-9E0B-568C-1CBA-E72B86CC06ED}"/>
              </a:ext>
            </a:extLst>
          </p:cNvPr>
          <p:cNvSpPr>
            <a:spLocks xmlns:a="http://schemas.openxmlformats.org/drawingml/2006/main" noGrp="1"/>
          </p:cNvSpPr>
          <p:nvPr>
            <p:ph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9" name="Footer Placeholder 4">
            <a:extLst xmlns:a="http://schemas.openxmlformats.org/drawingml/2006/main">
              <a:ext uri="{FF2B5EF4-FFF2-40B4-BE49-F238E27FC236}">
                <a16:creationId xmlns:a16="http://schemas.microsoft.com/office/drawing/2014/main" id="{29CCD18F-3BF6-A3EE-DAAE-66BD406D7E8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0" name="Slide Number Placeholder 5">
            <a:extLst xmlns:a="http://schemas.openxmlformats.org/drawingml/2006/main">
              <a:ext uri="{FF2B5EF4-FFF2-40B4-BE49-F238E27FC236}">
                <a16:creationId xmlns:a16="http://schemas.microsoft.com/office/drawing/2014/main" id="{5186992D-ADA6-5A23-EBD5-6BEF0A2E61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CDBB333F-FFCF-AA9E-7AC0-64DB02353FBC}"/>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3.xml><?xml version="1.0" encoding="utf-8"?>
<p:sldLayout xmlns:p="http://schemas.openxmlformats.org/presentationml/2006/main" preserve="1" userDrawn="1">
  <p:cSld name="Two Content">
    <p:spTree>
      <p:nvGrpSpPr>
        <p:cNvPr id="1" name=""/>
        <p:cNvGrpSpPr/>
        <p:nvPr/>
      </p:nvGrpSpPr>
      <p:grpSpPr>
        <a:xfrm xmlns:a="http://schemas.openxmlformats.org/drawingml/2006/main"/>
      </p:grpSpPr>
      <p:sp>
        <p:nvSpPr>
          <p:cNvPr id="9" name="Text Placeholder 2">
            <a:extLst xmlns:a="http://schemas.openxmlformats.org/drawingml/2006/main">
              <a:ext uri="{FF2B5EF4-FFF2-40B4-BE49-F238E27FC236}">
                <a16:creationId xmlns:a16="http://schemas.microsoft.com/office/drawing/2014/main" id="{4DCC3060-FADA-4310-30F9-24EC34B5AA87}"/>
              </a:ext>
            </a:extLst>
          </p:cNvPr>
          <p:cNvSpPr>
            <a:spLocks xmlns:a="http://schemas.openxmlformats.org/drawingml/2006/main" noGrp="1"/>
          </p:cNvSpPr>
          <p:nvPr>
            <p:ph idx="1"/>
          </p:nvPr>
        </p:nvSpPr>
        <p:spPr>
          <a:xfrm xmlns:a="http://schemas.openxmlformats.org/drawingml/2006/main">
            <a:off x="393700"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0" name="Footer Placeholder 4">
            <a:extLst xmlns:a="http://schemas.openxmlformats.org/drawingml/2006/main">
              <a:ext uri="{FF2B5EF4-FFF2-40B4-BE49-F238E27FC236}">
                <a16:creationId xmlns:a16="http://schemas.microsoft.com/office/drawing/2014/main" id="{19E7B047-08E6-29C1-F101-C084D555AACC}"/>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1" name="Slide Number Placeholder 5">
            <a:extLst xmlns:a="http://schemas.openxmlformats.org/drawingml/2006/main">
              <a:ext uri="{FF2B5EF4-FFF2-40B4-BE49-F238E27FC236}">
                <a16:creationId xmlns:a16="http://schemas.microsoft.com/office/drawing/2014/main" id="{3DE564C6-8AA0-935D-A919-07AFA15B335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12" name="Text Placeholder 2">
            <a:extLst xmlns:a="http://schemas.openxmlformats.org/drawingml/2006/main">
              <a:ext uri="{FF2B5EF4-FFF2-40B4-BE49-F238E27FC236}">
                <a16:creationId xmlns:a16="http://schemas.microsoft.com/office/drawing/2014/main" id="{4ABE46D3-8F05-1C7F-3EC7-20BFCC76C251}"/>
              </a:ext>
            </a:extLst>
          </p:cNvPr>
          <p:cNvSpPr>
            <a:spLocks xmlns:a="http://schemas.openxmlformats.org/drawingml/2006/main" noGrp="1"/>
          </p:cNvSpPr>
          <p:nvPr>
            <p:ph idx="10"/>
          </p:nvPr>
        </p:nvSpPr>
        <p:spPr>
          <a:xfrm xmlns:a="http://schemas.openxmlformats.org/drawingml/2006/main">
            <a:off x="6256618"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739D2C21-36BF-25E7-8E97-1D17F313F7AF}"/>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4.xml><?xml version="1.0" encoding="utf-8"?>
<p:sldLayout xmlns:p="http://schemas.openxmlformats.org/presentationml/2006/main" preserve="1" userDrawn="1">
  <p:cSld name="Three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14" name="Text Placeholder 2">
            <a:extLst xmlns:a="http://schemas.openxmlformats.org/drawingml/2006/main">
              <a:ext uri="{FF2B5EF4-FFF2-40B4-BE49-F238E27FC236}">
                <a16:creationId xmlns:a16="http://schemas.microsoft.com/office/drawing/2014/main" id="{80E090C5-E6C8-92F2-E8C2-A840B8F1807D}"/>
              </a:ext>
            </a:extLst>
          </p:cNvPr>
          <p:cNvSpPr>
            <a:spLocks xmlns:a="http://schemas.openxmlformats.org/drawingml/2006/main" noGrp="1"/>
          </p:cNvSpPr>
          <p:nvPr>
            <p:ph idx="10"/>
          </p:nvPr>
        </p:nvSpPr>
        <p:spPr>
          <a:xfrm xmlns:a="http://schemas.openxmlformats.org/drawingml/2006/main">
            <a:off x="43180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5" name="Text Placeholder 2">
            <a:extLst xmlns:a="http://schemas.openxmlformats.org/drawingml/2006/main">
              <a:ext uri="{FF2B5EF4-FFF2-40B4-BE49-F238E27FC236}">
                <a16:creationId xmlns:a16="http://schemas.microsoft.com/office/drawing/2014/main" id="{0C6D2D15-AEC2-9F99-316F-C37AF863965D}"/>
              </a:ext>
            </a:extLst>
          </p:cNvPr>
          <p:cNvSpPr>
            <a:spLocks xmlns:a="http://schemas.openxmlformats.org/drawingml/2006/main" noGrp="1"/>
          </p:cNvSpPr>
          <p:nvPr>
            <p:ph idx="11"/>
          </p:nvPr>
        </p:nvSpPr>
        <p:spPr>
          <a:xfrm xmlns:a="http://schemas.openxmlformats.org/drawingml/2006/main">
            <a:off x="8232273"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5.xml><?xml version="1.0" encoding="utf-8"?>
<p:sldLayout xmlns:p="http://schemas.openxmlformats.org/presentationml/2006/main" preserve="1" userDrawn="1">
  <p:cSld name="Four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213811"/>
            <a:ext cx="2595934" cy="378058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8" name="Text Placeholder 7">
            <a:extLst xmlns:a="http://schemas.openxmlformats.org/drawingml/2006/main">
              <a:ext uri="{FF2B5EF4-FFF2-40B4-BE49-F238E27FC236}">
                <a16:creationId xmlns:a16="http://schemas.microsoft.com/office/drawing/2014/main" id="{4F70A9DA-D783-0627-3166-E13B68C2ADAC}"/>
              </a:ext>
            </a:extLst>
          </p:cNvPr>
          <p:cNvSpPr>
            <a:spLocks xmlns:a="http://schemas.openxmlformats.org/drawingml/2006/main" noGrp="1"/>
          </p:cNvSpPr>
          <p:nvPr>
            <p:ph type="body" idx="12"/>
          </p:nvPr>
        </p:nvSpPr>
        <p:spPr>
          <a:xfrm xmlns:a="http://schemas.openxmlformats.org/drawingml/2006/main">
            <a:off x="3334966" y="2213811"/>
            <a:ext cx="2595934" cy="3780589"/>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
        <p:nvSpPr>
          <p:cNvPr id="9" name="Text Placeholder 2">
            <a:extLst xmlns:a="http://schemas.openxmlformats.org/drawingml/2006/main">
              <a:ext uri="{FF2B5EF4-FFF2-40B4-BE49-F238E27FC236}">
                <a16:creationId xmlns:a16="http://schemas.microsoft.com/office/drawing/2014/main" id="{75BF2647-8E8C-CAEE-896D-0E1567AF7E99}"/>
              </a:ext>
            </a:extLst>
          </p:cNvPr>
          <p:cNvSpPr>
            <a:spLocks xmlns:a="http://schemas.openxmlformats.org/drawingml/2006/main" noGrp="1"/>
          </p:cNvSpPr>
          <p:nvPr>
            <p:ph idx="13"/>
          </p:nvPr>
        </p:nvSpPr>
        <p:spPr>
          <a:xfrm xmlns:a="http://schemas.openxmlformats.org/drawingml/2006/main">
            <a:off x="6264413" y="2213811"/>
            <a:ext cx="2595934" cy="378058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0" name="Text Placeholder 7">
            <a:extLst xmlns:a="http://schemas.openxmlformats.org/drawingml/2006/main">
              <a:ext uri="{FF2B5EF4-FFF2-40B4-BE49-F238E27FC236}">
                <a16:creationId xmlns:a16="http://schemas.microsoft.com/office/drawing/2014/main" id="{37C6F143-221A-9959-8FBA-B9B1DB6602D0}"/>
              </a:ext>
            </a:extLst>
          </p:cNvPr>
          <p:cNvSpPr>
            <a:spLocks xmlns:a="http://schemas.openxmlformats.org/drawingml/2006/main" noGrp="1"/>
          </p:cNvSpPr>
          <p:nvPr>
            <p:ph type="body" idx="14"/>
          </p:nvPr>
        </p:nvSpPr>
        <p:spPr>
          <a:xfrm xmlns:a="http://schemas.openxmlformats.org/drawingml/2006/main">
            <a:off x="9205679" y="2213811"/>
            <a:ext cx="2595934" cy="3780589"/>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Tree>
  </p:cSld>
</p:sldLayout>
</file>

<file path=ppt/slideLayouts/slideLayout6.xml><?xml version="1.0" encoding="utf-8"?>
<p:sldLayout xmlns:p="http://schemas.openxmlformats.org/presentationml/2006/main" preserve="1" userDrawn="1">
  <p:cSld name="Title Only">
    <p:spTree>
      <p:nvGrpSpPr>
        <p:cNvPr id="1" name=""/>
        <p:cNvGrpSpPr/>
        <p:nvPr/>
      </p:nvGrpSpPr>
      <p:grpSpPr>
        <a:xfrm xmlns:a="http://schemas.openxmlformats.org/drawingml/2006/main"/>
      </p:grpSpPr>
      <p:sp>
        <p:nvSpPr>
          <p:cNvPr id="8" name="Footer Placeholder 4">
            <a:extLst xmlns:a="http://schemas.openxmlformats.org/drawingml/2006/main">
              <a:ext uri="{FF2B5EF4-FFF2-40B4-BE49-F238E27FC236}">
                <a16:creationId xmlns:a16="http://schemas.microsoft.com/office/drawing/2014/main" id="{DB1182C5-F22B-2641-06DE-4EDACA3C1DD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9" name="Slide Number Placeholder 5">
            <a:extLst xmlns:a="http://schemas.openxmlformats.org/drawingml/2006/main">
              <a:ext uri="{FF2B5EF4-FFF2-40B4-BE49-F238E27FC236}">
                <a16:creationId xmlns:a16="http://schemas.microsoft.com/office/drawing/2014/main" id="{F97A4AD5-204B-38FD-4F33-270C2F9F5CC6}"/>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75CF9983-3FD7-FAE4-9F0B-B2CE806D891D}"/>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7.xml><?xml version="1.0" encoding="utf-8"?>
<p:sldLayout xmlns:p="http://schemas.openxmlformats.org/presentationml/2006/main" preserve="1" userDrawn="1">
  <p:cSld name="Footer Only">
    <p:spTree>
      <p:nvGrpSpPr>
        <p:cNvPr id="1" name=""/>
        <p:cNvGrpSpPr/>
        <p:nvPr/>
      </p:nvGrpSpPr>
      <p:grpSpPr>
        <a:xfrm xmlns:a="http://schemas.openxmlformats.org/drawingml/2006/main"/>
      </p:grpSpPr>
      <p:sp>
        <p:nvSpPr>
          <p:cNvPr id="7" name="Footer Placeholder 4">
            <a:extLst xmlns:a="http://schemas.openxmlformats.org/drawingml/2006/main">
              <a:ext uri="{FF2B5EF4-FFF2-40B4-BE49-F238E27FC236}">
                <a16:creationId xmlns:a16="http://schemas.microsoft.com/office/drawing/2014/main" id="{1012CBCC-C555-8C11-443D-86D6F7A45CF8}"/>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8" name="Slide Number Placeholder 5">
            <a:extLst xmlns:a="http://schemas.openxmlformats.org/drawingml/2006/main">
              <a:ext uri="{FF2B5EF4-FFF2-40B4-BE49-F238E27FC236}">
                <a16:creationId xmlns:a16="http://schemas.microsoft.com/office/drawing/2014/main" id="{B69B260B-B882-BF7F-1BB1-28B9578A25A2}"/>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Tree>
  </p:cSld>
</p:sldLayout>
</file>

<file path=ppt/slideLayouts/slideLayout8.xml><?xml version="1.0" encoding="utf-8"?>
<p:sldLayout xmlns:p="http://schemas.openxmlformats.org/presentationml/2006/main" preserve="1" userDrawn="1">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0da48bae1a5477b" /><Relationship Type="http://schemas.openxmlformats.org/officeDocument/2006/relationships/slideLayout" Target="/ppt/slideLayouts/slideLayout1.xml" Id="R4ac63d3ff5a64931" /><Relationship Type="http://schemas.openxmlformats.org/officeDocument/2006/relationships/slideLayout" Target="/ppt/slideLayouts/slideLayout2.xml" Id="Rf1a7ae831e054658" /><Relationship Type="http://schemas.openxmlformats.org/officeDocument/2006/relationships/slideLayout" Target="/ppt/slideLayouts/slideLayout3.xml" Id="R605970901bc04968" /><Relationship Type="http://schemas.openxmlformats.org/officeDocument/2006/relationships/slideLayout" Target="/ppt/slideLayouts/slideLayout4.xml" Id="R0a912d3e1fbe4d11" /><Relationship Type="http://schemas.openxmlformats.org/officeDocument/2006/relationships/slideLayout" Target="/ppt/slideLayouts/slideLayout5.xml" Id="R9d7bce2caa044026" /><Relationship Type="http://schemas.openxmlformats.org/officeDocument/2006/relationships/slideLayout" Target="/ppt/slideLayouts/slideLayout6.xml" Id="Ra9cf099681674369" /><Relationship Type="http://schemas.openxmlformats.org/officeDocument/2006/relationships/slideLayout" Target="/ppt/slideLayouts/slideLayout7.xml" Id="R16b1dc47587441f6" /><Relationship Type="http://schemas.openxmlformats.org/officeDocument/2006/relationships/slideLayout" Target="/ppt/slideLayouts/slideLayout8.xml" Id="R8c45db1fa342446f"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BB87ED2E-D8FF-5C8C-ED50-59BA3091C3E1}"/>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05B0E1CB-6DCA-2E9F-2B74-4309B4084C09}"/>
              </a:ext>
            </a:extLst>
          </p:cNvPr>
          <p:cNvSpPr>
            <a:spLocks xmlns:a="http://schemas.openxmlformats.org/drawingml/2006/main" noGrp="1"/>
          </p:cNvSpPr>
          <p:nvPr>
            <p:ph type="body"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Footer Placeholder 4">
            <a:extLst xmlns:a="http://schemas.openxmlformats.org/drawingml/2006/main">
              <a:ext uri="{FF2B5EF4-FFF2-40B4-BE49-F238E27FC236}">
                <a16:creationId xmlns:a16="http://schemas.microsoft.com/office/drawing/2014/main" id="{3C75650C-2983-5B02-8421-FF1818435433}"/>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6" name="Slide Number Placeholder 5">
            <a:extLst xmlns:a="http://schemas.openxmlformats.org/drawingml/2006/main">
              <a:ext uri="{FF2B5EF4-FFF2-40B4-BE49-F238E27FC236}">
                <a16:creationId xmlns:a16="http://schemas.microsoft.com/office/drawing/2014/main" id="{D872C88C-1AB3-96BA-C9E5-3435A4BD59B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Tree>
  </p:cSld>
  <p:clrMap bg1="dk1" tx1="lt1" bg2="dk2" tx2="lt2" accent1="accent1" accent2="accent2" accent3="accent3" accent4="accent4" accent5="accent5" accent6="accent6" hlink="hlink" folHlink="folHlink"/>
  <p:sldLayoutIdLst>
    <p:sldLayoutId xmlns:r="http://schemas.openxmlformats.org/officeDocument/2006/relationships" id="2147483649" r:id="R4ac63d3ff5a64931"/>
    <p:sldLayoutId xmlns:r="http://schemas.openxmlformats.org/officeDocument/2006/relationships" id="2147483650" r:id="Rf1a7ae831e054658"/>
    <p:sldLayoutId xmlns:r="http://schemas.openxmlformats.org/officeDocument/2006/relationships" id="2147483651" r:id="R605970901bc04968"/>
    <p:sldLayoutId xmlns:r="http://schemas.openxmlformats.org/officeDocument/2006/relationships" id="2147483652" r:id="R0a912d3e1fbe4d11"/>
    <p:sldLayoutId xmlns:r="http://schemas.openxmlformats.org/officeDocument/2006/relationships" id="2147483653" r:id="R9d7bce2caa044026"/>
    <p:sldLayoutId xmlns:r="http://schemas.openxmlformats.org/officeDocument/2006/relationships" id="2147483654" r:id="Ra9cf099681674369"/>
    <p:sldLayoutId xmlns:r="http://schemas.openxmlformats.org/officeDocument/2006/relationships" id="2147483655" r:id="R16b1dc47587441f6"/>
    <p:sldLayoutId xmlns:r="http://schemas.openxmlformats.org/officeDocument/2006/relationships" id="2147483656" r:id="R8c45db1fa342446f"/>
  </p:sldLayoutIdLst>
  <p:hf hdr="0" dt="0"/>
  <p:txStyles>
    <p:titleStyle>
      <a:lvl1pPr xmlns:a="http://schemas.openxmlformats.org/drawingml/2006/main" algn="l" defTabSz="914400">
        <a:lnSpc>
          <a:spcPct val="90000"/>
        </a:lnSpc>
        <a:spcBef>
          <a:spcPct val="0"/>
        </a:spcBef>
        <a:buNone/>
        <a:defRPr sz="29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extLst>
    <p:ext uri="{27BBF7A9-308A-43DC-89C8-2F10F3537804}">
      <p15:sldGuideLst xmlns:p15="http://schemas.microsoft.com/office/powerpoint/2012/main">
        <p15:guide id="1" userDrawn="1">
          <p15:clr>
            <a:srgbClr xmlns:a="http://schemas.openxmlformats.org/drawingml/2006/main" val="F26B43"/>
          </p15:clr>
        </p15:guide>
        <p15:guide id="2" pos="7680" userDrawn="1">
          <p15:clr>
            <a:srgbClr xmlns:a="http://schemas.openxmlformats.org/drawingml/2006/main" val="F26B43"/>
          </p15:clr>
        </p15:guide>
        <p15:guide id="3" pos="248" userDrawn="1">
          <p15:clr>
            <a:srgbClr xmlns:a="http://schemas.openxmlformats.org/drawingml/2006/main" val="F26B43"/>
          </p15:clr>
        </p15:guide>
        <p15:guide id="4" pos="1264" userDrawn="1">
          <p15:clr>
            <a:srgbClr xmlns:a="http://schemas.openxmlformats.org/drawingml/2006/main" val="F26B43"/>
          </p15:clr>
        </p15:guide>
        <p15:guide id="5" pos="1480" userDrawn="1">
          <p15:clr>
            <a:srgbClr xmlns:a="http://schemas.openxmlformats.org/drawingml/2006/main" val="F26B43"/>
          </p15:clr>
        </p15:guide>
        <p15:guide id="6" pos="2496" userDrawn="1">
          <p15:clr>
            <a:srgbClr xmlns:a="http://schemas.openxmlformats.org/drawingml/2006/main" val="F26B43"/>
          </p15:clr>
        </p15:guide>
        <p15:guide id="7" pos="2712" userDrawn="1">
          <p15:clr>
            <a:srgbClr xmlns:a="http://schemas.openxmlformats.org/drawingml/2006/main" val="F26B43"/>
          </p15:clr>
        </p15:guide>
        <p15:guide id="8" pos="3736" userDrawn="1">
          <p15:clr>
            <a:srgbClr xmlns:a="http://schemas.openxmlformats.org/drawingml/2006/main" val="F26B43"/>
          </p15:clr>
        </p15:guide>
        <p15:guide id="9" pos="3944" userDrawn="1">
          <p15:clr>
            <a:srgbClr xmlns:a="http://schemas.openxmlformats.org/drawingml/2006/main" val="F26B43"/>
          </p15:clr>
        </p15:guide>
        <p15:guide id="10" pos="4968" userDrawn="1">
          <p15:clr>
            <a:srgbClr xmlns:a="http://schemas.openxmlformats.org/drawingml/2006/main" val="F26B43"/>
          </p15:clr>
        </p15:guide>
        <p15:guide id="11" pos="5184" userDrawn="1">
          <p15:clr>
            <a:srgbClr xmlns:a="http://schemas.openxmlformats.org/drawingml/2006/main" val="F26B43"/>
          </p15:clr>
        </p15:guide>
        <p15:guide id="12" pos="6200" userDrawn="1">
          <p15:clr>
            <a:srgbClr xmlns:a="http://schemas.openxmlformats.org/drawingml/2006/main" val="F26B43"/>
          </p15:clr>
        </p15:guide>
        <p15:guide id="13" pos="6416" userDrawn="1">
          <p15:clr>
            <a:srgbClr xmlns:a="http://schemas.openxmlformats.org/drawingml/2006/main" val="F26B43"/>
          </p15:clr>
        </p15:guide>
        <p15:guide id="14" pos="7432" userDrawn="1">
          <p15:clr>
            <a:srgbClr xmlns:a="http://schemas.openxmlformats.org/drawingml/2006/main" val="F26B43"/>
          </p15:clr>
        </p15:guide>
        <p15:guide id="15" orient="horz" userDrawn="1">
          <p15:clr>
            <a:srgbClr xmlns:a="http://schemas.openxmlformats.org/drawingml/2006/main" val="F26B43"/>
          </p15:clr>
        </p15:guide>
        <p15:guide id="17" orient="horz" pos="248" userDrawn="1">
          <p15:clr>
            <a:srgbClr xmlns:a="http://schemas.openxmlformats.org/drawingml/2006/main" val="F26B43"/>
          </p15:clr>
        </p15:guide>
        <p15:guide id="18" orient="horz" pos="656" userDrawn="1">
          <p15:clr>
            <a:srgbClr xmlns:a="http://schemas.openxmlformats.org/drawingml/2006/main" val="F26B43"/>
          </p15:clr>
        </p15:guide>
        <p15:guide id="19" orient="horz" pos="872" userDrawn="1">
          <p15:clr>
            <a:srgbClr xmlns:a="http://schemas.openxmlformats.org/drawingml/2006/main" val="F26B43"/>
          </p15:clr>
        </p15:guide>
        <p15:guide id="20" orient="horz" pos="1280" userDrawn="1">
          <p15:clr>
            <a:srgbClr xmlns:a="http://schemas.openxmlformats.org/drawingml/2006/main" val="F26B43"/>
          </p15:clr>
        </p15:guide>
        <p15:guide id="21" orient="horz" pos="1496" userDrawn="1">
          <p15:clr>
            <a:srgbClr xmlns:a="http://schemas.openxmlformats.org/drawingml/2006/main" val="F26B43"/>
          </p15:clr>
        </p15:guide>
        <p15:guide id="22" orient="horz" pos="1904" userDrawn="1">
          <p15:clr>
            <a:srgbClr xmlns:a="http://schemas.openxmlformats.org/drawingml/2006/main" val="F26B43"/>
          </p15:clr>
        </p15:guide>
        <p15:guide id="23" orient="horz" pos="2120" userDrawn="1">
          <p15:clr>
            <a:srgbClr xmlns:a="http://schemas.openxmlformats.org/drawingml/2006/main" val="F26B43"/>
          </p15:clr>
        </p15:guide>
        <p15:guide id="24" orient="horz" pos="2528" userDrawn="1">
          <p15:clr>
            <a:srgbClr xmlns:a="http://schemas.openxmlformats.org/drawingml/2006/main" val="F26B43"/>
          </p15:clr>
        </p15:guide>
        <p15:guide id="25" orient="horz" pos="2744" userDrawn="1">
          <p15:clr>
            <a:srgbClr xmlns:a="http://schemas.openxmlformats.org/drawingml/2006/main" val="F26B43"/>
          </p15:clr>
        </p15:guide>
        <p15:guide id="26" orient="horz" pos="3152" userDrawn="1">
          <p15:clr>
            <a:srgbClr xmlns:a="http://schemas.openxmlformats.org/drawingml/2006/main" val="F26B43"/>
          </p15:clr>
        </p15:guide>
        <p15:guide id="27" orient="horz" pos="3368" userDrawn="1">
          <p15:clr>
            <a:srgbClr xmlns:a="http://schemas.openxmlformats.org/drawingml/2006/main" val="F26B43"/>
          </p15:clr>
        </p15:guide>
        <p15:guide id="28" orient="horz" pos="3776" userDrawn="1">
          <p15:clr>
            <a:srgbClr xmlns:a="http://schemas.openxmlformats.org/drawingml/2006/main" val="F26B43"/>
          </p15:clr>
        </p15:guide>
        <p15:guide id="29" orient="horz" pos="4088" userDrawn="1">
          <p15:clr>
            <a:srgbClr xmlns:a="http://schemas.openxmlformats.org/drawingml/2006/main" val="F26B43"/>
          </p15:clr>
        </p15:guide>
      </p15:sldGuideLst>
    </p:ext>
  </p:extLst>
</p:sldMaster>
</file>

<file path=ppt/slideMasters/theme/theme2.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9482d25d7ca45ff" /><Relationship Type="http://schemas.openxmlformats.org/officeDocument/2006/relationships/image" Target="/ppt/media/image.png" Id="Rcf779da3f9ef4f33" /><Relationship Type="http://schemas.openxmlformats.org/officeDocument/2006/relationships/notesSlide" Target="/ppt/notesSlides/notesSlide1.xml" Id="Re865c26a0da14e8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11249f899c74187" /><Relationship Type="http://schemas.openxmlformats.org/officeDocument/2006/relationships/notesSlide" Target="/ppt/notesSlides/notesSlide2.xml" Id="R37d83f26b09e4c5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ad356fb5ca740e8" /><Relationship Type="http://schemas.openxmlformats.org/officeDocument/2006/relationships/notesSlide" Target="/ppt/notesSlides/notesSlide3.xml" Id="Rb81b7f503b2f473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a95f038f4a184743" /><Relationship Type="http://schemas.openxmlformats.org/officeDocument/2006/relationships/notesSlide" Target="/ppt/notesSlides/notesSlide4.xml" Id="R0ae9edc4101d4f0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37ba758e8794635" /><Relationship Type="http://schemas.openxmlformats.org/officeDocument/2006/relationships/notesSlide" Target="/ppt/notesSlides/notesSlide5.xml" Id="R444058e5b82d49d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e82de60a2694786" /><Relationship Type="http://schemas.openxmlformats.org/officeDocument/2006/relationships/notesSlide" Target="/ppt/notesSlides/notesSlide6.xml" Id="Rf2e47ae6d7c24ea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4b77b8dc5404c2b" /><Relationship Type="http://schemas.openxmlformats.org/officeDocument/2006/relationships/notesSlide" Target="/ppt/notesSlides/notesSlide7.xml" Id="R76c3094263314f79"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8e2926b556f04c41" /><Relationship Type="http://schemas.openxmlformats.org/officeDocument/2006/relationships/notesSlide" Target="/ppt/notesSlides/notesSlide8.xml" Id="R88d056a9464f4543"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5daa5f266cf74a43" /><Relationship Type="http://schemas.openxmlformats.org/officeDocument/2006/relationships/notesSlide" Target="/ppt/notesSlides/notesSlide9.xml" Id="R72baa48491a34bf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7f7033711eac46f4" /><Relationship Type="http://schemas.openxmlformats.org/officeDocument/2006/relationships/notesSlide" Target="/ppt/notesSlides/notesSlide10.xml" Id="R38c64c0e07d540f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d05472c3c36b4f35" /><Relationship Type="http://schemas.openxmlformats.org/officeDocument/2006/relationships/notesSlide" Target="/ppt/notesSlides/notesSlide11.xml" Id="R97c3549ad0334d4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d993b25d90de47cb" /><Relationship Type="http://schemas.openxmlformats.org/officeDocument/2006/relationships/notesSlide" Target="/ppt/notesSlides/notesSlide12.xml" Id="R8a2eeb28bdd44e4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ae2ee0f10c214900" /><Relationship Type="http://schemas.openxmlformats.org/officeDocument/2006/relationships/notesSlide" Target="/ppt/notesSlides/notesSlide13.xml" Id="R8f910e9f9a8e4c8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3d187b4d2f664245" /><Relationship Type="http://schemas.openxmlformats.org/officeDocument/2006/relationships/notesSlide" Target="/ppt/notesSlides/notesSlide14.xml" Id="R7327f9a9dd0d43a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35c7b69c99384046" /><Relationship Type="http://schemas.openxmlformats.org/officeDocument/2006/relationships/notesSlide" Target="/ppt/notesSlides/notesSlide15.xml" Id="Rad6d5ec00f684f9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a128d3868e2c452e" /><Relationship Type="http://schemas.openxmlformats.org/officeDocument/2006/relationships/notesSlide" Target="/ppt/notesSlides/notesSlide16.xml" Id="Rd4e0383702d9499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938a0d96d9184b43" /><Relationship Type="http://schemas.openxmlformats.org/officeDocument/2006/relationships/notesSlide" Target="/ppt/notesSlides/notesSlide17.xml" Id="R2f7503ccad544ce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a1dd0459a14c46c9" /><Relationship Type="http://schemas.openxmlformats.org/officeDocument/2006/relationships/notesSlide" Target="/ppt/notesSlides/notesSlide18.xml" Id="R605cc8072ed140af"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4" name="Title 3">
            <a:extLst xmlns:a="http://schemas.openxmlformats.org/drawingml/2006/main">
              <a:ext uri="{FF2B5EF4-FFF2-40B4-BE49-F238E27FC236}">
                <a16:creationId xmlns:a16="http://schemas.microsoft.com/office/drawing/2014/main" id="{C47CD47D-0812-5F5E-8AA0-B4316F994F47}"/>
              </a:ext>
            </a:extLst>
          </p:cNvPr>
          <p:cNvSpPr>
            <a:spLocks xmlns:a="http://schemas.openxmlformats.org/drawingml/2006/main" noGrp="1"/>
          </p:cNvSpPr>
          <p:nvPr>
            <p:ph type="ctrTitle" idx="0"/>
          </p:nvPr>
        </p:nvSpPr>
        <p:spPr>
          <a:xfrm xmlns:a="http://schemas.openxmlformats.org/drawingml/2006/main">
            <a:off x="415733" y="1907316"/>
            <a:ext cx="7174888" cy="2491490"/>
          </a:xfrm>
        </p:spPr>
        <p:txBody>
          <a:bodyPr xmlns:a="http://schemas.openxmlformats.org/drawingml/2006/main" anchor="ctr">
            <a:noAutofit/>
          </a:bodyPr>
          <a:lstStyle xmlns:a="http://schemas.openxmlformats.org/drawingml/2006/main"/>
          <a:p xmlns:a="http://schemas.openxmlformats.org/drawingml/2006/main">
            <a:pPr>
              <a:defRPr sz="6200">
                <a:solidFill>
                  <a:srgbClr val="FFFFFF"/>
                </a:solidFill>
                <a:latin typeface="Helvetica Neue"/>
                <a:ea typeface="Helvetica Neue"/>
                <a:cs typeface="Helvetica Neue"/>
              </a:defRPr>
            </a:pPr>
            <a:r>
              <a:rPr sz="6200">
                <a:solidFill>
                  <a:srgbClr val="FFFFFF"/>
                </a:solidFill>
                <a:latin typeface="Helvetica Neue"/>
                <a:ea typeface="Helvetica Neue"/>
                <a:cs typeface="Helvetica Neue"/>
              </a:rPr>
              <a:t>Stop Looking at</a:t>
            </a:r>
          </a:p>
          <a:p xmlns:a="http://schemas.openxmlformats.org/drawingml/2006/main">
            <a:pPr>
              <a:defRPr sz="6200">
                <a:solidFill>
                  <a:srgbClr val="FFFFFF"/>
                </a:solidFill>
                <a:latin typeface="Helvetica Neue"/>
                <a:ea typeface="Helvetica Neue"/>
                <a:cs typeface="Helvetica Neue"/>
              </a:defRPr>
            </a:pPr>
            <a:r>
              <a:rPr sz="6200">
                <a:solidFill>
                  <a:srgbClr val="FFFFFF"/>
                </a:solidFill>
                <a:latin typeface="Helvetica Neue"/>
                <a:ea typeface="Helvetica Neue"/>
                <a:cs typeface="Helvetica Neue"/>
              </a:rPr>
              <a:t>My Benchmarks…</a:t>
            </a:r>
          </a:p>
        </p:txBody>
      </p:sp>
      <p:sp>
        <p:nvSpPr>
          <p:cNvPr id="5" name="Subtitle 4">
            <a:extLst xmlns:a="http://schemas.openxmlformats.org/drawingml/2006/main">
              <a:ext uri="{FF2B5EF4-FFF2-40B4-BE49-F238E27FC236}">
                <a16:creationId xmlns:a16="http://schemas.microsoft.com/office/drawing/2014/main" id="{283B85AD-626B-46B7-0C36-31F5BABDE10D}"/>
              </a:ext>
            </a:extLst>
          </p:cNvPr>
          <p:cNvSpPr>
            <a:spLocks xmlns:a="http://schemas.openxmlformats.org/drawingml/2006/main" noGrp="1"/>
          </p:cNvSpPr>
          <p:nvPr>
            <p:ph type="subTitle" idx="1"/>
          </p:nvPr>
        </p:nvSpPr>
        <p:spPr>
          <a:xfrm xmlns:a="http://schemas.openxmlformats.org/drawingml/2006/main">
            <a:off x="415733" y="5264722"/>
            <a:ext cx="6910483" cy="1080246"/>
          </a:xfrm>
        </p:spPr>
        <p:txBody>
          <a:bodyPr xmlns:a="http://schemas.openxmlformats.org/drawingml/2006/main" anchor="b">
            <a:noAutofit/>
          </a:bodyPr>
          <a:lstStyle xmlns:a="http://schemas.openxmlformats.org/drawingml/2006/main"/>
          <a:p xmlns:a="http://schemas.openxmlformats.org/drawingml/2006/main">
            <a:pPr>
              <a:defRPr sz="1800">
                <a:solidFill>
                  <a:srgbClr val="FFFFFF"/>
                </a:solidFill>
                <a:latin typeface="Helvetica Neue"/>
                <a:ea typeface="Helvetica Neue"/>
                <a:cs typeface="Helvetica Neue"/>
              </a:defRPr>
            </a:pPr>
            <a:r>
              <a:rPr sz="1800">
                <a:solidFill>
                  <a:srgbClr val="FFFFFF"/>
                </a:solidFill>
                <a:latin typeface="Helvetica Neue"/>
                <a:ea typeface="Helvetica Neue"/>
                <a:cs typeface="Helvetica Neue"/>
              </a:rPr>
              <a:t>Get Your Own!</a:t>
            </a:r>
          </a:p>
          <a:p xmlns:a="http://schemas.openxmlformats.org/drawingml/2006/main">
            <a:pPr>
              <a:defRPr sz="1800">
                <a:solidFill>
                  <a:srgbClr val="FFFFFF"/>
                </a:solidFill>
                <a:latin typeface="Helvetica Neue"/>
                <a:ea typeface="Helvetica Neue"/>
                <a:cs typeface="Helvetica Neue"/>
              </a:defRPr>
            </a:pPr>
            <a:r>
              <a:rPr sz="1800">
                <a:solidFill>
                  <a:srgbClr val="FFFFFF"/>
                </a:solidFill>
                <a:latin typeface="Helvetica Neue"/>
                <a:ea typeface="Helvetica Neue"/>
                <a:cs typeface="Helvetica Neue"/>
              </a:rPr>
              <a:t>Dan Levy</a:t>
            </a:r>
          </a:p>
        </p:txBody>
      </p:sp>
      <p:sp>
        <p:nvSpPr>
          <p:cNvPr id="6" name="Subtitle 4">
            <a:extLst xmlns:a="http://schemas.openxmlformats.org/drawingml/2006/main">
              <a:ext uri="{FF2B5EF4-FFF2-40B4-BE49-F238E27FC236}">
                <a16:creationId xmlns:a16="http://schemas.microsoft.com/office/drawing/2014/main" id="{543BAB87-2ABE-9D84-8400-3B5ABA08B3C2}"/>
              </a:ext>
            </a:extLst>
          </p:cNvPr>
          <p:cNvSpPr>
            <a:spLocks xmlns:a="http://schemas.openxmlformats.org/drawingml/2006/main" noGrp="1"/>
          </p:cNvSpPr>
          <p:nvPr/>
        </p:nvSpPr>
        <p:spPr>
          <a:xfrm xmlns:a="http://schemas.openxmlformats.org/drawingml/2006/main">
            <a:off x="415734" y="392241"/>
            <a:ext cx="5702300" cy="649159"/>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0" indent="0" algn="l" defTabSz="914400">
              <a:lnSpc>
                <a:spcPct val="90000"/>
              </a:lnSpc>
              <a:spcBef>
                <a:spcPts val="1000"/>
              </a:spcBef>
              <a:buFont typeface="Arial"/>
              <a:buNone/>
              <a:defRPr sz="2400" kern="1200">
                <a:solidFill>
                  <a:schemeClr val="tx1"/>
                </a:solidFill>
                <a:latin typeface="+mn-lt"/>
                <a:ea typeface="+mn-lt"/>
                <a:cs typeface="+mn-lt"/>
              </a:defRPr>
            </a:lvl1pPr>
            <a:lvl2pPr marL="457200" indent="0" algn="ctr" defTabSz="914400">
              <a:lnSpc>
                <a:spcPct val="90000"/>
              </a:lnSpc>
              <a:spcBef>
                <a:spcPts val="500"/>
              </a:spcBef>
              <a:buFont typeface="Arial"/>
              <a:buNone/>
              <a:defRPr sz="2000" kern="1200">
                <a:solidFill>
                  <a:schemeClr val="tx1"/>
                </a:solidFill>
                <a:latin typeface="+mn-lt"/>
                <a:ea typeface="+mn-lt"/>
                <a:cs typeface="+mn-lt"/>
              </a:defRPr>
            </a:lvl2pPr>
            <a:lvl3pPr marL="914400" indent="0" algn="ctr" defTabSz="914400">
              <a:lnSpc>
                <a:spcPct val="90000"/>
              </a:lnSpc>
              <a:spcBef>
                <a:spcPts val="500"/>
              </a:spcBef>
              <a:buFont typeface="Arial"/>
              <a:buNone/>
              <a:defRPr sz="1800" kern="1200">
                <a:solidFill>
                  <a:schemeClr val="tx1"/>
                </a:solidFill>
                <a:latin typeface="+mn-lt"/>
                <a:ea typeface="+mn-lt"/>
                <a:cs typeface="+mn-lt"/>
              </a:defRPr>
            </a:lvl3pPr>
            <a:lvl4pPr marL="1371600" indent="0" algn="ctr" defTabSz="914400">
              <a:lnSpc>
                <a:spcPct val="90000"/>
              </a:lnSpc>
              <a:spcBef>
                <a:spcPts val="500"/>
              </a:spcBef>
              <a:buFont typeface="Arial"/>
              <a:buNone/>
              <a:defRPr sz="1600" kern="1200">
                <a:solidFill>
                  <a:schemeClr val="tx1"/>
                </a:solidFill>
                <a:latin typeface="+mn-lt"/>
                <a:ea typeface="+mn-lt"/>
                <a:cs typeface="+mn-lt"/>
              </a:defRPr>
            </a:lvl4pPr>
            <a:lvl5pPr marL="1828800" indent="0" algn="ctr" defTabSz="914400">
              <a:lnSpc>
                <a:spcPct val="90000"/>
              </a:lnSpc>
              <a:spcBef>
                <a:spcPts val="500"/>
              </a:spcBef>
              <a:buFont typeface="Arial"/>
              <a:buNone/>
              <a:defRPr sz="1600" kern="1200">
                <a:solidFill>
                  <a:schemeClr val="tx1"/>
                </a:solidFill>
                <a:latin typeface="+mn-lt"/>
                <a:ea typeface="+mn-lt"/>
                <a:cs typeface="+mn-lt"/>
              </a:defRPr>
            </a:lvl5pPr>
            <a:lvl6pPr marL="2286000" indent="0" algn="ctr" defTabSz="914400">
              <a:lnSpc>
                <a:spcPct val="90000"/>
              </a:lnSpc>
              <a:spcBef>
                <a:spcPts val="500"/>
              </a:spcBef>
              <a:buFont typeface="Arial"/>
              <a:buNone/>
              <a:defRPr sz="1600" kern="1200">
                <a:solidFill>
                  <a:schemeClr val="tx1"/>
                </a:solidFill>
                <a:latin typeface="+mn-lt"/>
                <a:ea typeface="+mn-lt"/>
                <a:cs typeface="+mn-lt"/>
              </a:defRPr>
            </a:lvl6pPr>
            <a:lvl7pPr marL="2743200" indent="0" algn="ctr" defTabSz="914400">
              <a:lnSpc>
                <a:spcPct val="90000"/>
              </a:lnSpc>
              <a:spcBef>
                <a:spcPts val="500"/>
              </a:spcBef>
              <a:buFont typeface="Arial"/>
              <a:buNone/>
              <a:defRPr sz="1600" kern="1200">
                <a:solidFill>
                  <a:schemeClr val="tx1"/>
                </a:solidFill>
                <a:latin typeface="+mn-lt"/>
                <a:ea typeface="+mn-lt"/>
                <a:cs typeface="+mn-lt"/>
              </a:defRPr>
            </a:lvl7pPr>
            <a:lvl8pPr marL="3200400" indent="0" algn="ctr" defTabSz="914400">
              <a:lnSpc>
                <a:spcPct val="90000"/>
              </a:lnSpc>
              <a:spcBef>
                <a:spcPts val="500"/>
              </a:spcBef>
              <a:buFont typeface="Arial"/>
              <a:buNone/>
              <a:defRPr sz="1600" kern="1200">
                <a:solidFill>
                  <a:schemeClr val="tx1"/>
                </a:solidFill>
                <a:latin typeface="+mn-lt"/>
                <a:ea typeface="+mn-lt"/>
                <a:cs typeface="+mn-lt"/>
              </a:defRPr>
            </a:lvl8pPr>
            <a:lvl9pPr marL="3657600" indent="0" algn="ctr" defTabSz="914400">
              <a:lnSpc>
                <a:spcPct val="90000"/>
              </a:lnSpc>
              <a:spcBef>
                <a:spcPts val="500"/>
              </a:spcBef>
              <a:buFont typeface="Arial"/>
              <a:buNone/>
              <a:defRPr sz="1600" kern="1200">
                <a:solidFill>
                  <a:schemeClr val="tx1"/>
                </a:solidFill>
                <a:latin typeface="+mn-lt"/>
                <a:ea typeface="+mn-lt"/>
                <a:cs typeface="+mn-lt"/>
              </a:defRPr>
            </a:lvl9pPr>
          </a:lstStyle>
          <a:p xmlns:a="http://schemas.openxmlformats.org/drawingml/2006/main">
            <a:pPr>
              <a:defRPr sz="1800">
                <a:solidFill>
                  <a:srgbClr val="FFFFFF"/>
                </a:solidFill>
                <a:latin typeface="Helvetica Neue"/>
                <a:ea typeface="Helvetica Neue"/>
                <a:cs typeface="Helvetica Neue"/>
              </a:defRPr>
            </a:pPr>
            <a:r>
              <a:rPr sz="1800">
                <a:solidFill>
                  <a:srgbClr val="FFFFFF"/>
                </a:solidFill>
                <a:latin typeface="Helvetica Neue"/>
                <a:ea typeface="Helvetica Neue"/>
                <a:cs typeface="Helvetica Neue"/>
              </a:rPr>
              <a:t>40-minute talk</a:t>
            </a:r>
          </a:p>
        </p:txBody>
      </p:sp>
      <p:pic>
        <p:nvPicPr>
          <p:cNvPr id="11" name="Picture 6"/>
          <p:cNvPicPr>
            <a:picLocks xmlns:a="http://schemas.openxmlformats.org/drawingml/2006/main" noChangeAspect="1"/>
          </p:cNvPicPr>
          <p:nvPr/>
        </p:nvPicPr>
        <p:blipFill>
          <a:blip xmlns:r="http://schemas.openxmlformats.org/officeDocument/2006/relationships" xmlns:a="http://schemas.openxmlformats.org/drawingml/2006/main" r:embed="Rcf779da3f9ef4f33"/>
          <a:srcRect xmlns:a="http://schemas.openxmlformats.org/drawingml/2006/main" l="8269" t="0" r="8269" b="0"/>
          <a:stretch xmlns:a="http://schemas.openxmlformats.org/drawingml/2006/main"/>
        </p:blipFill>
        <p:spPr>
          <a:xfrm xmlns:a="http://schemas.openxmlformats.org/drawingml/2006/main">
            <a:off x="7899094" y="0"/>
            <a:ext cx="4292906" cy="6858000"/>
          </a:xfrm>
          <a:prstGeom xmlns:a="http://schemas.openxmlformats.org/drawingml/2006/main" prst="rect">
            <a:avLst/>
          </a:prstGeom>
        </p:spPr>
      </p:pic>
    </p:spTree>
    <p:extLst>
      <p:ext uri="{BB962C8B-B14F-4D97-AF65-F5344CB8AC3E}">
        <p14:creationId xmlns:p14="http://schemas.microsoft.com/office/powerpoint/2010/main" val="3258783314"/>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188" y="6278563"/>
            <a:ext cx="519112" cy="241300"/>
          </a:xfrm>
        </p:spPr>
        <p:txBody>
          <a:bodyPr xmlns:a="http://schemas.openxmlformats.org/drawingml/2006/main">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E2598689-54C9-18A7-3A19-ED76AA08988F}" type="slidenum">
              <a:rPr sz="1000">
                <a:solidFill>
                  <a:srgbClr val="FFFFFF"/>
                </a:solidFill>
                <a:latin typeface="Helvetica Neue"/>
                <a:ea typeface="Helvetica Neue"/>
                <a:cs typeface="Helvetica Neue"/>
              </a:rPr>
              <a:t>2</a:t>
            </a:fld>
            <a:endParaRP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Which model would you choose?</a:t>
            </a:r>
            <a:endParaRPr/>
          </a:p>
        </p:txBody>
      </p:sp>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4294967295"/>
          </p:nvPr>
        </p:nvSpPr>
        <p:spPr>
          <a:xfrm xmlns:a="http://schemas.openxmlformats.org/drawingml/2006/main">
            <a:off x="393700"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Illustrative fictional data</a:t>
            </a: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4294967295"/>
          </p:nvPr>
        </p:nvSpPr>
        <p:spPr>
          <a:xfrm xmlns:a="http://schemas.openxmlformats.org/drawingml/2006/main">
            <a:off x="6256618"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Model A · 89.7</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Model B · 88.9</a:t>
            </a: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Model C · 84.3</a:t>
            </a:r>
          </a:p>
        </p:txBody>
      </p:sp>
    </p:spTree>
    <p:extLst>
      <p:ext uri="{BB962C8B-B14F-4D97-AF65-F5344CB8AC3E}">
        <p14:creationId xmlns:p14="http://schemas.microsoft.com/office/powerpoint/2010/main" val="360145486"/>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B8357537-167D-0462-A21D-DD8E87444BE4}"/>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27489CDA-073D-5D98-B832-86AD74222B71}"/>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202359C0-8A7A-196E-DD58-8E6569619F09}" type="slidenum">
              <a:rPr sz="1000">
                <a:solidFill>
                  <a:srgbClr val="FFFFFF"/>
                </a:solidFill>
                <a:latin typeface="Helvetica Neue"/>
                <a:ea typeface="Helvetica Neue"/>
                <a:cs typeface="Helvetica Neue"/>
              </a:rPr>
              <a:t>3</a:t>
            </a:fld>
            <a:endParaRPr/>
          </a:p>
        </p:txBody>
      </p:sp>
      <p:sp>
        <p:nvSpPr>
          <p:cNvPr id="533" name="Google Shape;533;p58">
            <a:extLst xmlns:a="http://schemas.openxmlformats.org/drawingml/2006/main">
              <a:ext uri="{FF2B5EF4-FFF2-40B4-BE49-F238E27FC236}">
                <a16:creationId xmlns:a16="http://schemas.microsoft.com/office/drawing/2014/main" id="{08EBC4B8-BBC1-7C2A-F77D-BEC6394B0F93}"/>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Now give them your workload</a:t>
            </a:r>
          </a:p>
        </p:txBody>
      </p:sp>
      <p:sp>
        <p:nvSpPr>
          <p:cNvPr id="14" name="Content Placeholder 15">
            <a:extLst xmlns:a="http://schemas.openxmlformats.org/drawingml/2006/main">
              <a:ext uri="{FF2B5EF4-FFF2-40B4-BE49-F238E27FC236}">
                <a16:creationId xmlns:a16="http://schemas.microsoft.com/office/drawing/2014/main" id="{D81689CF-E5CF-3072-801D-DC2D321D4955}"/>
              </a:ext>
            </a:extLst>
          </p:cNvPr>
          <p:cNvSpPr>
            <a:spLocks xmlns:a="http://schemas.openxmlformats.org/drawingml/2006/main" noGrp="1"/>
          </p:cNvSpPr>
          <p:nvPr/>
        </p:nvSpPr>
        <p:spPr>
          <a:xfrm xmlns:a="http://schemas.openxmlformats.org/drawingml/2006/main">
            <a:off x="400939" y="1057501"/>
            <a:ext cx="11404599" cy="101225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0" indent="0" algn="l" defTabSz="914400">
              <a:lnSpc>
                <a:spcPct val="90000"/>
              </a:lnSpc>
              <a:spcBef>
                <a:spcPts val="1000"/>
              </a:spcBef>
              <a:spcAft>
                <a:spcPts val="800"/>
              </a:spcAft>
              <a:buFont typeface="Arial"/>
              <a:buNone/>
              <a:defRPr sz="1600" kern="1200">
                <a:solidFill>
                  <a:schemeClr val="tx1"/>
                </a:solidFill>
                <a:latin typeface="+mn-lt"/>
                <a:ea typeface="+mn-lt"/>
                <a:cs typeface="+mn-lt"/>
              </a:defRPr>
            </a:lvl1pPr>
            <a:lvl2pPr marL="4572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2pPr>
            <a:lvl3pPr marL="9144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3pPr>
            <a:lvl4pPr marL="13716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4pPr>
            <a:lvl5pPr marL="18288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a:lnSpc>
                <a:spcPct val="114000"/>
              </a:lnSpc>
              <a:spcBef>
                <a:spcPts val="0"/>
              </a:spcBef>
              <a:spcAft>
                <a:spcPts val="600"/>
              </a:spcAft>
              <a:buNone/>
              <a:defRPr sz="1800">
                <a:solidFill>
                  <a:srgbClr val="FFFFFF"/>
                </a:solidFill>
                <a:latin typeface="Helvetica Neue"/>
                <a:ea typeface="Helvetica Neue"/>
                <a:cs typeface="Helvetica Neue"/>
              </a:defRPr>
            </a:pPr>
            <a:r>
              <a:rPr sz="1800">
                <a:solidFill>
                  <a:srgbClr val="FFFFFF"/>
                </a:solidFill>
                <a:latin typeface="Helvetica Neue"/>
                <a:ea typeface="Helvetica Neue"/>
                <a:cs typeface="Helvetica Neue"/>
              </a:rPr>
              <a:t>Illustrative fictional data</a:t>
            </a:r>
          </a:p>
          <a:p xmlns:a="http://schemas.openxmlformats.org/drawingml/2006/main">
            <a:pPr>
              <a:lnSpc>
                <a:spcPct val="114000"/>
              </a:lnSpc>
              <a:spcBef>
                <a:spcPts val="0"/>
              </a:spcBef>
              <a:spcAft>
                <a:spcPts val="600"/>
              </a:spcAft>
              <a:buNone/>
              <a:defRPr sz="1800">
                <a:solidFill>
                  <a:srgbClr val="FFFFFF"/>
                </a:solidFill>
                <a:latin typeface="Helvetica Neue"/>
                <a:ea typeface="Helvetica Neue"/>
                <a:cs typeface="Helvetica Neue"/>
              </a:defRPr>
            </a:pPr>
            <a:r>
              <a:rPr sz="1800">
                <a:solidFill>
                  <a:srgbClr val="FFFFFF"/>
                </a:solidFill>
                <a:latin typeface="Helvetica Neue"/>
                <a:ea typeface="Helvetica Neue"/>
                <a:cs typeface="Helvetica Neue"/>
              </a:rPr>
              <a:t>Workload pass rate and cost can change the choice.</a:t>
            </a:r>
          </a:p>
        </p:txBody>
      </p:sp>
      <p:graphicFrame>
        <p:nvGraphicFramePr>
          <p:cNvPr id="539" name=""/>
          <p:cNvGraphicFramePr/>
          <p:nvPr/>
        </p:nvGraphicFramePr>
        <p:xfrm>
          <a:off xmlns:a="http://schemas.openxmlformats.org/drawingml/2006/main" x="400050" y="2476500"/>
          <a:ext xmlns:a="http://schemas.openxmlformats.org/drawingml/2006/main" cx="11391900" cy="2952750"/>
        </p:xfrm>
        <a:graphic xmlns:a="http://schemas.openxmlformats.org/drawingml/2006/main">
          <a:graphicData uri="http://schemas.openxmlformats.org/drawingml/2006/table">
            <a:tbl>
              <a:tblPr/>
              <a:tblGrid>
                <a:gridCol w="2847975"/>
                <a:gridCol w="2847975"/>
                <a:gridCol w="2847975"/>
                <a:gridCol w="2847975"/>
              </a:tblGrid>
              <a:tr h="738188">
                <a:tc>
                  <a:txBody>
                    <a:bodyPr/>
                    <a:lstStyle/>
                    <a:p>
                      <a:r>
                        <a:rPr sz="2100">
                          <a:solidFill>
                            <a:srgbClr val="FFFFFF"/>
                          </a:solidFill>
                          <a:latin typeface="Helvetica Neue"/>
                          <a:ea typeface="Helvetica Neue"/>
                          <a:cs typeface="Helvetica Neue"/>
                        </a:rPr>
                        <a:t>Model</a:t>
                      </a:r>
                    </a:p>
                  </a:txBody>
                  <a:tcPr marL="91440" marR="91440" marT="45720" marB="45720">
                    <a:solidFill>
                      <a:srgbClr val="242424"/>
                    </a:solidFill>
                  </a:tcPr>
                </a:tc>
                <a:tc>
                  <a:txBody>
                    <a:bodyPr/>
                    <a:lstStyle/>
                    <a:p>
                      <a:r>
                        <a:rPr sz="2100">
                          <a:solidFill>
                            <a:srgbClr val="FFFFFF"/>
                          </a:solidFill>
                          <a:latin typeface="Helvetica Neue"/>
                          <a:ea typeface="Helvetica Neue"/>
                          <a:cs typeface="Helvetica Neue"/>
                        </a:rPr>
                        <a:t>Public score</a:t>
                      </a:r>
                    </a:p>
                  </a:txBody>
                  <a:tcPr marL="91440" marR="91440" marT="45720" marB="45720">
                    <a:solidFill>
                      <a:srgbClr val="242424"/>
                    </a:solidFill>
                  </a:tcPr>
                </a:tc>
                <a:tc>
                  <a:txBody>
                    <a:bodyPr/>
                    <a:lstStyle/>
                    <a:p>
                      <a:r>
                        <a:rPr sz="2100">
                          <a:solidFill>
                            <a:srgbClr val="FFFFFF"/>
                          </a:solidFill>
                          <a:latin typeface="Helvetica Neue"/>
                          <a:ea typeface="Helvetica Neue"/>
                          <a:cs typeface="Helvetica Neue"/>
                        </a:rPr>
                        <a:t>Workload pass</a:t>
                      </a:r>
                    </a:p>
                  </a:txBody>
                  <a:tcPr marL="91440" marR="91440" marT="45720" marB="45720">
                    <a:solidFill>
                      <a:srgbClr val="242424"/>
                    </a:solidFill>
                  </a:tcPr>
                </a:tc>
                <a:tc>
                  <a:txBody>
                    <a:bodyPr/>
                    <a:lstStyle/>
                    <a:p>
                      <a:r>
                        <a:rPr sz="2100">
                          <a:solidFill>
                            <a:srgbClr val="FFFFFF"/>
                          </a:solidFill>
                          <a:latin typeface="Helvetica Neue"/>
                          <a:ea typeface="Helvetica Neue"/>
                          <a:cs typeface="Helvetica Neue"/>
                        </a:rPr>
                        <a:t>Cost / run</a:t>
                      </a:r>
                    </a:p>
                  </a:txBody>
                  <a:tcPr marL="91440" marR="91440" marT="45720" marB="45720">
                    <a:solidFill>
                      <a:srgbClr val="242424"/>
                    </a:solidFill>
                  </a:tcPr>
                </a:tc>
              </a:tr>
              <a:tr h="738188">
                <a:tc>
                  <a:txBody>
                    <a:bodyPr/>
                    <a:lstStyle/>
                    <a:p>
                      <a:r>
                        <a:rPr sz="2100">
                          <a:solidFill>
                            <a:srgbClr val="FFFFFF"/>
                          </a:solidFill>
                          <a:latin typeface="Helvetica Neue"/>
                          <a:ea typeface="Helvetica Neue"/>
                          <a:cs typeface="Helvetica Neue"/>
                        </a:rPr>
                        <a:t>A</a:t>
                      </a:r>
                    </a:p>
                  </a:txBody>
                  <a:tcPr marL="91440" marR="91440" marT="45720" marB="45720">
                    <a:solidFill>
                      <a:srgbClr val="000000"/>
                    </a:solidFill>
                  </a:tcPr>
                </a:tc>
                <a:tc>
                  <a:txBody>
                    <a:bodyPr/>
                    <a:lstStyle/>
                    <a:p>
                      <a:r>
                        <a:rPr sz="2100">
                          <a:solidFill>
                            <a:srgbClr val="FFFFFF"/>
                          </a:solidFill>
                          <a:latin typeface="Helvetica Neue"/>
                          <a:ea typeface="Helvetica Neue"/>
                          <a:cs typeface="Helvetica Neue"/>
                        </a:rPr>
                        <a:t>89.7</a:t>
                      </a:r>
                    </a:p>
                  </a:txBody>
                  <a:tcPr marL="91440" marR="91440" marT="45720" marB="45720">
                    <a:solidFill>
                      <a:srgbClr val="000000"/>
                    </a:solidFill>
                  </a:tcPr>
                </a:tc>
                <a:tc>
                  <a:txBody>
                    <a:bodyPr/>
                    <a:lstStyle/>
                    <a:p>
                      <a:r>
                        <a:rPr sz="2100">
                          <a:solidFill>
                            <a:srgbClr val="FFFFFF"/>
                          </a:solidFill>
                          <a:latin typeface="Helvetica Neue"/>
                          <a:ea typeface="Helvetica Neue"/>
                          <a:cs typeface="Helvetica Neue"/>
                        </a:rPr>
                        <a:t>71%</a:t>
                      </a:r>
                    </a:p>
                  </a:txBody>
                  <a:tcPr marL="91440" marR="91440" marT="45720" marB="45720">
                    <a:solidFill>
                      <a:srgbClr val="000000"/>
                    </a:solidFill>
                  </a:tcPr>
                </a:tc>
                <a:tc>
                  <a:txBody>
                    <a:bodyPr/>
                    <a:lstStyle/>
                    <a:p>
                      <a:r>
                        <a:rPr sz="2100">
                          <a:solidFill>
                            <a:srgbClr val="FFFFFF"/>
                          </a:solidFill>
                          <a:latin typeface="Helvetica Neue"/>
                          <a:ea typeface="Helvetica Neue"/>
                          <a:cs typeface="Helvetica Neue"/>
                        </a:rPr>
                        <a:t>$0.34</a:t>
                      </a:r>
                    </a:p>
                  </a:txBody>
                  <a:tcPr marL="91440" marR="91440" marT="45720" marB="45720">
                    <a:solidFill>
                      <a:srgbClr val="000000"/>
                    </a:solidFill>
                  </a:tcPr>
                </a:tc>
              </a:tr>
              <a:tr h="738188">
                <a:tc>
                  <a:txBody>
                    <a:bodyPr/>
                    <a:lstStyle/>
                    <a:p>
                      <a:r>
                        <a:rPr sz="2100">
                          <a:solidFill>
                            <a:srgbClr val="FFFFFF"/>
                          </a:solidFill>
                          <a:latin typeface="Helvetica Neue"/>
                          <a:ea typeface="Helvetica Neue"/>
                          <a:cs typeface="Helvetica Neue"/>
                        </a:rPr>
                        <a:t>B</a:t>
                      </a:r>
                    </a:p>
                  </a:txBody>
                  <a:tcPr marL="91440" marR="91440" marT="45720" marB="45720">
                    <a:solidFill>
                      <a:srgbClr val="000000"/>
                    </a:solidFill>
                  </a:tcPr>
                </a:tc>
                <a:tc>
                  <a:txBody>
                    <a:bodyPr/>
                    <a:lstStyle/>
                    <a:p>
                      <a:r>
                        <a:rPr sz="2100">
                          <a:solidFill>
                            <a:srgbClr val="FFFFFF"/>
                          </a:solidFill>
                          <a:latin typeface="Helvetica Neue"/>
                          <a:ea typeface="Helvetica Neue"/>
                          <a:cs typeface="Helvetica Neue"/>
                        </a:rPr>
                        <a:t>88.9</a:t>
                      </a:r>
                    </a:p>
                  </a:txBody>
                  <a:tcPr marL="91440" marR="91440" marT="45720" marB="45720">
                    <a:solidFill>
                      <a:srgbClr val="000000"/>
                    </a:solidFill>
                  </a:tcPr>
                </a:tc>
                <a:tc>
                  <a:txBody>
                    <a:bodyPr/>
                    <a:lstStyle/>
                    <a:p>
                      <a:r>
                        <a:rPr sz="2100">
                          <a:solidFill>
                            <a:srgbClr val="FFFFFF"/>
                          </a:solidFill>
                          <a:latin typeface="Helvetica Neue"/>
                          <a:ea typeface="Helvetica Neue"/>
                          <a:cs typeface="Helvetica Neue"/>
                        </a:rPr>
                        <a:t>94%</a:t>
                      </a:r>
                    </a:p>
                  </a:txBody>
                  <a:tcPr marL="91440" marR="91440" marT="45720" marB="45720">
                    <a:solidFill>
                      <a:srgbClr val="000000"/>
                    </a:solidFill>
                  </a:tcPr>
                </a:tc>
                <a:tc>
                  <a:txBody>
                    <a:bodyPr/>
                    <a:lstStyle/>
                    <a:p>
                      <a:r>
                        <a:rPr sz="2100">
                          <a:solidFill>
                            <a:srgbClr val="FFFFFF"/>
                          </a:solidFill>
                          <a:latin typeface="Helvetica Neue"/>
                          <a:ea typeface="Helvetica Neue"/>
                          <a:cs typeface="Helvetica Neue"/>
                        </a:rPr>
                        <a:t>$0.09</a:t>
                      </a:r>
                    </a:p>
                  </a:txBody>
                  <a:tcPr marL="91440" marR="91440" marT="45720" marB="45720">
                    <a:solidFill>
                      <a:srgbClr val="000000"/>
                    </a:solidFill>
                  </a:tcPr>
                </a:tc>
              </a:tr>
              <a:tr h="738188">
                <a:tc>
                  <a:txBody>
                    <a:bodyPr/>
                    <a:lstStyle/>
                    <a:p>
                      <a:r>
                        <a:rPr sz="2100">
                          <a:solidFill>
                            <a:srgbClr val="FFFFFF"/>
                          </a:solidFill>
                          <a:latin typeface="Helvetica Neue"/>
                          <a:ea typeface="Helvetica Neue"/>
                          <a:cs typeface="Helvetica Neue"/>
                        </a:rPr>
                        <a:t>C</a:t>
                      </a:r>
                    </a:p>
                  </a:txBody>
                  <a:tcPr marL="91440" marR="91440" marT="45720" marB="45720">
                    <a:solidFill>
                      <a:srgbClr val="000000"/>
                    </a:solidFill>
                  </a:tcPr>
                </a:tc>
                <a:tc>
                  <a:txBody>
                    <a:bodyPr/>
                    <a:lstStyle/>
                    <a:p>
                      <a:r>
                        <a:rPr sz="2100">
                          <a:solidFill>
                            <a:srgbClr val="FFFFFF"/>
                          </a:solidFill>
                          <a:latin typeface="Helvetica Neue"/>
                          <a:ea typeface="Helvetica Neue"/>
                          <a:cs typeface="Helvetica Neue"/>
                        </a:rPr>
                        <a:t>84.3</a:t>
                      </a:r>
                    </a:p>
                  </a:txBody>
                  <a:tcPr marL="91440" marR="91440" marT="45720" marB="45720">
                    <a:solidFill>
                      <a:srgbClr val="000000"/>
                    </a:solidFill>
                  </a:tcPr>
                </a:tc>
                <a:tc>
                  <a:txBody>
                    <a:bodyPr/>
                    <a:lstStyle/>
                    <a:p>
                      <a:r>
                        <a:rPr sz="2100">
                          <a:solidFill>
                            <a:srgbClr val="FFFFFF"/>
                          </a:solidFill>
                          <a:latin typeface="Helvetica Neue"/>
                          <a:ea typeface="Helvetica Neue"/>
                          <a:cs typeface="Helvetica Neue"/>
                        </a:rPr>
                        <a:t>92%</a:t>
                      </a:r>
                    </a:p>
                  </a:txBody>
                  <a:tcPr marL="91440" marR="91440" marT="45720" marB="45720">
                    <a:solidFill>
                      <a:srgbClr val="000000"/>
                    </a:solidFill>
                  </a:tcPr>
                </a:tc>
                <a:tc>
                  <a:txBody>
                    <a:bodyPr/>
                    <a:lstStyle/>
                    <a:p>
                      <a:r>
                        <a:rPr sz="2100">
                          <a:solidFill>
                            <a:srgbClr val="FFFFFF"/>
                          </a:solidFill>
                          <a:latin typeface="Helvetica Neue"/>
                          <a:ea typeface="Helvetica Neue"/>
                          <a:cs typeface="Helvetica Neue"/>
                        </a:rPr>
                        <a:t>$0.01</a:t>
                      </a:r>
                    </a:p>
                  </a:txBody>
                  <a:tcPr marL="91440" marR="91440" marT="45720" marB="45720">
                    <a:solidFill>
                      <a:srgbClr val="000000"/>
                    </a:solidFill>
                  </a:tcPr>
                </a:tc>
              </a:tr>
            </a:tbl>
          </a:graphicData>
        </a:graphic>
      </p:graphicFrame>
    </p:spTree>
    <p:extLst>
      <p:ext uri="{BB962C8B-B14F-4D97-AF65-F5344CB8AC3E}">
        <p14:creationId xmlns:p14="http://schemas.microsoft.com/office/powerpoint/2010/main" val="329854879"/>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EFD6AB9A-5F9E-5F59-51AB-3C8734130965}" type="slidenum">
              <a:rPr sz="1000">
                <a:solidFill>
                  <a:srgbClr val="FFFFFF"/>
                </a:solidFill>
                <a:latin typeface="Helvetica Neue"/>
                <a:ea typeface="Helvetica Neue"/>
                <a:cs typeface="Helvetica Neue"/>
              </a:rPr>
              <a:t>4</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Benchmarks are somebody else's requirements</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Useful for research and shortlists</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Missing: your users, tools, failure costs</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Scores depend on test conditions</a:t>
            </a:r>
          </a:p>
        </p:txBody>
      </p:sp>
    </p:spTree>
    <p:extLst>
      <p:ext uri="{BB962C8B-B14F-4D97-AF65-F5344CB8AC3E}">
        <p14:creationId xmlns:p14="http://schemas.microsoft.com/office/powerpoint/2010/main" val="3667182145"/>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EE5B3003-2C54-13C6-9832-7637201064DE}" type="slidenum">
              <a:rPr sz="1000">
                <a:solidFill>
                  <a:srgbClr val="FFFFFF"/>
                </a:solidFill>
                <a:latin typeface="Helvetica Neue"/>
                <a:ea typeface="Helvetica Neue"/>
                <a:cs typeface="Helvetica Neue"/>
              </a:rPr>
              <a:t>5</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One number is a comforting fiction</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Quality · latency · cost · consistency</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Tool reliability · policy adherence</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Set constraints before choosing</a:t>
            </a:r>
          </a:p>
        </p:txBody>
      </p:sp>
    </p:spTree>
    <p:extLst>
      <p:ext uri="{BB962C8B-B14F-4D97-AF65-F5344CB8AC3E}">
        <p14:creationId xmlns:p14="http://schemas.microsoft.com/office/powerpoint/2010/main" val="3667182145"/>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8C630A04-5A25-9E0C-9436-126091DB86B3}" type="slidenum">
              <a:rPr sz="1000">
                <a:solidFill>
                  <a:srgbClr val="FFFFFF"/>
                </a:solidFill>
                <a:latin typeface="Helvetica Neue"/>
                <a:ea typeface="Helvetica Neue"/>
                <a:cs typeface="Helvetica Neue"/>
              </a:rPr>
              <a:t>6</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Inventory the jobs</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Support: account, billing, cancellation</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Diagnosis, escalation, unusual cases</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Frequency · consequence · success</a:t>
            </a:r>
          </a:p>
        </p:txBody>
      </p:sp>
    </p:spTree>
    <p:extLst>
      <p:ext uri="{BB962C8B-B14F-4D97-AF65-F5344CB8AC3E}">
        <p14:creationId xmlns:p14="http://schemas.microsoft.com/office/powerpoint/2010/main" val="3667182145"/>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D3D7D1C8-AE23-AA48-DF65-C742588DBE47}" type="slidenum">
              <a:rPr sz="1000">
                <a:solidFill>
                  <a:srgbClr val="FFFFFF"/>
                </a:solidFill>
                <a:latin typeface="Helvetica Neue"/>
                <a:ea typeface="Helvetica Neue"/>
                <a:cs typeface="Helvetica Neue"/>
              </a:rPr>
              <a:t>7</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Write observable acceptance criteria</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Cancellation case</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Correct customer + applicable policy</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Authorized action + verified state</a:t>
            </a:r>
          </a:p>
        </p:txBody>
      </p:sp>
    </p:spTree>
    <p:extLst>
      <p:ext uri="{BB962C8B-B14F-4D97-AF65-F5344CB8AC3E}">
        <p14:creationId xmlns:p14="http://schemas.microsoft.com/office/powerpoint/2010/main" val="3667182145"/>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BA58DA2A-B818-18A9-29C1-B697728D5BCE}" type="slidenum">
              <a:rPr sz="1000">
                <a:solidFill>
                  <a:srgbClr val="FFFFFF"/>
                </a:solidFill>
                <a:latin typeface="Helvetica Neue"/>
                <a:ea typeface="Helvetica Neue"/>
                <a:cs typeface="Helvetica Neue"/>
              </a:rPr>
              <a:t>8</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Capture labelled production reality</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Input and relevant context</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Expected behavior and observed failure</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Failure class · severity · scoring method</a:t>
            </a:r>
          </a:p>
        </p:txBody>
      </p:sp>
    </p:spTree>
    <p:extLst>
      <p:ext uri="{BB962C8B-B14F-4D97-AF65-F5344CB8AC3E}">
        <p14:creationId xmlns:p14="http://schemas.microsoft.com/office/powerpoint/2010/main" val="3667182145"/>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388657AE-30A1-5A7A-6A7F-315D84436430}" type="slidenum">
              <a:rPr sz="1000">
                <a:solidFill>
                  <a:srgbClr val="FFFFFF"/>
                </a:solidFill>
                <a:latin typeface="Helvetica Neue"/>
                <a:ea typeface="Helvetica Neue"/>
                <a:cs typeface="Helvetica Neue"/>
              </a:rPr>
              <a:t>9</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Protect the holdout</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Development set: iterate and diagnose</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Holdout: estimate generalization</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Refresh for drift; retain regressions</a:t>
            </a:r>
          </a:p>
        </p:txBody>
      </p:sp>
    </p:spTree>
    <p:extLst>
      <p:ext uri="{BB962C8B-B14F-4D97-AF65-F5344CB8AC3E}">
        <p14:creationId xmlns:p14="http://schemas.microsoft.com/office/powerpoint/2010/main" val="3667182145"/>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188" y="6278563"/>
            <a:ext cx="519112" cy="241300"/>
          </a:xfrm>
        </p:spPr>
        <p:txBody>
          <a:bodyPr xmlns:a="http://schemas.openxmlformats.org/drawingml/2006/main">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DB7BEEEC-A170-5376-2B6E-CB54687B0CB1}" type="slidenum">
              <a:rPr sz="1000">
                <a:solidFill>
                  <a:srgbClr val="FFFFFF"/>
                </a:solidFill>
                <a:latin typeface="Helvetica Neue"/>
                <a:ea typeface="Helvetica Neue"/>
                <a:cs typeface="Helvetica Neue"/>
              </a:rPr>
              <a:t>10</a:t>
            </a:fld>
            <a:endParaRP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Build the eval ladder</a:t>
            </a:r>
            <a:endParaRPr/>
          </a:p>
        </p:txBody>
      </p:sp>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4294967295"/>
          </p:nvPr>
        </p:nvSpPr>
        <p:spPr>
          <a:xfrm xmlns:a="http://schemas.openxmlformats.org/drawingml/2006/main">
            <a:off x="393700"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1 · Deterministic assertions</a:t>
            </a: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4294967295"/>
          </p:nvPr>
        </p:nvSpPr>
        <p:spPr>
          <a:xfrm xmlns:a="http://schemas.openxmlformats.org/drawingml/2006/main">
            <a:off x="6256618"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2 · Heuristic or scored checks</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3 · Calibrated LLM judges</a:t>
            </a: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4 · Expert review</a:t>
            </a:r>
          </a:p>
        </p:txBody>
      </p:sp>
    </p:spTree>
    <p:extLst>
      <p:ext uri="{BB962C8B-B14F-4D97-AF65-F5344CB8AC3E}">
        <p14:creationId xmlns:p14="http://schemas.microsoft.com/office/powerpoint/2010/main" val="360145486"/>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30394428-F1DC-E5F6-DB0C-7DE31F3D8A23}" type="slidenum">
              <a:rPr sz="1000">
                <a:solidFill>
                  <a:srgbClr val="FFFFFF"/>
                </a:solidFill>
                <a:latin typeface="Helvetica Neue"/>
                <a:ea typeface="Helvetica Neue"/>
                <a:cs typeface="Helvetica Neue"/>
              </a:rPr>
              <a:t>11</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Calibrate the judge before trusting the score</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Define a rubric; get expert labels</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Inspect judge–expert disagreements</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Version judge, prompt and rubric</a:t>
            </a:r>
          </a:p>
        </p:txBody>
      </p:sp>
    </p:spTree>
    <p:extLst>
      <p:ext uri="{BB962C8B-B14F-4D97-AF65-F5344CB8AC3E}">
        <p14:creationId xmlns:p14="http://schemas.microsoft.com/office/powerpoint/2010/main" val="3667182145"/>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188" y="6278563"/>
            <a:ext cx="519112" cy="241300"/>
          </a:xfrm>
        </p:spPr>
        <p:txBody>
          <a:bodyPr xmlns:a="http://schemas.openxmlformats.org/drawingml/2006/main">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4DB16885-0D3F-A391-B669-3211DB3B26E8}" type="slidenum">
              <a:rPr sz="1000">
                <a:solidFill>
                  <a:srgbClr val="FFFFFF"/>
                </a:solidFill>
                <a:latin typeface="Helvetica Neue"/>
                <a:ea typeface="Helvetica Neue"/>
                <a:cs typeface="Helvetica Neue"/>
              </a:rPr>
              <a:t>12</a:t>
            </a:fld>
            <a:endParaRP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Stop averaging away failure</a:t>
            </a:r>
            <a:endParaRPr/>
          </a:p>
        </p:txBody>
      </p:sp>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4294967295"/>
          </p:nvPr>
        </p:nvSpPr>
        <p:spPr>
          <a:xfrm xmlns:a="http://schemas.openxmlformats.org/drawingml/2006/main">
            <a:off x="393700"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Report workload slices and severity</a:t>
            </a: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4294967295"/>
          </p:nvPr>
        </p:nvSpPr>
        <p:spPr>
          <a:xfrm xmlns:a="http://schemas.openxmlformats.org/drawingml/2006/main">
            <a:off x="6256618"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Show counts and run-to-run variation</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Report uncertainty</a:t>
            </a: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Track critical violations separately</a:t>
            </a:r>
          </a:p>
        </p:txBody>
      </p:sp>
    </p:spTree>
    <p:extLst>
      <p:ext uri="{BB962C8B-B14F-4D97-AF65-F5344CB8AC3E}">
        <p14:creationId xmlns:p14="http://schemas.microsoft.com/office/powerpoint/2010/main" val="360145486"/>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2DD23107-4986-8758-3A93-3D74F35908CC}" type="slidenum">
              <a:rPr sz="1000">
                <a:solidFill>
                  <a:srgbClr val="FFFFFF"/>
                </a:solidFill>
                <a:latin typeface="Helvetica Neue"/>
                <a:ea typeface="Helvetica Neue"/>
                <a:cs typeface="Helvetica Neue"/>
              </a:rPr>
              <a:t>13</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Measure the cost of success</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Total operating cost ÷ successful tasks</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Count failures, retries and fallbacks</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Also report latency and human effort</a:t>
            </a:r>
          </a:p>
        </p:txBody>
      </p:sp>
    </p:spTree>
    <p:extLst>
      <p:ext uri="{BB962C8B-B14F-4D97-AF65-F5344CB8AC3E}">
        <p14:creationId xmlns:p14="http://schemas.microsoft.com/office/powerpoint/2010/main" val="3667182145"/>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188" y="6278563"/>
            <a:ext cx="519112" cy="241300"/>
          </a:xfrm>
        </p:spPr>
        <p:txBody>
          <a:bodyPr xmlns:a="http://schemas.openxmlformats.org/drawingml/2006/main">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327921A4-25C4-3DB4-06B1-32693CEE2241}" type="slidenum">
              <a:rPr sz="1000">
                <a:solidFill>
                  <a:srgbClr val="FFFFFF"/>
                </a:solidFill>
                <a:latin typeface="Helvetica Neue"/>
                <a:ea typeface="Helvetica Neue"/>
                <a:cs typeface="Helvetica Neue"/>
              </a:rPr>
              <a:t>14</a:t>
            </a:fld>
            <a:endParaRP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Routing is a system to evaluate</a:t>
            </a:r>
            <a:endParaRPr/>
          </a:p>
        </p:txBody>
      </p:sp>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4294967295"/>
          </p:nvPr>
        </p:nvSpPr>
        <p:spPr>
          <a:xfrm xmlns:a="http://schemas.openxmlformats.org/drawingml/2006/main">
            <a:off x="393700"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Easy case → small model</a:t>
            </a: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4294967295"/>
          </p:nvPr>
        </p:nvSpPr>
        <p:spPr>
          <a:xfrm xmlns:a="http://schemas.openxmlformats.org/drawingml/2006/main">
            <a:off x="6256618"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Hard case → stronger model</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Failed check → fallback or human</a:t>
            </a: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Test routing and the final result</a:t>
            </a:r>
          </a:p>
        </p:txBody>
      </p:sp>
    </p:spTree>
    <p:extLst>
      <p:ext uri="{BB962C8B-B14F-4D97-AF65-F5344CB8AC3E}">
        <p14:creationId xmlns:p14="http://schemas.microsoft.com/office/powerpoint/2010/main" val="360145486"/>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EA83FA91-883A-0168-8075-96CEB9DCA3C2}" type="slidenum">
              <a:rPr sz="1000">
                <a:solidFill>
                  <a:srgbClr val="FFFFFF"/>
                </a:solidFill>
                <a:latin typeface="Helvetica Neue"/>
                <a:ea typeface="Helvetica Neue"/>
                <a:cs typeface="Helvetica Neue"/>
              </a:rPr>
              <a:t>15</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Evaluate the system you ship</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Model + prompt + retrieval + context</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Tools + orchestration + permissions</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Any change can affect the result</a:t>
            </a:r>
          </a:p>
        </p:txBody>
      </p:sp>
    </p:spTree>
    <p:extLst>
      <p:ext uri="{BB962C8B-B14F-4D97-AF65-F5344CB8AC3E}">
        <p14:creationId xmlns:p14="http://schemas.microsoft.com/office/powerpoint/2010/main" val="3667182145"/>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DC9C7607-4BA3-B4DC-A00F-2E67A9FCFF7E}" type="slidenum">
              <a:rPr sz="1000">
                <a:solidFill>
                  <a:srgbClr val="FFFFFF"/>
                </a:solidFill>
                <a:latin typeface="Helvetica Neue"/>
                <a:ea typeface="Helvetica Neue"/>
                <a:cs typeface="Helvetica Neue"/>
              </a:rPr>
              <a:t>16</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Make the eval part of the release</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Version cases, scorers and system</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Compare with the baseline by slice</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Investigate regressions before rollout</a:t>
            </a:r>
          </a:p>
        </p:txBody>
      </p:sp>
    </p:spTree>
    <p:extLst>
      <p:ext uri="{BB962C8B-B14F-4D97-AF65-F5344CB8AC3E}">
        <p14:creationId xmlns:p14="http://schemas.microsoft.com/office/powerpoint/2010/main" val="3667182145"/>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90F7333B-44AC-F7E9-D49D-FE92F45E0477}" type="slidenum">
              <a:rPr sz="1000">
                <a:solidFill>
                  <a:srgbClr val="FFFFFF"/>
                </a:solidFill>
                <a:latin typeface="Helvetica Neue"/>
                <a:ea typeface="Helvetica Neue"/>
                <a:cs typeface="Helvetica Neue"/>
              </a:rPr>
              <a:t>17</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Every failure should leave a test behind</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Ship → observe → classify → label</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Add cases → improve → regression-test</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The corpus records lessons learned</a:t>
            </a:r>
          </a:p>
        </p:txBody>
      </p:sp>
    </p:spTree>
    <p:extLst>
      <p:ext uri="{BB962C8B-B14F-4D97-AF65-F5344CB8AC3E}">
        <p14:creationId xmlns:p14="http://schemas.microsoft.com/office/powerpoint/2010/main" val="3667182145"/>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188" y="6278563"/>
            <a:ext cx="519112" cy="241300"/>
          </a:xfrm>
        </p:spPr>
        <p:txBody>
          <a:bodyPr xmlns:a="http://schemas.openxmlformats.org/drawingml/2006/main">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B1C6C81E-38B9-7560-621D-5A151A79DF9B}" type="slidenum">
              <a:rPr sz="1000">
                <a:solidFill>
                  <a:srgbClr val="FFFFFF"/>
                </a:solidFill>
                <a:latin typeface="Helvetica Neue"/>
                <a:ea typeface="Helvetica Neue"/>
                <a:cs typeface="Helvetica Neue"/>
              </a:rPr>
              <a:t>18</a:t>
            </a:fld>
            <a:endParaRP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What does good mean here?</a:t>
            </a:r>
            <a:endParaRPr/>
          </a:p>
        </p:txBody>
      </p:sp>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4294967295"/>
          </p:nvPr>
        </p:nvSpPr>
        <p:spPr>
          <a:xfrm xmlns:a="http://schemas.openxmlformats.org/drawingml/2006/main">
            <a:off x="393700"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Write it down. Test it.</a:t>
            </a: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4294967295"/>
          </p:nvPr>
        </p:nvSpPr>
        <p:spPr>
          <a:xfrm xmlns:a="http://schemas.openxmlformats.org/drawingml/2006/main">
            <a:off x="6256618"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Make models compete on your work.</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Start with 20 real cases.</a:t>
            </a: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Expand coverage with evidence.</a:t>
            </a:r>
          </a:p>
        </p:txBody>
      </p:sp>
    </p:spTree>
    <p:extLst>
      <p:ext uri="{BB962C8B-B14F-4D97-AF65-F5344CB8AC3E}">
        <p14:creationId xmlns:p14="http://schemas.microsoft.com/office/powerpoint/2010/main" val="360145486"/>
      </p:ext>
    </p:extLst>
  </p:cSld>
</p:sld>
</file>

<file path=ppt/theme/theme1.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2026-09-05T01:13:31.2020000Z</dcterms:created>
  <dcterms:modified xsi:type="dcterms:W3CDTF">2026-09-05T01:13:31.2020000Z</dcterms:modified>
</coreProperties>
</file>