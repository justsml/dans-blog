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0688e4c9014798" /><Relationship Type="http://schemas.openxmlformats.org/officeDocument/2006/relationships/extended-properties" Target="/docProps/app.xml" Id="R6c9d5a044b4145f7" /><Relationship Type="http://schemas.openxmlformats.org/officeDocument/2006/relationships/officeDocument" Target="/ppt/presentation.xml" Id="R3b9591a77924458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9455511599647c9"/>
  </p:sldMasterIdLst>
  <p:notesMasterIdLst>
    <p:notesMasterId xmlns:r="http://schemas.openxmlformats.org/officeDocument/2006/relationships" r:id="Rfa54e22bbd694f69"/>
  </p:notesMasterIdLst>
  <p:sldIdLst>
    <p:sldId xmlns:r="http://schemas.openxmlformats.org/officeDocument/2006/relationships" id="256" r:id="R19dad16e00974bbc"/>
    <p:sldId xmlns:r="http://schemas.openxmlformats.org/officeDocument/2006/relationships" id="257" r:id="Rb941ffb9ea37414d"/>
    <p:sldId xmlns:r="http://schemas.openxmlformats.org/officeDocument/2006/relationships" id="258" r:id="R7355b4d4d6ab4994"/>
    <p:sldId xmlns:r="http://schemas.openxmlformats.org/officeDocument/2006/relationships" id="259" r:id="R8129649807564f06"/>
    <p:sldId xmlns:r="http://schemas.openxmlformats.org/officeDocument/2006/relationships" id="260" r:id="Rfb6cbd34ad0b48a7"/>
    <p:sldId xmlns:r="http://schemas.openxmlformats.org/officeDocument/2006/relationships" id="261" r:id="R712cff08c7de4c39"/>
    <p:sldId xmlns:r="http://schemas.openxmlformats.org/officeDocument/2006/relationships" id="262" r:id="R1a58312ce97342fe"/>
    <p:sldId xmlns:r="http://schemas.openxmlformats.org/officeDocument/2006/relationships" id="263" r:id="R2e095f318da24dfb"/>
    <p:sldId xmlns:r="http://schemas.openxmlformats.org/officeDocument/2006/relationships" id="264" r:id="R0eb3571af3704b1a"/>
  </p:sldIdLst>
  <p:sldSz cx="12192000" cy="6858000"/>
  <p:notesSz cx="6858000" cy="9144000"/>
  <p:embeddedFontLst>
    <p:embeddedFont>
      <p:font typeface="OpenAI Sans"/>
      <p:regular xmlns:r="http://schemas.openxmlformats.org/officeDocument/2006/relationships" r:id="R3693db5cbd0c4e15"/>
      <p:bold xmlns:r="http://schemas.openxmlformats.org/officeDocument/2006/relationships" r:id="R6e3cff6397ff43aa"/>
      <p:italic xmlns:r="http://schemas.openxmlformats.org/officeDocument/2006/relationships" r:id="Rc8731a00a092431c"/>
      <p:boldItalic xmlns:r="http://schemas.openxmlformats.org/officeDocument/2006/relationships" r:id="Rb13ecc2e7f3645e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e13d7e48e54442c" /><Relationship Type="http://schemas.openxmlformats.org/officeDocument/2006/relationships/slideMaster" Target="/ppt/slideMasters/slideMaster1.xml" Id="R79455511599647c9" /><Relationship Type="http://schemas.openxmlformats.org/officeDocument/2006/relationships/notesMaster" Target="/ppt/notesMasters/notesMaster1.xml" Id="Rfa54e22bbd694f69" /><Relationship Type="http://schemas.openxmlformats.org/officeDocument/2006/relationships/presProps" Target="/ppt/presProps.xml" Id="R8984ca9b079d45f6" /><Relationship Type="http://schemas.openxmlformats.org/officeDocument/2006/relationships/viewProps" Target="/ppt/viewProps.xml" Id="Rb01efc67faf64058" /><Relationship Type="http://schemas.openxmlformats.org/officeDocument/2006/relationships/tableStyles" Target="/ppt/tableStyles.xml" Id="R80366ada41f645d5" /><Relationship Type="http://schemas.openxmlformats.org/officeDocument/2006/relationships/font" Target="/ppt/fonts/font.dat" Id="R3693db5cbd0c4e15" /><Relationship Type="http://schemas.openxmlformats.org/officeDocument/2006/relationships/font" Target="/ppt/fonts/font2.dat" Id="R6e3cff6397ff43aa" /><Relationship Type="http://schemas.openxmlformats.org/officeDocument/2006/relationships/font" Target="/ppt/fonts/font3.dat" Id="Rc8731a00a092431c" /><Relationship Type="http://schemas.openxmlformats.org/officeDocument/2006/relationships/font" Target="/ppt/fonts/font4.dat" Id="Rb13ecc2e7f3645ec" /><Relationship Type="http://schemas.openxmlformats.org/officeDocument/2006/relationships/slide" Target="/ppt/slides/slide1.xml" Id="R19dad16e00974bbc" /><Relationship Type="http://schemas.openxmlformats.org/officeDocument/2006/relationships/slide" Target="/ppt/slides/slide2.xml" Id="Rb941ffb9ea37414d" /><Relationship Type="http://schemas.openxmlformats.org/officeDocument/2006/relationships/slide" Target="/ppt/slides/slide3.xml" Id="R7355b4d4d6ab4994" /><Relationship Type="http://schemas.openxmlformats.org/officeDocument/2006/relationships/slide" Target="/ppt/slides/slide4.xml" Id="R8129649807564f06" /><Relationship Type="http://schemas.openxmlformats.org/officeDocument/2006/relationships/slide" Target="/ppt/slides/slide5.xml" Id="Rfb6cbd34ad0b48a7" /><Relationship Type="http://schemas.openxmlformats.org/officeDocument/2006/relationships/slide" Target="/ppt/slides/slide6.xml" Id="R712cff08c7de4c39" /><Relationship Type="http://schemas.openxmlformats.org/officeDocument/2006/relationships/slide" Target="/ppt/slides/slide7.xml" Id="R1a58312ce97342fe" /><Relationship Type="http://schemas.openxmlformats.org/officeDocument/2006/relationships/slide" Target="/ppt/slides/slide8.xml" Id="R2e095f318da24dfb" /><Relationship Type="http://schemas.openxmlformats.org/officeDocument/2006/relationships/slide" Target="/ppt/slides/slide9.xml" Id="R0eb3571af3704b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e0231dde834f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bc2b22ee4542b6" /><Relationship Type="http://schemas.openxmlformats.org/officeDocument/2006/relationships/notesMaster" Target="/ppt/notesMasters/notesMaster1.xml" Id="R72358d5922db45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73edbe36864b1b" /><Relationship Type="http://schemas.openxmlformats.org/officeDocument/2006/relationships/notesMaster" Target="/ppt/notesMasters/notesMaster1.xml" Id="R2189dc06a8d649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5eef075d254d4f" /><Relationship Type="http://schemas.openxmlformats.org/officeDocument/2006/relationships/notesMaster" Target="/ppt/notesMasters/notesMaster1.xml" Id="R52953fa692724e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1049715f9e43ba" /><Relationship Type="http://schemas.openxmlformats.org/officeDocument/2006/relationships/notesMaster" Target="/ppt/notesMasters/notesMaster1.xml" Id="Rca01d12ff1694c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c534ca18d84ff2" /><Relationship Type="http://schemas.openxmlformats.org/officeDocument/2006/relationships/notesMaster" Target="/ppt/notesMasters/notesMaster1.xml" Id="R6bb58d47940243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07331133934fbd" /><Relationship Type="http://schemas.openxmlformats.org/officeDocument/2006/relationships/notesMaster" Target="/ppt/notesMasters/notesMaster1.xml" Id="Rc812e7435e5649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9d0147c3d44000" /><Relationship Type="http://schemas.openxmlformats.org/officeDocument/2006/relationships/notesMaster" Target="/ppt/notesMasters/notesMaster1.xml" Id="R6f304d3aaaf040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cb597b6fa948e7" /><Relationship Type="http://schemas.openxmlformats.org/officeDocument/2006/relationships/notesMaster" Target="/ppt/notesMasters/notesMaster1.xml" Id="R62e78994554945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e5f4657e794f37" /><Relationship Type="http://schemas.openxmlformats.org/officeDocument/2006/relationships/notesMaster" Target="/ppt/notesMasters/notesMaster1.xml" Id="Rc2d22f73d0cd4b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Open with the question teams keep asking: which model should we use? Explain that the talk replaces that question with a more useful one: what work must this system perform, and what counts as a passing result? Public benchmarks still help with an initial shortlist. They cannot choose the shipping configuration for your product. Promise one practical method people can start with a handful of real examples, rather than an evaluation platform procurement project. Move directly to the fictional leaderboard.</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 the audience to pick a model using only the public scores, then read the workload pass rates and prices. Say explicitly that these are invented teaching numbers, not measured model results. The apparent winner changes because the question changes. Even C is not automatically the production choice: a two-point difference might matter in a critical slice, and we have said nothing about sample size or latency. The example establishes why a leaderboard supplies a candidate list, while a workload evaluation supplies decision evidence.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a support assistant as the running example. Password resets, billing lookups, cancellations, and technical diagnosis require different behavior. Sample enough ordinary traffic to estimate routine performance, then deliberately add rare cases whose failure is costly. Keep those two views separate so an oversampled challenge set does not masquerade as production prevalence. Define success before generating answers: a cancellation might require the correct account, policy, and confirmed state change. Transition from workload definition to where the examples come from.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Failed traces, corrected answers, escalations, and human overrides give you concrete cases to investigate. Record the relevant context and the desired observable behavior; a transcript without an acceptance criterion is only a souvenir. Remove sensitive data where appropriate and retain the permissions the test requires. Separate development cases from a held-out set that you do not tune against repeatedly. Production changes over time, so refresh coverage deliberately and keep old regressions. Now we can discuss how each example receives its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Start with checks whose answers the system can establish directly: valid schema, correct record, permitted tool, and required state transition. Use scored checks where exact equality would punish acceptable variation. An LLM judge is useful for some open-ended qualities, but it needs a rubric and calibration against human judgments. Inspect disagreements rather than treating the judge as ground truth. Keep answer quality separate from persuasive explanations. For high-risk or ambiguous cases, expert review may remain necessary. Each test should say what evidence justifies its verdict.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system can score well overall while failing cancellations because the workload contains many easy account questions. Do not claim that a specific overall percentage follows from an unspecified workload mix. Instead show the shape of the problem: frequent successes conceal a small, completely broken slice. Report per-slice counts, rates, and critical failures alongside the weighted total. A slice with three cases supports less confidence than one with three hundred. Repeat stochastic runs when variation could change your decision. The goal is a shipping decision with visible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Token price is a component of cost, not the business outcome. Count unsuccessful attempts and the extra calls used to recover from them. Decide explicitly whether human handling and infrastructure are included, then keep that accounting consistent. A cheap first model can become expensive if most requests escalate. Evaluate the routing policy end to end, including its mistakes, rather than combining the best isolated numbers from each model. Compare quality, latency, and cost under the same workload and acceptance criteria. There may be several acceptable configurations.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The user experiences the whole system. A stronger model cannot rescue a missing document, an incorrectly described tool, or a policy that blocks the required action. Version these dependencies with your results so a comparison means something. Every production failure should prompt a decision about whether it belongs in the regression set; duplicates can share a case, while a new failure mode deserves coverage. Run the relevant suite when any behavior-shaping component changes. Monitor after release because offline coverage is always incomplete. Close with a concrete first step.</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Leave the audience with a small next action: collect twenty representative and consequential cases, agree on observable success, and run the current system before trying replacements. Twenty is a starting exercise, not a claim of statistical sufficiency. Add slices and examples as uncertainty and failure costs demand. Public benchmarks remain useful orientation, but the product decision belongs to the workload and the acceptance criteria. Repeat the title as an invitation to own the definition of good, then allow a brief pause for the audience to identify their first failure case.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0608e77f2242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d54d9ab3ed41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3fc1b78fb745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abf59f9b2e4f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4f75fdeada4d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82c64fbd0a4bb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93fd8e7e0bd4ac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b25ffcc3a514cd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872b3f73404131" /><Relationship Type="http://schemas.openxmlformats.org/officeDocument/2006/relationships/slideLayout" Target="/ppt/slideLayouts/slideLayout1.xml" Id="Re34d8bde22c348fc" /><Relationship Type="http://schemas.openxmlformats.org/officeDocument/2006/relationships/slideLayout" Target="/ppt/slideLayouts/slideLayout2.xml" Id="Re9df4a447e3b46e3" /><Relationship Type="http://schemas.openxmlformats.org/officeDocument/2006/relationships/slideLayout" Target="/ppt/slideLayouts/slideLayout3.xml" Id="Ra6812e06a18f47a6" /><Relationship Type="http://schemas.openxmlformats.org/officeDocument/2006/relationships/slideLayout" Target="/ppt/slideLayouts/slideLayout4.xml" Id="R0583bac0d14d44fc" /><Relationship Type="http://schemas.openxmlformats.org/officeDocument/2006/relationships/slideLayout" Target="/ppt/slideLayouts/slideLayout5.xml" Id="R70b82a4bd029411a" /><Relationship Type="http://schemas.openxmlformats.org/officeDocument/2006/relationships/slideLayout" Target="/ppt/slideLayouts/slideLayout6.xml" Id="R328cd8f47979438b" /><Relationship Type="http://schemas.openxmlformats.org/officeDocument/2006/relationships/slideLayout" Target="/ppt/slideLayouts/slideLayout7.xml" Id="Rf900fdd7b33544f1" /><Relationship Type="http://schemas.openxmlformats.org/officeDocument/2006/relationships/slideLayout" Target="/ppt/slideLayouts/slideLayout8.xml" Id="R2c691cd2571f48a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e34d8bde22c348fc"/>
    <p:sldLayoutId xmlns:r="http://schemas.openxmlformats.org/officeDocument/2006/relationships" id="2147483650" r:id="Re9df4a447e3b46e3"/>
    <p:sldLayoutId xmlns:r="http://schemas.openxmlformats.org/officeDocument/2006/relationships" id="2147483651" r:id="Ra6812e06a18f47a6"/>
    <p:sldLayoutId xmlns:r="http://schemas.openxmlformats.org/officeDocument/2006/relationships" id="2147483652" r:id="R0583bac0d14d44fc"/>
    <p:sldLayoutId xmlns:r="http://schemas.openxmlformats.org/officeDocument/2006/relationships" id="2147483653" r:id="R70b82a4bd029411a"/>
    <p:sldLayoutId xmlns:r="http://schemas.openxmlformats.org/officeDocument/2006/relationships" id="2147483654" r:id="R328cd8f47979438b"/>
    <p:sldLayoutId xmlns:r="http://schemas.openxmlformats.org/officeDocument/2006/relationships" id="2147483655" r:id="Rf900fdd7b33544f1"/>
    <p:sldLayoutId xmlns:r="http://schemas.openxmlformats.org/officeDocument/2006/relationships" id="2147483656" r:id="R2c691cd2571f48a2"/>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5f9c90925e45c5" /><Relationship Type="http://schemas.openxmlformats.org/officeDocument/2006/relationships/image" Target="/ppt/media/image.png" Id="R331b58fc95d14cd5" /><Relationship Type="http://schemas.openxmlformats.org/officeDocument/2006/relationships/notesSlide" Target="/ppt/notesSlides/notesSlide1.xml" Id="Rdf79c882de9048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71f49f39ff4497" /><Relationship Type="http://schemas.openxmlformats.org/officeDocument/2006/relationships/notesSlide" Target="/ppt/notesSlides/notesSlide2.xml" Id="R72102778b1ea43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2718fc2217402d" /><Relationship Type="http://schemas.openxmlformats.org/officeDocument/2006/relationships/notesSlide" Target="/ppt/notesSlides/notesSlide3.xml" Id="R1d35e418ef7847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fdaf8a8ce04891" /><Relationship Type="http://schemas.openxmlformats.org/officeDocument/2006/relationships/notesSlide" Target="/ppt/notesSlides/notesSlide4.xml" Id="R9314a03f0c044c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5b6aba76074b18" /><Relationship Type="http://schemas.openxmlformats.org/officeDocument/2006/relationships/notesSlide" Target="/ppt/notesSlides/notesSlide5.xml" Id="R195a7bf6f31947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18fce75f7d4453" /><Relationship Type="http://schemas.openxmlformats.org/officeDocument/2006/relationships/notesSlide" Target="/ppt/notesSlides/notesSlide6.xml" Id="R9e7ed231a90447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e85268268c48fc" /><Relationship Type="http://schemas.openxmlformats.org/officeDocument/2006/relationships/notesSlide" Target="/ppt/notesSlides/notesSlide7.xml" Id="R0a951d2e78454f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e8289c43744ec0" /><Relationship Type="http://schemas.openxmlformats.org/officeDocument/2006/relationships/notesSlide" Target="/ppt/notesSlides/notesSlide8.xml" Id="Rf5713789c21340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2a0c91322746a1" /><Relationship Type="http://schemas.openxmlformats.org/officeDocument/2006/relationships/notesSlide" Target="/ppt/notesSlides/notesSlide9.xml" Id="Ra5ddd3bd7bf044a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Stop Looking at</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My Benchmarks…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Get Your Own!</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15-minute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331b58fc95d14cd5"/>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winner disappears</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Illustrative fictional data</a:t>
            </a:r>
          </a:p>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Workload pass rate and cost can change the choice.</a:t>
            </a:r>
          </a:p>
        </p:txBody>
      </p:sp>
      <p:graphicFrame>
        <p:nvGraphicFramePr>
          <p:cNvPr id="539" name=""/>
          <p:cNvGraphicFramePr/>
          <p:nvPr/>
        </p:nvGraphicFramePr>
        <p:xfrm>
          <a:off xmlns:a="http://schemas.openxmlformats.org/drawingml/2006/main" x="400050" y="2476500"/>
          <a:ext xmlns:a="http://schemas.openxmlformats.org/drawingml/2006/main" cx="11391900" cy="2952750"/>
        </p:xfrm>
        <a:graphic xmlns:a="http://schemas.openxmlformats.org/drawingml/2006/main">
          <a:graphicData uri="http://schemas.openxmlformats.org/drawingml/2006/table">
            <a:tbl>
              <a:tblPr/>
              <a:tblGrid>
                <a:gridCol w="2847975"/>
                <a:gridCol w="2847975"/>
                <a:gridCol w="2847975"/>
                <a:gridCol w="2847975"/>
              </a:tblGrid>
              <a:tr h="738188">
                <a:tc>
                  <a:txBody>
                    <a:bodyPr/>
                    <a:lstStyle/>
                    <a:p>
                      <a:r>
                        <a:rPr sz="2100">
                          <a:solidFill>
                            <a:srgbClr val="FFFFFF"/>
                          </a:solidFill>
                          <a:latin typeface="Helvetica Neue"/>
                          <a:ea typeface="Helvetica Neue"/>
                          <a:cs typeface="Helvetica Neue"/>
                        </a:rPr>
                        <a:t>Model</a:t>
                      </a:r>
                    </a:p>
                  </a:txBody>
                  <a:tcPr marL="91440" marR="91440" marT="45720" marB="45720">
                    <a:solidFill>
                      <a:srgbClr val="242424"/>
                    </a:solidFill>
                  </a:tcPr>
                </a:tc>
                <a:tc>
                  <a:txBody>
                    <a:bodyPr/>
                    <a:lstStyle/>
                    <a:p>
                      <a:r>
                        <a:rPr sz="2100">
                          <a:solidFill>
                            <a:srgbClr val="FFFFFF"/>
                          </a:solidFill>
                          <a:latin typeface="Helvetica Neue"/>
                          <a:ea typeface="Helvetica Neue"/>
                          <a:cs typeface="Helvetica Neue"/>
                        </a:rPr>
                        <a:t>Public score</a:t>
                      </a:r>
                    </a:p>
                  </a:txBody>
                  <a:tcPr marL="91440" marR="91440" marT="45720" marB="45720">
                    <a:solidFill>
                      <a:srgbClr val="242424"/>
                    </a:solidFill>
                  </a:tcPr>
                </a:tc>
                <a:tc>
                  <a:txBody>
                    <a:bodyPr/>
                    <a:lstStyle/>
                    <a:p>
                      <a:r>
                        <a:rPr sz="2100">
                          <a:solidFill>
                            <a:srgbClr val="FFFFFF"/>
                          </a:solidFill>
                          <a:latin typeface="Helvetica Neue"/>
                          <a:ea typeface="Helvetica Neue"/>
                          <a:cs typeface="Helvetica Neue"/>
                        </a:rPr>
                        <a:t>Workload pass</a:t>
                      </a:r>
                    </a:p>
                  </a:txBody>
                  <a:tcPr marL="91440" marR="91440" marT="45720" marB="45720">
                    <a:solidFill>
                      <a:srgbClr val="242424"/>
                    </a:solidFill>
                  </a:tcPr>
                </a:tc>
                <a:tc>
                  <a:txBody>
                    <a:bodyPr/>
                    <a:lstStyle/>
                    <a:p>
                      <a:r>
                        <a:rPr sz="2100">
                          <a:solidFill>
                            <a:srgbClr val="FFFFFF"/>
                          </a:solidFill>
                          <a:latin typeface="Helvetica Neue"/>
                          <a:ea typeface="Helvetica Neue"/>
                          <a:cs typeface="Helvetica Neue"/>
                        </a:rPr>
                        <a:t>Cost / run</a:t>
                      </a:r>
                    </a:p>
                  </a:txBody>
                  <a:tcPr marL="91440" marR="91440" marT="45720" marB="45720">
                    <a:solidFill>
                      <a:srgbClr val="242424"/>
                    </a:solidFill>
                  </a:tcPr>
                </a:tc>
              </a:tr>
              <a:tr h="738188">
                <a:tc>
                  <a:txBody>
                    <a:bodyPr/>
                    <a:lstStyle/>
                    <a:p>
                      <a:r>
                        <a:rPr sz="2100">
                          <a:solidFill>
                            <a:srgbClr val="FFFFFF"/>
                          </a:solidFill>
                          <a:latin typeface="Helvetica Neue"/>
                          <a:ea typeface="Helvetica Neue"/>
                          <a:cs typeface="Helvetica Neue"/>
                        </a:rPr>
                        <a:t>A</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89.7</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71%</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$0.34</a:t>
                      </a:r>
                    </a:p>
                  </a:txBody>
                  <a:tcPr marL="91440" marR="91440" marT="45720" marB="45720">
                    <a:solidFill>
                      <a:srgbClr val="000000"/>
                    </a:solidFill>
                  </a:tcPr>
                </a:tc>
              </a:tr>
              <a:tr h="738188">
                <a:tc>
                  <a:txBody>
                    <a:bodyPr/>
                    <a:lstStyle/>
                    <a:p>
                      <a:r>
                        <a:rPr sz="2100">
                          <a:solidFill>
                            <a:srgbClr val="FFFFFF"/>
                          </a:solidFill>
                          <a:latin typeface="Helvetica Neue"/>
                          <a:ea typeface="Helvetica Neue"/>
                          <a:cs typeface="Helvetica Neue"/>
                        </a:rPr>
                        <a:t>B</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88.9</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94%</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$0.09</a:t>
                      </a:r>
                    </a:p>
                  </a:txBody>
                  <a:tcPr marL="91440" marR="91440" marT="45720" marB="45720">
                    <a:solidFill>
                      <a:srgbClr val="000000"/>
                    </a:solidFill>
                  </a:tcPr>
                </a:tc>
              </a:tr>
              <a:tr h="738188">
                <a:tc>
                  <a:txBody>
                    <a:bodyPr/>
                    <a:lstStyle/>
                    <a:p>
                      <a:r>
                        <a:rPr sz="2100">
                          <a:solidFill>
                            <a:srgbClr val="FFFFFF"/>
                          </a:solidFill>
                          <a:latin typeface="Helvetica Neue"/>
                          <a:ea typeface="Helvetica Neue"/>
                          <a:cs typeface="Helvetica Neue"/>
                        </a:rPr>
                        <a:t>C</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84.3</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92%</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$0.01</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Start with the work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Jobs → slices → pass criteria</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Include frequency and failure severity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rare, costly mistakes visible</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Your failures are an eval backlog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Save inputs, context and expectations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Record failure class and severity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Freeze a holdout before tuning</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Use the cheapest trustworthy check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Assertions → scores → LLM judge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Calibrate against expert labels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Escalate ambiguity and high-risk cases</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 average can hide a broken product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Pass rates by job and failure class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Track critical violations separately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Show sample counts and uncertainty</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Price the successful task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Cost per success = total cost ÷ successes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Count retries, tools, judges, fallbacks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 the full routing policy</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Regression-test the system you ship</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Model + prompt + retrieval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Tools + policy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Version the system and test data</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Failure → test → improve → ship</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does good mean here?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Write it down. Test it.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Make models compete on your work.</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Start: 20 real cases + pass criteria.</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2026-09-05T01:13:26.6070000Z</dcterms:created>
  <dcterms:modified xsi:type="dcterms:W3CDTF">2026-09-05T01:13:26.6070000Z</dcterms:modified>
</coreProperties>
</file>