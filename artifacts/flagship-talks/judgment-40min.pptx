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ddf7c50e92e45fb" /><Relationship Type="http://schemas.openxmlformats.org/officeDocument/2006/relationships/extended-properties" Target="/docProps/app.xml" Id="R5379d9f9a8874b3a" /><Relationship Type="http://schemas.openxmlformats.org/officeDocument/2006/relationships/officeDocument" Target="/ppt/presentation.xml" Id="Ra416ec9d0da642b6"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b01f11bd4fd04cb6"/>
  </p:sldMasterIdLst>
  <p:notesMasterIdLst>
    <p:notesMasterId xmlns:r="http://schemas.openxmlformats.org/officeDocument/2006/relationships" r:id="R0ab7ba265c404b65"/>
  </p:notesMasterIdLst>
  <p:sldIdLst>
    <p:sldId xmlns:r="http://schemas.openxmlformats.org/officeDocument/2006/relationships" id="256" r:id="Rd9921820df8c4c81"/>
    <p:sldId xmlns:r="http://schemas.openxmlformats.org/officeDocument/2006/relationships" id="257" r:id="R2005d5bfd5ad4e0c"/>
    <p:sldId xmlns:r="http://schemas.openxmlformats.org/officeDocument/2006/relationships" id="258" r:id="R1baab388a30c40a6"/>
    <p:sldId xmlns:r="http://schemas.openxmlformats.org/officeDocument/2006/relationships" id="259" r:id="Rb0a4068210834020"/>
    <p:sldId xmlns:r="http://schemas.openxmlformats.org/officeDocument/2006/relationships" id="260" r:id="R6f4cdd71630849e0"/>
    <p:sldId xmlns:r="http://schemas.openxmlformats.org/officeDocument/2006/relationships" id="261" r:id="Reea362d137e84c19"/>
    <p:sldId xmlns:r="http://schemas.openxmlformats.org/officeDocument/2006/relationships" id="262" r:id="R1a69c6180bbf4ef7"/>
    <p:sldId xmlns:r="http://schemas.openxmlformats.org/officeDocument/2006/relationships" id="263" r:id="R92f7510f0bda44c5"/>
    <p:sldId xmlns:r="http://schemas.openxmlformats.org/officeDocument/2006/relationships" id="264" r:id="R6b2112b80151419b"/>
    <p:sldId xmlns:r="http://schemas.openxmlformats.org/officeDocument/2006/relationships" id="265" r:id="R08f719a3b497450e"/>
    <p:sldId xmlns:r="http://schemas.openxmlformats.org/officeDocument/2006/relationships" id="266" r:id="R987642a24ec04aa9"/>
    <p:sldId xmlns:r="http://schemas.openxmlformats.org/officeDocument/2006/relationships" id="267" r:id="Rb3c9e5f7618f45c1"/>
    <p:sldId xmlns:r="http://schemas.openxmlformats.org/officeDocument/2006/relationships" id="268" r:id="Rb5a32f2d0f824a49"/>
    <p:sldId xmlns:r="http://schemas.openxmlformats.org/officeDocument/2006/relationships" id="269" r:id="R5d248d3b1d494fb9"/>
    <p:sldId xmlns:r="http://schemas.openxmlformats.org/officeDocument/2006/relationships" id="270" r:id="Re5e6e1b8affb4397"/>
    <p:sldId xmlns:r="http://schemas.openxmlformats.org/officeDocument/2006/relationships" id="271" r:id="Rd1fa7ed68b0c46ae"/>
    <p:sldId xmlns:r="http://schemas.openxmlformats.org/officeDocument/2006/relationships" id="272" r:id="R3b7335a816944aa2"/>
    <p:sldId xmlns:r="http://schemas.openxmlformats.org/officeDocument/2006/relationships" id="273" r:id="R473081a935c84a92"/>
  </p:sldIdLst>
  <p:sldSz cx="12192000" cy="6858000"/>
  <p:notesSz cx="6858000" cy="9144000"/>
  <p:embeddedFontLst>
    <p:embeddedFont>
      <p:font typeface="OpenAI Sans"/>
      <p:regular xmlns:r="http://schemas.openxmlformats.org/officeDocument/2006/relationships" r:id="R74a5f0ec4805420f"/>
      <p:bold xmlns:r="http://schemas.openxmlformats.org/officeDocument/2006/relationships" r:id="Re1311337c64c47e9"/>
      <p:italic xmlns:r="http://schemas.openxmlformats.org/officeDocument/2006/relationships" r:id="R848b17c9824c4f45"/>
      <p:boldItalic xmlns:r="http://schemas.openxmlformats.org/officeDocument/2006/relationships" r:id="Re324213a125f4055"/>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4004ff009494601" /><Relationship Type="http://schemas.openxmlformats.org/officeDocument/2006/relationships/slideMaster" Target="/ppt/slideMasters/slideMaster1.xml" Id="Rb01f11bd4fd04cb6" /><Relationship Type="http://schemas.openxmlformats.org/officeDocument/2006/relationships/notesMaster" Target="/ppt/notesMasters/notesMaster1.xml" Id="R0ab7ba265c404b65" /><Relationship Type="http://schemas.openxmlformats.org/officeDocument/2006/relationships/presProps" Target="/ppt/presProps.xml" Id="Rb6e5fa24e8af4489" /><Relationship Type="http://schemas.openxmlformats.org/officeDocument/2006/relationships/viewProps" Target="/ppt/viewProps.xml" Id="R47b1e650bd934226" /><Relationship Type="http://schemas.openxmlformats.org/officeDocument/2006/relationships/tableStyles" Target="/ppt/tableStyles.xml" Id="R40142b5d6f034ca1" /><Relationship Type="http://schemas.openxmlformats.org/officeDocument/2006/relationships/font" Target="/ppt/fonts/font.dat" Id="R74a5f0ec4805420f" /><Relationship Type="http://schemas.openxmlformats.org/officeDocument/2006/relationships/font" Target="/ppt/fonts/font2.dat" Id="Re1311337c64c47e9" /><Relationship Type="http://schemas.openxmlformats.org/officeDocument/2006/relationships/font" Target="/ppt/fonts/font3.dat" Id="R848b17c9824c4f45" /><Relationship Type="http://schemas.openxmlformats.org/officeDocument/2006/relationships/font" Target="/ppt/fonts/font4.dat" Id="Re324213a125f4055" /><Relationship Type="http://schemas.openxmlformats.org/officeDocument/2006/relationships/slide" Target="/ppt/slides/slide1.xml" Id="Rd9921820df8c4c81" /><Relationship Type="http://schemas.openxmlformats.org/officeDocument/2006/relationships/slide" Target="/ppt/slides/slide2.xml" Id="R2005d5bfd5ad4e0c" /><Relationship Type="http://schemas.openxmlformats.org/officeDocument/2006/relationships/slide" Target="/ppt/slides/slide3.xml" Id="R1baab388a30c40a6" /><Relationship Type="http://schemas.openxmlformats.org/officeDocument/2006/relationships/slide" Target="/ppt/slides/slide4.xml" Id="Rb0a4068210834020" /><Relationship Type="http://schemas.openxmlformats.org/officeDocument/2006/relationships/slide" Target="/ppt/slides/slide5.xml" Id="R6f4cdd71630849e0" /><Relationship Type="http://schemas.openxmlformats.org/officeDocument/2006/relationships/slide" Target="/ppt/slides/slide6.xml" Id="Reea362d137e84c19" /><Relationship Type="http://schemas.openxmlformats.org/officeDocument/2006/relationships/slide" Target="/ppt/slides/slide7.xml" Id="R1a69c6180bbf4ef7" /><Relationship Type="http://schemas.openxmlformats.org/officeDocument/2006/relationships/slide" Target="/ppt/slides/slide8.xml" Id="R92f7510f0bda44c5" /><Relationship Type="http://schemas.openxmlformats.org/officeDocument/2006/relationships/slide" Target="/ppt/slides/slide9.xml" Id="R6b2112b80151419b" /><Relationship Type="http://schemas.openxmlformats.org/officeDocument/2006/relationships/slide" Target="/ppt/slides/slide10.xml" Id="R08f719a3b497450e" /><Relationship Type="http://schemas.openxmlformats.org/officeDocument/2006/relationships/slide" Target="/ppt/slides/slide11.xml" Id="R987642a24ec04aa9" /><Relationship Type="http://schemas.openxmlformats.org/officeDocument/2006/relationships/slide" Target="/ppt/slides/slide12.xml" Id="Rb3c9e5f7618f45c1" /><Relationship Type="http://schemas.openxmlformats.org/officeDocument/2006/relationships/slide" Target="/ppt/slides/slide13.xml" Id="Rb5a32f2d0f824a49" /><Relationship Type="http://schemas.openxmlformats.org/officeDocument/2006/relationships/slide" Target="/ppt/slides/slide14.xml" Id="R5d248d3b1d494fb9" /><Relationship Type="http://schemas.openxmlformats.org/officeDocument/2006/relationships/slide" Target="/ppt/slides/slide15.xml" Id="Re5e6e1b8affb4397" /><Relationship Type="http://schemas.openxmlformats.org/officeDocument/2006/relationships/slide" Target="/ppt/slides/slide16.xml" Id="Rd1fa7ed68b0c46ae" /><Relationship Type="http://schemas.openxmlformats.org/officeDocument/2006/relationships/slide" Target="/ppt/slides/slide17.xml" Id="R3b7335a816944aa2" /><Relationship Type="http://schemas.openxmlformats.org/officeDocument/2006/relationships/slide" Target="/ppt/slides/slide18.xml" Id="R473081a935c84a9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df8dd0dfb674fa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c23e4e8c76d4f9b" /><Relationship Type="http://schemas.openxmlformats.org/officeDocument/2006/relationships/notesMaster" Target="/ppt/notesMasters/notesMaster1.xml" Id="Rcad6ac8154f746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d1ed0cc3d3d45b5" /><Relationship Type="http://schemas.openxmlformats.org/officeDocument/2006/relationships/notesMaster" Target="/ppt/notesMasters/notesMaster1.xml" Id="R14da51eacd7a4c54" /></Relationships>
</file>

<file path=ppt/notesSlides/_rels/notesSlide3.xml.rels>&#65279;<?xml version="1.0" encoding="utf-8"?><Relationships xmlns="http://schemas.openxmlformats.org/package/2006/relationships"><Relationship Type="http://schemas.openxmlformats.org/officeDocument/2006/relationships/slide" Target="/ppt/slides/slide3.xml" Id="R0679964469d848af" /><Relationship Type="http://schemas.openxmlformats.org/officeDocument/2006/relationships/notesMaster" Target="/ppt/notesMasters/notesMaster1.xml" Id="R1519caed856b42f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7c6fdbab834be9" /><Relationship Type="http://schemas.openxmlformats.org/officeDocument/2006/relationships/notesMaster" Target="/ppt/notesMasters/notesMaster1.xml" Id="Rbb540200009d4fff" /></Relationships>
</file>

<file path=ppt/notesSlides/_rels/notesSlide5.xml.rels>&#65279;<?xml version="1.0" encoding="utf-8"?><Relationships xmlns="http://schemas.openxmlformats.org/package/2006/relationships"><Relationship Type="http://schemas.openxmlformats.org/officeDocument/2006/relationships/slide" Target="/ppt/slides/slide5.xml" Id="Rd1bfdaff85904a1a" /><Relationship Type="http://schemas.openxmlformats.org/officeDocument/2006/relationships/notesMaster" Target="/ppt/notesMasters/notesMaster1.xml" Id="R93956d58606c4f3d" /></Relationships>
</file>

<file path=ppt/notesSlides/_rels/notesSlide6.xml.rels>&#65279;<?xml version="1.0" encoding="utf-8"?><Relationships xmlns="http://schemas.openxmlformats.org/package/2006/relationships"><Relationship Type="http://schemas.openxmlformats.org/officeDocument/2006/relationships/slide" Target="/ppt/slides/slide6.xml" Id="R753170cb87d24f4a" /><Relationship Type="http://schemas.openxmlformats.org/officeDocument/2006/relationships/notesMaster" Target="/ppt/notesMasters/notesMaster1.xml" Id="Rac4c8204d9024653" /></Relationships>
</file>

<file path=ppt/notesSlides/_rels/notesSlide7.xml.rels>&#65279;<?xml version="1.0" encoding="utf-8"?><Relationships xmlns="http://schemas.openxmlformats.org/package/2006/relationships"><Relationship Type="http://schemas.openxmlformats.org/officeDocument/2006/relationships/slide" Target="/ppt/slides/slide7.xml" Id="R1750967a131441cb" /><Relationship Type="http://schemas.openxmlformats.org/officeDocument/2006/relationships/notesMaster" Target="/ppt/notesMasters/notesMaster1.xml" Id="Rdaf58ba204054f44" /></Relationships>
</file>

<file path=ppt/notesSlides/_rels/notesSlide8.xml.rels>&#65279;<?xml version="1.0" encoding="utf-8"?><Relationships xmlns="http://schemas.openxmlformats.org/package/2006/relationships"><Relationship Type="http://schemas.openxmlformats.org/officeDocument/2006/relationships/slide" Target="/ppt/slides/slide8.xml" Id="Rd7329f59c7f34a4a" /><Relationship Type="http://schemas.openxmlformats.org/officeDocument/2006/relationships/notesMaster" Target="/ppt/notesMasters/notesMaster1.xml" Id="Rf3503d456dca4dc0" /></Relationships>
</file>

<file path=ppt/notesSlides/_rels/notesSlide9.xml.rels>&#65279;<?xml version="1.0" encoding="utf-8"?><Relationships xmlns="http://schemas.openxmlformats.org/package/2006/relationships"><Relationship Type="http://schemas.openxmlformats.org/officeDocument/2006/relationships/slide" Target="/ppt/slides/slide9.xml" Id="R5cf7ee3fed6f45b0" /><Relationship Type="http://schemas.openxmlformats.org/officeDocument/2006/relationships/notesMaster" Target="/ppt/notesMasters/notesMaster1.xml" Id="Ra07c6838a3f443a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459ac76fbc44029" /><Relationship Type="http://schemas.openxmlformats.org/officeDocument/2006/relationships/notesMaster" Target="/ppt/notesMasters/notesMaster1.xml" Id="R14f876f2d3a0406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79215df7be74224" /><Relationship Type="http://schemas.openxmlformats.org/officeDocument/2006/relationships/notesMaster" Target="/ppt/notesMasters/notesMaster1.xml" Id="R6bb15cccca0e40f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8853d9b73fb4f3b" /><Relationship Type="http://schemas.openxmlformats.org/officeDocument/2006/relationships/notesMaster" Target="/ppt/notesMasters/notesMaster1.xml" Id="R8a3a0b144d2b435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2ff060094d74b0c" /><Relationship Type="http://schemas.openxmlformats.org/officeDocument/2006/relationships/notesMaster" Target="/ppt/notesMasters/notesMaster1.xml" Id="Ra50e6ea35a8c4ab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c5b1e78c23a4b4f" /><Relationship Type="http://schemas.openxmlformats.org/officeDocument/2006/relationships/notesMaster" Target="/ppt/notesMasters/notesMaster1.xml" Id="R375ea226cea345a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2a98ddd5252459b" /><Relationship Type="http://schemas.openxmlformats.org/officeDocument/2006/relationships/notesMaster" Target="/ppt/notesMasters/notesMaster1.xml" Id="Rda4461477b314f8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e04ca44462c4a49" /><Relationship Type="http://schemas.openxmlformats.org/officeDocument/2006/relationships/notesMaster" Target="/ppt/notesMasters/notesMaster1.xml" Id="R6a825800a0c84f2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8c3f2e316064064" /><Relationship Type="http://schemas.openxmlformats.org/officeDocument/2006/relationships/notesMaster" Target="/ppt/notesMasters/notesMaster1.xml" Id="R432cb70c74d64ba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07b3ee88ab849a4" /><Relationship Type="http://schemas.openxmlformats.org/officeDocument/2006/relationships/notesMaster" Target="/ppt/notesMasters/notesMaster1.xml" Id="R4bfd00a1b5104d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endParaRPr/>
          </a:p>
          <a:p xmlns:a="http://schemas.openxmlformats.org/drawingml/2006/main">
            <a:r>
              <a:t/>
            </a:r>
            <a:endParaRPr/>
          </a:p>
          <a:p xmlns:a="http://schemas.openxmlformats.org/drawingml/2006/main">
            <a:r>
              <a:t>Ask what happens when producing 10,000 lines of plausible code becomes easier than reviewing 1,000. Treat this as a thought experiment, not a measured productivity claim. The talk is about where constraints move for teams using code generation. Implementation still matters, especially in difficult legacy systems. The organizational question is how to turn more proposed changes into outcomes we can trust.</a:t>
            </a:r>
            <a:endParaRPr/>
          </a:p>
          <a:p xmlns:a="http://schemas.openxmlformats.org/drawingml/2006/main">
            <a:r>
              <a:t/>
            </a:r>
            <a:endParaRPr/>
          </a:p>
          <a:p xmlns:a="http://schemas.openxmlformats.org/drawingml/2006/main">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Describe the familiar queue from idea to requirements, implementation, tests and release. Teams organize around whatever constrains delivery. That constraint has never been identical everywhere: discovery, approvals and integration can already dominate. Use implementation scarcity as the starting model for this talk, then ask the audience where work actually waits in their organization.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 fast generator can create more work for everyone downstream. Walk through a hypothetical developer receiving several plausible implementations before lunch. Someone still has to compare behavior, run meaningful checks, understand dependencies and decide which change belongs in the product. The useful measure is time to a validated outcome, including the queue after generation.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Each accepted line becomes part of a system that future engineers must understand. Generated code can be excellent and still be unnecessary. Distinguish the negligible cost of proposing an implementation from the ongoing cost of owning it. A patch that removes code while preserving useful behavior can be a better outcome than a large feature with unclear demand.</a:t>
            </a:r>
          </a:p>
          <a:p xmlns:a="http://schemas.openxmlformats.org/drawingml/2006/main">
            <a:r>
              <a:t/>
            </a:r>
          </a:p>
          <a:p xmlns:a="http://schemas.openxmlformats.org/drawingml/2006/main">
            <a:r>
              <a:t>Source: talk concept and examples supplied by Dan Levy for this presentation. Examples are illustrative unless explicitly described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endParaRPr/>
          </a:p>
          <a:p xmlns:a="http://schemas.openxmlformats.org/drawingml/2006/main">
            <a:r>
              <a:t/>
            </a:r>
            <a:endParaRPr/>
          </a:p>
          <a:p xmlns:a="http://schemas.openxmlformats.org/drawingml/2006/main">
            <a:r>
              <a:t>Use this as an engineering objective rather than a pretend universal formula. Define the outcome concretely: a user can complete a task, a failure no longer recurs, or an operation becomes easier to maintain. Assess complexity through the interfaces, dependencies and operational burden the change adds. Avoid inventing a single score that hides those tradeoffs.</a:t>
            </a:r>
            <a:endParaRPr/>
          </a:p>
          <a:p xmlns:a="http://schemas.openxmlformats.org/drawingml/2006/main">
            <a:r>
              <a:t/>
            </a:r>
            <a:endParaRPr/>
          </a:p>
          <a:p xmlns:a="http://schemas.openxmlformats.org/drawingml/2006/main">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Read the request aloud and ask which questions it leaves unanswered. Does an administrator act across organizations? Can an owner remove the last owner? What happens when access changes during a session? A generator can fill those gaps with plausible assumptions. Plausibility gives the code a head start, but it does not settle the product or security decisions.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Continue the permissions example with explicit boundaries. A member can read their organization’s records. A member cannot read another organization’s records. Removing the last owner fails without changing state. These examples are hypothetical requirements, not a complete authorization design. The useful work is making assumptions visible before implementation turns them into behavior.</a:t>
            </a:r>
          </a:p>
          <a:p xmlns:a="http://schemas.openxmlformats.org/drawingml/2006/main">
            <a:r>
              <a:t/>
            </a:r>
          </a:p>
          <a:p xmlns:a="http://schemas.openxmlformats.org/drawingml/2006/main">
            <a:r>
              <a:t>Source: talk concept and examples supplied by Dan Levy for this presentation. Examples are illustrative unless explicitly described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Translate selected requirements into checks with clear preconditions and observable results. Separate authentication from authorization. Include both allowed and denied paths, and check what state remains after a rejected operation. Tests cannot exhaust every possible failure, but they can make important invariants repeatable. The specification and tests should inform each other rather than merely describe code already written.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Explain which layer checks which behavior. A unit test covers local rules. A contract test covers an interface. An integration check exercises the real boundary. Evals help when output quality is variable, but deterministic assertions remain useful. Each check needs an owner and a failure response. An impressive test count is less useful than knowing which important failures the suite can detect.</a:t>
            </a:r>
          </a:p>
          <a:p xmlns:a="http://schemas.openxmlformats.org/drawingml/2006/main">
            <a:r>
              <a:t/>
            </a:r>
          </a:p>
          <a:p xmlns:a="http://schemas.openxmlformats.org/drawingml/2006/main">
            <a:r>
              <a:t>Source: talk concept and examples supplied by Dan Levy for this presentation. Examples are illustrative unless explicitly described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 implementation and its tests can agree because both misunderstood the requirement. Give an independent reviewer the specification and expected outcomes before showing the proposed solution. Differential tests and deliberately broken examples can reveal weak assertions. Independence helps, but reviewers and generators can still share blind spots. Someone remains responsible for the acceptance criteria.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Avoid turning this into a claim that junior engineers have no future. Judgment develops through implementation, feedback and exposure to consequences. If agents take more routine coding work, teams need deliberate ways to preserve those learning opportunities. Senior engineers still implement, and junior engineers still exercise judgment. The distinction concerns responsibilities and support, not a permanent ranking of people.</a:t>
            </a:r>
          </a:p>
          <a:p xmlns:a="http://schemas.openxmlformats.org/drawingml/2006/main">
            <a:r>
              <a:t/>
            </a:r>
          </a:p>
          <a:p xmlns:a="http://schemas.openxmlformats.org/drawingml/2006/main">
            <a:r>
              <a:t>Source: talk concept and examples supplied by Dan Levy for this presentation. Examples are illustrative unless explicitly described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An engineer can coordinate several attempts without becoming a manager in the formal organizational sense. The work resembles task design, delegation and review. Small tasks with clear interfaces are easier to compare and integrate than sprawling rewrites. Budget for rejected candidates and cleanup. Keep a named owner for the final change so responsibility does not disappear into an orchestration system.</a:t>
            </a:r>
          </a:p>
          <a:p xmlns:a="http://schemas.openxmlformats.org/drawingml/2006/main">
            <a:r>
              <a:t/>
            </a:r>
          </a:p>
          <a:p xmlns:a="http://schemas.openxmlformats.org/drawingml/2006/main">
            <a:r>
              <a:t>Source: talk concept and examples supplied by Dan Levy for this presentation. Examples are illustrative unless explicitly described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Review capacity depends on the shape of the work. A coherent small change lets a reviewer understand intent and consequences. Boundaries reduce how much surrounding code they need to load into their head. Reviewer agents can help surface issues, but their approvals do not replace evidence. Escalate uncertainty to a human who understands the affected system.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Ownership should survive the end of an agent run. Before accepting a generated component, identify its maintainer, operational expectations and rollback path. This is ordinary engineering responsibility with more proposals entering the queue. If nobody can explain why the code belongs in the product or how it fails, generating it faster has not solved the important problem.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p>
          <a:p xmlns:a="http://schemas.openxmlformats.org/drawingml/2006/main">
            <a:r>
              <a:t>Raw commits and lines of code count activity, which generation makes easier to inflate. Use several measures together and examine the stories behind them. Faster cycle time can coexist with more defects or growing maintenance costs. Avoid individual rankings that reward gaming. The goal is understanding whether the team delivers useful changes and can continue supporting them.</a:t>
            </a:r>
          </a:p>
          <a:p xmlns:a="http://schemas.openxmlformats.org/drawingml/2006/main">
            <a:r>
              <a:t/>
            </a:r>
          </a:p>
          <a:p xmlns:a="http://schemas.openxmlformats.org/drawingml/2006/main">
            <a:r>
              <a:t>Source: talk concept and examples supplied by Dan Levy for this presentation. Examples are illustrative unless explicitly described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p>
          <a:p xmlns:a="http://schemas.openxmlformats.org/drawingml/2006/main">
            <a:r>
              <a:t>Propose a small pilot rather than an organization-wide productivity promise. Select a recurring workflow with observable outcomes. Record current turnaround and failure patterns. Introduce generation while keeping acceptance standards explicit. Include review and rework in the comparison. After a defined trial, decide whether to continue, change the workflow or stop. No numerical improvement target is assumed here.</a:t>
            </a:r>
          </a:p>
          <a:p xmlns:a="http://schemas.openxmlformats.org/drawingml/2006/main">
            <a:r>
              <a:t/>
            </a:r>
          </a:p>
          <a:p xmlns:a="http://schemas.openxmlformats.org/drawingml/2006/main">
            <a:r>
              <a:t>Source: talk concept and examples supplied by Dan Levy for this presentation. Examples are illustrative unless explicitly described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p>
          <a:p xmlns:a="http://schemas.openxmlformats.org/drawingml/2006/main">
            <a:r>
              <a:t>Present this as a division of responsibility, not a law of nature. Humans generate and automated systems sometimes judge. What matters is that the organization can identify who sets direction, who defines acceptable behavior and who accepts consequences. Automation should make those decisions easier to execute and audit, not obscure who made them.</a:t>
            </a:r>
          </a:p>
          <a:p xmlns:a="http://schemas.openxmlformats.org/drawingml/2006/main">
            <a:r>
              <a:t/>
            </a:r>
          </a:p>
          <a:p xmlns:a="http://schemas.openxmlformats.org/drawingml/2006/main">
            <a:r>
              <a:t>Source: talk concept and examples supplied by Dan Levy for this presentation. Examples are illustrative unless explicitly described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3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Return to the opening thought experiment. More available implementations make selection and validation more valuable, but they do not force us to accept more code. Sometimes the best decision is a smaller change or no change. Close with the user’s central argument: knowing what should be built, whether it works and when not to build it are expensive skills worth developing.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d4c222686e44a1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d330c9601e345b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29ebf269ae540b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d8449af4bc44b0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9021ee2d47941b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3230358497b426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29010bccf02453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a1bbeb87f2a40e9"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18358f2f2a3471e" /><Relationship Type="http://schemas.openxmlformats.org/officeDocument/2006/relationships/slideLayout" Target="/ppt/slideLayouts/slideLayout1.xml" Id="Rf209642f8d1c44d1" /><Relationship Type="http://schemas.openxmlformats.org/officeDocument/2006/relationships/slideLayout" Target="/ppt/slideLayouts/slideLayout2.xml" Id="Rf801e47f6fdc4a10" /><Relationship Type="http://schemas.openxmlformats.org/officeDocument/2006/relationships/slideLayout" Target="/ppt/slideLayouts/slideLayout3.xml" Id="R46bbc9afd1f24200" /><Relationship Type="http://schemas.openxmlformats.org/officeDocument/2006/relationships/slideLayout" Target="/ppt/slideLayouts/slideLayout4.xml" Id="R82d4b5d5ccc44300" /><Relationship Type="http://schemas.openxmlformats.org/officeDocument/2006/relationships/slideLayout" Target="/ppt/slideLayouts/slideLayout5.xml" Id="R8c4545c33862453b" /><Relationship Type="http://schemas.openxmlformats.org/officeDocument/2006/relationships/slideLayout" Target="/ppt/slideLayouts/slideLayout6.xml" Id="Re7c51da7892d4d79" /><Relationship Type="http://schemas.openxmlformats.org/officeDocument/2006/relationships/slideLayout" Target="/ppt/slideLayouts/slideLayout7.xml" Id="R6ce4c80e6fa94c7d" /><Relationship Type="http://schemas.openxmlformats.org/officeDocument/2006/relationships/slideLayout" Target="/ppt/slideLayouts/slideLayout8.xml" Id="R9ba34ef1d7ee438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f209642f8d1c44d1"/>
    <p:sldLayoutId xmlns:r="http://schemas.openxmlformats.org/officeDocument/2006/relationships" id="2147483650" r:id="Rf801e47f6fdc4a10"/>
    <p:sldLayoutId xmlns:r="http://schemas.openxmlformats.org/officeDocument/2006/relationships" id="2147483651" r:id="R46bbc9afd1f24200"/>
    <p:sldLayoutId xmlns:r="http://schemas.openxmlformats.org/officeDocument/2006/relationships" id="2147483652" r:id="R82d4b5d5ccc44300"/>
    <p:sldLayoutId xmlns:r="http://schemas.openxmlformats.org/officeDocument/2006/relationships" id="2147483653" r:id="R8c4545c33862453b"/>
    <p:sldLayoutId xmlns:r="http://schemas.openxmlformats.org/officeDocument/2006/relationships" id="2147483654" r:id="Re7c51da7892d4d79"/>
    <p:sldLayoutId xmlns:r="http://schemas.openxmlformats.org/officeDocument/2006/relationships" id="2147483655" r:id="R6ce4c80e6fa94c7d"/>
    <p:sldLayoutId xmlns:r="http://schemas.openxmlformats.org/officeDocument/2006/relationships" id="2147483656" r:id="R9ba34ef1d7ee4386"/>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3f21b7ab03b4c21" /><Relationship Type="http://schemas.openxmlformats.org/officeDocument/2006/relationships/image" Target="/ppt/media/image.png" Id="Rbbfeac64650743e3" /><Relationship Type="http://schemas.openxmlformats.org/officeDocument/2006/relationships/notesSlide" Target="/ppt/notesSlides/notesSlide1.xml" Id="R12a793e701b6443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927b4996bc54631" /><Relationship Type="http://schemas.openxmlformats.org/officeDocument/2006/relationships/notesSlide" Target="/ppt/notesSlides/notesSlide2.xml" Id="R2db60cb3b17a4d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5fec8fc980d4687" /><Relationship Type="http://schemas.openxmlformats.org/officeDocument/2006/relationships/notesSlide" Target="/ppt/notesSlides/notesSlide3.xml" Id="R6bf64b17f6ad422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5e4fa5b56c24cef" /><Relationship Type="http://schemas.openxmlformats.org/officeDocument/2006/relationships/notesSlide" Target="/ppt/notesSlides/notesSlide4.xml" Id="Rf9c1d3738042496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c82f261d3b247b3" /><Relationship Type="http://schemas.openxmlformats.org/officeDocument/2006/relationships/notesSlide" Target="/ppt/notesSlides/notesSlide5.xml" Id="R5705ac211ac343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5e6defccbb54895" /><Relationship Type="http://schemas.openxmlformats.org/officeDocument/2006/relationships/notesSlide" Target="/ppt/notesSlides/notesSlide6.xml" Id="R800b75a91c454d6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7e36e0977d4482b" /><Relationship Type="http://schemas.openxmlformats.org/officeDocument/2006/relationships/notesSlide" Target="/ppt/notesSlides/notesSlide7.xml" Id="R1ec39587a6ce4e3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36b552cb44545e6" /><Relationship Type="http://schemas.openxmlformats.org/officeDocument/2006/relationships/notesSlide" Target="/ppt/notesSlides/notesSlide8.xml" Id="R6d7a3101771843c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e0acab09f424d96" /><Relationship Type="http://schemas.openxmlformats.org/officeDocument/2006/relationships/notesSlide" Target="/ppt/notesSlides/notesSlide9.xml" Id="Rea3048efe3a44c4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f2b790e6ed740ca" /><Relationship Type="http://schemas.openxmlformats.org/officeDocument/2006/relationships/notesSlide" Target="/ppt/notesSlides/notesSlide10.xml" Id="R6144a7fd47d5439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42cea20f79d48bc" /><Relationship Type="http://schemas.openxmlformats.org/officeDocument/2006/relationships/notesSlide" Target="/ppt/notesSlides/notesSlide11.xml" Id="Recf9d99533f34f2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0b3844d0a574039" /><Relationship Type="http://schemas.openxmlformats.org/officeDocument/2006/relationships/notesSlide" Target="/ppt/notesSlides/notesSlide12.xml" Id="R885946187874472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e38469920c74b7b" /><Relationship Type="http://schemas.openxmlformats.org/officeDocument/2006/relationships/notesSlide" Target="/ppt/notesSlides/notesSlide13.xml" Id="R6c619d1b809244d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3452cad9f9e4bc5" /><Relationship Type="http://schemas.openxmlformats.org/officeDocument/2006/relationships/notesSlide" Target="/ppt/notesSlides/notesSlide14.xml" Id="R0536cee279e34a9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7593715a0064f79" /><Relationship Type="http://schemas.openxmlformats.org/officeDocument/2006/relationships/notesSlide" Target="/ppt/notesSlides/notesSlide15.xml" Id="R44d1ae31d8c04a6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99d069b68174bdf" /><Relationship Type="http://schemas.openxmlformats.org/officeDocument/2006/relationships/notesSlide" Target="/ppt/notesSlides/notesSlide16.xml" Id="R118631ade9c946a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647dacd206141f6" /><Relationship Type="http://schemas.openxmlformats.org/officeDocument/2006/relationships/notesSlide" Target="/ppt/notesSlides/notesSlide17.xml" Id="R809e4aa36cec4d8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0a772529eb347ad" /><Relationship Type="http://schemas.openxmlformats.org/officeDocument/2006/relationships/notesSlide" Target="/ppt/notesSlides/notesSlide18.xml" Id="R3df6320751864b2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415733" y="1907316"/>
            <a:ext cx="7174888" cy="2491490"/>
          </a:xfrm>
        </p:spPr>
        <p:txBody>
          <a:bodyPr xmlns:a="http://schemas.openxmlformats.org/drawingml/2006/main" anchor="ctr">
            <a:noAutofit/>
          </a:bodyPr>
          <a:lstStyle xmlns:a="http://schemas.openxmlformats.org/drawingml/2006/main"/>
          <a:p xmlns:a="http://schemas.openxmlformats.org/drawingml/2006/main">
            <a:pPr>
              <a:defRPr sz="6200">
                <a:solidFill>
                  <a:srgbClr val="FFFFFF"/>
                </a:solidFill>
                <a:latin typeface="Helvetica Neue"/>
                <a:ea typeface="Helvetica Neue"/>
                <a:cs typeface="Helvetica Neue"/>
              </a:defRPr>
            </a:pPr>
            <a:r>
              <a:rPr sz="6200">
                <a:solidFill>
                  <a:srgbClr val="FFFFFF"/>
                </a:solidFill>
                <a:latin typeface="Helvetica Neue"/>
                <a:ea typeface="Helvetica Neue"/>
                <a:cs typeface="Helvetica Neue"/>
              </a:rPr>
              <a:t>Code Is Cheap.</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415733" y="5264722"/>
            <a:ext cx="6910483" cy="1080246"/>
          </a:xfrm>
        </p:spPr>
        <p:txBody>
          <a:bodyPr xmlns:a="http://schemas.openxmlformats.org/drawingml/2006/main" anchor="b">
            <a:noAutofit/>
          </a:bodyPr>
          <a:lstStyle xmlns:a="http://schemas.openxmlformats.org/drawingml/2006/main"/>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Judgment Is Expensive.</a:t>
            </a:r>
          </a:p>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Dan Levy</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415734" y="392241"/>
            <a:ext cx="57023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40-minute talk</a:t>
            </a:r>
          </a:p>
        </p:txBody>
      </p:sp>
      <p:pic>
        <p:nvPicPr>
          <p:cNvPr id="11" name="Picture 6"/>
          <p:cNvPicPr>
            <a:picLocks xmlns:a="http://schemas.openxmlformats.org/drawingml/2006/main" noChangeAspect="1"/>
          </p:cNvPicPr>
          <p:nvPr/>
        </p:nvPicPr>
        <p:blipFill>
          <a:blip xmlns:r="http://schemas.openxmlformats.org/officeDocument/2006/relationships" xmlns:a="http://schemas.openxmlformats.org/drawingml/2006/main" r:embed="Rbbfeac64650743e3"/>
          <a:srcRect xmlns:a="http://schemas.openxmlformats.org/drawingml/2006/main" l="8269" t="0" r="8269" b="0"/>
          <a:stretch xmlns:a="http://schemas.openxmlformats.org/drawingml/2006/main"/>
        </p:blipFill>
        <p:spPr>
          <a:xfrm xmlns:a="http://schemas.openxmlformats.org/drawingml/2006/main">
            <a:off x="7899094" y="0"/>
            <a:ext cx="4292906" cy="6858000"/>
          </a:xfrm>
          <a:prstGeom xmlns:a="http://schemas.openxmlformats.org/drawingml/2006/main" prst="rect">
            <a:avLst/>
          </a:prstGeom>
        </p:spPr>
      </p:pic>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2598689-54C9-18A7-3A19-ED76AA08988F}" type="slidenum">
              <a:rPr sz="1000">
                <a:solidFill>
                  <a:srgbClr val="FFFFFF"/>
                </a:solidFill>
                <a:latin typeface="Helvetica Neue"/>
                <a:ea typeface="Helvetica Neue"/>
                <a:cs typeface="Helvetica Neue"/>
              </a:rPr>
              <a:t>2</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The implementation bottleneck</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Ideas wait for implementation.</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Teams allocate scarce engineering time.</a:t>
            </a:r>
          </a:p>
        </p:txBody>
      </p:sp>
    </p:spTree>
    <p:extLst>
      <p:ext uri="{BB962C8B-B14F-4D97-AF65-F5344CB8AC3E}">
        <p14:creationId xmlns:p14="http://schemas.microsoft.com/office/powerpoint/2010/main" val="366718214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202359C0-8A7A-196E-DD58-8E6569619F09}" type="slidenum">
              <a:rPr sz="1000">
                <a:solidFill>
                  <a:srgbClr val="FFFFFF"/>
                </a:solidFill>
                <a:latin typeface="Helvetica Neue"/>
                <a:ea typeface="Helvetica Neue"/>
                <a:cs typeface="Helvetica Neue"/>
              </a:rPr>
              <a:t>3</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 growing review queue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Generation can outpace review.</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Unreviewed changes accumulate.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Integration becomes the queue.</a:t>
            </a:r>
          </a:p>
        </p:txBody>
      </p:sp>
    </p:spTree>
    <p:extLst>
      <p:ext uri="{BB962C8B-B14F-4D97-AF65-F5344CB8AC3E}">
        <p14:creationId xmlns:p14="http://schemas.microsoft.com/office/powerpoint/2010/main" val="366718214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FD6AB9A-5F9E-5F59-51AB-3C8734130965}" type="slidenum">
              <a:rPr sz="1000">
                <a:solidFill>
                  <a:srgbClr val="FFFFFF"/>
                </a:solidFill>
                <a:latin typeface="Helvetica Neue"/>
                <a:ea typeface="Helvetica Neue"/>
                <a:cs typeface="Helvetica Neue"/>
              </a:rPr>
              <a:t>4</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Code carries ongoing costs</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Dependencies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Attack surface</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Maintenance</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Future context burden</a:t>
            </a:r>
          </a:p>
        </p:txBody>
      </p:sp>
    </p:spTree>
    <p:extLst>
      <p:ext uri="{BB962C8B-B14F-4D97-AF65-F5344CB8AC3E}">
        <p14:creationId xmlns:p14="http://schemas.microsoft.com/office/powerpoint/2010/main" val="36014548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59A8DA10-BC74-F432-B483-CF813D4319AD}"/>
              </a:ext>
            </a:extLst>
          </p:cNvPr>
          <p:cNvSpPr>
            <a:spLocks xmlns:a="http://schemas.openxmlformats.org/drawingml/2006/main" noGrp="1"/>
          </p:cNvSpPr>
          <p:nvPr>
            <p:ph type="ctrTitle" idx="0"/>
          </p:nvPr>
        </p:nvSpPr>
        <p:spPr>
          <a:xfrm xmlns:a="http://schemas.openxmlformats.org/drawingml/2006/main">
            <a:off x="393700" y="3712696"/>
            <a:ext cx="9448800" cy="2491490"/>
          </a:xfrm>
        </p:spPr>
        <p:txBody>
          <a:bodyPr xmlns:a="http://schemas.openxmlformats.org/drawingml/2006/main">
            <a:noAutofit/>
          </a:bodyPr>
          <a:lstStyle xmlns:a="http://schemas.openxmlformats.org/drawingml/2006/main"/>
          <a:p xmlns:a="http://schemas.openxmlformats.org/drawingml/2006/main">
            <a:pPr>
              <a:defRPr sz="6200">
                <a:solidFill>
                  <a:srgbClr val="FFFFFF"/>
                </a:solidFill>
                <a:latin typeface="Helvetica Neue"/>
                <a:ea typeface="Helvetica Neue"/>
                <a:cs typeface="Helvetica Neue"/>
              </a:defRPr>
            </a:pPr>
            <a:r>
              <a:rPr sz="6200">
                <a:solidFill>
                  <a:srgbClr val="FFFFFF"/>
                </a:solidFill>
                <a:latin typeface="Helvetica Neue"/>
                <a:ea typeface="Helvetica Neue"/>
                <a:cs typeface="Helvetica Neue"/>
              </a:rPr>
              <a:t>Validated outcomes</a:t>
            </a:r>
          </a:p>
          <a:p xmlns:a="http://schemas.openxmlformats.org/drawingml/2006/main">
            <a:pPr>
              <a:defRPr sz="6200">
                <a:solidFill>
                  <a:srgbClr val="FFFFFF"/>
                </a:solidFill>
                <a:latin typeface="Helvetica Neue"/>
                <a:ea typeface="Helvetica Neue"/>
                <a:cs typeface="Helvetica Neue"/>
              </a:defRPr>
            </a:pPr>
            <a:r>
              <a:rPr sz="6200">
                <a:solidFill>
                  <a:srgbClr val="FFFFFF"/>
                </a:solidFill>
                <a:latin typeface="Helvetica Neue"/>
                <a:ea typeface="Helvetica Neue"/>
                <a:cs typeface="Helvetica Neue"/>
              </a:rPr>
              <a:t>per unit of complexity</a:t>
            </a:r>
          </a:p>
        </p:txBody>
      </p:sp>
      <p:sp>
        <p:nvSpPr>
          <p:cNvPr id="6" name="Subtitle 4">
            <a:extLst xmlns:a="http://schemas.openxmlformats.org/drawingml/2006/main">
              <a:ext uri="{FF2B5EF4-FFF2-40B4-BE49-F238E27FC236}">
                <a16:creationId xmlns:a16="http://schemas.microsoft.com/office/drawing/2014/main" id="{47DF5305-453D-AB88-8DE6-9846FEB1B651}"/>
              </a:ext>
            </a:extLst>
          </p:cNvPr>
          <p:cNvSpPr>
            <a:spLocks xmlns:a="http://schemas.openxmlformats.org/drawingml/2006/main" noGrp="1"/>
          </p:cNvSpPr>
          <p:nvPr/>
        </p:nvSpPr>
        <p:spPr>
          <a:xfrm xmlns:a="http://schemas.openxmlformats.org/drawingml/2006/main">
            <a:off x="393699" y="392241"/>
            <a:ext cx="6157826"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A useful unit of progress</a:t>
            </a:r>
          </a:p>
        </p:txBody>
      </p:sp>
      <p:sp>
        <p:nvSpPr>
          <p:cNvPr id="8" name="Subtitle 4">
            <a:extLst xmlns:a="http://schemas.openxmlformats.org/drawingml/2006/main">
              <a:ext uri="{FF2B5EF4-FFF2-40B4-BE49-F238E27FC236}">
                <a16:creationId xmlns:a16="http://schemas.microsoft.com/office/drawing/2014/main" id="{4AE41470-6E36-D08D-AC35-CBDFACEF3DBC}"/>
              </a:ext>
            </a:extLst>
          </p:cNvPr>
          <p:cNvSpPr>
            <a:spLocks xmlns:a="http://schemas.openxmlformats.org/drawingml/2006/main" noGrp="1"/>
          </p:cNvSpPr>
          <p:nvPr/>
        </p:nvSpPr>
        <p:spPr>
          <a:xfrm xmlns:a="http://schemas.openxmlformats.org/drawingml/2006/main">
            <a:off x="7886700" y="392241"/>
            <a:ext cx="39116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r">
              <a:buNone/>
            </a:pPr>
            <a:r>
              <a:rPr sz="1800"/>
              <a:t/>
            </a:r>
          </a:p>
        </p:txBody>
      </p:sp>
    </p:spTree>
    <p:extLst>
      <p:ext uri="{BB962C8B-B14F-4D97-AF65-F5344CB8AC3E}">
        <p14:creationId xmlns:p14="http://schemas.microsoft.com/office/powerpoint/2010/main" val="350773716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8C630A04-5A25-9E0C-9436-126091DB86B3}" type="slidenum">
              <a:rPr sz="1000">
                <a:solidFill>
                  <a:srgbClr val="FFFFFF"/>
                </a:solidFill>
                <a:latin typeface="Helvetica Neue"/>
                <a:ea typeface="Helvetica Neue"/>
                <a:cs typeface="Helvetica Neue"/>
              </a:rPr>
              <a:t>6</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“Add enterprise permissions”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 vague request can produce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 very large implementation.</a:t>
            </a:r>
          </a:p>
        </p:txBody>
      </p:sp>
    </p:spTree>
    <p:extLst>
      <p:ext uri="{BB962C8B-B14F-4D97-AF65-F5344CB8AC3E}">
        <p14:creationId xmlns:p14="http://schemas.microsoft.com/office/powerpoint/2010/main" val="366718214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3D7D1C8-AE23-AA48-DF65-C742588DBE47}" type="slidenum">
              <a:rPr sz="1000">
                <a:solidFill>
                  <a:srgbClr val="FFFFFF"/>
                </a:solidFill>
                <a:latin typeface="Helvetica Neue"/>
                <a:ea typeface="Helvetica Neue"/>
                <a:cs typeface="Helvetica Neue"/>
              </a:rPr>
              <a:t>7</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 permission specification</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Actors and resources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Allowed and denied actions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Invariants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Failure behavior</a:t>
            </a:r>
          </a:p>
        </p:txBody>
      </p:sp>
    </p:spTree>
    <p:extLst>
      <p:ext uri="{BB962C8B-B14F-4D97-AF65-F5344CB8AC3E}">
        <p14:creationId xmlns:p14="http://schemas.microsoft.com/office/powerpoint/2010/main" val="36014548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BA58DA2A-B818-18A9-29C1-B697728D5BCE}" type="slidenum">
              <a:rPr sz="1000">
                <a:solidFill>
                  <a:srgbClr val="FFFFFF"/>
                </a:solidFill>
                <a:latin typeface="Helvetica Neue"/>
                <a:ea typeface="Helvetica Neue"/>
                <a:cs typeface="Helvetica Neue"/>
              </a:rPr>
              <a:t>8</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Executable acceptance criteria</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Cross-organization access fails.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Denied requests leave state unchanged.</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The last owner cannot be removed.</a:t>
            </a:r>
          </a:p>
        </p:txBody>
      </p:sp>
    </p:spTree>
    <p:extLst>
      <p:ext uri="{BB962C8B-B14F-4D97-AF65-F5344CB8AC3E}">
        <p14:creationId xmlns:p14="http://schemas.microsoft.com/office/powerpoint/2010/main" val="366718214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88657AE-30A1-5A7A-6A7F-315D84436430}" type="slidenum">
              <a:rPr sz="1000">
                <a:solidFill>
                  <a:srgbClr val="FFFFFF"/>
                </a:solidFill>
                <a:latin typeface="Helvetica Neue"/>
                <a:ea typeface="Helvetica Neue"/>
                <a:cs typeface="Helvetica Neue"/>
              </a:rPr>
              <a:t>9</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Validation infrastructure</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Unit and contract tests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Integration checks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Policy and static analysis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Evals for uncertain behavior</a:t>
            </a:r>
          </a:p>
        </p:txBody>
      </p:sp>
    </p:spTree>
    <p:extLst>
      <p:ext uri="{BB962C8B-B14F-4D97-AF65-F5344CB8AC3E}">
        <p14:creationId xmlns:p14="http://schemas.microsoft.com/office/powerpoint/2010/main" val="3601454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B7BEEEC-A170-5376-2B6E-CB54687B0CB1}" type="slidenum">
              <a:rPr sz="1000">
                <a:solidFill>
                  <a:srgbClr val="FFFFFF"/>
                </a:solidFill>
                <a:latin typeface="Helvetica Neue"/>
                <a:ea typeface="Helvetica Neue"/>
                <a:cs typeface="Helvetica Neue"/>
              </a:rPr>
              <a:t>10</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Generated tests need scrutiny</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 test can repeat the same assumption</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as the implementation.</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Passing is evidence with limits.</a:t>
            </a:r>
          </a:p>
        </p:txBody>
      </p:sp>
    </p:spTree>
    <p:extLst>
      <p:ext uri="{BB962C8B-B14F-4D97-AF65-F5344CB8AC3E}">
        <p14:creationId xmlns:p14="http://schemas.microsoft.com/office/powerpoint/2010/main" val="366718214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0394428-F1DC-E5F6-DB0C-7DE31F3D8A23}" type="slidenum">
              <a:rPr sz="1000">
                <a:solidFill>
                  <a:srgbClr val="FFFFFF"/>
                </a:solidFill>
                <a:latin typeface="Helvetica Neue"/>
                <a:ea typeface="Helvetica Neue"/>
                <a:cs typeface="Helvetica Neue"/>
              </a:rPr>
              <a:t>11</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Seniority and judgment</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Problem framing</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System knowledge</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Tradeoff decisions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Evidence review</a:t>
            </a:r>
          </a:p>
        </p:txBody>
      </p:sp>
    </p:spTree>
    <p:extLst>
      <p:ext uri="{BB962C8B-B14F-4D97-AF65-F5344CB8AC3E}">
        <p14:creationId xmlns:p14="http://schemas.microsoft.com/office/powerpoint/2010/main" val="36014548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4DB16885-0D3F-A391-B669-3211DB3B26E8}" type="slidenum">
              <a:rPr sz="1000">
                <a:solidFill>
                  <a:srgbClr val="FFFFFF"/>
                </a:solidFill>
                <a:latin typeface="Helvetica Neue"/>
                <a:ea typeface="Helvetica Neue"/>
                <a:cs typeface="Helvetica Neue"/>
              </a:rPr>
              <a:t>12</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An engineer directing execution</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Define a bounded task.</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Compare candidate solutions.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Inspect evidence.</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Integrate a small change.</a:t>
            </a:r>
          </a:p>
        </p:txBody>
      </p:sp>
    </p:spTree>
    <p:extLst>
      <p:ext uri="{BB962C8B-B14F-4D97-AF65-F5344CB8AC3E}">
        <p14:creationId xmlns:p14="http://schemas.microsoft.com/office/powerpoint/2010/main" val="36014548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2DD23107-4986-8758-3A93-3D74F35908CC}" type="slidenum">
              <a:rPr sz="1000">
                <a:solidFill>
                  <a:srgbClr val="FFFFFF"/>
                </a:solidFill>
                <a:latin typeface="Helvetica Neue"/>
                <a:ea typeface="Helvetica Neue"/>
                <a:cs typeface="Helvetica Neue"/>
              </a:rPr>
              <a:t>13</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Trustworthy review</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Small changes shorten review.</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Clear boundaries limit context.</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Independent checks expose blind spots.</a:t>
            </a:r>
          </a:p>
        </p:txBody>
      </p:sp>
    </p:spTree>
    <p:extLst>
      <p:ext uri="{BB962C8B-B14F-4D97-AF65-F5344CB8AC3E}">
        <p14:creationId xmlns:p14="http://schemas.microsoft.com/office/powerpoint/2010/main" val="366718214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27921A4-25C4-3DB4-06B1-32693CEE2241}" type="slidenum">
              <a:rPr sz="1000">
                <a:solidFill>
                  <a:srgbClr val="FFFFFF"/>
                </a:solidFill>
                <a:latin typeface="Helvetica Neue"/>
                <a:ea typeface="Helvetica Neue"/>
                <a:cs typeface="Helvetica Neue"/>
              </a:rPr>
              <a:t>14</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Ownership after generation</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Who accepts the change?</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Who handles the incident?</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Who maintains it next year?</a:t>
            </a:r>
          </a:p>
        </p:txBody>
      </p:sp>
    </p:spTree>
    <p:extLst>
      <p:ext uri="{BB962C8B-B14F-4D97-AF65-F5344CB8AC3E}">
        <p14:creationId xmlns:p14="http://schemas.microsoft.com/office/powerpoint/2010/main" val="366718214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A83FA91-883A-0168-8075-96CEB9DCA3C2}" type="slidenum">
              <a:rPr sz="1000">
                <a:solidFill>
                  <a:srgbClr val="FFFFFF"/>
                </a:solidFill>
                <a:latin typeface="Helvetica Neue"/>
                <a:ea typeface="Helvetica Neue"/>
                <a:cs typeface="Helvetica Neue"/>
              </a:rPr>
              <a:t>15</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Measures that help</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Time to validated outcome</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Escaped defects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Customer results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Maintenance burden</a:t>
            </a:r>
          </a:p>
        </p:txBody>
      </p:sp>
    </p:spTree>
    <p:extLst>
      <p:ext uri="{BB962C8B-B14F-4D97-AF65-F5344CB8AC3E}">
        <p14:creationId xmlns:p14="http://schemas.microsoft.com/office/powerpoint/2010/main" val="36014548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C9C7607-4BA3-B4DC-A00F-2E67A9FCFF7E}" type="slidenum">
              <a:rPr sz="1000">
                <a:solidFill>
                  <a:srgbClr val="FFFFFF"/>
                </a:solidFill>
                <a:latin typeface="Helvetica Neue"/>
                <a:ea typeface="Helvetica Neue"/>
                <a:cs typeface="Helvetica Neue"/>
              </a:rPr>
              <a:t>16</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 bounded team experiment</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One recurring workflow</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A baseline and acceptance criteria</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 review owner</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 decision to continue or stop</a:t>
            </a:r>
          </a:p>
        </p:txBody>
      </p:sp>
    </p:spTree>
    <p:extLst>
      <p:ext uri="{BB962C8B-B14F-4D97-AF65-F5344CB8AC3E}">
        <p14:creationId xmlns:p14="http://schemas.microsoft.com/office/powerpoint/2010/main" val="36014548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90F7333B-44AC-F7E9-D49D-FE92F45E0477}" type="slidenum">
              <a:rPr sz="1000">
                <a:solidFill>
                  <a:srgbClr val="FFFFFF"/>
                </a:solidFill>
                <a:latin typeface="Helvetica Neue"/>
                <a:ea typeface="Helvetica Neue"/>
                <a:cs typeface="Helvetica Neue"/>
              </a:rPr>
              <a:t>17</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Responsibility stays explicit</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Machines propose implementations.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Checks provide evidence.</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Engineers own acceptance.</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Leaders choose direction.</a:t>
            </a:r>
          </a:p>
        </p:txBody>
      </p:sp>
    </p:spTree>
    <p:extLst>
      <p:ext uri="{BB962C8B-B14F-4D97-AF65-F5344CB8AC3E}">
        <p14:creationId xmlns:p14="http://schemas.microsoft.com/office/powerpoint/2010/main" val="36014548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B1C6C81E-38B9-7560-621D-5A151A79DF9B}" type="slidenum">
              <a:rPr sz="1000">
                <a:solidFill>
                  <a:srgbClr val="FFFFFF"/>
                </a:solidFill>
                <a:latin typeface="Helvetica Neue"/>
                <a:ea typeface="Helvetica Neue"/>
                <a:cs typeface="Helvetica Neue"/>
              </a:rPr>
              <a:t>18</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Knowing when to stop</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What should exist?</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Does it work?</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Is it worth maintaining?</a:t>
            </a:r>
          </a:p>
        </p:txBody>
      </p:sp>
    </p:spTree>
    <p:extLst>
      <p:ext uri="{BB962C8B-B14F-4D97-AF65-F5344CB8AC3E}">
        <p14:creationId xmlns:p14="http://schemas.microsoft.com/office/powerpoint/2010/main" val="3667182145"/>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2026-09-05T01:13:47.9840000Z</dcterms:created>
  <dcterms:modified xsi:type="dcterms:W3CDTF">2026-09-05T01:13:47.9840000Z</dcterms:modified>
</coreProperties>
</file>