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Default Extension="svg" ContentType="image/svg+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Master"/>
  </p:sldMasterIdLst>
  <p:notesMasterIdLst>
    <p:notesMasterId r:id="rIdNotesMaster"/>
  </p:notesMasterIdLst>
  <p:sldIdLst>
    <p:sldId id="256" r:id="rIdSlide1"/>
    <p:sldId id="257" r:id="rIdSlide2"/>
    <p:sldId id="258" r:id="rIdSlide3"/>
    <p:sldId id="259" r:id="rIdSlide4"/>
    <p:sldId id="260" r:id="rIdSlide5"/>
    <p:sldId id="261" r:id="rIdSlide6"/>
    <p:sldId id="262" r:id="rIdSlide7"/>
    <p:sldId id="263" r:id="rIdSlide8"/>
    <p:sldId id="264" r:id="rIdSlide9"/>
    <p:sldId id="265" r:id="rIdSlide10"/>
    <p:sldId id="266" r:id="rIdSlide11"/>
    <p:sldId id="267" r:id="rIdSlide12"/>
    <p:sldId id="268" r:id="rIdSlide13"/>
    <p:sldId id="269" r:id="rIdSlide14"/>
    <p:sldId id="270" r:id="rIdSlide15"/>
  </p:sldIdLst>
  <p:sldSz cx="13716000" cy="8572500" type="custom"/>
  <p:notesSz cx="6858000" cy="9144000"/>
  <p:defaultTextStyle/>
</p:presentation>
</file>

<file path=ppt/_rels/presentation.xml.rels><?xml version="1.0" encoding="UTF-8" standalone="yes"?><Relationships xmlns="http://schemas.openxmlformats.org/package/2006/relationships"><Relationship Id="rIdMaster" Type="http://schemas.openxmlformats.org/officeDocument/2006/relationships/slideMaster" Target="slideMasters/slideMaster1.xml"/><Relationship Id="rIdNotesMaster" Type="http://schemas.openxmlformats.org/officeDocument/2006/relationships/notesMaster" Target="notesMasters/notesMaster1.xml"/><Relationship Id="rIdSlide1" Type="http://schemas.openxmlformats.org/officeDocument/2006/relationships/slide" Target="slides/slide1.xml"/><Relationship Id="rIdSlide2" Type="http://schemas.openxmlformats.org/officeDocument/2006/relationships/slide" Target="slides/slide2.xml"/><Relationship Id="rIdSlide3" Type="http://schemas.openxmlformats.org/officeDocument/2006/relationships/slide" Target="slides/slide3.xml"/><Relationship Id="rIdSlide4" Type="http://schemas.openxmlformats.org/officeDocument/2006/relationships/slide" Target="slides/slide4.xml"/><Relationship Id="rIdSlide5" Type="http://schemas.openxmlformats.org/officeDocument/2006/relationships/slide" Target="slides/slide5.xml"/><Relationship Id="rIdSlide6" Type="http://schemas.openxmlformats.org/officeDocument/2006/relationships/slide" Target="slides/slide6.xml"/><Relationship Id="rIdSlide7" Type="http://schemas.openxmlformats.org/officeDocument/2006/relationships/slide" Target="slides/slide7.xml"/><Relationship Id="rIdSlide8" Type="http://schemas.openxmlformats.org/officeDocument/2006/relationships/slide" Target="slides/slide8.xml"/><Relationship Id="rIdSlide9" Type="http://schemas.openxmlformats.org/officeDocument/2006/relationships/slide" Target="slides/slide9.xml"/><Relationship Id="rIdSlide10" Type="http://schemas.openxmlformats.org/officeDocument/2006/relationships/slide" Target="slides/slide10.xml"/><Relationship Id="rIdSlide11" Type="http://schemas.openxmlformats.org/officeDocument/2006/relationships/slide" Target="slides/slide11.xml"/><Relationship Id="rIdSlide12" Type="http://schemas.openxmlformats.org/officeDocument/2006/relationships/slide" Target="slides/slide12.xml"/><Relationship Id="rIdSlide13" Type="http://schemas.openxmlformats.org/officeDocument/2006/relationships/slide" Target="slides/slide13.xml"/><Relationship Id="rIdSlide14" Type="http://schemas.openxmlformats.org/officeDocument/2006/relationships/slide" Target="slides/slide14.xml"/><Relationship Id="rIdSlide15" Type="http://schemas.openxmlformats.org/officeDocument/2006/relationships/slide" Target="slides/slide15.xml"/></Relationships>
</file>

<file path=ppt/notesMasters/_rels/notesMaster1.xml.rels><?xml version="1.0" encoding="UTF-8" standalone="yes"?><Relationships xmlns="http://schemas.openxmlformats.org/package/2006/relationships"><Relationship Id="rIdTheme"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notesStyle/>
</p:notesMaster>
</file>

<file path=ppt/notesSlides/_rels/notesSlide1.xml.rels><?xml version="1.0" encoding="UTF-8" standalone="yes"?><Relationships xmlns="http://schemas.openxmlformats.org/package/2006/relationships"><Relationship Id="rIdSlide" Type="http://schemas.openxmlformats.org/officeDocument/2006/relationships/slide" Target="../slides/slide1.xml"/><Relationship Id="rIdMaster" Type="http://schemas.openxmlformats.org/officeDocument/2006/relationships/notesMaster" Target="../notesMasters/notesMaster1.xml"/></Relationships>
</file>

<file path=ppt/notesSlides/_rels/notesSlide2.xml.rels><?xml version="1.0" encoding="UTF-8" standalone="yes"?><Relationships xmlns="http://schemas.openxmlformats.org/package/2006/relationships"><Relationship Id="rIdSlide" Type="http://schemas.openxmlformats.org/officeDocument/2006/relationships/slide" Target="../slides/slide2.xml"/><Relationship Id="rIdMaster" Type="http://schemas.openxmlformats.org/officeDocument/2006/relationships/notesMaster" Target="../notesMasters/notesMaster1.xml"/></Relationships>
</file>

<file path=ppt/notesSlides/_rels/notesSlide3.xml.rels><?xml version="1.0" encoding="UTF-8" standalone="yes"?><Relationships xmlns="http://schemas.openxmlformats.org/package/2006/relationships"><Relationship Id="rIdSlide" Type="http://schemas.openxmlformats.org/officeDocument/2006/relationships/slide" Target="../slides/slide3.xml"/><Relationship Id="rIdMaster" Type="http://schemas.openxmlformats.org/officeDocument/2006/relationships/notesMaster" Target="../notesMasters/notesMaster1.xml"/></Relationships>
</file>

<file path=ppt/notesSlides/_rels/notesSlide4.xml.rels><?xml version="1.0" encoding="UTF-8" standalone="yes"?><Relationships xmlns="http://schemas.openxmlformats.org/package/2006/relationships"><Relationship Id="rIdSlide" Type="http://schemas.openxmlformats.org/officeDocument/2006/relationships/slide" Target="../slides/slide4.xml"/><Relationship Id="rIdMaster" Type="http://schemas.openxmlformats.org/officeDocument/2006/relationships/notesMaster" Target="../notesMasters/notesMaster1.xml"/></Relationships>
</file>

<file path=ppt/notesSlides/_rels/notesSlide5.xml.rels><?xml version="1.0" encoding="UTF-8" standalone="yes"?><Relationships xmlns="http://schemas.openxmlformats.org/package/2006/relationships"><Relationship Id="rIdSlide" Type="http://schemas.openxmlformats.org/officeDocument/2006/relationships/slide" Target="../slides/slide5.xml"/><Relationship Id="rIdMaster" Type="http://schemas.openxmlformats.org/officeDocument/2006/relationships/notesMaster" Target="../notesMasters/notesMaster1.xml"/></Relationships>
</file>

<file path=ppt/notesSlides/_rels/notesSlide6.xml.rels><?xml version="1.0" encoding="UTF-8" standalone="yes"?><Relationships xmlns="http://schemas.openxmlformats.org/package/2006/relationships"><Relationship Id="rIdSlide" Type="http://schemas.openxmlformats.org/officeDocument/2006/relationships/slide" Target="../slides/slide6.xml"/><Relationship Id="rIdMaster" Type="http://schemas.openxmlformats.org/officeDocument/2006/relationships/notesMaster" Target="../notesMasters/notesMaster1.xml"/></Relationships>
</file>

<file path=ppt/notesSlides/_rels/notesSlide7.xml.rels><?xml version="1.0" encoding="UTF-8" standalone="yes"?><Relationships xmlns="http://schemas.openxmlformats.org/package/2006/relationships"><Relationship Id="rIdSlide" Type="http://schemas.openxmlformats.org/officeDocument/2006/relationships/slide" Target="../slides/slide7.xml"/><Relationship Id="rIdMaster" Type="http://schemas.openxmlformats.org/officeDocument/2006/relationships/notesMaster" Target="../notesMasters/notesMaster1.xml"/></Relationships>
</file>

<file path=ppt/notesSlides/_rels/notesSlide8.xml.rels><?xml version="1.0" encoding="UTF-8" standalone="yes"?><Relationships xmlns="http://schemas.openxmlformats.org/package/2006/relationships"><Relationship Id="rIdSlide" Type="http://schemas.openxmlformats.org/officeDocument/2006/relationships/slide" Target="../slides/slide8.xml"/><Relationship Id="rIdMaster" Type="http://schemas.openxmlformats.org/officeDocument/2006/relationships/notesMaster" Target="../notesMasters/notesMaster1.xml"/></Relationships>
</file>

<file path=ppt/notesSlides/_rels/notesSlide9.xml.rels><?xml version="1.0" encoding="UTF-8" standalone="yes"?><Relationships xmlns="http://schemas.openxmlformats.org/package/2006/relationships"><Relationship Id="rIdSlide" Type="http://schemas.openxmlformats.org/officeDocument/2006/relationships/slide" Target="../slides/slide9.xml"/><Relationship Id="rIdMaster" Type="http://schemas.openxmlformats.org/officeDocument/2006/relationships/notesMaster" Target="../notesMasters/notesMaster1.xml"/></Relationships>
</file>

<file path=ppt/notesSlides/_rels/notesSlide10.xml.rels><?xml version="1.0" encoding="UTF-8" standalone="yes"?><Relationships xmlns="http://schemas.openxmlformats.org/package/2006/relationships"><Relationship Id="rIdSlide" Type="http://schemas.openxmlformats.org/officeDocument/2006/relationships/slide" Target="../slides/slide10.xml"/><Relationship Id="rIdMaster" Type="http://schemas.openxmlformats.org/officeDocument/2006/relationships/notesMaster" Target="../notesMasters/notesMaster1.xml"/></Relationships>
</file>

<file path=ppt/notesSlides/_rels/notesSlide11.xml.rels><?xml version="1.0" encoding="UTF-8" standalone="yes"?><Relationships xmlns="http://schemas.openxmlformats.org/package/2006/relationships"><Relationship Id="rIdSlide" Type="http://schemas.openxmlformats.org/officeDocument/2006/relationships/slide" Target="../slides/slide11.xml"/><Relationship Id="rIdMaster" Type="http://schemas.openxmlformats.org/officeDocument/2006/relationships/notesMaster" Target="../notesMasters/notesMaster1.xml"/></Relationships>
</file>

<file path=ppt/notesSlides/_rels/notesSlide12.xml.rels><?xml version="1.0" encoding="UTF-8" standalone="yes"?><Relationships xmlns="http://schemas.openxmlformats.org/package/2006/relationships"><Relationship Id="rIdSlide" Type="http://schemas.openxmlformats.org/officeDocument/2006/relationships/slide" Target="../slides/slide12.xml"/><Relationship Id="rIdMaster" Type="http://schemas.openxmlformats.org/officeDocument/2006/relationships/notesMaster" Target="../notesMasters/notesMaster1.xml"/></Relationships>
</file>

<file path=ppt/notesSlides/_rels/notesSlide13.xml.rels><?xml version="1.0" encoding="UTF-8" standalone="yes"?><Relationships xmlns="http://schemas.openxmlformats.org/package/2006/relationships"><Relationship Id="rIdSlide" Type="http://schemas.openxmlformats.org/officeDocument/2006/relationships/slide" Target="../slides/slide13.xml"/><Relationship Id="rIdMaster" Type="http://schemas.openxmlformats.org/officeDocument/2006/relationships/notesMaster" Target="../notesMasters/notesMaster1.xml"/></Relationships>
</file>

<file path=ppt/notesSlides/_rels/notesSlide14.xml.rels><?xml version="1.0" encoding="UTF-8" standalone="yes"?><Relationships xmlns="http://schemas.openxmlformats.org/package/2006/relationships"><Relationship Id="rIdSlide" Type="http://schemas.openxmlformats.org/officeDocument/2006/relationships/slide" Target="../slides/slide14.xml"/><Relationship Id="rIdMaster" Type="http://schemas.openxmlformats.org/officeDocument/2006/relationships/notesMaster" Target="../notesMasters/notesMaster1.xml"/></Relationships>
</file>

<file path=ppt/notesSlides/_rels/notesSlide15.xml.rels><?xml version="1.0" encoding="UTF-8" standalone="yes"?><Relationships xmlns="http://schemas.openxmlformats.org/package/2006/relationships"><Relationship Id="rIdSlide" Type="http://schemas.openxmlformats.org/officeDocument/2006/relationships/slide" Target="../slides/slide15.xml"/><Relationship Id="rIdMaster"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vendor renamed a field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00:00 to 02:00 · warm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![HTTP success does not establish that the payload still matches your contract.](../../reveal-talks/assets/adaptive-systems/01-a-successful-response-can-break-ingest.svg)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Yesterday: zip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Today: postal_code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Your ingest stops. The status page is green.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API still returns 200. Authentication works. The vendor's status page is green. Your ingest is broken because somebody renamed a field. If you work around B2B integrations, this is a very boring way to have a very expensive morning.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 is the promise of this talk. An application can notice that, investigate it, propose a fix, prove the fix, and keep the other ninety-eight percent of records flowing, all before you wake up. And it can do that without ever holding a permission you would be scared to give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design is mine. The incidents are composites; I have had this exact morning more than once. We will follow one address ingest job through a rename, a change in meaning, and a provider that stops answering.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Story: The vendor rename you actually lived through. Name the field, the hour you noticed, and what it cost.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Hands up for a 200 response that carried a breaking change. Take one story, thirty seconds, and return to the ingest job.</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bar is: diff the schema and page a human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02:00 to 04:00 · warm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Baseline: alert, wait for a person, replay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Agent: investigate, propose, prove, continue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Win condition: faster recovery, zero new false repairs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Before anyone gets excited about agents, name the boring alternative. A schema diff, an alert, and a human who replays the batch after coffee. It works. It costs a morning per surprise, and it does nothing for the unaffected records that are stuck behind the broken ones.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agent has to beat that. Not on vibes. On time to recover, on records kept moving, and on a number the baseline gets for free: false repairs. Alert-and-wait never turns a rename into plausible wrong data. If the adaptive version does, even once, it has made operations worse.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 every slide from here is about buying recovery speed without buying corruption. Keep that trade in your head; it is the whole talk.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Write the three metrics on the board and leave them there.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assistant with everything is coming, one integration at a time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04:00 to 07:00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![Every integration multiplies the pathways from something the agent can read to something it can do; nobody reviews the combinations.](../../reveal-talks/assets/adaptive-systems/03-the-assistant-with-everything.svg)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Browsers, CLIs, every SaaS: an agent layer you opt out of with --no-agent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Ten tools is forty-five pairs. One more integration is not one more path.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Accidents first. Then people who mean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Zoom out from the ingest job. The assistant with every customer's data and a toolbox that can send email, issue refunds, delete records and ship code is not a design we get to decline. It is arriving one integration at a time, and not only in our products. Browsers now ship a chat that drives the page. WebMCP lets an agent act on whatever site you have open. The next generation of CLIs will take natural language by default, and you will pass `--no-agent` to get the old behavior back. The intermediary intelligence layer is going to wrap everything, and I know who to blame: the kids. Actually, the kids hate AI. It will be their kids who demand an agent safety blanket on everything. I will be in a rocking chair explaining that the internet was better on vinyl.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 here is the hazard, and it applies to the small systems too. Risk does not grow with the number of tools. It grows with the number of pathways between them, and every integration multiplies those. Ten tools is forty-five pairs before you count chains. Plug in one SaaS with a dozen endpoints and you did not add twelve capabilities; you added hundreds of routes from something the agent can read to something it can do. Nobody reviews those combinations. Not your security team, not the model, not you at three in the morning. The dangerous pairing is never on the roadmap. It gets discovered.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Most of the damage will be accidents: a confident mapping, a helpful cleanup, a tool called with the wrong ID. Then there are the people who mean it. That renamed field could carry a sentence aimed at the model, and a vendor payload is untrusted input that now gets read by something that can act.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 the question is not whether to give the assistant access. It is how to keep the number of live pathways small enough to reason about, one job at a time. That is what the rest of this talk builds. The big assistant still exists. It just never has all of its hands full at once: it conjures a small agent per job, with exactly enough.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Story: Your own near miss with an over-permissioned agent, or the tool pairing you only noticed after it fired.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Write 10 → 45 on the board. Ask who could list every read-to-write pathway in the agent they run today. Pause on the third line; let the room feel that the accident case is the common 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Conjure the agent the job needs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07:00 to 11:00 · peak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orchestrator writes a tailored prompt, selects the minimum tools from a catalog, and loops until the job is done or must stop.](../../reveal-talks/assets/adaptive-systems/04-conjure-the-agent-the-job-needs.svg)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Tailored prompt, minimum tools, hard budget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Tool search on request, policy decides, request logged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Orchestrator loops: done, more help, or stop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 is the shape. An orchestrator reads the failure and writes a job: goal, evidence it may read, actions it may take, deadline, spend, and the conditions that end it. Then it generates an agent for that job with a tailored prompt and only the tools it expects to need. A schema-diff agent gets read access to two samples and a contract. It does not get the database.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If the agent needs something else, it asks. Dynamic tool search lets it discover a tool; policy decides whether this job may have it; the request and the answer are logged whether or not it was granted. That log is the most interesting file in the system.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orchestrator runs the result through a loop: is the job done, does it need another specialist, or must it stop? A diff agent hands to a fixture-writer agent hands to a reviewer, each with its own blast radius, each disposable when finished. Nobody rents a committee every time a CSV arrives; the known mapping runs as code, and only the unfamiliar case conjures anything.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 have this working as a prototype on my own integrations. I am not going to give you a success rate today, because I do not have one I trust yet. I can tell you the log of denied tool requests taught me more about my own permissions than any audit.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Story: What the prototype's first denied tool request was, and what it revealed.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Draw the three boxes: orchestrator, generated agent, tool catalog with policy gate. Show one request crossing the gate and being refused.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Guard the tools that can hurt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11:00 to 14:00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![Proposed boundary: the dispatcher grants worker access; only allowlisted status returns to the planner.](../../reveal-talks/assets/adaptive-systems/13-keep-access-capabilities-out-of-the-planner.svg)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High-risk classes: write, send, pay, delete, deploy, export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Read customer data and post to a vendor never share one agent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 signed URL is a credential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Two guards do most of the work. First, tools come in risk classes. Read is cheap to grant. Write, send, pay, delete, deploy and export each need their own approval path, and a generated agent gets at most one of them per job. Do not smuggle a destructive migration through a tool called repair mapping.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This is least privilege, and Saltzer and Schroeder wrote it down in 1975: every program runs with the least set of privileges the job needs. We have all been nodding at that for fifty years and shipping service accounts that can do anything. A per-job agent is the first thing I have built where complying is genuinely easier than not.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Second, watch the boundary between systems. An agent that can read customer data and an agent that can post to a vendor are two agents, with a filter between them. That is where data leaks: not through the model being evil, but through a tool result flowing into the next tool call.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For sensitive processing, the planner gets an opaque job reference. A trusted dispatcher grants a local worker scoped access; the worker touches the data; only an allowlisted status comes back. A signed download URL is a bearer credential. Handing it to a model while asking the model not to use it is not isolation, it is hope.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Story: The client setup with local models for sensitive data and a frontier orchestrator. Say which parts were real and which are the stronger design you would build now.</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Saltzer and Schroeder (1975), [The Protection of Information in Computer Systems](https://doi.org/10.1109/PROC.1975.9939), Proceedings of the IEEE 63(9), 1278 to 1308. Least privilege is their principle (f).</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Point at the filter between worker and planner. Ask what else crosses it: prompts, traces, error bodies, notification previews.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Repair syntax; prove meaning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14:00 to 17:00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documented rename can preserve meaning; an undefined business state needs an owner.](../../reveal-talks/assets/adaptive-systems/04-a-rename-is-not-a-new-meaning.svg)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zip → postal_code: investigate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status: true → pending: stop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Back to the ingest. A name resemblance is a hypothesis, not evidence. A postal code is not always a US ZIP. Keep the leading zero, keep the country, and remember ZIP+4 has a four-digit extension that somebody, somewhere, is joining 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Boolean status becoming an enum is harder. Does true mean active, eligible, verified, or anything except cancelled? Pending cannot become true just because both are truthy in JavaScript.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 the generated agent may propose a reversible mapping when evidence supports equivalence, and it must quarantine the rest. An unexplained business-state change goes to an owner with samples and a question. Automatic recovery is useful precisely because it has somewhere honest to stop.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Show {zip:"02108"} and {postal_code:"02108"}, then {status:"pending"}. Ask what evidence is missing in each. Two answers, then move.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repair is a versioned artifact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17:00 to 19:00 · steady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![Promote a tested mapping within its allowed scope; reconcile writes if you roll back.](../../reveal-talks/assets/adaptive-systems/05-a-repair-has-a-version-and-a-scope.svg)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Input fingerprint + mapping version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Evidence + fixtures + rollback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No silent mutation of the database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agent produces a mapping artifact, not a paragraph saying it fixed things. Parent version, input fingerprint, the transforms, the rejected cases, the evidence it read, and the fixture results.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narrow mapping change can pass a pre-authorized canary policy. A schema migration has a different blast radius and its own approval path. Keep the source records so you can replay; keep the old mapping so you can restore. Rollback changes future processing. It does not un-write yesterday's downstream rows; those need reconciliation.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Walk the mapping artifact in contracts.md. Point at parent version, activation scope, replay reference.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agent does not write its own exam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19:00 to 21:00 · steady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Held-out fixtures under separate control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Conflicting old and new fields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Watch the denominator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 is where we try to embarrass the repair before a customer does. The agent that proposed the mapping does not author the only tests that judge it. Regression fixtures and held-out cases live under separate control, and a generated fixture-writer agent adds to them without seeing the proposal.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Schema validation says the output has the right shape. It cannot say an address is deliverable. So release to a narrow slice, compare accepted against quarantined, and watch downstream invariants. A high success count is worthless if the denominator quietly shrank.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Keep the fixtures hidden. They are revealed in the walkthrough.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 lost response leaves a question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21:00 to 23:00 · steady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![Reconcile the operation identity before another submission; retain unresolved reservations.](../../reveal-talks/assets/adaptive-systems/09-a-lost-response-leaves-an-unknown-outcome.svg)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Did it fail?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Or did the answer disappear?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same ingest calls an address-verification provider. Suppose the provider accepted the batch and charged for it, then the connection dropped. Resubmitting elsewhere recovers latency and doubles the bill.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Record an operation identity before dispatch. Keep the provider's job ID. Reconcile before resubmitting, and when the provider offers no way to ask, stop with an unknown outcome and say so. A deadline ends new dispatch; it does not reverse a side effect already performed. The ledger has to hold that uncertainty, reserved money included, until the answer arrives.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Mark the moment on the timeline where your process knows less than the provider does.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Walkthrough: one ingest, three decisions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23:00 to 28:00 · peak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![Recovery, quarantine and reconciliation are all legitimate outcomes of the same ingest job.](../../reveal-talks/assets/adaptive-systems/10-three-events-require-three-decisions.svg)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Rename → validated mapping, canary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Unknown status → quarantine, owner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Lost response → reconcile, hold the reservation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Run the design. The rename has contract evidence. The conjured diff agent proposes copy-string; now reveal the fixtures one at a time and let the room reject the one that must not be repaired. Passing both, policy permits a canary of that mapping version and the job continues for matching records.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status change has no semantic evidence. The job isolates affected records, reports what is incomplete, and hands an owner the samples and the exact question.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provider timeout has an uncertain outcome. The controller queries the saved job ID instead of submitting again, and where it cannot, it holds the unresolved operation and its reservation.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Three events, three different right answers, none of them success or failure. If your dashboard only has two states, it is hiding the most interesting 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Five minutes from demo.md. Reveal fixtures before expected results. Ask the room for the next decision before showing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Scale becomes something the app asks for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28:00 to 31:00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orchestrator requests shape, size and duration inside a per-customer ceiling; the scheduler resolves it against a catalog and issues a lease.](../../reveal-talks/assets/adaptive-systems/11-scale-becomes-a-capability.svg)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Old: ops sizes the fleet for everyone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New: the job describes its shape and asks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Per-customer, per-job cost controls and pay-for-performance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One more thing the orchestrator can conjure: compute. Today scaling is an infra decision made once for everyone. Replica counts, instance classes, an autoscaler watching CPU. The agent inverts that. It knows this batch is mostly waiting on a provider, that eight sandboxes for six minutes would clear the backlog, and what this customer's plan allows.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 it asks. The request names shape, size, duration and a cost cap, and it is charged to this customer or this job rather than to a shared cluster. That is a new product surface: a customer can buy a faster turnaround, and a finance team can cap a single workflow instead of a whole environment.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guard is the same one we used for tools. The agent chooses from a catalog of approved instance classes; the scheduler enforces leases and teardown; an unapproved faster region is not a candidate no matter how good the latency looks. The mechanics and the ecosystem are a companion talk.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Story: A job where per-customer compute would have changed the pricing conversation.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Contrast one autoscaler threshold with one job request. Ask which one a customer could be billed for.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Show engineers what changed today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31:00 to 33:00 · steady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Promoted changes and scope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Quarantined records and reasons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Outstanding jobs, reserved spend, denied tool requests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Owner, evidence, next action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daily report should tell an engineer where to look. Unresolved semantic changes above routine retries. Records affected, mapping versions in use, evidence for each promotion, outstanding external operations, and every tool request the policy refused.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Log decisions and artifacts, not private reasoning. The inputs to the policy decision, the validator result, and the executed action are enough to reconstruct an incident. Urgent problems page through existing thresholds; the digest is for drift. Never make an agent the sole judge of whether its own failure deserves attention.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One warning about that report, and it is the warning for this whole talk. In 1983 Lisanne Bainbridge published a paper called Ironies of Automation. The irony is that automating the routine cases does not remove the human, it promotes them to monitoring a system that is almost always right, and people are measurably bad at that job. Skitka and colleagues put numbers on it in 1999: people given a highly but imperfectly reliable aid did worse than people given no aid at all. So keep the report short, ranked, and usually almost empty. A digest nobody can finish is a digest nobody reads, and then the guard post is decorative.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Bainbridge (1983), [Ironies of Automation](https://doi.org/10.1016/0005-1098(83)90046-8), Automatica 19(6), 775 to 779. Skitka, Mosier and Burdick (1999), [Does automation bias decision-making?](https://doi.org/10.1006/ijhc.1999.0252), International Journal of Human-Computer Studies 51(5), 991 to 1006.</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Read the sample report in contracts.md. Find the one item that needs an owner today.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Widen authority only from measured outcomes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33:00 to 35:00 · land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Shadow: propose, apply nothing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Canary: one reversible change class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Expand: from correct recoveries, false repairs, cost, interventions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Compare the design with the static mapping and the pager on the same recorded incidents. Count recoveries, but also false repairs, dropped records, cost, elapsed time and human corrections. Include the incidents where the right answer was to stop. A model saying ninety percent confident settles nothing.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Start in shadow mode: the conjured agents propose artifacts and apply none. Then permit one reversible change class. Widen authority per class, from evidence about that class. This is the same discipline for tools and for compute.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Watch for the failure Diane Vaughan documented at NASA before Challenger and named normalization of deviance. Every widening is locally reasonable. Each one cites the last one as precedent. Nobody ever decides to be reckless. That is exactly why authority expands per class and from measured outcomes for that class, and never from how the last six went.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Vaughan (1996), The Challenger Launch Decision, University of Chicago Press, on normalization of deviance.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Thirty seconds on the recovery card in contracts.md. Take one answer and name the evidence needed to widen that authority.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Start smaller: remember what happened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35:00 to 38:00 · steady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Before returning: check relevant memory and correct known mistakes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After execution: record checks, outcome, correction and frequency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Generated, executed and verified are different states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Memory is evidence, never permission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You do not need the whole agent factory to start. Take one agent that writes SQL, builds reports, runs shell commands or generates scripted API actions. Give it working memory for this job: the goal, constraints, draft and unresolved checks. Give it observational memory across jobs: what it generated, what actually ran, what failed, and what the checks established. Now ask it to consult that history before it hands you the next answer.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Suppose a reporting query keeps forgetting the tenant filter. It runs perfectly well; it reports the wrong population. An independent preflight check rejects it before dispatch. Record the draft, the failed check, the correction and the eventual result. Next time, retrieve that pattern while the agent is still drafting. Fix the omission before returning the SQL, then run the check again. That is adaptive behavior you can build with one agent and a small log.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Count patterns, not just anecdotes. Keep attempts as well as successes, the environment and schema version, and the last time a check passed. A command that worked on yesterday's schema is a clue, not a warranty. The runner records failures even if the model forgets. A clean exit is execution evidence; a plausible report still needs a correctness check. A lost API response stays unknown.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instruction is simple: before returning generated work, retrieve relevant memory and correct applicable mistakes; after an authorized execution, record the observed outcome and update the pattern counts. If you cannot check something safely, say what remains unverified. Remembered output is untrusted data and grants no new permissions. The copyable prompt and a small record format are in the handout.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As patterns repeat, turn the reliable ones into tested templates and adapters. The runtime agent learns which evidence to consult; the offline improvement loop evaluates changes to the reusable procedure. Once the known case is covered by code, it need not spend another model call rediscovering the rule.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Show the prompt in memory-pattern.md. Ask which observation proves the query ran and which proves it answered the right question. Use the tenant-filter example; no live execution is needed.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next surprise should cost less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38:00 to 40:00 · land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Conjure exactly enough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Prove the repair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Remember the known case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Return to the field that changed overnight. We did not predict its spelling. We did define what had to stay true, what evidence a repair needed, which tools this one job could have, and how far the app could go without us.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And return to the assistant with everything. It is still coming; nothing on these slides stops it, and I would not want to. What changed is how many of its pathways are live at once. Each job gets a small agent with a tailored prompt, a short tool list, a hard budget, and a log of every time it asked for more. That is the strategy I believe in for the next few years: not one agent holding every combination, which nobody can check, but many small ones you can afford to.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Pick one integration that already costs your team mornings. Give it a conjured agent with a bounded way to investigate, a test it did not write, and a place to record what happened. Or start with one reporting agent: keep its execution observations, make it check them before returning work, and measure whether the same mistake comes back. That is enough to start.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Land on the third line. Stop talking.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slideLayouts/_rels/slideLayout1.xml.rels><?xml version="1.0" encoding="UTF-8" standalone="yes"?><Relationships xmlns="http://schemas.openxmlformats.org/package/2006/relationships"><Relationship Id="rIdMaster"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Layout" Type="http://schemas.openxmlformats.org/officeDocument/2006/relationships/slideLayout" Target="../slideLayouts/slideLayout1.xml"/><Relationship Id="rIdTheme"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sldLayoutIdLst>
    <p:sldLayoutId id="2147483649" r:id="rIdLayout"/>
  </p:sldLayoutIdLst>
  <p:txStyles>
    <p:titleStyle/>
    <p:bodyStyle/>
    <p:otherStyle/>
  </p:txStyles>
</p:sldMaster>
</file>

<file path=ppt/slides/_rels/slide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xml"/><Relationship Id="rIdImage1" Type="http://schemas.openxmlformats.org/officeDocument/2006/relationships/image" Target="../media/slide1-1.png"/><Relationship Id="rIdSvg1" Type="http://schemas.openxmlformats.org/officeDocument/2006/relationships/image" Target="../media/slide1-1.svg"/></Relationships>
</file>

<file path=ppt/slides/_rels/slide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xml"/></Relationships>
</file>

<file path=ppt/slides/_rels/slide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3.xml"/><Relationship Id="rIdImage1" Type="http://schemas.openxmlformats.org/officeDocument/2006/relationships/image" Target="../media/slide3-1.png"/><Relationship Id="rIdSvg1" Type="http://schemas.openxmlformats.org/officeDocument/2006/relationships/image" Target="../media/slide3-1.svg"/></Relationships>
</file>

<file path=ppt/slides/_rels/slide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4.xml"/><Relationship Id="rIdImage1" Type="http://schemas.openxmlformats.org/officeDocument/2006/relationships/image" Target="../media/slide4-1.png"/><Relationship Id="rIdSvg1" Type="http://schemas.openxmlformats.org/officeDocument/2006/relationships/image" Target="../media/slide4-1.svg"/></Relationships>
</file>

<file path=ppt/slides/_rels/slide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5.xml"/><Relationship Id="rIdImage1" Type="http://schemas.openxmlformats.org/officeDocument/2006/relationships/image" Target="../media/slide5-1.png"/><Relationship Id="rIdSvg1" Type="http://schemas.openxmlformats.org/officeDocument/2006/relationships/image" Target="../media/slide5-1.svg"/></Relationships>
</file>

<file path=ppt/slides/_rels/slide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6.xml"/><Relationship Id="rIdImage1" Type="http://schemas.openxmlformats.org/officeDocument/2006/relationships/image" Target="../media/slide6-1.png"/><Relationship Id="rIdSvg1" Type="http://schemas.openxmlformats.org/officeDocument/2006/relationships/image" Target="../media/slide6-1.svg"/></Relationships>
</file>

<file path=ppt/slides/_rels/slide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7.xml"/><Relationship Id="rIdImage1" Type="http://schemas.openxmlformats.org/officeDocument/2006/relationships/image" Target="../media/slide7-1.png"/><Relationship Id="rIdSvg1" Type="http://schemas.openxmlformats.org/officeDocument/2006/relationships/image" Target="../media/slide7-1.svg"/></Relationships>
</file>

<file path=ppt/slides/_rels/slide8.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8.xml"/></Relationships>
</file>

<file path=ppt/slides/_rels/slide9.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9.xml"/><Relationship Id="rIdImage1" Type="http://schemas.openxmlformats.org/officeDocument/2006/relationships/image" Target="../media/slide9-1.png"/><Relationship Id="rIdSvg1" Type="http://schemas.openxmlformats.org/officeDocument/2006/relationships/image" Target="../media/slide9-1.svg"/></Relationships>
</file>

<file path=ppt/slides/_rels/slide10.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0.xml"/><Relationship Id="rIdImage1" Type="http://schemas.openxmlformats.org/officeDocument/2006/relationships/image" Target="../media/slide10-1.png"/><Relationship Id="rIdSvg1" Type="http://schemas.openxmlformats.org/officeDocument/2006/relationships/image" Target="../media/slide10-1.svg"/></Relationships>
</file>

<file path=ppt/slides/_rels/slide1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1.xml"/><Relationship Id="rIdImage1" Type="http://schemas.openxmlformats.org/officeDocument/2006/relationships/image" Target="../media/slide11-1.png"/><Relationship Id="rIdSvg1" Type="http://schemas.openxmlformats.org/officeDocument/2006/relationships/image" Target="../media/slide11-1.svg"/></Relationships>
</file>

<file path=ppt/slides/_rels/slide1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2.xml"/></Relationships>
</file>

<file path=ppt/slides/_rels/slide1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3.xml"/></Relationships>
</file>

<file path=ppt/slides/_rels/slide1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4.xml"/></Relationships>
</file>

<file path=ppt/slides/_rels/slide1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2323"/>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A4D2C4"/>
                </a:solidFill>
                <a:latin typeface="Arial"/>
                <a:ea typeface="Arial"/>
                <a:cs typeface="Arial"/>
              </a:rPr>
              <a:t xml:space="preserve">Adaptive, agentic apps · Dan Levy</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The vendor renamed a field</a:t>
            </a:r>
            <a:endParaRPr lang="en-US" sz="3900"/>
          </a:p>
        </p:txBody>
      </p:sp>
      <p:sp>
        <p:nvSpPr>
          <p:cNvPr id="4" name="Image background"/>
          <p:cNvSpPr/>
          <p:nvPr/>
        </p:nvSpPr>
        <p:spPr>
          <a:xfrm>
            <a:off x="944880" y="2647950"/>
            <a:ext cx="11826240" cy="4619625"/>
          </a:xfrm>
          <a:prstGeom prst="rect">
            <a:avLst/>
          </a:prstGeom>
          <a:solidFill>
            <a:srgbClr val="122323"/>
          </a:solidFill>
          <a:ln>
            <a:noFill/>
          </a:ln>
        </p:spPr>
      </p:sp>
      <p:pic>
        <p:nvPicPr>
          <p:cNvPr id="5" name="e213641347c0f0d86f4d985b64e0e6c7512779956fa14ed978d3f3b7b34adca0" descr="HTTP success does not establish that the payload still matches your contract."/>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Adaptive, agentic apps</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a:t>
            </a:r>
            <a:endParaRPr lang="en-US" sz="975"/>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22323"/>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A4D2C4"/>
                </a:solidFill>
                <a:latin typeface="Arial"/>
                <a:ea typeface="Arial"/>
                <a:cs typeface="Arial"/>
              </a:rPr>
              <a:t xml:space="preserve">02 / 15    SOURCE SLIDE 2</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The bar is: diff the schema and page a human</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A4D2C4"/>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Baseline: alert, wait for a person, replay</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A4D2C4"/>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Agent: investigate, propose, prove, continue</a:t>
            </a:r>
            <a:endParaRPr lang="en-US" sz="3150"/>
          </a:p>
        </p:txBody>
      </p:sp>
      <p:sp>
        <p:nvSpPr>
          <p:cNvPr id="8" name="Text 8"/>
          <p:cNvSpPr txBox="1"/>
          <p:nvPr/>
        </p:nvSpPr>
        <p:spPr>
          <a:xfrm>
            <a:off x="685800" y="43453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A4D2C4"/>
                </a:solidFill>
                <a:latin typeface="Arial"/>
                <a:ea typeface="Arial"/>
                <a:cs typeface="Arial"/>
              </a:rPr>
              <a:t xml:space="preserve">03</a:t>
            </a:r>
            <a:endParaRPr lang="en-US" sz="1875"/>
          </a:p>
        </p:txBody>
      </p:sp>
      <p:sp>
        <p:nvSpPr>
          <p:cNvPr id="9" name="Text 9"/>
          <p:cNvSpPr txBox="1"/>
          <p:nvPr/>
        </p:nvSpPr>
        <p:spPr>
          <a:xfrm>
            <a:off x="2000250" y="434530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Win condition: faster recovery, zero new false</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repairs</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Adaptive, agentic apps</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2</a:t>
            </a:r>
            <a:endParaRPr lang="en-US" sz="975"/>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22323"/>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A4D2C4"/>
                </a:solidFill>
                <a:latin typeface="Arial"/>
                <a:ea typeface="Arial"/>
                <a:cs typeface="Arial"/>
              </a:rPr>
              <a:t xml:space="preserve">03 / 15    SOURCE SLIDE 3</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The assistant with everything is coming, one</a:t>
            </a:r>
            <a:endParaRPr lang="en-US" sz="3900"/>
          </a:p>
          <a:p>
            <a:pPr marL="0" indent="0">
              <a:lnSpc>
                <a:spcPts val="4680"/>
              </a:lnSpc>
              <a:spcAft>
                <a:spcPts val="0"/>
              </a:spcAft>
              <a:buNone/>
            </a:pPr>
            <a:r>
              <a:rPr lang="en-US" sz="3900" b="1">
                <a:solidFill>
                  <a:srgbClr val="F5F1E9"/>
                </a:solidFill>
                <a:latin typeface="Arial"/>
                <a:ea typeface="Arial"/>
                <a:cs typeface="Arial"/>
              </a:rPr>
              <a:t xml:space="preserve">integration at a time</a:t>
            </a:r>
            <a:endParaRPr lang="en-US" sz="3900"/>
          </a:p>
        </p:txBody>
      </p:sp>
      <p:sp>
        <p:nvSpPr>
          <p:cNvPr id="4" name="Image background"/>
          <p:cNvSpPr/>
          <p:nvPr/>
        </p:nvSpPr>
        <p:spPr>
          <a:xfrm>
            <a:off x="944880" y="2647950"/>
            <a:ext cx="11826240" cy="4619625"/>
          </a:xfrm>
          <a:prstGeom prst="rect">
            <a:avLst/>
          </a:prstGeom>
          <a:solidFill>
            <a:srgbClr val="122323"/>
          </a:solidFill>
          <a:ln>
            <a:noFill/>
          </a:ln>
        </p:spPr>
      </p:sp>
      <p:pic>
        <p:nvPicPr>
          <p:cNvPr id="5" name="c6f0fbb68e5ce78026448103d918b67135212db9e9f49deb90f1f192122fe3b4" descr="Every integration multiplies the pathways from something the agent can read to something it can do; nobody reviews the combinations."/>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Adaptive, agentic apps</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3</a:t>
            </a:r>
            <a:endParaRPr lang="en-US" sz="975"/>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22323"/>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A4D2C4"/>
                </a:solidFill>
                <a:latin typeface="Arial"/>
                <a:ea typeface="Arial"/>
                <a:cs typeface="Arial"/>
              </a:rPr>
              <a:t xml:space="preserve">04 / 15    SOURCE SLIDE 4</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Conjure the agent the job needs</a:t>
            </a:r>
            <a:endParaRPr lang="en-US" sz="3900"/>
          </a:p>
        </p:txBody>
      </p:sp>
      <p:sp>
        <p:nvSpPr>
          <p:cNvPr id="4" name="Image background"/>
          <p:cNvSpPr/>
          <p:nvPr/>
        </p:nvSpPr>
        <p:spPr>
          <a:xfrm>
            <a:off x="944880" y="2647950"/>
            <a:ext cx="11826240" cy="4619625"/>
          </a:xfrm>
          <a:prstGeom prst="rect">
            <a:avLst/>
          </a:prstGeom>
          <a:solidFill>
            <a:srgbClr val="122323"/>
          </a:solidFill>
          <a:ln>
            <a:noFill/>
          </a:ln>
        </p:spPr>
      </p:sp>
      <p:pic>
        <p:nvPicPr>
          <p:cNvPr id="5" name="49192e4dea5444b92308c41ff8684a327f20855daa9a1cd61a760fa369e7fb39" descr="The orchestrator writes a tailored prompt, selects the minimum tools from a catalog, and loops until the job is done or must stop."/>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Adaptive, agentic apps</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4</a:t>
            </a:r>
            <a:endParaRPr lang="en-US" sz="975"/>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22323"/>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A4D2C4"/>
                </a:solidFill>
                <a:latin typeface="Arial"/>
                <a:ea typeface="Arial"/>
                <a:cs typeface="Arial"/>
              </a:rPr>
              <a:t xml:space="preserve">05 / 15    SOURCE SLIDE 5</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Guard the tools that can hurt</a:t>
            </a:r>
            <a:endParaRPr lang="en-US" sz="3900"/>
          </a:p>
        </p:txBody>
      </p:sp>
      <p:sp>
        <p:nvSpPr>
          <p:cNvPr id="4" name="Image background"/>
          <p:cNvSpPr/>
          <p:nvPr/>
        </p:nvSpPr>
        <p:spPr>
          <a:xfrm>
            <a:off x="944880" y="2647950"/>
            <a:ext cx="11826240" cy="4619625"/>
          </a:xfrm>
          <a:prstGeom prst="rect">
            <a:avLst/>
          </a:prstGeom>
          <a:solidFill>
            <a:srgbClr val="122323"/>
          </a:solidFill>
          <a:ln>
            <a:noFill/>
          </a:ln>
        </p:spPr>
      </p:sp>
      <p:pic>
        <p:nvPicPr>
          <p:cNvPr id="5" name="85c7c5e5c6397daf9bbbe87ad34332d968ebbb3adc9c16b8b4f1195b93398de8" descr="Proposed boundary: the dispatcher grants worker access; only allowlisted status returns to the planner."/>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Adaptive, agentic apps</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5</a:t>
            </a:r>
            <a:endParaRPr lang="en-US" sz="975"/>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22323"/>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A4D2C4"/>
                </a:solidFill>
                <a:latin typeface="Arial"/>
                <a:ea typeface="Arial"/>
                <a:cs typeface="Arial"/>
              </a:rPr>
              <a:t xml:space="preserve">06 / 15    SOURCE SLIDE 6</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Repair syntax; prove meaning</a:t>
            </a:r>
            <a:endParaRPr lang="en-US" sz="3900"/>
          </a:p>
        </p:txBody>
      </p:sp>
      <p:sp>
        <p:nvSpPr>
          <p:cNvPr id="4" name="Image background"/>
          <p:cNvSpPr/>
          <p:nvPr/>
        </p:nvSpPr>
        <p:spPr>
          <a:xfrm>
            <a:off x="944880" y="2647950"/>
            <a:ext cx="11826240" cy="4619625"/>
          </a:xfrm>
          <a:prstGeom prst="rect">
            <a:avLst/>
          </a:prstGeom>
          <a:solidFill>
            <a:srgbClr val="122323"/>
          </a:solidFill>
          <a:ln>
            <a:noFill/>
          </a:ln>
        </p:spPr>
      </p:sp>
      <p:pic>
        <p:nvPicPr>
          <p:cNvPr id="5" name="761b061f86238b43b59089f47fb3a955ed6b83f7f51e1073ce392879feb924da" descr="A documented rename can preserve meaning; an undefined business state needs an owner."/>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Adaptive, agentic apps</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6</a:t>
            </a:r>
            <a:endParaRPr lang="en-US" sz="975"/>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22323"/>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A4D2C4"/>
                </a:solidFill>
                <a:latin typeface="Arial"/>
                <a:ea typeface="Arial"/>
                <a:cs typeface="Arial"/>
              </a:rPr>
              <a:t xml:space="preserve">07 / 15    SOURCE SLIDE 7</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The repair is a versioned artifact</a:t>
            </a:r>
            <a:endParaRPr lang="en-US" sz="3900"/>
          </a:p>
        </p:txBody>
      </p:sp>
      <p:sp>
        <p:nvSpPr>
          <p:cNvPr id="4" name="Image background"/>
          <p:cNvSpPr/>
          <p:nvPr/>
        </p:nvSpPr>
        <p:spPr>
          <a:xfrm>
            <a:off x="944880" y="2647950"/>
            <a:ext cx="11826240" cy="4619625"/>
          </a:xfrm>
          <a:prstGeom prst="rect">
            <a:avLst/>
          </a:prstGeom>
          <a:solidFill>
            <a:srgbClr val="122323"/>
          </a:solidFill>
          <a:ln>
            <a:noFill/>
          </a:ln>
        </p:spPr>
      </p:sp>
      <p:pic>
        <p:nvPicPr>
          <p:cNvPr id="5" name="2dbb359f7c9040fcd9050fc87c6495205f54763b340ccc2f1b9d4a471cd71123" descr="Promote a tested mapping within its allowed scope; reconcile writes if you roll back."/>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Adaptive, agentic apps</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7</a:t>
            </a:r>
            <a:endParaRPr lang="en-US" sz="975"/>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22323"/>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A4D2C4"/>
                </a:solidFill>
                <a:latin typeface="Arial"/>
                <a:ea typeface="Arial"/>
                <a:cs typeface="Arial"/>
              </a:rPr>
              <a:t xml:space="preserve">08 / 15    SOURCE SLIDE 8</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The agent does not write its own exam</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A4D2C4"/>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Held-out fixtures under separate control</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A4D2C4"/>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Conflicting old and new fields</a:t>
            </a:r>
            <a:endParaRPr lang="en-US" sz="3150"/>
          </a:p>
        </p:txBody>
      </p:sp>
      <p:sp>
        <p:nvSpPr>
          <p:cNvPr id="8" name="Text 8"/>
          <p:cNvSpPr txBox="1"/>
          <p:nvPr/>
        </p:nvSpPr>
        <p:spPr>
          <a:xfrm>
            <a:off x="685800" y="43453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A4D2C4"/>
                </a:solidFill>
                <a:latin typeface="Arial"/>
                <a:ea typeface="Arial"/>
                <a:cs typeface="Arial"/>
              </a:rPr>
              <a:t xml:space="preserve">03</a:t>
            </a:r>
            <a:endParaRPr lang="en-US" sz="1875"/>
          </a:p>
        </p:txBody>
      </p:sp>
      <p:sp>
        <p:nvSpPr>
          <p:cNvPr id="9" name="Text 9"/>
          <p:cNvSpPr txBox="1"/>
          <p:nvPr/>
        </p:nvSpPr>
        <p:spPr>
          <a:xfrm>
            <a:off x="2000250" y="43453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Watch the denominator</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Adaptive, agentic apps</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8</a:t>
            </a:r>
            <a:endParaRPr lang="en-US" sz="975"/>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22323"/>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A4D2C4"/>
                </a:solidFill>
                <a:latin typeface="Arial"/>
                <a:ea typeface="Arial"/>
                <a:cs typeface="Arial"/>
              </a:rPr>
              <a:t xml:space="preserve">09 / 15    SOURCE SLIDE 9</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A lost response leaves a question</a:t>
            </a:r>
            <a:endParaRPr lang="en-US" sz="3900"/>
          </a:p>
        </p:txBody>
      </p:sp>
      <p:sp>
        <p:nvSpPr>
          <p:cNvPr id="4" name="Image background"/>
          <p:cNvSpPr/>
          <p:nvPr/>
        </p:nvSpPr>
        <p:spPr>
          <a:xfrm>
            <a:off x="944880" y="2647950"/>
            <a:ext cx="11826240" cy="4619625"/>
          </a:xfrm>
          <a:prstGeom prst="rect">
            <a:avLst/>
          </a:prstGeom>
          <a:solidFill>
            <a:srgbClr val="122323"/>
          </a:solidFill>
          <a:ln>
            <a:noFill/>
          </a:ln>
        </p:spPr>
      </p:sp>
      <p:pic>
        <p:nvPicPr>
          <p:cNvPr id="5" name="886b18342d5b01030fa309ca30c63cddfe578d8e7d3faea08cd10ab5947a8a82" descr="Reconcile the operation identity before another submission; retain unresolved reservations."/>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Adaptive, agentic apps</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9</a:t>
            </a:r>
            <a:endParaRPr lang="en-US" sz="975"/>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22323"/>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A4D2C4"/>
                </a:solidFill>
                <a:latin typeface="Arial"/>
                <a:ea typeface="Arial"/>
                <a:cs typeface="Arial"/>
              </a:rPr>
              <a:t xml:space="preserve">10 / 15    SOURCE SLIDE 10</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Walkthrough: one ingest, three decisions</a:t>
            </a:r>
            <a:endParaRPr lang="en-US" sz="3900"/>
          </a:p>
        </p:txBody>
      </p:sp>
      <p:sp>
        <p:nvSpPr>
          <p:cNvPr id="4" name="Image background"/>
          <p:cNvSpPr/>
          <p:nvPr/>
        </p:nvSpPr>
        <p:spPr>
          <a:xfrm>
            <a:off x="944880" y="2647950"/>
            <a:ext cx="11826240" cy="4619625"/>
          </a:xfrm>
          <a:prstGeom prst="rect">
            <a:avLst/>
          </a:prstGeom>
          <a:solidFill>
            <a:srgbClr val="122323"/>
          </a:solidFill>
          <a:ln>
            <a:noFill/>
          </a:ln>
        </p:spPr>
      </p:sp>
      <p:pic>
        <p:nvPicPr>
          <p:cNvPr id="5" name="e3a416f7af999aa267b26b235a9a87ce39013671fd2840fa5f9d8776e7e01026" descr="Recovery, quarantine and reconciliation are all legitimate outcomes of the same ingest job."/>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Adaptive, agentic apps</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10</a:t>
            </a:r>
            <a:endParaRPr lang="en-US" sz="975"/>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22323"/>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A4D2C4"/>
                </a:solidFill>
                <a:latin typeface="Arial"/>
                <a:ea typeface="Arial"/>
                <a:cs typeface="Arial"/>
              </a:rPr>
              <a:t xml:space="preserve">11 / 15    SOURCE SLIDE 11</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Scale becomes something the app asks for</a:t>
            </a:r>
            <a:endParaRPr lang="en-US" sz="3900"/>
          </a:p>
        </p:txBody>
      </p:sp>
      <p:sp>
        <p:nvSpPr>
          <p:cNvPr id="4" name="Image background"/>
          <p:cNvSpPr/>
          <p:nvPr/>
        </p:nvSpPr>
        <p:spPr>
          <a:xfrm>
            <a:off x="944880" y="2647950"/>
            <a:ext cx="11826240" cy="4619625"/>
          </a:xfrm>
          <a:prstGeom prst="rect">
            <a:avLst/>
          </a:prstGeom>
          <a:solidFill>
            <a:srgbClr val="122323"/>
          </a:solidFill>
          <a:ln>
            <a:noFill/>
          </a:ln>
        </p:spPr>
      </p:sp>
      <p:pic>
        <p:nvPicPr>
          <p:cNvPr id="5" name="af12d2cf4f8eb96ff7f1d48fcb5de85b6adf7e198168f7b8ebf9e8cb4eba2b66" descr="The orchestrator requests shape, size and duration inside a per-customer ceiling; the scheduler resolves it against a catalog and issues a lease."/>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Adaptive, agentic apps</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11</a:t>
            </a:r>
            <a:endParaRPr lang="en-US" sz="975"/>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22323"/>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A4D2C4"/>
                </a:solidFill>
                <a:latin typeface="Arial"/>
                <a:ea typeface="Arial"/>
                <a:cs typeface="Arial"/>
              </a:rPr>
              <a:t xml:space="preserve">12 / 15    SOURCE SLIDE 12</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Show engineers what changed today</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A4D2C4"/>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Promoted changes and scope</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A4D2C4"/>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Quarantined records and reasons</a:t>
            </a:r>
            <a:endParaRPr lang="en-US" sz="3150"/>
          </a:p>
        </p:txBody>
      </p:sp>
      <p:sp>
        <p:nvSpPr>
          <p:cNvPr id="8" name="Text 8"/>
          <p:cNvSpPr txBox="1"/>
          <p:nvPr/>
        </p:nvSpPr>
        <p:spPr>
          <a:xfrm>
            <a:off x="685800" y="43453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A4D2C4"/>
                </a:solidFill>
                <a:latin typeface="Arial"/>
                <a:ea typeface="Arial"/>
                <a:cs typeface="Arial"/>
              </a:rPr>
              <a:t xml:space="preserve">03</a:t>
            </a:r>
            <a:endParaRPr lang="en-US" sz="1875"/>
          </a:p>
        </p:txBody>
      </p:sp>
      <p:sp>
        <p:nvSpPr>
          <p:cNvPr id="9" name="Text 9"/>
          <p:cNvSpPr txBox="1"/>
          <p:nvPr/>
        </p:nvSpPr>
        <p:spPr>
          <a:xfrm>
            <a:off x="2000250" y="434530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Outstanding jobs, reserved spend, denied tool</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requests</a:t>
            </a:r>
            <a:endParaRPr lang="en-US" sz="3150"/>
          </a:p>
        </p:txBody>
      </p:sp>
      <p:sp>
        <p:nvSpPr>
          <p:cNvPr id="10" name="Text 10"/>
          <p:cNvSpPr txBox="1"/>
          <p:nvPr/>
        </p:nvSpPr>
        <p:spPr>
          <a:xfrm>
            <a:off x="685800" y="565213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A4D2C4"/>
                </a:solidFill>
                <a:latin typeface="Arial"/>
                <a:ea typeface="Arial"/>
                <a:cs typeface="Arial"/>
              </a:rPr>
              <a:t xml:space="preserve">04</a:t>
            </a:r>
            <a:endParaRPr lang="en-US" sz="1875"/>
          </a:p>
        </p:txBody>
      </p:sp>
      <p:sp>
        <p:nvSpPr>
          <p:cNvPr id="11" name="Text 11"/>
          <p:cNvSpPr txBox="1"/>
          <p:nvPr/>
        </p:nvSpPr>
        <p:spPr>
          <a:xfrm>
            <a:off x="2000250" y="565213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Owner, evidence, next action</a:t>
            </a:r>
            <a:endParaRPr lang="en-US" sz="3150"/>
          </a:p>
        </p:txBody>
      </p:sp>
      <p:sp>
        <p:nvSpPr>
          <p:cNvPr id="12" name="Text 12"/>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Adaptive, agentic apps</a:t>
            </a:r>
            <a:endParaRPr lang="en-US" sz="975"/>
          </a:p>
        </p:txBody>
      </p:sp>
      <p:sp>
        <p:nvSpPr>
          <p:cNvPr id="13" name="Text 13"/>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12</a:t>
            </a:r>
            <a:endParaRPr lang="en-US" sz="975"/>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22323"/>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A4D2C4"/>
                </a:solidFill>
                <a:latin typeface="Arial"/>
                <a:ea typeface="Arial"/>
                <a:cs typeface="Arial"/>
              </a:rPr>
              <a:t xml:space="preserve">13 / 15    SOURCE SLIDE 13</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Widen authority only from measured outcomes</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A4D2C4"/>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Shadow: propose, apply nothing</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A4D2C4"/>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Canary: one reversible change class</a:t>
            </a:r>
            <a:endParaRPr lang="en-US" sz="3150"/>
          </a:p>
        </p:txBody>
      </p:sp>
      <p:sp>
        <p:nvSpPr>
          <p:cNvPr id="8" name="Text 8"/>
          <p:cNvSpPr txBox="1"/>
          <p:nvPr/>
        </p:nvSpPr>
        <p:spPr>
          <a:xfrm>
            <a:off x="685800" y="43453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A4D2C4"/>
                </a:solidFill>
                <a:latin typeface="Arial"/>
                <a:ea typeface="Arial"/>
                <a:cs typeface="Arial"/>
              </a:rPr>
              <a:t xml:space="preserve">03</a:t>
            </a:r>
            <a:endParaRPr lang="en-US" sz="1875"/>
          </a:p>
        </p:txBody>
      </p:sp>
      <p:sp>
        <p:nvSpPr>
          <p:cNvPr id="9" name="Text 9"/>
          <p:cNvSpPr txBox="1"/>
          <p:nvPr/>
        </p:nvSpPr>
        <p:spPr>
          <a:xfrm>
            <a:off x="2000250" y="434530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Expand: from correct recoveries, false repairs,</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cost, interventions</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Adaptive, agentic apps</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13</a:t>
            </a:r>
            <a:endParaRPr lang="en-US" sz="975"/>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22323"/>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A4D2C4"/>
                </a:solidFill>
                <a:latin typeface="Arial"/>
                <a:ea typeface="Arial"/>
                <a:cs typeface="Arial"/>
              </a:rPr>
              <a:t xml:space="preserve">14 / 15    SOURCE SLIDE 14</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Start smaller: remember what happened</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A4D2C4"/>
                </a:solidFill>
                <a:latin typeface="Arial"/>
                <a:ea typeface="Arial"/>
                <a:cs typeface="Arial"/>
              </a:rPr>
              <a:t xml:space="preserve">01</a:t>
            </a:r>
            <a:endParaRPr lang="en-US" sz="1875"/>
          </a:p>
        </p:txBody>
      </p:sp>
      <p:sp>
        <p:nvSpPr>
          <p:cNvPr id="5" name="Text 5"/>
          <p:cNvSpPr txBox="1"/>
          <p:nvPr/>
        </p:nvSpPr>
        <p:spPr>
          <a:xfrm>
            <a:off x="2000250" y="277177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Before returning: check relevant memory and correct</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known mistakes</a:t>
            </a:r>
            <a:endParaRPr lang="en-US" sz="3150"/>
          </a:p>
        </p:txBody>
      </p:sp>
      <p:sp>
        <p:nvSpPr>
          <p:cNvPr id="6" name="Text 6"/>
          <p:cNvSpPr txBox="1"/>
          <p:nvPr/>
        </p:nvSpPr>
        <p:spPr>
          <a:xfrm>
            <a:off x="685800" y="40786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A4D2C4"/>
                </a:solidFill>
                <a:latin typeface="Arial"/>
                <a:ea typeface="Arial"/>
                <a:cs typeface="Arial"/>
              </a:rPr>
              <a:t xml:space="preserve">02</a:t>
            </a:r>
            <a:endParaRPr lang="en-US" sz="1875"/>
          </a:p>
        </p:txBody>
      </p:sp>
      <p:sp>
        <p:nvSpPr>
          <p:cNvPr id="7" name="Text 7"/>
          <p:cNvSpPr txBox="1"/>
          <p:nvPr/>
        </p:nvSpPr>
        <p:spPr>
          <a:xfrm>
            <a:off x="2000250" y="407860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After execution: record checks, outcome, correction</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and frequency</a:t>
            </a:r>
            <a:endParaRPr lang="en-US" sz="3150"/>
          </a:p>
        </p:txBody>
      </p:sp>
      <p:sp>
        <p:nvSpPr>
          <p:cNvPr id="8" name="Text 8"/>
          <p:cNvSpPr txBox="1"/>
          <p:nvPr/>
        </p:nvSpPr>
        <p:spPr>
          <a:xfrm>
            <a:off x="685800" y="538543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A4D2C4"/>
                </a:solidFill>
                <a:latin typeface="Arial"/>
                <a:ea typeface="Arial"/>
                <a:cs typeface="Arial"/>
              </a:rPr>
              <a:t xml:space="preserve">03</a:t>
            </a:r>
            <a:endParaRPr lang="en-US" sz="1875"/>
          </a:p>
        </p:txBody>
      </p:sp>
      <p:sp>
        <p:nvSpPr>
          <p:cNvPr id="9" name="Text 9"/>
          <p:cNvSpPr txBox="1"/>
          <p:nvPr/>
        </p:nvSpPr>
        <p:spPr>
          <a:xfrm>
            <a:off x="2000250" y="538543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Generated, executed and verified are different</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states</a:t>
            </a:r>
            <a:endParaRPr lang="en-US" sz="3150"/>
          </a:p>
        </p:txBody>
      </p:sp>
      <p:sp>
        <p:nvSpPr>
          <p:cNvPr id="10" name="Text 10"/>
          <p:cNvSpPr txBox="1"/>
          <p:nvPr/>
        </p:nvSpPr>
        <p:spPr>
          <a:xfrm>
            <a:off x="685800" y="669226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A4D2C4"/>
                </a:solidFill>
                <a:latin typeface="Arial"/>
                <a:ea typeface="Arial"/>
                <a:cs typeface="Arial"/>
              </a:rPr>
              <a:t xml:space="preserve">04</a:t>
            </a:r>
            <a:endParaRPr lang="en-US" sz="1875"/>
          </a:p>
        </p:txBody>
      </p:sp>
      <p:sp>
        <p:nvSpPr>
          <p:cNvPr id="11" name="Text 11"/>
          <p:cNvSpPr txBox="1"/>
          <p:nvPr/>
        </p:nvSpPr>
        <p:spPr>
          <a:xfrm>
            <a:off x="2000250" y="669226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Memory is evidence, never permission</a:t>
            </a:r>
            <a:endParaRPr lang="en-US" sz="3150"/>
          </a:p>
        </p:txBody>
      </p:sp>
      <p:sp>
        <p:nvSpPr>
          <p:cNvPr id="12" name="Text 12"/>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Adaptive, agentic apps</a:t>
            </a:r>
            <a:endParaRPr lang="en-US" sz="975"/>
          </a:p>
        </p:txBody>
      </p:sp>
      <p:sp>
        <p:nvSpPr>
          <p:cNvPr id="13" name="Text 13"/>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14</a:t>
            </a:r>
            <a:endParaRPr lang="en-US" sz="975"/>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22323"/>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A4D2C4"/>
                </a:solidFill>
                <a:latin typeface="Arial"/>
                <a:ea typeface="Arial"/>
                <a:cs typeface="Arial"/>
              </a:rPr>
              <a:t xml:space="preserve">15 / 15    SOURCE SLIDE 15</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The next surprise should cost less</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A4D2C4"/>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Conjure exactly enough</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A4D2C4"/>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Prove the repair</a:t>
            </a:r>
            <a:endParaRPr lang="en-US" sz="3150"/>
          </a:p>
        </p:txBody>
      </p:sp>
      <p:sp>
        <p:nvSpPr>
          <p:cNvPr id="8" name="Text 8"/>
          <p:cNvSpPr txBox="1"/>
          <p:nvPr/>
        </p:nvSpPr>
        <p:spPr>
          <a:xfrm>
            <a:off x="685800" y="43453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A4D2C4"/>
                </a:solidFill>
                <a:latin typeface="Arial"/>
                <a:ea typeface="Arial"/>
                <a:cs typeface="Arial"/>
              </a:rPr>
              <a:t xml:space="preserve">03</a:t>
            </a:r>
            <a:endParaRPr lang="en-US" sz="1875"/>
          </a:p>
        </p:txBody>
      </p:sp>
      <p:sp>
        <p:nvSpPr>
          <p:cNvPr id="9" name="Text 9"/>
          <p:cNvSpPr txBox="1"/>
          <p:nvPr/>
        </p:nvSpPr>
        <p:spPr>
          <a:xfrm>
            <a:off x="2000250" y="43453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Remember the known case</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Adaptive, agentic apps</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15</a:t>
            </a:r>
            <a:endParaRPr lang="en-US" sz="975"/>
          </a:p>
        </p:txBody>
      </p:sp>
    </p:spTree>
  </p:cSld>
  <p:clrMapOvr>
    <a:masterClrMapping/>
  </p:clrMapOvr>
</p:sld>
</file>

<file path=ppt/theme/theme1.xml><?xml version="1.0" encoding="utf-8"?>
<a:theme xmlns:a="http://schemas.openxmlformats.org/drawingml/2006/main" name="Dan Levy talks">
  <a:themeElements>
    <a:clrScheme name="Talk palette">
      <a:dk1>
        <a:srgbClr val="202B33"/>
      </a:dk1>
      <a:lt1>
        <a:srgbClr val="FFFFFF"/>
      </a:lt1>
      <a:dk2>
        <a:srgbClr val="48555B"/>
      </a:dk2>
      <a:lt2>
        <a:srgbClr val="FAFAF7"/>
      </a:lt2>
      <a:accent1>
        <a:srgbClr val="A4D2C4"/>
      </a:accent1>
      <a:accent2>
        <a:srgbClr val="728482"/>
      </a:accent2>
      <a:accent3>
        <a:srgbClr val="53616F"/>
      </a:accent3>
      <a:accent4>
        <a:srgbClr val="9D7462"/>
      </a:accent4>
      <a:accent5>
        <a:srgbClr val="7D86A0"/>
      </a:accent5>
      <a:accent6>
        <a:srgbClr val="9E996B"/>
      </a:accent6>
      <a:hlink>
        <a:srgbClr val="246957"/>
      </a:hlink>
      <a:folHlink>
        <a:srgbClr val="925700"/>
      </a:folHlink>
    </a:clrScheme>
    <a:fontScheme name="Arial">
      <a:majorFont>
        <a:latin typeface="Arial"/>
        <a:ea typeface=""/>
        <a:cs typeface=""/>
      </a:majorFont>
      <a:minorFont>
        <a:latin typeface="Arial"/>
        <a:ea typeface=""/>
        <a:cs typeface=""/>
      </a:minorFont>
    </a:fontScheme>
    <a:fmtScheme name="Plain">
      <a:fillStyleLst>
        <a:solidFill>
          <a:schemeClr val="phClr"/>
        </a:solidFill>
        <a:solidFill>
          <a:schemeClr val="phClr"/>
        </a:solidFill>
        <a:solidFill>
          <a:schemeClr val="phClr"/>
        </a:solidFill>
      </a:fillStyleLst>
      <a:lnStyleLst>
        <a:ln w="9525">
          <a:solidFill>
            <a:schemeClr val="phClr"/>
          </a:solidFill>
          <a:prstDash val="solid"/>
        </a:ln>
        <a:ln w="9525">
          <a:solidFill>
            <a:schemeClr val="phClr"/>
          </a:solidFill>
          <a:prstDash val="solid"/>
        </a:ln>
        <a:ln w="9525">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Application>Talk package exporter</Application>
  <Slides>15</Slides>
  <Notes>15</Notes>
</Properties>
</file>

<file path=docProps/core.xml><?xml version="1.0" encoding="utf-8"?>
<cp:coreProperties xmlns:cp="http://schemas.openxmlformats.org/package/2006/metadata/core-properties" xmlns:dc="http://purl.org/dc/elements/1.1/" xmlns:dcterms="http://purl.org/dc/terms/" xmlns:xsi="http://www.w3.org/2001/XMLSchema-instance">
  <dc:title>Adaptive, agentic apps</dc:title>
  <dc:creator>Dan Levy</dc:creator>
  <dc:description>screen edition generated from current reviewed talk materials</dc:description>
  <dcterms:created xsi:type="dcterms:W3CDTF">2026-09-07T01:22:59Z</dcterms:created>
</cp:coreProperties>
</file>