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Assume access. Demand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desk with an open notebook, a glowing phone face down beside it, a window with morning light, dark slate background, amber accent on the phone 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Skepticism is a method, not a mood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magnifying glass held over a glossy brochure, the lens revealing plain handwritten notes underneath, dark slate background, amber accent on the lens rim,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proxy is not the capability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5:00–7:00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beautifully bound essay on a pedestal casting a shadow, the shadow shaped like a question mark, dark slate background, amber accent on the shadow,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Artifact: a polished essay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weigh conflicting sources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explain a choice and revise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formatted essay proves an essay exists. Our objective: given two primary sources that disagree about the same event, explain which to trust more for a specific question and why. A polished essay can summarize both and never make the judgment. Keep the artifact; add the moment where the reasoning is visible.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Delegate / Augment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7:00–10:00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vertical columns like sorting bins, a hand dropping a single verb-shaped token into the middle one, dark slate background, amber accent on the token,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same assistance, three verdicts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10:00–14:30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one identical helping hand icon shown three times, each time landing in a different one of three bins, dark slate background, amber accent on the third bin,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1: the tutor that agrees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14:30–17:00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chat bubble with a thumbs-up emoji next to a chat bubble containing a question mark, the thumbs-up bubble slightly cracked, dark slate background, amber accent on the crack,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 "The diary is more reliable because it is older."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Tutor A: "Great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Tutor B: "Older than what? What would make a diary unreliable?"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Sycophancy is the first failure to expect. A tutor that affirms a plausible mistake trains the mistake. Handling is on slide 11: confident wrong answers go into your local eval set before any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confidently wrong AI answer you or a student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2: gains that vanish, and when they don't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17:00–21:00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 graphs side by side, the first rising then dropping off a cliff, the second rising and holding, a small scaffold drawn under the second line, dark slate background, amber accent on the scaffold,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3: the detector as judge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21:00–23:00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courtroom gavel resting on a probability dial reading somewhere in the middle, the dial needle trembling,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Failure mode 4: unequal access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23:00–25:00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identical doors, one with a wide ramp and one with a tall step, dark slate background, amber accent on the ramp,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Comparable tools or a usable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Accessible ways to explain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Clear permission before the task; no surprise surveillance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assisted practice is permitted, provide comparable access. If oral explanation is chosen, plan accommodations and language needs so you are not grading speaking ease by accident. State what is retained and who sees it. A policy that creates unequal access distorts the measurement before the first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Pre-mortem: it is week ten and the policy failed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25:00–29:00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calendar page torn off showing a distant week, a small crack running across the page, two chairs facing each other beneath it, dark slate background, amber accent on the crack,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Handle it: a local eval set and proportional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29:00–32:30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index cards fanned out on a table, one marked with an X, one with a checkmark and a question mark, one with a hand asking, one with a tangled line, dark slate background, amber accent on the X card,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Eval set: a confident wrong answer, a right answer with faulty reasoning, a request for the solution, a learner the tutor misunderstands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Evidence: one added question, a changed constraint, a correction with a reason, a later independent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cases before any pilot. For the history example, the tutor must not affirm "older means more reliable." Two educators score the teaching moves; factual errors counted separately from pacing and tone. A benchmark score cannot certify your lesson.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proportional evidence. Add one question that improves the inference: "which source did you trust more, and what would change your mind?" Collect enough to support a decision, not enough to reconstruct a student's life.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Humans belong at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32:30–34:30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conveyor of identical worksheets with one worksheet lifted out and held in a pair of hands, dark slate background, amber accent on the lifted sheet,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Diagnose the misconception · Interpret ambiguous evidence · Own consequential decisions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AI scales instruction far more easily than it scales wisdom. A tutor supplies another exercise fast. A teacher notices the student reasons well aloud but freezes on the written form, or that a language issue is being scored as a history error. Reserve human attention for interpretation and consequential grading. A human escalation promise needs an actual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Pilot one assignment; ask one better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34:30–38:00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seedling in a small pot on a windowsill beside a large empty planter, dark slate background, amber accent on the seedling,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Keep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classroom desk from slide 1, the phone now face up showing a blank screen, the notebook filled with three handwritten lines, dark slate background, amber accent on the notebook lines,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 Skeptic's Guide to Surviving AI in Education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Assume access. Demand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the reason students are here.</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Skepticism is a method, not a mood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claim?</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would count as evidence?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benefits if we believe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proxy is not the capability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Artifact: a polished essay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weigh conflicting sources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Evidence: explain a choice and revise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Delegate / Augment / Preserve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Delegate effort outside the objective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Augment practice toward the objective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Preserve evidence of the objective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same assistance, three verdicts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Spelling without assistance → Preserve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Strength of an argument → Augment</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Scientific explanation → Delegate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1: the tutor that agrees with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 "The diary is more reliable because it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older."</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Tutor A: "Great point!"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Tutor B: "Older than what? What would make a diary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unreliable?"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2: gains that vanish, and when</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they don't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Bastani: assisted practice up, unaided performance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down, safeguards helped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Kestin: a designed tutor beat active learning 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immediate outcomes</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learners, which teaching moves, which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comparison, how long after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3: the detector as judge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Authorship inference ≠ learning evidence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misconduct decision</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Failure mode 4: unequal access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Comparable tools or a usable alternative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Accessible ways to explain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Clear permission before the task; no surprise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surveillance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Pre-mortem: it is week ten and the policy</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failed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smallest change that would have caught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Handle it: a local eval set and proportional</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57924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Eval set: a confident wrong answer, a right answer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faulty reasoning, a request for the solution, a</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learner the tutor misunderstands</a:t>
            </a:r>
            <a:endParaRPr lang="en-US" sz="3150"/>
          </a:p>
        </p:txBody>
      </p:sp>
      <p:sp>
        <p:nvSpPr>
          <p:cNvPr id="6" name="Text 6"/>
          <p:cNvSpPr txBox="1"/>
          <p:nvPr/>
        </p:nvSpPr>
        <p:spPr>
          <a:xfrm>
            <a:off x="685800" y="45986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598670"/>
            <a:ext cx="11029950" cy="157924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Evidence: one added question, a changed constraint,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 correction with a reason, a later independent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check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Humans belong at consequential decisions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Diagnose the misconception · Interpret ambiguous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evidence · Own consequential decisions</a:t>
            </a:r>
            <a:endParaRPr lang="en-US" sz="3150"/>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Pilot one assignment; ask one better question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 Specify permitted assistance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Compare evidence before and after · Decide whether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to keep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 the vendor: what learning improved, compared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for whom, at what staff cost?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Keep the reason students are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Name the capability. Choose assistance deliberately.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Collect evidence of understanding. Evaluate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teaching, not the hype.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 Skeptic's Guide to Surviving AI in Education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screen edition generated from current reviewed talk materials</dc:description>
  <dcterms:created xsi:type="dcterms:W3CDTF">2026-09-06T09:11:11Z</dcterms:created>
</cp:coreProperties>
</file>