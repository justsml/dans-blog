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Default Extension="svg" ContentType="image/svg+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Master"/>
  </p:sldMasterIdLst>
  <p:notesMasterIdLst>
    <p:notesMasterId r:id="rIdNotesMaster"/>
  </p:notesMasterIdLst>
  <p:sldIdLst>
    <p:sldId id="256" r:id="rIdSlide1"/>
    <p:sldId id="257" r:id="rIdSlide2"/>
    <p:sldId id="258" r:id="rIdSlide3"/>
    <p:sldId id="259" r:id="rIdSlide4"/>
    <p:sldId id="260" r:id="rIdSlide5"/>
    <p:sldId id="261" r:id="rIdSlide6"/>
    <p:sldId id="262" r:id="rIdSlide7"/>
    <p:sldId id="263" r:id="rIdSlide8"/>
    <p:sldId id="264" r:id="rIdSlide9"/>
    <p:sldId id="265" r:id="rIdSlide10"/>
    <p:sldId id="266" r:id="rIdSlide11"/>
    <p:sldId id="267" r:id="rIdSlide12"/>
    <p:sldId id="268" r:id="rIdSlide13"/>
    <p:sldId id="269" r:id="rIdSlide14"/>
    <p:sldId id="270" r:id="rIdSlide15"/>
  </p:sldIdLst>
  <p:sldSz cx="13716000" cy="8572500" type="custom"/>
  <p:notesSz cx="6858000" cy="9144000"/>
  <p:defaultTextStyle/>
</p:presentation>
</file>

<file path=ppt/_rels/presentation.xml.rels><?xml version="1.0" encoding="UTF-8" standalone="yes"?><Relationships xmlns="http://schemas.openxmlformats.org/package/2006/relationships"><Relationship Id="rIdMaster" Type="http://schemas.openxmlformats.org/officeDocument/2006/relationships/slideMaster" Target="slideMasters/slideMaster1.xml"/><Relationship Id="rIdNotesMaster" Type="http://schemas.openxmlformats.org/officeDocument/2006/relationships/notesMaster" Target="notesMasters/notesMaster1.xml"/><Relationship Id="rIdSlide1" Type="http://schemas.openxmlformats.org/officeDocument/2006/relationships/slide" Target="slides/slide1.xml"/><Relationship Id="rIdSlide2" Type="http://schemas.openxmlformats.org/officeDocument/2006/relationships/slide" Target="slides/slide2.xml"/><Relationship Id="rIdSlide3" Type="http://schemas.openxmlformats.org/officeDocument/2006/relationships/slide" Target="slides/slide3.xml"/><Relationship Id="rIdSlide4" Type="http://schemas.openxmlformats.org/officeDocument/2006/relationships/slide" Target="slides/slide4.xml"/><Relationship Id="rIdSlide5" Type="http://schemas.openxmlformats.org/officeDocument/2006/relationships/slide" Target="slides/slide5.xml"/><Relationship Id="rIdSlide6" Type="http://schemas.openxmlformats.org/officeDocument/2006/relationships/slide" Target="slides/slide6.xml"/><Relationship Id="rIdSlide7" Type="http://schemas.openxmlformats.org/officeDocument/2006/relationships/slide" Target="slides/slide7.xml"/><Relationship Id="rIdSlide8" Type="http://schemas.openxmlformats.org/officeDocument/2006/relationships/slide" Target="slides/slide8.xml"/><Relationship Id="rIdSlide9" Type="http://schemas.openxmlformats.org/officeDocument/2006/relationships/slide" Target="slides/slide9.xml"/><Relationship Id="rIdSlide10" Type="http://schemas.openxmlformats.org/officeDocument/2006/relationships/slide" Target="slides/slide10.xml"/><Relationship Id="rIdSlide11" Type="http://schemas.openxmlformats.org/officeDocument/2006/relationships/slide" Target="slides/slide11.xml"/><Relationship Id="rIdSlide12" Type="http://schemas.openxmlformats.org/officeDocument/2006/relationships/slide" Target="slides/slide12.xml"/><Relationship Id="rIdSlide13" Type="http://schemas.openxmlformats.org/officeDocument/2006/relationships/slide" Target="slides/slide13.xml"/><Relationship Id="rIdSlide14" Type="http://schemas.openxmlformats.org/officeDocument/2006/relationships/slide" Target="slides/slide14.xml"/><Relationship Id="rIdSlide15" Type="http://schemas.openxmlformats.org/officeDocument/2006/relationships/slide" Target="slides/slide15.xml"/></Relationships>
</file>

<file path=ppt/notesMasters/_rels/notesMaster1.xml.rels><?xml version="1.0" encoding="UTF-8" standalone="yes"?><Relationships xmlns="http://schemas.openxmlformats.org/package/2006/relationships"><Relationship Id="rIdTheme"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notesStyle/>
</p:notesMaster>
</file>

<file path=ppt/notesSlides/_rels/notesSlide1.xml.rels><?xml version="1.0" encoding="UTF-8" standalone="yes"?><Relationships xmlns="http://schemas.openxmlformats.org/package/2006/relationships"><Relationship Id="rIdSlide" Type="http://schemas.openxmlformats.org/officeDocument/2006/relationships/slide" Target="../slides/slide1.xml"/><Relationship Id="rIdMaster" Type="http://schemas.openxmlformats.org/officeDocument/2006/relationships/notesMaster" Target="../notesMasters/notesMaster1.xml"/></Relationships>
</file>

<file path=ppt/notesSlides/_rels/notesSlide2.xml.rels><?xml version="1.0" encoding="UTF-8" standalone="yes"?><Relationships xmlns="http://schemas.openxmlformats.org/package/2006/relationships"><Relationship Id="rIdSlide" Type="http://schemas.openxmlformats.org/officeDocument/2006/relationships/slide" Target="../slides/slide2.xml"/><Relationship Id="rIdMaster" Type="http://schemas.openxmlformats.org/officeDocument/2006/relationships/notesMaster" Target="../notesMasters/notesMaster1.xml"/></Relationships>
</file>

<file path=ppt/notesSlides/_rels/notesSlide3.xml.rels><?xml version="1.0" encoding="UTF-8" standalone="yes"?><Relationships xmlns="http://schemas.openxmlformats.org/package/2006/relationships"><Relationship Id="rIdSlide" Type="http://schemas.openxmlformats.org/officeDocument/2006/relationships/slide" Target="../slides/slide3.xml"/><Relationship Id="rIdMaster" Type="http://schemas.openxmlformats.org/officeDocument/2006/relationships/notesMaster" Target="../notesMasters/notesMaster1.xml"/></Relationships>
</file>

<file path=ppt/notesSlides/_rels/notesSlide4.xml.rels><?xml version="1.0" encoding="UTF-8" standalone="yes"?><Relationships xmlns="http://schemas.openxmlformats.org/package/2006/relationships"><Relationship Id="rIdSlide" Type="http://schemas.openxmlformats.org/officeDocument/2006/relationships/slide" Target="../slides/slide4.xml"/><Relationship Id="rIdMaster" Type="http://schemas.openxmlformats.org/officeDocument/2006/relationships/notesMaster" Target="../notesMasters/notesMaster1.xml"/></Relationships>
</file>

<file path=ppt/notesSlides/_rels/notesSlide5.xml.rels><?xml version="1.0" encoding="UTF-8" standalone="yes"?><Relationships xmlns="http://schemas.openxmlformats.org/package/2006/relationships"><Relationship Id="rIdSlide" Type="http://schemas.openxmlformats.org/officeDocument/2006/relationships/slide" Target="../slides/slide5.xml"/><Relationship Id="rIdMaster" Type="http://schemas.openxmlformats.org/officeDocument/2006/relationships/notesMaster" Target="../notesMasters/notesMaster1.xml"/></Relationships>
</file>

<file path=ppt/notesSlides/_rels/notesSlide6.xml.rels><?xml version="1.0" encoding="UTF-8" standalone="yes"?><Relationships xmlns="http://schemas.openxmlformats.org/package/2006/relationships"><Relationship Id="rIdSlide" Type="http://schemas.openxmlformats.org/officeDocument/2006/relationships/slide" Target="../slides/slide6.xml"/><Relationship Id="rIdMaster" Type="http://schemas.openxmlformats.org/officeDocument/2006/relationships/notesMaster" Target="../notesMasters/notesMaster1.xml"/></Relationships>
</file>

<file path=ppt/notesSlides/_rels/notesSlide7.xml.rels><?xml version="1.0" encoding="UTF-8" standalone="yes"?><Relationships xmlns="http://schemas.openxmlformats.org/package/2006/relationships"><Relationship Id="rIdSlide" Type="http://schemas.openxmlformats.org/officeDocument/2006/relationships/slide" Target="../slides/slide7.xml"/><Relationship Id="rIdMaster" Type="http://schemas.openxmlformats.org/officeDocument/2006/relationships/notesMaster" Target="../notesMasters/notesMaster1.xml"/></Relationships>
</file>

<file path=ppt/notesSlides/_rels/notesSlide8.xml.rels><?xml version="1.0" encoding="UTF-8" standalone="yes"?><Relationships xmlns="http://schemas.openxmlformats.org/package/2006/relationships"><Relationship Id="rIdSlide" Type="http://schemas.openxmlformats.org/officeDocument/2006/relationships/slide" Target="../slides/slide8.xml"/><Relationship Id="rIdMaster" Type="http://schemas.openxmlformats.org/officeDocument/2006/relationships/notesMaster" Target="../notesMasters/notesMaster1.xml"/></Relationships>
</file>

<file path=ppt/notesSlides/_rels/notesSlide9.xml.rels><?xml version="1.0" encoding="UTF-8" standalone="yes"?><Relationships xmlns="http://schemas.openxmlformats.org/package/2006/relationships"><Relationship Id="rIdSlide" Type="http://schemas.openxmlformats.org/officeDocument/2006/relationships/slide" Target="../slides/slide9.xml"/><Relationship Id="rIdMaster" Type="http://schemas.openxmlformats.org/officeDocument/2006/relationships/notesMaster" Target="../notesMasters/notesMaster1.xml"/></Relationships>
</file>

<file path=ppt/notesSlides/_rels/notesSlide10.xml.rels><?xml version="1.0" encoding="UTF-8" standalone="yes"?><Relationships xmlns="http://schemas.openxmlformats.org/package/2006/relationships"><Relationship Id="rIdSlide" Type="http://schemas.openxmlformats.org/officeDocument/2006/relationships/slide" Target="../slides/slide10.xml"/><Relationship Id="rIdMaster" Type="http://schemas.openxmlformats.org/officeDocument/2006/relationships/notesMaster" Target="../notesMasters/notesMaster1.xml"/></Relationships>
</file>

<file path=ppt/notesSlides/_rels/notesSlide11.xml.rels><?xml version="1.0" encoding="UTF-8" standalone="yes"?><Relationships xmlns="http://schemas.openxmlformats.org/package/2006/relationships"><Relationship Id="rIdSlide" Type="http://schemas.openxmlformats.org/officeDocument/2006/relationships/slide" Target="../slides/slide11.xml"/><Relationship Id="rIdMaster" Type="http://schemas.openxmlformats.org/officeDocument/2006/relationships/notesMaster" Target="../notesMasters/notesMaster1.xml"/></Relationships>
</file>

<file path=ppt/notesSlides/_rels/notesSlide12.xml.rels><?xml version="1.0" encoding="UTF-8" standalone="yes"?><Relationships xmlns="http://schemas.openxmlformats.org/package/2006/relationships"><Relationship Id="rIdSlide" Type="http://schemas.openxmlformats.org/officeDocument/2006/relationships/slide" Target="../slides/slide12.xml"/><Relationship Id="rIdMaster" Type="http://schemas.openxmlformats.org/officeDocument/2006/relationships/notesMaster" Target="../notesMasters/notesMaster1.xml"/></Relationships>
</file>

<file path=ppt/notesSlides/_rels/notesSlide13.xml.rels><?xml version="1.0" encoding="UTF-8" standalone="yes"?><Relationships xmlns="http://schemas.openxmlformats.org/package/2006/relationships"><Relationship Id="rIdSlide" Type="http://schemas.openxmlformats.org/officeDocument/2006/relationships/slide" Target="../slides/slide13.xml"/><Relationship Id="rIdMaster" Type="http://schemas.openxmlformats.org/officeDocument/2006/relationships/notesMaster" Target="../notesMasters/notesMaster1.xml"/></Relationships>
</file>

<file path=ppt/notesSlides/_rels/notesSlide14.xml.rels><?xml version="1.0" encoding="UTF-8" standalone="yes"?><Relationships xmlns="http://schemas.openxmlformats.org/package/2006/relationships"><Relationship Id="rIdSlide" Type="http://schemas.openxmlformats.org/officeDocument/2006/relationships/slide" Target="../slides/slide14.xml"/><Relationship Id="rIdMaster" Type="http://schemas.openxmlformats.org/officeDocument/2006/relationships/notesMaster" Target="../notesMasters/notesMaster1.xml"/></Relationships>
</file>

<file path=ppt/notesSlides/_rels/notesSlide15.xml.rels><?xml version="1.0" encoding="UTF-8" standalone="yes"?><Relationships xmlns="http://schemas.openxmlformats.org/package/2006/relationships"><Relationship Id="rIdSlide" Type="http://schemas.openxmlformats.org/officeDocument/2006/relationships/slide" Target="../slides/slide15.xml"/><Relationship Id="rIdMaster"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Automating Improvement From Failure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 00:00 to 01:30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pager trained you to ignore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next improvement is already in the scroll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logs are still arriving. Stack traces, retries, the same customer clicking the same broken button. Somewhere in that scroll is work we will eventually call urgent. Usually after somebody sends an angry email.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This talk owns the offline improvement loop, including the people reviewing its output. The examples are teaching fixtures until I attach a production record. Runtime recovery belongs to Adaptive, agentic apps.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There is a name for training people to ignore the channel that is supposed to warn them. Alert fatigue. Cvach reviewed it in clinical monitoring. I am borrowing the mechanism, not claiming a hospital study measured your on-call rotation. If our new agent creates a ticket for every log line, we have automated the thing that made the logs unreadable.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Maria Cvach (2012), [Monitor alarm fatigue: an integrative review](https://pubmed.ncbi.nlm.nih.gov/22839984/), Biomedical Instrumentation &amp; Technology 46(4), 268–277.</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failure that sat in your logs until a customer reported it. Bring the first log timestamp, the report, and what you missed.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Scroll a sanitized export. Take a show of hands: who learned about a logged failure from a customer? Allow 30 seconds.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Automating Improvement From Failure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2. 01:30 to 02:30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Already better than the nobody who was doing it before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Read access. One question. One saved answer.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Give a coding agent a sanitized export. Ask what broke since yesterday. That is the first version. A file and a question.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It may group unrelated failures together. It may miss the one line you care about. Inspect the answer against the input before you wire it to anything. But for the queue nobody was reading, we finally have a candidate reader. Already better than the nobody who was doing it before.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Save the answer with the input window. Tomorrow, you want to know whether it found something new or just described yesterday more confidently.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Automating Improvement From Failure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3. 02:30 to 04:30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Logs → code → trace → reproduction → ticket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One failure class at a time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stack trace tells you where an exception surfaced. The code tells you which branch produced it. The trace shows what happened before it. A reproduction tells you whether your explanation survives a second attempt.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Add the integration that answers the next question. Read access to code does not require write access to production. Looking at queue depth does not require permission to resize the cluster. Access is a set of individual grants, not a graduation ceremony.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An agent reading everything writes you a summary of the noise. Pick one failure class. If the class turns out to contain three different mechanisms, split it. That discovery is useful work.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Walk up the ladder using one timeout. Stop at the first rung that supports an action. Use the contracts handout for the integration table.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Automating Improvement From Failure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4. 04:30 to 06:30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Schedule → bookmark → distill → artifact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Advance the bookmark after durable output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Run outside the request path. A scheduled job reads the last completed bookmark, fetches a bounded window, strips secrets, and produces an artifact. Each family gets a count, first seen, last seen, and links to the evidence.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Only advance the bookmark after the artifact is saved. If ticket creation fails, retry from that artifact using a stable incident key. Otherwise the failure-improvement system gets its own failure-improvement system, and we are all going home late.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Keep the collection window and the classifier version beside the result. Late-arriving logs need an overlap window and deduplication. A cron expression does not solve delivery semantics.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Open contracts.md and trace one interrupted run. Show which artifact survives and why repeating it does not open another ticket.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Automating Improvement From Failure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5. 06:30 to 08:00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Count occurrences before guessing causes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Severity · evidence · owner · unknown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Distillation removes repetition. Classification decides where the remaining work goes. Keep those outputs separate so a reviewer can inspect a group without accepting its diagnosis.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Two matching strings are a family candidate. They are not a root cause. Keep the trace IDs and the counterexample that did not fit. A low-severity label needs a reason because a wrong low can leave a customer stranded without anyone looking.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Give the classifier an unknown result and a queue that receives it. If every answer must be one of the happy categories, the prompt has already decided what the agent is allowed to notice.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Automating Improvement From Failure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6. 08:00 to 10:00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retry hides an auth failure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sleep hides a race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Successful workaround ≠ repaired system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request fails. The agent retries. It works. Score the loop on eventual success and the lesson is obvious: retry more.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Now make the failure an authorization error. A second credential works, but the first request was forbidden for a reason. The green result hid the boundary violation. A sleep that hides a race teaches the same lesson more slowly.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Diane Vaughan called the organizational pattern normalization of deviance. Her Challenger analysis shows how repeated acceptance of anomalies made them ordinary. Our application is narrower: a repair loop needs evidence that the defect is gone, because successful workarounds are very persuasive evidence of the wrong thing.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Diane Vaughan, [The Challenger Launch Decision](https://press.uchicago.edu/ucp/books/book/chicago/C/bo22781921.html), University of Chicago Press, original 1996; linked enlarged edition 2016.</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workaround you left running after it stopped the symptom. Name the underlying defect and the test that eventually exposed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Take two short answers about fixes that hid a problem. Budget 45 seconds; do not invite incident-length stories.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Automating Improvement From Failure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7. 10:00 to 11:30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Tickets are cheap. Review is not.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proposed diagnosis travels with its evidence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useful ticket says what happened, how often, who was affected, and what remains unexplained. It links the evidence. It does not announce a root cause just because the model found a similar issue from last month.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Opening a PR spends somebody else's attention. Require a reproduction, a bounded change, and a named reviewer before the agent adds to that queue. Deduplicate by the incident key. Cap new proposals per run. When the queue is full, hold the artifact and report the backlog.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Match ceremony to consequence. A documentation correction and a payment retry do not get the same permissions because they happen to arrive through the same agent.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Automating Improvement From Failure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8. 11:30 to 17:00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Regression · holdout · scope · human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useful result is permission denied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candidate removes the visible failure. That is the beginning of the demo, not the result.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Run the regression. Now run the held-out authorization case. It fails. The proposed retry used authority that belonged to somebody else. The gate holds the change without asking the agent whether it feels finished.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Toyota calls stopping at an abnormality jidoka. That is the useful part to borrow. Detect the defect and stop producing it. The andon summons help; it is not a story about one cord stopping an entire company.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Now give the classifier the case it cannot explain. Unknown is an output. It lands in review with the evidence intact. No automatic promotion, no invented diagnosis. Does similarity establish cause? We just watched it fail that test.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Toyota, [Toyota Production System](https://global.toyota/en/company/vision-and-philosophy/production-system/), jidoka and the andon response.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Use the live sequence in engineering/failure-improvement/demo.md. Full slot 5:30. Run real tests; never substitute the checkbox kit for execution. Recording remains blocked until a sanitized production export, working tracker integration, and captured gate run exist.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Automating Improvement From Failure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9. 17:00 to 19:30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easy cases disappear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reviewer keeps the exceptions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robot opens good PRs for a month. What happens to the person reviewing them?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Bainbridge's Ironies of Automation asks what remains for the human after automation takes the routine work. Monitoring and difficult interventions remain, while opportunities to practise shrink. That paper is from 1983. The problem did not wait for a chat interface.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My design response is to rotate review duty, reserve time for it, and practise recovery on known failures outside production. Sample accepted work for missed defects. Keep evaluation cases separate from the repair agent's tuning loop. A sampling policy is for the audit; it does not wave through a payment or a data deletion.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If the queue is too big to inspect, reduce what enters it. Giving one engineer a hundred green suggestions is not giving them a hundred reasons to trust the next one.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Lisanne Bainbridge (1983), [Ironies of automation](https://www.sciencedirect.com/science/article/pii/0005109883900468), Automatica 19(6), 775–779.</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Automating Improvement From Failure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10. 19:30 to 22:00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Nondeterminism finds the path. Determinism runs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Save the script, its tests, and its invalidation rule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Let the agent explore a changed flow in a browser. Once it finds the login path, save that path as a script. Stop buying the same discovery on every run.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scheduled check is the same move. Memory and search over prior work help identify repetition. A skill describes when to turn a repeated task into a file. The output gets reviewed, tested, versioned, and scheduled. When the page or the log schema changes, invalidate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Selecting tests from a diff is another candidate. Compare it against the full suite on retained changes before trusting the selection. Count missed regressions as well as runtime. Keep the full suite on a schedule. Cheap selection that skips the failing test has excellent unit economics right up to the incident.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repeated agent task you turned into a script. Bring the file and a case where it needed invalidating. Use measured browser-test costs only with run records.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Automating Improvement From Failure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11. 22:00 to 23:30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Thumbs down + a sentence of rage = a useful input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Feedback → evidence → candidate → opt-in flag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thumbs-down tells you where to look. The sentence after it tells you why. Preserve the customer's wording and the session link before you ask the agent to summarize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pipeline now proposes a change instead of a failure diagnosis. Put it behind a flag for the consenting user, check whether it solves their problem, then decide whether a wider cohort belongs in the experiment. Similar usage is a hypothesis about who benefits, not permission to enroll them.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Keep feature requests and incident fixes visibly distinct in the queue. They share machinery. They do not share an acceptance criterion.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complaint that became a change, including what the first proposed fix misunderstood.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Automating Improvement From Failure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12. 23:30 to 26:00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Session ID → linked trace → incident candidate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Detect. Recommend. Draft. A person presses the button.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customer reports lost data. Their session links to an error. Escalate with the trace attached. Do not wait for the model to invent a full causal story before a person investigates.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Three address complaints and a shipping error suggest a shared incident. Check tenant, time window, and operation before merging the tickets. A matching word is not a matching outage.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Draft the notice before the fourth customer asks. A person approves the recipients and the message. The same rule covers credits and data deletion. Detect, recommend, draft. A person presses the button.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Automating Improvement From Failure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13. 26:00 to 27:30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100 tickets. 90 wrong. Ten worth reading.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Measure recurrence and wrong tickets, with denominators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Suppose the agent files a hundred tickets and a reviewer closes ninety as wrong. Time-to-ticket looks terrific. Ten percent were worth reading. That is our arithmetic fixture, and it is the number I want next to the throughput chart.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Goodhart is the warning here: once we reward a proxy, we change the behavior producing it. Faster tickets are very easy to manufacture. Faster learning is harder.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Track recurring failures after a fix, with exposure counts. Track wrong tickets among reviewed tickets, and audit the cases the agent ignored. A low false-positive rate bought by filing nothing is another beautiful dashboard. Record backlog age too. Otherwise the reviewer silently pays for the metric win.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Marilyn Strathern (1997), [Improving ratings: audit in the British University system](https://gwern.net/doc/statistics/decision/1997-strathern.pdf), European Review 5(3), 305–321. The familiar target-and-measure wording is Strathern’s formulation of Goodhart’s law.</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Automating Improvement From Failure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14. 27:30 to 29:00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One failure class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One integration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One place the loop must stop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Write down one failure class you could hand this loop on Monday. Name the input and the person who would inspect its first output.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Now name the one integration it needs next. Leave the rest blank. Last, write the condition under which it must stop and ask. That is enough for a first version.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Give the room a full 60 seconds. Do not fill it with a recap.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Automating Improvement From Failure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15. 29:00 to 30:00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Alert fatigue · normalization of deviance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Jidoka · automation irony · Goodhart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scroll is still arriving. Now the loop leaves a smaller pile of inspectable work, and it knows where to stop.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Alert fatigue explains the unread channel. Normalization of deviance explains the successful workaround. Jidoka gives the stop a job. Automation irony asks what we did to the reviewer. Goodhart asks whether the dashboard rewarded the wrong thing.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model did not get smarter. The system around it got a job.</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Replay the opening scroll beside the distilled artifact. End there.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slideLayouts/_rels/slideLayout1.xml.rels><?xml version="1.0" encoding="UTF-8" standalone="yes"?><Relationships xmlns="http://schemas.openxmlformats.org/package/2006/relationships"><Relationship Id="rIdMaster"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Relationships xmlns="http://schemas.openxmlformats.org/package/2006/relationships"><Relationship Id="rIdLayout" Type="http://schemas.openxmlformats.org/officeDocument/2006/relationships/slideLayout" Target="../slideLayouts/slideLayout1.xml"/><Relationship Id="rIdTheme"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sldLayoutIdLst>
    <p:sldLayoutId id="2147483649" r:id="rIdLayout"/>
  </p:sldLayoutIdLst>
  <p:txStyles>
    <p:titleStyle/>
    <p:bodyStyle/>
    <p:otherStyle/>
  </p:txStyles>
</p:sldMaster>
</file>

<file path=ppt/slides/_rels/slide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xml"/></Relationships>
</file>

<file path=ppt/slides/_rels/slide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xml"/></Relationships>
</file>

<file path=ppt/slides/_rels/slide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3.xml"/><Relationship Id="rIdImage1" Type="http://schemas.openxmlformats.org/officeDocument/2006/relationships/image" Target="../media/slide3-1.png"/><Relationship Id="rIdSvg1" Type="http://schemas.openxmlformats.org/officeDocument/2006/relationships/image" Target="../media/slide3-1.svg"/></Relationships>
</file>

<file path=ppt/slides/_rels/slide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4.xml"/><Relationship Id="rIdImage1" Type="http://schemas.openxmlformats.org/officeDocument/2006/relationships/image" Target="../media/slide4-1.png"/><Relationship Id="rIdSvg1" Type="http://schemas.openxmlformats.org/officeDocument/2006/relationships/image" Target="../media/slide4-1.svg"/></Relationships>
</file>

<file path=ppt/slides/_rels/slide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5.xml"/></Relationships>
</file>

<file path=ppt/slides/_rels/slide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6.xml"/></Relationships>
</file>

<file path=ppt/slides/_rels/slide7.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7.xml"/></Relationships>
</file>

<file path=ppt/slides/_rels/slide8.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8.xml"/></Relationships>
</file>

<file path=ppt/slides/_rels/slide9.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9.xml"/></Relationships>
</file>

<file path=ppt/slides/_rels/slide10.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0.xml"/></Relationships>
</file>

<file path=ppt/slides/_rels/slide1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1.xml"/></Relationships>
</file>

<file path=ppt/slides/_rels/slide1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2.xml"/></Relationships>
</file>

<file path=ppt/slides/_rels/slide1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3.xml"/></Relationships>
</file>

<file path=ppt/slides/_rels/slide1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4.xml"/></Relationships>
</file>

<file path=ppt/slides/_rels/slide1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Automating Improvement From Failure · Dan Levy</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Your logs are a roadmap nobody reads</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The pager trained you to ignore it</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The next improvement is already in the scroll</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Automating Improvement From Failure</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a:t>
            </a:r>
            <a:endParaRPr lang="en-US" sz="975"/>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02 / 15    SOURCE SLIDE 2</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Step one: hand an agent the logs</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Already better than the nobody who was doing it</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before</a:t>
            </a:r>
            <a:endParaRPr lang="en-US" sz="3150"/>
          </a:p>
        </p:txBody>
      </p:sp>
      <p:sp>
        <p:nvSpPr>
          <p:cNvPr id="6" name="Text 6"/>
          <p:cNvSpPr txBox="1"/>
          <p:nvPr/>
        </p:nvSpPr>
        <p:spPr>
          <a:xfrm>
            <a:off x="685800" y="40786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407860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Read access. One question. One saved answer.</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Automating Improvement From Failure</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2</a:t>
            </a:r>
            <a:endParaRPr lang="en-US" sz="975"/>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03 / 15    SOURCE SLIDE 3</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Enrichment earns the next step</a:t>
            </a:r>
            <a:endParaRPr lang="en-US" sz="3900"/>
          </a:p>
        </p:txBody>
      </p:sp>
      <p:sp>
        <p:nvSpPr>
          <p:cNvPr id="4" name="Image background"/>
          <p:cNvSpPr/>
          <p:nvPr/>
        </p:nvSpPr>
        <p:spPr>
          <a:xfrm>
            <a:off x="944880" y="2647950"/>
            <a:ext cx="11826240" cy="4619625"/>
          </a:xfrm>
          <a:prstGeom prst="rect">
            <a:avLst/>
          </a:prstGeom>
          <a:solidFill>
            <a:srgbClr val="161D26"/>
          </a:solidFill>
          <a:ln>
            <a:noFill/>
          </a:ln>
        </p:spPr>
      </p:sp>
      <p:pic>
        <p:nvPicPr>
          <p:cNvPr id="5" name="3546b42ba9bbd729b121170f08ad65507a843e542b81ec4fdf60371788f64051" descr="Enrichment earns the next step"/>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Automating Improvement From Failure</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3</a:t>
            </a:r>
            <a:endParaRPr lang="en-US" sz="975"/>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04 / 15    SOURCE SLIDE 4</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The out-of-band check</a:t>
            </a:r>
            <a:endParaRPr lang="en-US" sz="3900"/>
          </a:p>
        </p:txBody>
      </p:sp>
      <p:sp>
        <p:nvSpPr>
          <p:cNvPr id="4" name="Image background"/>
          <p:cNvSpPr/>
          <p:nvPr/>
        </p:nvSpPr>
        <p:spPr>
          <a:xfrm>
            <a:off x="944880" y="2647950"/>
            <a:ext cx="11826240" cy="4619625"/>
          </a:xfrm>
          <a:prstGeom prst="rect">
            <a:avLst/>
          </a:prstGeom>
          <a:solidFill>
            <a:srgbClr val="161D26"/>
          </a:solidFill>
          <a:ln>
            <a:noFill/>
          </a:ln>
        </p:spPr>
      </p:sp>
      <p:pic>
        <p:nvPicPr>
          <p:cNvPr id="5" name="547ce6dcc16ea548ed8da7d58462e9e17c8b32ebe42eee869374aeebae779869" descr="The out-of-band check"/>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Automating Improvement From Failure</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4</a:t>
            </a:r>
            <a:endParaRPr lang="en-US" sz="975"/>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05 / 15    SOURCE SLIDE 5</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Distill, then classify</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Count occurrences before guessing causes</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Severity · evidence · owner · unknown</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Automating Improvement From Failure</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5</a:t>
            </a:r>
            <a:endParaRPr lang="en-US" sz="975"/>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06 / 15    SOURCE SLIDE 6</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The retry that hid the auth failure</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A retry hides an auth failure</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A sleep hides a race</a:t>
            </a:r>
            <a:endParaRPr lang="en-US" sz="3150"/>
          </a:p>
        </p:txBody>
      </p:sp>
      <p:sp>
        <p:nvSpPr>
          <p:cNvPr id="8" name="Text 8"/>
          <p:cNvSpPr txBox="1"/>
          <p:nvPr/>
        </p:nvSpPr>
        <p:spPr>
          <a:xfrm>
            <a:off x="685800" y="43453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434530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Successful workaround ≠ repaired system</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Automating Improvement From Failure</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6</a:t>
            </a:r>
            <a:endParaRPr lang="en-US" sz="975"/>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07 / 15    SOURCE SLIDE 7</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From tags to tickets and PRs</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Tickets are cheap. Review is not.</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A proposed diagnosis travels with its evidence</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Automating Improvement From Failure</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7</a:t>
            </a:r>
            <a:endParaRPr lang="en-US" sz="975"/>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08 / 15    SOURCE SLIDE 8</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Demo: nothing leaves without evidence</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Regression · holdout · scope · human</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The useful result is permission denied</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Automating Improvement From Failure</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8</a:t>
            </a:r>
            <a:endParaRPr lang="en-US" sz="975"/>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09 / 15    SOURCE SLIDE 9</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Who reviews the robot's PRs?</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The easy cases disappear</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The reviewer keeps the exceptions</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Automating Improvement From Failure</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9</a:t>
            </a:r>
            <a:endParaRPr lang="en-US" sz="975"/>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10 / 15    SOURCE SLIDE 10</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Compile what repeats</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Nondeterminism finds the path. Determinism runs it.</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Save the script, its tests, and its invalidation</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rule</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Automating Improvement From Failure</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10</a:t>
            </a:r>
            <a:endParaRPr lang="en-US" sz="975"/>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11 / 15    SOURCE SLIDE 11</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Feedback is the same loop</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Thumbs down + a sentence of rage = a useful input</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Feedback → evidence → candidate → opt-in flag</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Automating Improvement From Failure</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11</a:t>
            </a:r>
            <a:endParaRPr lang="en-US" sz="975"/>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12 / 15    SOURCE SLIDE 12</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Correlate, escalate, and the money gate</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Session ID → linked trace → incident candidate</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Detect. Recommend. Draft. A person presses the</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button.</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Automating Improvement From Failure</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12</a:t>
            </a:r>
            <a:endParaRPr lang="en-US" sz="975"/>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13 / 15    SOURCE SLIDE 13</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The metrics that will lie to you</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100 tickets. 90 wrong. Ten worth reading.</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Measure recurrence and wrong tickets, with</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denominators</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Automating Improvement From Failure</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13</a:t>
            </a:r>
            <a:endParaRPr lang="en-US" sz="975"/>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14 / 15    SOURCE SLIDE 14</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Start Monday</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One failure class</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One integration</a:t>
            </a:r>
            <a:endParaRPr lang="en-US" sz="3150"/>
          </a:p>
        </p:txBody>
      </p:sp>
      <p:sp>
        <p:nvSpPr>
          <p:cNvPr id="8" name="Text 8"/>
          <p:cNvSpPr txBox="1"/>
          <p:nvPr/>
        </p:nvSpPr>
        <p:spPr>
          <a:xfrm>
            <a:off x="685800" y="43453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434530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One place the loop must stop</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Automating Improvement From Failure</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14</a:t>
            </a:r>
            <a:endParaRPr lang="en-US" sz="975"/>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15 / 15    SOURCE SLIDE 15</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Fail to win</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Alert fatigue · normalization of deviance</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Jidoka · automation irony · Goodhart</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Automating Improvement From Failure</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15</a:t>
            </a:r>
            <a:endParaRPr lang="en-US" sz="975"/>
          </a:p>
        </p:txBody>
      </p:sp>
    </p:spTree>
  </p:cSld>
  <p:clrMapOvr>
    <a:masterClrMapping/>
  </p:clrMapOvr>
</p:sld>
</file>

<file path=ppt/theme/theme1.xml><?xml version="1.0" encoding="utf-8"?>
<a:theme xmlns:a="http://schemas.openxmlformats.org/drawingml/2006/main" name="Dan Levy talks">
  <a:themeElements>
    <a:clrScheme name="Talk palette">
      <a:dk1>
        <a:srgbClr val="202B33"/>
      </a:dk1>
      <a:lt1>
        <a:srgbClr val="FFFFFF"/>
      </a:lt1>
      <a:dk2>
        <a:srgbClr val="48555B"/>
      </a:dk2>
      <a:lt2>
        <a:srgbClr val="FAFAF7"/>
      </a:lt2>
      <a:accent1>
        <a:srgbClr val="EFB45F"/>
      </a:accent1>
      <a:accent2>
        <a:srgbClr val="728482"/>
      </a:accent2>
      <a:accent3>
        <a:srgbClr val="53616F"/>
      </a:accent3>
      <a:accent4>
        <a:srgbClr val="9D7462"/>
      </a:accent4>
      <a:accent5>
        <a:srgbClr val="7D86A0"/>
      </a:accent5>
      <a:accent6>
        <a:srgbClr val="9E996B"/>
      </a:accent6>
      <a:hlink>
        <a:srgbClr val="246957"/>
      </a:hlink>
      <a:folHlink>
        <a:srgbClr val="925700"/>
      </a:folHlink>
    </a:clrScheme>
    <a:fontScheme name="Arial">
      <a:majorFont>
        <a:latin typeface="Arial"/>
        <a:ea typeface=""/>
        <a:cs typeface=""/>
      </a:majorFont>
      <a:minorFont>
        <a:latin typeface="Arial"/>
        <a:ea typeface=""/>
        <a:cs typeface=""/>
      </a:minorFont>
    </a:fontScheme>
    <a:fmtScheme name="Plain">
      <a:fillStyleLst>
        <a:solidFill>
          <a:schemeClr val="phClr"/>
        </a:solidFill>
        <a:solidFill>
          <a:schemeClr val="phClr"/>
        </a:solidFill>
        <a:solidFill>
          <a:schemeClr val="phClr"/>
        </a:solidFill>
      </a:fillStyleLst>
      <a:lnStyleLst>
        <a:ln w="9525">
          <a:solidFill>
            <a:schemeClr val="phClr"/>
          </a:solidFill>
          <a:prstDash val="solid"/>
        </a:ln>
        <a:ln w="9525">
          <a:solidFill>
            <a:schemeClr val="phClr"/>
          </a:solidFill>
          <a:prstDash val="solid"/>
        </a:ln>
        <a:ln w="9525">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Application>Talk package exporter</Application>
  <Slides>15</Slides>
  <Notes>15</Notes>
</Properties>
</file>

<file path=docProps/core.xml><?xml version="1.0" encoding="utf-8"?>
<cp:coreProperties xmlns:cp="http://schemas.openxmlformats.org/package/2006/metadata/core-properties" xmlns:dc="http://purl.org/dc/elements/1.1/" xmlns:dcterms="http://purl.org/dc/terms/" xmlns:xsi="http://www.w3.org/2001/XMLSchema-instance">
  <dc:title>Automating Improvement From Failure</dc:title>
  <dc:creator>Dan Levy</dc:creator>
  <dc:description>screen edition generated from current reviewed talk materials</dc:description>
  <dcterms:created xsi:type="dcterms:W3CDTF">2026-09-06T09:11:13Z</dcterms:created>
</cp:coreProperties>
</file>