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15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boxes, one invoice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Price paid · Resources consumed · Cost allocated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Value delivered</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gap between the last two is why nobody is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measuring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15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15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Burn the boats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$250B incremental Azure services contracted by</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OpenAI · Microsoft, 28 Oct 2025</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More than $100B AWS commitment over ten years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Amazon, 20 Apr 2026</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Up to $200K AWS Activate credits · offer checked 5</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Sep 2026</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15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15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15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15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lots are already built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Repealing the parking minimum does not remove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asphalt</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four: path dependence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test: try to remove one model call and count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hours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15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Whoever chooses is not whoever pays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five: moral hazard</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architecture is chosen in a design review. The</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bill arrives 60 days later, somewhere else.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Shoup's fix was never a ban. It was a meter.</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15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15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Turn the dial</a:t>
            </a:r>
            <a:endParaRPr lang="en-US" sz="3900"/>
          </a:p>
        </p:txBody>
      </p:sp>
      <p:graphicFrame>
        <p:nvGraphicFramePr>
          <p:cNvPr id="4" name="Editable table"/>
          <p:cNvGraphicFramePr/>
          <p:nvPr/>
        </p:nvGraphicFramePr>
        <p:xfrm>
          <a:off x="685800" y="2752725"/>
          <a:ext cx="12344400" cy="2817019"/>
        </p:xfrm>
        <a:graphic>
          <a:graphicData uri="http://schemas.openxmlformats.org/drawingml/2006/main/table">
            <a:tbl>
              <a:tblPr firstRow="1" bandRow="0"/>
              <a:tblGrid>
                <a:gridCol w="4114800"/>
                <a:gridCol w="4114800"/>
                <a:gridCol w="4114800"/>
              </a:tblGrid>
              <a:tr h="563404">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Inference price</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Monthly cost</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1">
                          <a:solidFill>
                            <a:srgbClr val="EFB45F"/>
                          </a:solidFill>
                          <a:latin typeface="Arial"/>
                          <a:ea typeface="Arial"/>
                          <a:cs typeface="Arial"/>
                        </a:rPr>
                        <a:t xml:space="preserve">Cost / accepted outcome</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$30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$0.040</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$0.067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5×</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$0.147</a:t>
                      </a:r>
                      <a:endParaRPr lang="en-US" sz="2175"/>
                    </a:p>
                  </a:txBody>
                  <a:tcPr marL="95250" marR="95250" marT="95250" marB="95250">
                    <a:lnB w="6350">
                      <a:solidFill>
                        <a:srgbClr val="CBD2CF"/>
                      </a:solidFill>
                    </a:lnB>
                    <a:noFill/>
                  </a:tcPr>
                </a:tc>
              </a:tr>
              <a:tr h="563404">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$210</a:t>
                      </a:r>
                      <a:endParaRPr lang="en-US" sz="2175"/>
                    </a:p>
                  </a:txBody>
                  <a:tcPr marL="95250" marR="95250" marT="95250" marB="95250">
                    <a:lnB w="6350">
                      <a:solidFill>
                        <a:srgbClr val="CBD2CF"/>
                      </a:solidFill>
                    </a:lnB>
                    <a:noFill/>
                  </a:tcPr>
                </a:tc>
                <a:tc>
                  <a:txBody>
                    <a:bodyPr wrap="none" lIns="0" tIns="0" rIns="0" bIns="0"/>
                    <a:lstStyle/>
                    <a:p>
                      <a:pPr marL="0" indent="0">
                        <a:lnSpc>
                          <a:spcPts val="2936"/>
                        </a:lnSpc>
                        <a:spcAft>
                          <a:spcPts val="0"/>
                        </a:spcAft>
                        <a:buNone/>
                      </a:pPr>
                      <a:r>
                        <a:rPr lang="en-US" sz="2175" b="0">
                          <a:solidFill>
                            <a:srgbClr val="F5F1E9"/>
                          </a:solidFill>
                          <a:latin typeface="Arial"/>
                          <a:ea typeface="Arial"/>
                          <a:cs typeface="Arial"/>
                        </a:rPr>
                        <a:t xml:space="preserve">$0.280</a:t>
                      </a:r>
                      <a:endParaRPr lang="en-US" sz="2175"/>
                    </a:p>
                  </a:txBody>
                  <a:tcPr marL="95250" marR="95250" marT="95250" marB="95250">
                    <a:lnB w="6350">
                      <a:solidFill>
                        <a:srgbClr val="CBD2CF"/>
                      </a:solidFill>
                    </a:lnB>
                    <a:noFill/>
                  </a:tcPr>
                </a:tc>
              </a:tr>
            </a:tbl>
          </a:graphicData>
        </a:graphic>
      </p:graphicFrame>
      <p:sp>
        <p:nvSpPr>
          <p:cNvPr id="5" name="Text 5"/>
          <p:cNvSpPr txBox="1"/>
          <p:nvPr/>
        </p:nvSpPr>
        <p:spPr>
          <a:xfrm>
            <a:off x="685800" y="5769769"/>
            <a:ext cx="12344400" cy="1524000"/>
          </a:xfrm>
          <a:prstGeom prst="rect">
            <a:avLst/>
          </a:prstGeom>
          <a:noFill/>
          <a:ln>
            <a:noFill/>
          </a:ln>
        </p:spPr>
        <p:txBody>
          <a:bodyPr wrap="none" lIns="0" tIns="0" rIns="0" bIns="0" anchor="t">
            <a:noAutofit/>
          </a:bodyPr>
          <a:lstStyle/>
          <a:p>
            <a:pPr marL="0" indent="0">
              <a:lnSpc>
                <a:spcPts val="2700"/>
              </a:lnSpc>
              <a:spcAft>
                <a:spcPts val="0"/>
              </a:spcAft>
              <a:buNone/>
            </a:pPr>
            <a:r>
              <a:rPr lang="en-US" sz="2025" b="0">
                <a:solidFill>
                  <a:srgbClr val="EFB45F"/>
                </a:solidFill>
                <a:latin typeface="Arial"/>
                <a:ea typeface="Arial"/>
                <a:cs typeface="Arial"/>
              </a:rPr>
              <a:t xml:space="preserve">Sensitivity, not prediction.</a:t>
            </a:r>
            <a:endParaRPr lang="en-US" sz="2025"/>
          </a:p>
          <a:p>
            <a:pPr marL="0" indent="0">
              <a:lnSpc>
                <a:spcPts val="2700"/>
              </a:lnSpc>
              <a:spcAft>
                <a:spcPts val="0"/>
              </a:spcAft>
              <a:buNone/>
            </a:pPr>
            <a:r>
              <a:rPr lang="en-US" sz="2025" b="0">
                <a:solidFill>
                  <a:srgbClr val="EFB45F"/>
                </a:solidFill>
                <a:latin typeface="Arial"/>
                <a:ea typeface="Arial"/>
                <a:cs typeface="Arial"/>
              </a:rPr>
              <a:t xml:space="preserve">Multiply by your volume before you feel anything about it.</a:t>
            </a:r>
            <a:endParaRPr lang="en-US" sz="2025"/>
          </a:p>
        </p:txBody>
      </p:sp>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15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15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Reversible is a line item</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eight: real option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option has value. It also has a premium:</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abstraction tax, eval upkeep, rehearsal time.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Same project, different answer, depending on which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world you are in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15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Three prices for the next design review</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we pay today · What we pay without the offer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What we can survive paying</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Record gross usage separately from credits</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Keep an acceptance suite · Rehearse one replacement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 Price the portability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15 / 15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15</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15</Slides>
  <Notes>15</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2026-09-07T01:36:06Z</dcterms:created>
</cp:coreProperties>
</file>