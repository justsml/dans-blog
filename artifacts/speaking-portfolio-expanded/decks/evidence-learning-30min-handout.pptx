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svg" ContentType="image/svg+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aster"/>
  </p:sldMasterIdLst>
  <p:notesMasterIdLst>
    <p:notesMasterId r:id="rIdNotesMaster"/>
  </p:notesMasterIdLst>
  <p:sldIdLst>
    <p:sldId id="256" r:id="rIdSlide1"/>
    <p:sldId id="257" r:id="rIdSlide2"/>
    <p:sldId id="258" r:id="rIdSlide3"/>
    <p:sldId id="259" r:id="rIdSlide4"/>
    <p:sldId id="260" r:id="rIdSlide5"/>
    <p:sldId id="261" r:id="rIdSlide6"/>
    <p:sldId id="262" r:id="rIdSlide7"/>
    <p:sldId id="263" r:id="rIdSlide8"/>
    <p:sldId id="264" r:id="rIdSlide9"/>
    <p:sldId id="265" r:id="rIdSlide10"/>
    <p:sldId id="266" r:id="rIdSlide11"/>
    <p:sldId id="267" r:id="rIdSlide12"/>
    <p:sldId id="268" r:id="rIdSlide13"/>
    <p:sldId id="269" r:id="rIdSlide14"/>
    <p:sldId id="270" r:id="rIdSlide15"/>
  </p:sldIdLst>
  <p:sldSz cx="10058400" cy="7772400" type="custom"/>
  <p:notesSz cx="6858000" cy="9144000"/>
  <p:defaultTextStyle/>
</p:presentation>
</file>

<file path=ppt/_rels/presentation.xml.rels><?xml version="1.0" encoding="UTF-8" standalone="yes"?><Relationships xmlns="http://schemas.openxmlformats.org/package/2006/relationships"><Relationship Id="rIdMaster" Type="http://schemas.openxmlformats.org/officeDocument/2006/relationships/slideMaster" Target="slideMasters/slideMaster1.xml"/><Relationship Id="rIdNotesMaster" Type="http://schemas.openxmlformats.org/officeDocument/2006/relationships/notesMaster" Target="notesMasters/notes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 Id="rIdSlide8" Type="http://schemas.openxmlformats.org/officeDocument/2006/relationships/slide" Target="slides/slide8.xml"/><Relationship Id="rIdSlide9" Type="http://schemas.openxmlformats.org/officeDocument/2006/relationships/slide" Target="slides/slide9.xml"/><Relationship Id="rIdSlide10" Type="http://schemas.openxmlformats.org/officeDocument/2006/relationships/slide" Target="slides/slide10.xml"/><Relationship Id="rIdSlide11" Type="http://schemas.openxmlformats.org/officeDocument/2006/relationships/slide" Target="slides/slide11.xml"/><Relationship Id="rIdSlide12" Type="http://schemas.openxmlformats.org/officeDocument/2006/relationships/slide" Target="slides/slide12.xml"/><Relationship Id="rIdSlide13" Type="http://schemas.openxmlformats.org/officeDocument/2006/relationships/slide" Target="slides/slide13.xml"/><Relationship Id="rIdSlide14" Type="http://schemas.openxmlformats.org/officeDocument/2006/relationships/slide" Target="slides/slide14.xml"/><Relationship Id="rIdSlide15" Type="http://schemas.openxmlformats.org/officeDocument/2006/relationships/slide" Target="slides/slide15.xml"/></Relationships>
</file>

<file path=ppt/notesMasters/_rels/notesMaster1.xml.rels><?xml version="1.0" encoding="UTF-8" standalone="yes"?><Relationships xmlns="http://schemas.openxmlformats.org/package/2006/relationships"><Relationship Id="rIdTheme"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 Id="rIdMaster"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 Id="rIdMaster"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 Id="rIdMaster"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 Id="rIdMaster"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 Id="rIdMaster"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 Id="rIdMaster"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Slide" Type="http://schemas.openxmlformats.org/officeDocument/2006/relationships/slide" Target="../slides/slide7.xml"/><Relationship Id="rIdMaster" Type="http://schemas.openxmlformats.org/officeDocument/2006/relationships/notesMaster" Target="../notesMasters/notesMaster1.xml"/></Relationships>
</file>

<file path=ppt/notesSlides/_rels/notesSlide8.xml.rels><?xml version="1.0" encoding="UTF-8" standalone="yes"?><Relationships xmlns="http://schemas.openxmlformats.org/package/2006/relationships"><Relationship Id="rIdSlide" Type="http://schemas.openxmlformats.org/officeDocument/2006/relationships/slide" Target="../slides/slide8.xml"/><Relationship Id="rIdMaster" Type="http://schemas.openxmlformats.org/officeDocument/2006/relationships/notesMaster" Target="../notesMasters/notesMaster1.xml"/></Relationships>
</file>

<file path=ppt/notesSlides/_rels/notesSlide9.xml.rels><?xml version="1.0" encoding="UTF-8" standalone="yes"?><Relationships xmlns="http://schemas.openxmlformats.org/package/2006/relationships"><Relationship Id="rIdSlide" Type="http://schemas.openxmlformats.org/officeDocument/2006/relationships/slide" Target="../slides/slide9.xml"/><Relationship Id="rIdMaster" Type="http://schemas.openxmlformats.org/officeDocument/2006/relationships/notesMaster" Target="../notesMasters/notesMaster1.xml"/></Relationships>
</file>

<file path=ppt/notesSlides/_rels/notesSlide10.xml.rels><?xml version="1.0" encoding="UTF-8" standalone="yes"?><Relationships xmlns="http://schemas.openxmlformats.org/package/2006/relationships"><Relationship Id="rIdSlide" Type="http://schemas.openxmlformats.org/officeDocument/2006/relationships/slide" Target="../slides/slide10.xml"/><Relationship Id="rIdMaster" Type="http://schemas.openxmlformats.org/officeDocument/2006/relationships/notesMaster" Target="../notesMasters/notesMaster1.xml"/></Relationships>
</file>

<file path=ppt/notesSlides/_rels/notesSlide11.xml.rels><?xml version="1.0" encoding="UTF-8" standalone="yes"?><Relationships xmlns="http://schemas.openxmlformats.org/package/2006/relationships"><Relationship Id="rIdSlide" Type="http://schemas.openxmlformats.org/officeDocument/2006/relationships/slide" Target="../slides/slide11.xml"/><Relationship Id="rIdMaster" Type="http://schemas.openxmlformats.org/officeDocument/2006/relationships/notesMaster" Target="../notesMasters/notesMaster1.xml"/></Relationships>
</file>

<file path=ppt/notesSlides/_rels/notesSlide12.xml.rels><?xml version="1.0" encoding="UTF-8" standalone="yes"?><Relationships xmlns="http://schemas.openxmlformats.org/package/2006/relationships"><Relationship Id="rIdSlide" Type="http://schemas.openxmlformats.org/officeDocument/2006/relationships/slide" Target="../slides/slide12.xml"/><Relationship Id="rIdMaster" Type="http://schemas.openxmlformats.org/officeDocument/2006/relationships/notesMaster" Target="../notesMasters/notesMaster1.xml"/></Relationships>
</file>

<file path=ppt/notesSlides/_rels/notesSlide13.xml.rels><?xml version="1.0" encoding="UTF-8" standalone="yes"?><Relationships xmlns="http://schemas.openxmlformats.org/package/2006/relationships"><Relationship Id="rIdSlide" Type="http://schemas.openxmlformats.org/officeDocument/2006/relationships/slide" Target="../slides/slide13.xml"/><Relationship Id="rIdMaster" Type="http://schemas.openxmlformats.org/officeDocument/2006/relationships/notesMaster" Target="../notesMasters/notesMaster1.xml"/></Relationships>
</file>

<file path=ppt/notesSlides/_rels/notesSlide14.xml.rels><?xml version="1.0" encoding="UTF-8" standalone="yes"?><Relationships xmlns="http://schemas.openxmlformats.org/package/2006/relationships"><Relationship Id="rIdSlide" Type="http://schemas.openxmlformats.org/officeDocument/2006/relationships/slide" Target="../slides/slide14.xml"/><Relationship Id="rIdMaster" Type="http://schemas.openxmlformats.org/officeDocument/2006/relationships/notesMaster" Target="../notesMasters/notesMaster1.xml"/></Relationships>
</file>

<file path=ppt/notesSlides/_rels/notesSlide15.xml.rels><?xml version="1.0" encoding="UTF-8" standalone="yes"?><Relationships xmlns="http://schemas.openxmlformats.org/package/2006/relationships"><Relationship Id="rIdSlide" Type="http://schemas.openxmlformats.org/officeDocument/2006/relationships/slide" Target="../slides/slide15.xml"/><Relationship Id="rIdMaster"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Stop trying to catch them. Out-design them.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Rewritten 2026-09-06 from Dan's dictated notes. 40 minutes, 14 slides, four audience moments, no Q&amp;A. Event-friendly title: Stop Trying to Catch Students Using AI; the title slide carries whichever the organizer chose. The fixtures are authored, the rubric is proposed, and the reconstruction shows evidence being collected, not a learning effect. Say that once, on slide 1. Integrity processes stay in place; say that once too, on slide 8, and then stop apologizing.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[Presenter scripts](../packets/evidence-learning/script-40min.md) · [Packet](../packets/evidence-learning/packet.md) · [Walkthrough](../education/demo.md) · [Evidence](../packets/evidence-learning/evidence-bank.md) · [Procurement route](../packets/evidence-learning/procurement-route.md)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Worked example: $100, up 20%, then down 20%. The smudged arithmetic sheet is the K-12 example. [Show Me the Misconception](../packets/evidence-learning/procurement-route.md), the 15-minute procurement route, uses the history-essay example instead, so a program can book both without hearing the percentage fixture twice.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Regenerate scripts, adaptations and the browser deck with `bun artifacts/speaking-portfolio-expanded/build-talk.ts evidence-learning`. Image prompts (dark slate, one amber accent, flat vector, no text) ride along in the notes for the PPTX export.</a:t>
            </a:r>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Outsmart Your Lying, Cheating Students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 00:00 to 02:00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Horse out of the barn. Cat out of the bag.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Math class survived the Casio watch.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historical parallels have been beaten to death, so one and done: the calculator panic. Specifically the Casio calculator watch. Math class was dead. The kid sitting next to the Casio owner didn't even need 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Confession: I may have used one or two on an assessment. But we're not here for that. What I did was wholesome. These kids are phoning it in. Not even trying. Infuriating, right?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Our calculator-clutching ancestors had to write a real trajectory into the curriculum. So do we. Everything today is authored fixtures, a rubric I'm proposing, and one exercise that shows evidence being collected. Here's the plan: what we stop doing, what we protect, what we teach, and three ways to actually outsmart them.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submission that made you realize the grade and the understanding had come apart.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Let the confession land before the pivot. The laugh is the title doing its job; do not explain the joke.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Outsmart Your Lying, Cheating Students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2. 02:00 to 04:00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Proctoring fails. The pop quiz proves what you already knew.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Getting away with it is the reward.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Students are the original adversarial actors.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It can feel like you've lost. The proctoring tools fail readily. What still works is the cold call or the pop quiz, and all it proves is that the student can't hit the first rung of Bloom's taxonomy. Can't recall it. Can't spell it. That crushes you, and it cements the loop: the student learns they can cheat through, and the reward is getting away with it. Even when caught, there's no stigma for using something as common as a phone.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Pummeling them with gotcha quizzes proves what you already knew: Johnny ain't learning too good. Block the chatbot on the network and they share a VPN from a phone. Life finds a way. Students are the original adversarial actors.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detector is the same trap in software. Liang and colleagues found the detectors they tested flagged non-native English writers at alarming rates. And even if a detector were perfect, it answers the wrong question. Who typed the sentence is not whether the kid can do the thing. And if your assessment depends on knowing who typed a paragraph, the detector has become part of your curriculum.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Liang et al. (2023), [GPT detectors are biased against non-native English writers](https://doi.org/10.1016/j.patter.2023.100779), Patterns.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Outsmart Your Lying, Cheating Students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3. 04:00 to 05:30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Pencil, paper, whiteboard, peers: in the curriculum, with the reason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Then, same document: "and we are going to teach you the tool"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Write the trajectory down. Where does handwriting live, and why: the spatial and motor work a pencil activates, the argument you have out loud with a peer, the cohort you find by talking through a problem. Build the environment where those foundations still happen with no model in the room.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Then, in the same document, tell students you're going to teach them the tool. On purpose. Independent competence and competent tool use both belong in a course. They need different evidence, and every checkpoint should say which one it's measuring.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Koedinger and Aleven (2007), [Exploring the Assistance Dilemma in Experiments with Cognitive Tutors](https://doi.org/10.1007/s10648-007-9049-0), Educational Psychology Review 19(3), 239 to 264.</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Koedinger and Aleven called this the assistance dilemma in 2007 - too much help and they coast, too little and they flounder - and nobody has closed it.</a:t>
            </a:r>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Outsmart Your Lying, Cheating Students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4. 05:30 to 07:00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20% rise and a 20% fall cancel."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prose is clean. The denominator is wrong.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Here's the fixture for the rest of the talk. A shop raises a $100 price by 20%, then discounts the new price by 20%. The student writes: equal and opposite, so the final price is $100. Clean sentence. Confident. Wrong base.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capability we're after is narrow enough for the room to inspect: explain why a percentage acts on a base, and how the base changes across a sequence. Now imagine the correct number with this faulty explanation hiding behind it. What would a final-answer assessment have caught? Nothing.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Ask the room what the final answer alone would have told you. One answer, then move.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Outsmart Your Lying, Cheating Students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5. 07:00 to 09:30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"Take a picture of these hundred problems and make the model do them."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1 that looks like a 7. A smudge that turns an 8 into a 9.</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 didn't check the results? Johnny, you're not gonna make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highest-leverage assignment I know lets students feel like they're cheating. Photograph the sheet, feed it to the model, submit. The trap is in the sheet: a stroke that reads as either digit, a smudge. The wrong answers come back and the lesson teaches itself. You were supposed to check.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That one experience beats every ban, filter and lockdown. Hand the prompt out like a worksheet: "paste these instructions as your first message." Expect a recorded screen or an exported session. Older students get to experiment as the objective itself: the writing challenge, the rhyming challenge, whatever riddles the English teachers love. The constraint that keeps it honest is personalization. Narrate it from summer camp. Reference this week's unit. Meet a criterion the model can't know.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Privacy rides along for free. If you share Lake Tahoe, maybe not the photo of your grandparents' place on the water that any model can geolocate. Nobody is teaching students how these systems actually work. This assignment does.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Thirty seconds: what would the smudge be in your subject? Take two.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Outsmart Your Lying, Cheating Students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6. 09:30 to 11:00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"Which price does the discount use?" Learner: "The original $100."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Clarify → conceptual hint → missing step → part of an example → full explanation → fresh reconstruction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Two scripted turns. The diagnostic question finds where the base got lost. The tutor neither praises the error nor dumps the solution. Attempt-first can't punish a kid who can't begin; clarifying a term or offering a parallel example may be the right first move.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Then the ladder. Clarification: the second change acts on the new price. Conceptual hint: find the current base. Missing step: the intermediate $120. Partial example: multiply a different amount by 0.8. Full explanation, then a fresh reconstruction later. Write down which rung you gave, because supported and independent performance are different evidence. Never as a moral failure.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Outsmart Your Lying, Cheating Students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7. 11:00 to 15:00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$100 → $120 → $96. Why does the second base change?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$80 → +25% → −20%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Run the scripted tutor turns — from the kit or read off the card — then go live. Reveal the wrong argument. Let the room find the base. Reveal $120 only after the diagnostic question. Ask for $96 and one sentence explaining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Then change the numbers: $80, up 25%, down 20%. It comes back to $80, because 1.25 times 0.8 is 1. That breaks the shortcut the room just formed, "opposite changes never cancel," and that's the point. A transfer item with the same invariant and different numbers is where you find out whether they learned the rule or memorized the example.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Runbook section 5 has the five scripted turns and the same table in print. If the room is quiet, present the prepared learner response; never pressure an individual into a public assessment. Two-minute compression: skip the kit, run only the $100 sequence, state the $80 item.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Outsmart Your Lying, Cheating Students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8. 15:00 to 17:30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Base identified 0–2 · Calculation justified 0–2 · Transfer explained 0–2 · Help in its own column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Record: concept · what they said · what help they got · next check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Never "weak at reasoning." Never "likely cheated."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Zero: the wrong base persists. One: the right number, no explanation. Two: the learner explains the current amount. Help goes in its own column so a human can read it, and asking a question costs nothing.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record is four lines. Concept: changing percentage base. Observed: used the original amount for the second change. Support: conceptual hint. Next check: a new item after practice. Keep what the learner said separate from what a model inferred. Follow-ups come from a blueprint, not chatbot curiosity: "does reversing the multipliers change the result?" probes structure; a harder question is not a fair comparison.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Bastani and colleagues found supported performance and later unaided performance can diverge, and the safeguards that matter come from teachers. So record the conditions, and include an independent check when independence is the objective. A mismatch needs a human to interpret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Bastani et al. (2025), [Generative AI without guardrails can harm learning](https://doi.org/10.1073/pnas.2422633122), PNAS. The [correction](https://doi.org/10.1073/pnas.2518204122) (August 2025) fixes an author affiliation; no result changed.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Soderstrom and Bjork (2015), [Learning versus performance: an integrative review](https://doi.org/10.1177/1745691615569000), Perspectives on Psychological Science 10(2), 176 to 199.</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Soderstrom and Bjork reviewed fifty years of evidence that performance during practice and learning that lasts come apart routinely; supported and unaided go in separate columns.</a:t>
            </a:r>
            <a:endParaRPr lang="en-US"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Outsmart Your Lying, Cheating Students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9. 17:30 to 20:00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Recall errors and reading errors are different animals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Small groups, speaking: the incentives reset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Voice is biometric. Offline. Zero retention. Age-appropriate. Written alternative.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Answering from memory and reading a model's output aloud produce different mistakes. The reader falls behind as the text wraps and jumps. They mispronounce a word they'd never have chosen. Spoken language carries enough tells to sort likely from unlikely.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Small groups, speaking, in class: that resets the table. It adds social pressure against cheating and hands you knobs on an incentive structure that today is a magical cheating genie. Not foolproof. A student can build an agent told to seem dumb at first and then learn. Fine. We're changing incentives, not buying certainty.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the care, and it's real. A student's voice identifies them and can be cloned. Fingerprinting voices is plausible technology; that's a reason for caution, not a feature. Newer offline models claim to detect frustration and distress in speech, and offline is what lets them meet zero-retention, no-sharing district rules on modest hardware. Any student-facing voice tool gets maximum privacy, a written alternative, age-appropriate use only, and a retention rule written before the first recording. A replay is context, never proof.</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Outsmart Your Lying, Cheating Students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10. 20:00 to 22:00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Teacher talk · student talk · think time · AI time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Guided by you, or alone with the model?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"Show me five students who took a path worth showing the room."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 already count who's talking, how much silence there is, whose engagement it is. Add one factor: AI time. How much of it did you guide, and how much was a student alone with the model.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Then the view you have never had. Every transcript from a class of 30 or a course of 300, and a qualitative pass run by the model. Show me the five students who opened a line of inquiry I didn't teach. Show me the one who reached the answer by a path worth putting on the board tomorrow. The same pass surfaces the kid who typed exactly the right terms, or pasted a big block from somewhere. Before you conclude anything: a big block also looks like voice-to-text. Look first.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Skitka, Mosier and Burdick (1999), [Does automation bias decision-making?](https://doi.org/10.1006/ijhc.1999.0252), International Journal of Human-Computer Studies 51(5), 991 to 1006.</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transcript that showed you a path to the answer you would not have taught.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know what you are up against when you read a model's summary instead of the transcripts.</a:t>
            </a:r>
            <a:endParaRPr lang="en-US"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Outsmart Your Lying, Cheating Students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11. 22:00 to 25:00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"You're my tutor. Don't give me answers. I'm here with three classmates."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Photograph the whiteboard; the objective is the system prompt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Push the practice run first. Then reward the kid who asks for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Seen in the wild: students telling a voice assistant not to give them answers, then arguing about Lincoln with it for twenty minutes. So give it the objective. Have them photograph the whiteboard. My prediction is that we end up writing objectives on the board addressed to the agent: "Tutor bot, help my students with..." It holds the rigor you set, explores the stretch goals, fills the remedial gaps, and tells you, the aides and the parents what it saw. Write it in whatever objective process you already use; Lemov's 4Ms work fine.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other half is discipline. At first, the agent pushes: want a practice run, flashcards, a pop quiz? Then it rewards the student who asks before the test unprompted, and it names the connection distracted students miss: "five flashcards an hour before produced a 98; your last three tests had no prep." Made-up numbers, real mechanism. As someone with ADHD, an assistant that reorders my day and says "you bombed the section quizzes after that reading, take a twenty-minute walk" is not a luxury. It's applied cognitive science with a channel toward wellbeing.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student who told the tutor not to give answers.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the same tool that lets a kid phone it in is the one that hands a sculptor the clay; that story is in the long version.</a:t>
            </a:r>
            <a:endParaRPr lang="en-US" sz="12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Outsmart Your Lying, Cheating Students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13. 25:00 to 28:00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Capability → task → the smudge → follow-up → permitted help → rubric</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Minutes to review a class set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Neighbor challenges one hidden assumption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Pairs, three minutes. Write the capability, the task, the smudge that makes verification feel like cheating, one purposeful follow-up, the help you'll permit, and the interpretation you could defend to a parent. Then estimate the minutes to review a class set, because a richer assessment nobody has time to read is a worse assessment. Let the model draft the follow-ups and summarize with links to the excerpt; grading, accusations and anything sensitive stay with you.</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Then your neighbor challenges one hidden assumption: does this also measure fluency, paid-tool access, or comfort speaking under pressure? TEQSA's guidance backs contextual, multiple approaches. This worksheet is our version of it. Output: a sketch you can review, then a small pilot.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TEQSA (2023), [Assessment reform for the age of artificial intelligence](https://www.teqsa.gov.au/guides-resources/resources/corporate-publications/assessment-reform-age-artificial-intelligence).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Three minutes writing, one minute of challenge. Call time on the challenge, not the writing.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Outsmart Your Lying, Cheating Students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14. 28:00 to 30:00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Explain it. Challenge it. Change it. Apply it. Defend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Too much power to hold casually. Prove the value constantly.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Stop trying to prove who typed the sentence. Ask whether the student can explain it, challenge it, change it, apply it, and defend it. That means teaching changes: how we put agents in the room, how we model using them, how we design group work around them.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kid next to the Casio owner didn't need a watch. The kid with no car never touched the clay. The same tool that lets Johnny phone it in is the one that can hand a sculptor the clay. Which one happens is a design decision, and it's ours.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This is a great deal of data and a great deal of power. Too much to hold casually. The value has to be proven, constantly, for educators and students, or the data should not exist. No ambling through conversations dispensing answers. A purpose-built machine. There are technical ways to build one; come find me after.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Land on "come find me after." Stop.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Liang et al. (2023), [GPT detectors are biased against non-native English writers](https://doi.org/10.1016/j.patter.2023.100779), Patterns.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Koedinger and Aleven (2007), [Exploring the Assistance Dilemma in Experiments with Cognitive Tutors](https://doi.org/10.1007/s10648-007-9049-0), Educational Psychology Review 19(3), 239 to 264.</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Bastani et al. (2025), [Generative AI without guardrails can harm learning](https://doi.org/10.1073/pnas.2422633122), PNAS. The [correction](https://doi.org/10.1073/pnas.2518204122) (August 2025) fixes an author affiliation; no result changed.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Soderstrom and Bjork (2015), [Learning versus performance: an integrative review](https://doi.org/10.1177/1745691615569000), Perspectives on Psychological Science 10(2), 176 to 199.</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Skitka, Mosier and Burdick (1999), [Does automation bias decision-making?](https://doi.org/10.1006/ijhc.1999.0252), International Journal of Human-Computer Studies 51(5), 991 to 1006.</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TEQSA (2023), [Assessment reform for the age of artificial intelligence](https://www.teqsa.gov.au/guides-resources/resources/corporate-publications/assessment-reform-age-artificial-intelligence).</a:t>
            </a:r>
            <a:endParaRPr lang="en-US" sz="1200"/>
          </a:p>
        </p:txBody>
      </p:sp>
    </p:spTree>
  </p:cSld>
  <p:clrMapOvr>
    <a:masterClrMapping/>
  </p:clrMapOvr>
</p:notes>
</file>

<file path=ppt/slideLayouts/_rels/slideLayout1.xml.rels><?xml version="1.0" encoding="UTF-8" standalone="yes"?><Relationships xmlns="http://schemas.openxmlformats.org/package/2006/relationships"><Relationship Id="rIdMaster"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Layout" Type="http://schemas.openxmlformats.org/officeDocument/2006/relationships/slideLayout" Target="../slideLayouts/slideLayout1.xml"/><Relationship Id="rIdTheme"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Layout"/>
  </p:sldLayoutIdLst>
  <p:txStyles>
    <p:titleStyle/>
    <p:bodyStyle/>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514350"/>
            <a:ext cx="9144000" cy="28575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246957"/>
                </a:solidFill>
                <a:latin typeface="Arial"/>
                <a:ea typeface="Arial"/>
                <a:cs typeface="Arial"/>
              </a:rPr>
              <a:t xml:space="preserve">DAN LEVY</a:t>
            </a:r>
            <a:endParaRPr lang="en-US" sz="1350"/>
          </a:p>
        </p:txBody>
      </p:sp>
      <p:sp>
        <p:nvSpPr>
          <p:cNvPr id="3" name="Text 3"/>
          <p:cNvSpPr txBox="1"/>
          <p:nvPr/>
        </p:nvSpPr>
        <p:spPr>
          <a:xfrm>
            <a:off x="457200" y="1428750"/>
            <a:ext cx="9144000" cy="2381250"/>
          </a:xfrm>
          <a:prstGeom prst="rect">
            <a:avLst/>
          </a:prstGeom>
          <a:noFill/>
          <a:ln>
            <a:noFill/>
          </a:ln>
        </p:spPr>
        <p:txBody>
          <a:bodyPr wrap="none" lIns="0" tIns="0" rIns="0" bIns="0" anchor="t">
            <a:noAutofit/>
          </a:bodyPr>
          <a:lstStyle/>
          <a:p>
            <a:pPr marL="0" indent="0">
              <a:lnSpc>
                <a:spcPts val="4500"/>
              </a:lnSpc>
              <a:spcAft>
                <a:spcPts val="0"/>
              </a:spcAft>
              <a:buNone/>
            </a:pPr>
            <a:r>
              <a:rPr lang="en-US" sz="3750" b="1">
                <a:solidFill>
                  <a:srgbClr val="202B33"/>
                </a:solidFill>
                <a:latin typeface="Arial"/>
                <a:ea typeface="Arial"/>
                <a:cs typeface="Arial"/>
              </a:rPr>
              <a:t xml:space="preserve">Outsmart Your Lying, Cheating</a:t>
            </a:r>
            <a:endParaRPr lang="en-US" sz="3750"/>
          </a:p>
          <a:p>
            <a:pPr marL="0" indent="0">
              <a:lnSpc>
                <a:spcPts val="4500"/>
              </a:lnSpc>
              <a:spcAft>
                <a:spcPts val="0"/>
              </a:spcAft>
              <a:buNone/>
            </a:pPr>
            <a:r>
              <a:rPr lang="en-US" sz="3750" b="1">
                <a:solidFill>
                  <a:srgbClr val="202B33"/>
                </a:solidFill>
                <a:latin typeface="Arial"/>
                <a:ea typeface="Arial"/>
                <a:cs typeface="Arial"/>
              </a:rPr>
              <a:t xml:space="preserve">Students</a:t>
            </a:r>
            <a:endParaRPr lang="en-US" sz="3750"/>
          </a:p>
        </p:txBody>
      </p:sp>
      <p:sp>
        <p:nvSpPr>
          <p:cNvPr id="4" name="Text 4"/>
          <p:cNvSpPr txBox="1"/>
          <p:nvPr/>
        </p:nvSpPr>
        <p:spPr>
          <a:xfrm>
            <a:off x="457200" y="4476750"/>
            <a:ext cx="9144000" cy="571500"/>
          </a:xfrm>
          <a:prstGeom prst="rect">
            <a:avLst/>
          </a:prstGeom>
          <a:noFill/>
          <a:ln>
            <a:noFill/>
          </a:ln>
        </p:spPr>
        <p:txBody>
          <a:bodyPr wrap="none" lIns="0" tIns="0" rIns="0" bIns="0" anchor="t">
            <a:noAutofit/>
          </a:bodyPr>
          <a:lstStyle/>
          <a:p>
            <a:pPr marL="0" indent="0">
              <a:lnSpc>
                <a:spcPts val="2925"/>
              </a:lnSpc>
              <a:spcAft>
                <a:spcPts val="0"/>
              </a:spcAft>
              <a:buNone/>
            </a:pPr>
            <a:r>
              <a:rPr lang="en-US" sz="2250" b="0">
                <a:solidFill>
                  <a:srgbClr val="246957"/>
                </a:solidFill>
                <a:latin typeface="Arial"/>
                <a:ea typeface="Arial"/>
                <a:cs typeface="Arial"/>
              </a:rPr>
              <a:t xml:space="preserve">30-minute route · Reading edition</a:t>
            </a:r>
            <a:endParaRPr lang="en-US" sz="2250"/>
          </a:p>
        </p:txBody>
      </p:sp>
      <p:sp>
        <p:nvSpPr>
          <p:cNvPr id="5" name="Text 5"/>
          <p:cNvSpPr txBox="1"/>
          <p:nvPr/>
        </p:nvSpPr>
        <p:spPr>
          <a:xfrm>
            <a:off x="457200" y="6496050"/>
            <a:ext cx="9048750" cy="762000"/>
          </a:xfrm>
          <a:prstGeom prst="rect">
            <a:avLst/>
          </a:prstGeom>
          <a:noFill/>
          <a:ln>
            <a:noFill/>
          </a:ln>
        </p:spPr>
        <p:txBody>
          <a:bodyPr wrap="none" lIns="0" tIns="0" rIns="0" bIns="0" anchor="t">
            <a:noAutofit/>
          </a:bodyPr>
          <a:lstStyle/>
          <a:p>
            <a:pPr marL="0" indent="0">
              <a:lnSpc>
                <a:spcPts val="2175"/>
              </a:lnSpc>
              <a:spcAft>
                <a:spcPts val="0"/>
              </a:spcAft>
              <a:buNone/>
            </a:pPr>
            <a:r>
              <a:rPr lang="en-US" sz="1575" b="0">
                <a:solidFill>
                  <a:srgbClr val="202B33"/>
                </a:solidFill>
                <a:latin typeface="Arial"/>
                <a:ea typeface="Arial"/>
                <a:cs typeface="Arial"/>
              </a:rPr>
              <a:t xml:space="preserve">13 source sections</a:t>
            </a:r>
            <a:endParaRPr lang="en-US" sz="1575"/>
          </a:p>
          <a:p>
            <a:pPr marL="0" indent="0">
              <a:lnSpc>
                <a:spcPts val="2175"/>
              </a:lnSpc>
              <a:spcAft>
                <a:spcPts val="0"/>
              </a:spcAft>
              <a:buNone/>
            </a:pPr>
            <a:r>
              <a:rPr lang="en-US" sz="1575" b="0">
                <a:solidFill>
                  <a:srgbClr val="202B33"/>
                </a:solidFill>
                <a:latin typeface="Arial"/>
                <a:ea typeface="Arial"/>
                <a:cs typeface="Arial"/>
              </a:rPr>
              <a:t xml:space="preserve">September 6, 2026</a:t>
            </a:r>
            <a:endParaRPr lang="en-US" sz="1575"/>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Outsmart Your Lying, Cheating Students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a:t>
            </a:r>
            <a:endParaRPr lang="en-US" sz="975"/>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01 / 13    SOURCE SLIDE 1</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cat is out of the bag</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Horse out of the barn. Cat out of the bag.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Math class survived the Casio watch.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historical parallels have been beaten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 death, so one and done: the calculator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panic. Specifically the Casio calculator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watch. Math class was dead. The kid sitting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next to the Casio owner didn't even need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Confession: I may have used one or two 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 assessment. But we're not here for that.</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What I did was wholesome. These kids are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phoning it in. Not even trying.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Infuriating, right?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Our calculator-clutching ancestors had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write a real trajectory into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curriculum. So do we. Everything today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authored fixtures, a rubric I'm proposing,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one exercise that shows evidence being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collected. Here's the plan: what we stop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doing, what we protect, what we teach,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three ways to actually outsmart them.</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Outsmart Your Lying, Cheating Students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2</a:t>
            </a:r>
            <a:endParaRPr lang="en-US" sz="97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02 / 13    SOURCE SLIDE 2</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doom loop</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Proctoring fails. The pop quiz proves what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 already knew.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Getting away with it is the reward.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Students are the original adversarial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actors.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 can feel like you've lost.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proctoring tools fail readily. What still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works is the cold call or the pop quiz,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all it proves is that the student can't hit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first rung of Bloom's taxonomy. Can't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recall it. Can't spell it. That crushes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 and it cements the loop: the student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learns they can cheat through, and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reward is getting away with it. Even when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caught, there's no stigma for using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something as common as a phone.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Pummeling them with gotcha quizzes proves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what you already knew: Johnny ain't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learning too good. Block the chatbot on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network and they share a VPN from a phone.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Life finds a way. Students are the original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adversarial actors.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detector is the same trap in software.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Liang and colleagues found the detectors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they tested flagged non-native English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writers at alarming rates. And even if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detector were perfect, it answers the wrong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question. Who typed the sentence is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whether the kid can do the thing. And if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your assessment depends on knowing who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typed a paragraph, the detector has become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part of your curriculum.</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Outsmart Your Lying, Cheating Students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3</a:t>
            </a:r>
            <a:endParaRPr lang="en-US" sz="9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03 / 13    SOURCE SLIDE 3</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Pencil first. Then the tool</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Pencil, paper, whiteboard, peers: in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curriculum, with the reason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Then, same document: "and we are going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teach you the tool"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Write the trajectory down. Where does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handwriting live, and why: the spatial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motor work a pencil activates, the argument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 have out loud with a peer, the cohort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 find by talking through a problem.</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Build the environment where those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foundations still happen with no model 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room.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Then, in the same document, tell students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you're going to teach them the tool. 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purpose. Independent competence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competent tool use both belong in a course.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They need different evidence, and every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checkpoint should say which one it's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measuring.</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Outsmart Your Lying, Cheating Students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4</a:t>
            </a:r>
            <a:endParaRPr lang="en-US" sz="97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04 / 13    SOURCE SLIDE 4</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polished answer with a hole in it</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 20% rise and a 20% fall cancel."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prose is clean. The denominator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wrong.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Here's the fixture for the rest of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talk. A shop raises a $100 price by 20%,</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then discounts the new price by 20%.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student writes: equal and opposite, so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final price is $100. Clean sentence.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Confident. Wrong base.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capability we're after is narrow enough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for the room to inspect: explain why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percentage acts on a base, and how the base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changes across a sequence. Now imagine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correct number with this faulty explanation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hiding behind it. What would a final-answer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assessment have caught? Nothing.</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Outsmart Your Lying, Cheating Students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5</a:t>
            </a:r>
            <a:endParaRPr lang="en-US" sz="97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05 / 13    SOURCE SLIDE 5</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Outsmart move one: make verification feel like</a:t>
            </a:r>
            <a:endParaRPr lang="en-US" sz="2550"/>
          </a:p>
          <a:p>
            <a:pPr marL="0" indent="0">
              <a:lnSpc>
                <a:spcPts val="3060"/>
              </a:lnSpc>
              <a:spcAft>
                <a:spcPts val="0"/>
              </a:spcAft>
              <a:buNone/>
            </a:pPr>
            <a:r>
              <a:rPr lang="en-US" sz="2550" b="1">
                <a:solidFill>
                  <a:srgbClr val="202B33"/>
                </a:solidFill>
                <a:latin typeface="Arial"/>
                <a:ea typeface="Arial"/>
                <a:cs typeface="Arial"/>
              </a:rPr>
              <a:t xml:space="preserve">cheating</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"Take a picture of these hundred problems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make the model do them."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1 that looks like a 7. A smudge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turns an 8 into a 9.</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 didn't check the results? Johnny,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you're not gonna make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highest-leverage assignment I know lets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students feel like they're cheating.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Photograph the sheet, feed it to the model,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submit. The trap is in the sheet: a stroke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reads as either digit, a smudge.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wrong answers come back and the lesson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teaches itself. You were supposed to check.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one experience beats every ban, filter</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and lockdown. Hand the prompt out like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worksheet: "paste these instructions as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your first message." Expect a recorded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screen or an exported session. Older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students get to experiment as the objective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itself: the writing challenge, the rhyming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challenge, whatever riddles the English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teachers love. The constraint that keeps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honest is personalization. Narrate it from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summer camp. Reference this week's unit.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Meet a criterion the model can't know.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Privacy rides along for free. If you share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Lake Tahoe, maybe not the photo of your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grandparents' place on the water that any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model can geolocate. Nobody is teaching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students how these systems actually work.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This assignment does.</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Outsmart Your Lying, Cheating Students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6</a:t>
            </a:r>
            <a:endParaRPr lang="en-US" sz="9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06 / 13    SOURCE SLIDE 6</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Ration the help</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"Which price does the discount use?"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Learner: "The original $100."</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Clarify → conceptual hint → missing step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part of an example → full explanation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fresh reconstruction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Two scripted turns. The diagnostic question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finds where the base got lost. The tutor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neither praises the error nor dumps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solution. Attempt-first can't punish a kid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who can't begin; clarifying a term 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offering a parallel example may be the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right first move.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Then the ladder. Clarification: the second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change acts on the new price. Conceptual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hint: find the current base. Missing step: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intermediate $120. Partial example: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multiply a different amount by 0.8. Full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explanation, then a fresh reconstruction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later. Write down which rung you gave,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because supported and independent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performance are different evidence. Never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as a moral failure.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Outsmart Your Lying, Cheating Students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7</a:t>
            </a:r>
            <a:endParaRPr lang="en-US" sz="975"/>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07 / 13    SOURCE SLIDE 7</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Demo: four minutes inside a five-minute slide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$100 → $120 → $96. Why does the second base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change?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Now: $80 → +25% → −20%</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Run the scripted tutor turns — from the kit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or read off the card — then go live. Reveal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wrong argument. Let the room find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base. Reveal $120 only after the diagnostic</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question. Ask for $96 and one sentence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explaining it.</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Then change the numbers: $80, up 25%, down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20%. It comes back to $80, because 1.25</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times 0.8 is 1. That breaks the shortcut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room just formed, "opposite changes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never cancel," and that's the point.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transfer item with the same invariant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different numbers is where you find out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whether they learned the rule or memorized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example.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Outsmart Your Lying, Cheating Students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8</a:t>
            </a:r>
            <a:endParaRPr lang="en-US" sz="975"/>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08 / 13    SOURCE SLIDE 8</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Score the reasoning. Write it down</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Base identified 0–2 · Calculation justified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0–2 · Transfer explained 0–2 · Help in its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own column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Record: concept · what they said · what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help they got · next check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Never "weak at reasoning." Never "likely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cheated."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Zero: the wrong base persists. One: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right number, no explanation. Two: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learner explains the current amount. Help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goes in its own column so a human can read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 and asking a question costs nothing.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record is four lines. Concept: changing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percentage base. Observed: used the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original amount for the second change.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Support: conceptual hint. Next check: a new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item after practice. Keep what the learner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said separate from what a model inferred.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Follow-ups come from a blueprint,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chatbot curiosity: "does reversing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multipliers change the result?" probes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structure; a harder question is not a fair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comparison.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Bastani and colleagues found supported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performance and later unaided performance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 diverge, and the safeguards that matter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come from teachers. So record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conditions, and include an independent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check when independence is the objective.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mismatch needs a human to interpret it.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Outsmart Your Lying, Cheating Students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9</a:t>
            </a:r>
            <a:endParaRPr lang="en-US" sz="975"/>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09 / 13    SOURCE SLIDE 9</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Outsmart move two: make them say it out loud</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Recall errors and reading errors are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different animals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Small groups, speaking: the incentives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reset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Voice is biometric. Offline. Zero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retention. Age-appropriate. Written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alternative.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Answering from memory and reading a model's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output aloud produce different mistakes.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reader falls behind as the text wraps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jumps. They mispronounce a word they'd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never have chosen. Spoken language carries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enough tells to sort likely from unlikely.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Small groups, speaking, in class: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resets the table. It adds social pressure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against cheating and hands you knobs on an</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incentive structure that today is a magical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cheating genie. Not foolproof. A student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 build an agent told to seem dumb 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first and then learn. Fine. We're changing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incentives, not buying certainty.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Now the care, and it's real. A student's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voice identifies them and can be cloned.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Fingerprinting voices is plausible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technology; that's a reason for caution,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 a feature. Newer offline models claim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 detect frustration and distress 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speech, and offline is what lets them meet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zero-retention, no-sharing district rules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 modest hardware. Any student-facing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voice tool gets maximum privacy, a written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alternative, age-appropriate use only,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retention rule written before the first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recording. A replay is context, never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proof.</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Outsmart Your Lying, Cheating Students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10</a:t>
            </a:r>
            <a:endParaRPr lang="en-US" sz="975"/>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10 / 13    SOURCE SLIDE 10</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Outsmart move three: read all 300 transcripts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Teacher talk · student talk · think time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AI time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Guided by you, or alone with the model?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"Show me five students who took a path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worth showing the room."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 already count who's talking, how much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silence there is, whose engagement it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Add one factor: AI time. How much of it did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 guide, and how much was a student alone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with the model.</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Then the view you have never had. Every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transcript from a class of 30 or a course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of 300, and a qualitative pass run by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model. Show me the five students who opened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line of inquiry I didn't teach. Show me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one who reached the answer by a path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worth putting on the board tomorrow.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same pass surfaces the kid who typed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exactly the right terms, or pasted a big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block from somewhere. Before you conclude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anything: a big block also looks like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voice-to-text. Look first.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Outsmart Your Lying, Cheating Students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11</a:t>
            </a:r>
            <a:endParaRPr lang="en-US" sz="975"/>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11 / 13    SOURCE SLIDE 11</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Write the objective to the agent</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"You're my tutor. Don't give me answers.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I'm here with three classmates."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Photograph the whiteboard; the objective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system prompt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Push the practice run first. Then reward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kid who asks for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Seen in the wild: students telling a voice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assistant not to give them answers, then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arguing about Lincoln with it for twenty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minutes. So give it the objective. Have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them photograph the whiteboard. My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prediction is that we end up writing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objectives on the board addressed to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agent: "Tutor bot, help my students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with..." It holds the rigor you set,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explores the stretch goals, fills the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remedial gaps, and tells you, the aides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parents what it saw. Write it 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whatever objective process you already use;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Lemov's 4Ms work fine.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other half is discipline. At first,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agent pushes: want a practice run,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flashcards, a pop quiz? Then it rewards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student who asks before the test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unprompted, and it names the connection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distracted students miss: "five flashcards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 hour before produced a 98; your last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three tests had no prep." Made-up numbers,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real mechanism. As someone with ADHD, 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assistant that reorders my day and says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 bombed the section quizzes after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reading, take a twenty-minute walk" is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luxury. It's applied cognitive science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with a channel toward wellbeing.</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Outsmart Your Lying, Cheating Students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12</a:t>
            </a:r>
            <a:endParaRPr lang="en-US" sz="975"/>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12 / 13    SOURCE SLIDE 13</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Redesign one checkpoint this week</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Capability → task → the smudge → follow-up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permitted help → rubric</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Minutes to review a class set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Neighbor challenges one hidden assumption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Pairs, three minutes. Write the capability,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task, the smudge that makes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verification feel like cheating, one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purposeful follow-up, the help you'll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permit, and the interpretation you could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defend to a parent. Then estimate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minutes to review a class set, because a</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richer assessment nobody has time to read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is a worse assessment. Let the model draft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follow-ups and summarize with links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excerpt; grading, accusations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anything sensitive stay with you.</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Then your neighbor challenges one hidden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assumption: does this also measure fluency,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paid-tool access, or comfort speaking under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pressure? TEQSA's guidance backs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contextual, multiple approaches. This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worksheet is our version of it. Output: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sketch you can review, then a small pilot.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Outsmart Your Lying, Cheating Students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13</a:t>
            </a:r>
            <a:endParaRPr lang="en-US" sz="975"/>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13 / 13    SOURCE SLIDE 14</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A purpose-built machine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Explain it. Challenge it. Change it. Apply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 Defend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Too much power to hold casually. Prove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value constantly.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Stop trying to prove who typed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sentence. Ask whether the student can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explain it, challenge it, change it, apply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 and defend it. That means teaching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changes: how we put agents in the room, how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we model using them, how we design group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work around them.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kid next to the Casio owner didn't need</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 watch. The kid with no car never touched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clay. The same tool that lets Johnny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phone it in is the one that can hand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sculptor the clay. Which one happens is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design decision, and it's ours.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This is a great deal of data and a great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deal of power. Too much to hold casually.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value has to be proven, constantly, for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educators and students, or the data should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 exist. No ambling through conversations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dispensing answers. A purpose-built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machine. There are technical ways to build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one; come find me after.</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Outsmart Your Lying, Cheating Students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14</a:t>
            </a:r>
            <a:endParaRPr lang="en-US" sz="975"/>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SOURCE REFERENCES</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References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Liang et al. (2023), GPT detectors are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biased against non-native English writers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https://doi.org/10.1016/j.patter.2023.100779,</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Patterns.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Koedinger and Aleven (2007), Exploring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Assistance Dilemma in Experiments with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Cognitive Tutors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https://doi.org/10.1007/s10648-007-9049-0),</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Educational Psychology Review 19(3, 239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264.</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Bastani et al. (2025), Generative AI</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without guardrails can harm learning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https://doi.org/10.1073/pnas.2422633122),</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PNAS.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[correction](https://doi.org/10.1073/pnas.2518204122)</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(August 2025 fixes an author affiliation;</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no result changed.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Soderstrom and Bjork (2015), Learning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versus performance: an integrative review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https://doi.org/10.1177/1745691615569000),</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Perspectives on Psychological Science 10(2,</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176 to 199.</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Skitka, Mosier and Burdick (1999), Does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automation bias decision-making?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https://doi.org/10.1006/ijhc.1999.0252),</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International Journal of Human-Computer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Studies 51(5, 991 to 1006.</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TEQSA (2023), Assessment reform for the age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of artificial intelligence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https://www.teqsa.gov.au/guides-resources/resources/corporate-publications/assessment-reform-age-artificial-intelligence.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Outsmart Your Lying, Cheating Students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15</a:t>
            </a:r>
            <a:endParaRPr lang="en-US" sz="975"/>
          </a:p>
        </p:txBody>
      </p:sp>
    </p:spTree>
  </p:cSld>
  <p:clrMapOvr>
    <a:masterClrMapping/>
  </p:clrMapOvr>
</p:sld>
</file>

<file path=ppt/theme/theme1.xml><?xml version="1.0" encoding="utf-8"?>
<a:theme xmlns:a="http://schemas.openxmlformats.org/drawingml/2006/main" name="Dan Levy talks">
  <a:themeElements>
    <a:clrScheme name="Talk palette">
      <a:dk1>
        <a:srgbClr val="202B33"/>
      </a:dk1>
      <a:lt1>
        <a:srgbClr val="FFFFFF"/>
      </a:lt1>
      <a:dk2>
        <a:srgbClr val="48555B"/>
      </a:dk2>
      <a:lt2>
        <a:srgbClr val="FAFAF7"/>
      </a:lt2>
      <a:accent1>
        <a:srgbClr val="246957"/>
      </a:accent1>
      <a:accent2>
        <a:srgbClr val="728482"/>
      </a:accent2>
      <a:accent3>
        <a:srgbClr val="53616F"/>
      </a:accent3>
      <a:accent4>
        <a:srgbClr val="9D7462"/>
      </a:accent4>
      <a:accent5>
        <a:srgbClr val="7D86A0"/>
      </a:accent5>
      <a:accent6>
        <a:srgbClr val="9E996B"/>
      </a:accent6>
      <a:hlink>
        <a:srgbClr val="246957"/>
      </a:hlink>
      <a:folHlink>
        <a:srgbClr val="925700"/>
      </a:folHlink>
    </a:clrScheme>
    <a:fontScheme name="Arial">
      <a:majorFont>
        <a:latin typeface="Arial"/>
        <a:ea typeface=""/>
        <a:cs typeface=""/>
      </a:majorFont>
      <a:minorFont>
        <a:latin typeface="Arial"/>
        <a:ea typeface=""/>
        <a:cs typeface=""/>
      </a:minorFont>
    </a:fontScheme>
    <a:fmtScheme name="Plain">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Talk package exporter</Application>
  <Slides>15</Slides>
  <Notes>15</Notes>
</Properties>
</file>

<file path=docProps/core.xml><?xml version="1.0" encoding="utf-8"?>
<cp:coreProperties xmlns:cp="http://schemas.openxmlformats.org/package/2006/metadata/core-properties" xmlns:dc="http://purl.org/dc/elements/1.1/" xmlns:dcterms="http://purl.org/dc/terms/" xmlns:xsi="http://www.w3.org/2001/XMLSchema-instance">
  <dc:title>Outsmart Your Lying, Cheating Students</dc:title>
  <dc:creator>Dan Levy</dc:creator>
  <dc:description>handout edition generated from current reviewed talk materials</dc:description>
  <dcterms:created xsi:type="dcterms:W3CDTF">2026-09-07T02:31:12Z</dcterms:created>
</cp:coreProperties>
</file>