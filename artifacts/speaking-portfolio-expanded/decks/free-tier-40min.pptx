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027b601d33461a" /><Relationship Type="http://schemas.openxmlformats.org/officeDocument/2006/relationships/extended-properties" Target="/docProps/app.xml" Id="R5bbf95d2f7414f3c" /><Relationship Type="http://schemas.openxmlformats.org/officeDocument/2006/relationships/officeDocument" Target="/ppt/presentation.xml" Id="R31c08883c3c5431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8acdc579ec04014"/>
  </p:sldMasterIdLst>
  <p:notesMasterIdLst>
    <p:notesMasterId xmlns:r="http://schemas.openxmlformats.org/officeDocument/2006/relationships" r:id="R93e37bd42acf4762"/>
  </p:notesMasterIdLst>
  <p:sldIdLst>
    <p:sldId xmlns:r="http://schemas.openxmlformats.org/officeDocument/2006/relationships" id="256" r:id="Rc3564a4d0c764c98"/>
    <p:sldId xmlns:r="http://schemas.openxmlformats.org/officeDocument/2006/relationships" id="257" r:id="R474f0b05009644f7"/>
    <p:sldId xmlns:r="http://schemas.openxmlformats.org/officeDocument/2006/relationships" id="258" r:id="R20e22a7d23ab4738"/>
    <p:sldId xmlns:r="http://schemas.openxmlformats.org/officeDocument/2006/relationships" id="259" r:id="R26ac277ef54a43a7"/>
    <p:sldId xmlns:r="http://schemas.openxmlformats.org/officeDocument/2006/relationships" id="260" r:id="R9c6ad0f26efd4a43"/>
    <p:sldId xmlns:r="http://schemas.openxmlformats.org/officeDocument/2006/relationships" id="261" r:id="R3155f9d85a694eac"/>
    <p:sldId xmlns:r="http://schemas.openxmlformats.org/officeDocument/2006/relationships" id="262" r:id="Rd3e5b91807c54900"/>
    <p:sldId xmlns:r="http://schemas.openxmlformats.org/officeDocument/2006/relationships" id="263" r:id="Rfe32c69251104b78"/>
    <p:sldId xmlns:r="http://schemas.openxmlformats.org/officeDocument/2006/relationships" id="264" r:id="Rea7db055784d4c0d"/>
    <p:sldId xmlns:r="http://schemas.openxmlformats.org/officeDocument/2006/relationships" id="265" r:id="R7812a8e29e3747e1"/>
    <p:sldId xmlns:r="http://schemas.openxmlformats.org/officeDocument/2006/relationships" id="266" r:id="Rf9e540ed15424f01"/>
    <p:sldId xmlns:r="http://schemas.openxmlformats.org/officeDocument/2006/relationships" id="267" r:id="Ra6a395286e5a41b6"/>
    <p:sldId xmlns:r="http://schemas.openxmlformats.org/officeDocument/2006/relationships" id="268" r:id="R02483514fb0044cf"/>
    <p:sldId xmlns:r="http://schemas.openxmlformats.org/officeDocument/2006/relationships" id="269" r:id="Rd6393d16668f4a3a"/>
    <p:sldId xmlns:r="http://schemas.openxmlformats.org/officeDocument/2006/relationships" id="270" r:id="R30d9a88fa612440d"/>
    <p:sldId xmlns:r="http://schemas.openxmlformats.org/officeDocument/2006/relationships" id="271" r:id="R0af1a639367e4f00"/>
    <p:sldId xmlns:r="http://schemas.openxmlformats.org/officeDocument/2006/relationships" id="272" r:id="R627cdb2ea8084bb0"/>
    <p:sldId xmlns:r="http://schemas.openxmlformats.org/officeDocument/2006/relationships" id="273" r:id="R3aca5b87b3354662"/>
  </p:sldIdLst>
  <p:sldSz cx="12192000" cy="6858000"/>
  <p:notesSz cx="6858000" cy="9144000"/>
  <p:embeddedFontLst>
    <p:embeddedFont>
      <p:font typeface="OpenAI Sans"/>
      <p:regular xmlns:r="http://schemas.openxmlformats.org/officeDocument/2006/relationships" r:id="Ra939e67a3d694c73"/>
      <p:bold xmlns:r="http://schemas.openxmlformats.org/officeDocument/2006/relationships" r:id="R670d46810ec24b56"/>
      <p:italic xmlns:r="http://schemas.openxmlformats.org/officeDocument/2006/relationships" r:id="R3f8c1ca785bf4fc1"/>
      <p:boldItalic xmlns:r="http://schemas.openxmlformats.org/officeDocument/2006/relationships" r:id="R05539eef6df042f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fd16e4a2134f8c" /><Relationship Type="http://schemas.openxmlformats.org/officeDocument/2006/relationships/slideMaster" Target="/ppt/slideMasters/slideMaster1.xml" Id="R88acdc579ec04014" /><Relationship Type="http://schemas.openxmlformats.org/officeDocument/2006/relationships/notesMaster" Target="/ppt/notesMasters/notesMaster1.xml" Id="R93e37bd42acf4762" /><Relationship Type="http://schemas.openxmlformats.org/officeDocument/2006/relationships/presProps" Target="/ppt/presProps.xml" Id="R3fc69613fddb4858" /><Relationship Type="http://schemas.openxmlformats.org/officeDocument/2006/relationships/viewProps" Target="/ppt/viewProps.xml" Id="R06ea316ee5ef456f" /><Relationship Type="http://schemas.openxmlformats.org/officeDocument/2006/relationships/tableStyles" Target="/ppt/tableStyles.xml" Id="Rccabb7ed0dcd40f4" /><Relationship Type="http://schemas.openxmlformats.org/officeDocument/2006/relationships/font" Target="/ppt/fonts/font.dat" Id="Ra939e67a3d694c73" /><Relationship Type="http://schemas.openxmlformats.org/officeDocument/2006/relationships/font" Target="/ppt/fonts/font2.dat" Id="R670d46810ec24b56" /><Relationship Type="http://schemas.openxmlformats.org/officeDocument/2006/relationships/font" Target="/ppt/fonts/font3.dat" Id="R3f8c1ca785bf4fc1" /><Relationship Type="http://schemas.openxmlformats.org/officeDocument/2006/relationships/font" Target="/ppt/fonts/font4.dat" Id="R05539eef6df042f0" /><Relationship Type="http://schemas.openxmlformats.org/officeDocument/2006/relationships/slide" Target="/ppt/slides/slide1.xml" Id="Rc3564a4d0c764c98" /><Relationship Type="http://schemas.openxmlformats.org/officeDocument/2006/relationships/slide" Target="/ppt/slides/slide2.xml" Id="R474f0b05009644f7" /><Relationship Type="http://schemas.openxmlformats.org/officeDocument/2006/relationships/slide" Target="/ppt/slides/slide3.xml" Id="R20e22a7d23ab4738" /><Relationship Type="http://schemas.openxmlformats.org/officeDocument/2006/relationships/slide" Target="/ppt/slides/slide4.xml" Id="R26ac277ef54a43a7" /><Relationship Type="http://schemas.openxmlformats.org/officeDocument/2006/relationships/slide" Target="/ppt/slides/slide5.xml" Id="R9c6ad0f26efd4a43" /><Relationship Type="http://schemas.openxmlformats.org/officeDocument/2006/relationships/slide" Target="/ppt/slides/slide6.xml" Id="R3155f9d85a694eac" /><Relationship Type="http://schemas.openxmlformats.org/officeDocument/2006/relationships/slide" Target="/ppt/slides/slide7.xml" Id="Rd3e5b91807c54900" /><Relationship Type="http://schemas.openxmlformats.org/officeDocument/2006/relationships/slide" Target="/ppt/slides/slide8.xml" Id="Rfe32c69251104b78" /><Relationship Type="http://schemas.openxmlformats.org/officeDocument/2006/relationships/slide" Target="/ppt/slides/slide9.xml" Id="Rea7db055784d4c0d" /><Relationship Type="http://schemas.openxmlformats.org/officeDocument/2006/relationships/slide" Target="/ppt/slides/slide10.xml" Id="R7812a8e29e3747e1" /><Relationship Type="http://schemas.openxmlformats.org/officeDocument/2006/relationships/slide" Target="/ppt/slides/slide11.xml" Id="Rf9e540ed15424f01" /><Relationship Type="http://schemas.openxmlformats.org/officeDocument/2006/relationships/slide" Target="/ppt/slides/slide12.xml" Id="Ra6a395286e5a41b6" /><Relationship Type="http://schemas.openxmlformats.org/officeDocument/2006/relationships/slide" Target="/ppt/slides/slide13.xml" Id="R02483514fb0044cf" /><Relationship Type="http://schemas.openxmlformats.org/officeDocument/2006/relationships/slide" Target="/ppt/slides/slide14.xml" Id="Rd6393d16668f4a3a" /><Relationship Type="http://schemas.openxmlformats.org/officeDocument/2006/relationships/slide" Target="/ppt/slides/slide15.xml" Id="R30d9a88fa612440d" /><Relationship Type="http://schemas.openxmlformats.org/officeDocument/2006/relationships/slide" Target="/ppt/slides/slide16.xml" Id="R0af1a639367e4f00" /><Relationship Type="http://schemas.openxmlformats.org/officeDocument/2006/relationships/slide" Target="/ppt/slides/slide17.xml" Id="R627cdb2ea8084bb0" /><Relationship Type="http://schemas.openxmlformats.org/officeDocument/2006/relationships/slide" Target="/ppt/slides/slide18.xml" Id="R3aca5b87b33546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c111eef4fd4c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aed12b4bd840d4" /><Relationship Type="http://schemas.openxmlformats.org/officeDocument/2006/relationships/notesMaster" Target="/ppt/notesMasters/notesMaster1.xml" Id="R8458a1cef5c147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409a682db647d9" /><Relationship Type="http://schemas.openxmlformats.org/officeDocument/2006/relationships/notesMaster" Target="/ppt/notesMasters/notesMaster1.xml" Id="Re6acea1117d54c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6ac7f942a94fa7" /><Relationship Type="http://schemas.openxmlformats.org/officeDocument/2006/relationships/notesMaster" Target="/ppt/notesMasters/notesMaster1.xml" Id="Rc18f85f66cfe43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ec99ea10904f7d" /><Relationship Type="http://schemas.openxmlformats.org/officeDocument/2006/relationships/notesMaster" Target="/ppt/notesMasters/notesMaster1.xml" Id="R221c787f1ef44d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8555ffcada4537" /><Relationship Type="http://schemas.openxmlformats.org/officeDocument/2006/relationships/notesMaster" Target="/ppt/notesMasters/notesMaster1.xml" Id="R177c1e5c04c548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ba40bcf1574fbc" /><Relationship Type="http://schemas.openxmlformats.org/officeDocument/2006/relationships/notesMaster" Target="/ppt/notesMasters/notesMaster1.xml" Id="Refbc4823880049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731b8690024696" /><Relationship Type="http://schemas.openxmlformats.org/officeDocument/2006/relationships/notesMaster" Target="/ppt/notesMasters/notesMaster1.xml" Id="Rfb5be70dee7943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3a0020ac3949bb" /><Relationship Type="http://schemas.openxmlformats.org/officeDocument/2006/relationships/notesMaster" Target="/ppt/notesMasters/notesMaster1.xml" Id="R627065f1d80c4a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7ec26357ee438c" /><Relationship Type="http://schemas.openxmlformats.org/officeDocument/2006/relationships/notesMaster" Target="/ppt/notesMasters/notesMaster1.xml" Id="R35b22d1debf34a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ac56a12bb4443a" /><Relationship Type="http://schemas.openxmlformats.org/officeDocument/2006/relationships/notesMaster" Target="/ppt/notesMasters/notesMaster1.xml" Id="Rfaaeaa0cadc047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9574a996904ca4" /><Relationship Type="http://schemas.openxmlformats.org/officeDocument/2006/relationships/notesMaster" Target="/ppt/notesMasters/notesMaster1.xml" Id="R12817216f2f542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057fd9667e4906" /><Relationship Type="http://schemas.openxmlformats.org/officeDocument/2006/relationships/notesMaster" Target="/ppt/notesMasters/notesMaster1.xml" Id="R387892dff663407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dde210270c43b0" /><Relationship Type="http://schemas.openxmlformats.org/officeDocument/2006/relationships/notesMaster" Target="/ppt/notesMasters/notesMaster1.xml" Id="R33851140f807461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aee72aab7a34260" /><Relationship Type="http://schemas.openxmlformats.org/officeDocument/2006/relationships/notesMaster" Target="/ppt/notesMasters/notesMaster1.xml" Id="Rfe458cddee7040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144d31a2399460e" /><Relationship Type="http://schemas.openxmlformats.org/officeDocument/2006/relationships/notesMaster" Target="/ppt/notesMasters/notesMaster1.xml" Id="R95c15b97518d40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3c232390a04658" /><Relationship Type="http://schemas.openxmlformats.org/officeDocument/2006/relationships/notesMaster" Target="/ppt/notesMasters/notesMaster1.xml" Id="R26d6bca96d5644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6581712cb6e4868" /><Relationship Type="http://schemas.openxmlformats.org/officeDocument/2006/relationships/notesMaster" Target="/ppt/notesMasters/notesMaster1.xml" Id="R2365297a0b6f476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b5fef629c44487" /><Relationship Type="http://schemas.openxmlformats.org/officeDocument/2006/relationships/notesMaster" Target="/ppt/notesMasters/notesMaster1.xml" Id="Rd93b63b6c4c740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endParaRPr/>
          </a:p>
          <a:p xmlns:a="http://schemas.openxmlformats.org/drawingml/2006/main">
            <a:r>
              <a:t/>
            </a:r>
            <a:endParaRPr/>
          </a:p>
          <a:p xmlns:a="http://schemas.openxmlformats.org/drawingml/2006/main">
            <a:r>
              <a:t>Open with a thought experiment: a startup receives free electricity for a year. Ask what it would build differently, then what survives when the offer ends. Give the audience five seconds to think before connecting electricity to inference. This is a question about dependence on a price assumption, not a claim that every AI provider loses money. State the promise of the talk: leave with a way to stress-test an architecture without pretending to know a vendor's confidential costs.</a:t>
            </a:r>
            <a:endParaRPr/>
          </a:p>
          <a:p xmlns:a="http://schemas.openxmlformats.org/drawingml/2006/main">
            <a:r>
              <a:t/>
            </a:r>
            <a:endParaRPr/>
          </a:p>
          <a:p xmlns:a="http://schemas.openxmlformats.org/drawingml/2006/main">
            <a:r>
              <a:t>Sources and further reading (verified 2026-09-04):</a:t>
            </a:r>
            <a:endParaRPr/>
          </a:p>
          <a:p xmlns:a="http://schemas.openxmlformats.org/drawingml/2006/main">
            <a:r>
              <a:t/>
            </a:r>
            <a:endParaRPr/>
          </a:p>
          <a:p xmlns:a="http://schemas.openxmlformats.org/drawingml/2006/main">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Draw four separate boxes with your hands as you name these concepts. A customer invoice records what the buyer pays. It does not expose utilization, hardware depreciation, training allocation, or the provider's contribution margin. Customer value is another variable again. A free allowance can have a positive acquisition value to a provider while consuming real resources. Keep those accounting boundaries visible throughout the talk. The useful engineering question is which of these quantities your system measures and which it merely assumes.</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Take the strongest case for free access seriously before criticizing its incentives. A student can try a tool, a nonprofit can prototype a workflow, and a small team can test an idea before making a large commitment. These are potential benefits, not a measured estimate of social impact. Ask the audience which useful experiment they would have skipped if it required procurement first. The point is to preserve this option value while making temporary discounts visible in production decisions.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promotional credits as the concrete, documented case: AWS says credits are subject to expiration and the terms of the offer. Do not generalize those terms to every provider. A bundle may spread costs across customers or services; a low price may also reflect genuine efficiency. We cannot infer a model's margin from a token rate. Frame the central conditional carefully: if your paid rate rises relative to your product's value, which design choices become liabilities? That question works without a subsidy estimate.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https://aws.amazon.com/awscredits/</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Keep the parking analogy short and explicitly label it an analogy. Imagine a shopping center treating parking as a bundled amenity: its construction and land still have a cost, even when a driver sees no meter. The thought experiment concerns incentives, not a numerical claim about cities. Likewise, software can grow around a price that hides resource consumption from the person making design decisions. The analogy ends where it stops helping; AI has different supply curves and can become much more efficient.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Tell a fictional design-review story. A team asks whether it should summarize context, add a cache, or route easy work to code. Someone answers that inference is effectively free on their current plan. Each shortcut is locally reasonable, yet together they make usage difficult to predict. Name this architectural obesity with a little humor, then qualify it: redundancy and large context can be worthwhile when they improve outcomes. The mistake is failing to measure what each extra call buys.</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Define the denominator before showing any dollars. A completed job must meet an explicit acceptance rule; an impressive answer that a human later repairs is not free success. Include attributable inference, tools, infrastructure, and recovery effort in operating spend, while separating overhead if the comparison needs that distinction. Do not present a blended token rate as a unit economics model. Ask the audience to name their product's accepted outcome in one sentence. If that is difficult, the economics discussion has found a product problem.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Introduce the demonstration as synthetic before displaying any numbers. The fixture has one thousand attempts, a seventy-five-percent acceptance rate, two cents of inference per attempt, and one cent of other attributable operating cost per attempt. That produces thirty dollars of cost and seven hundred fifty accepted outcomes, or four cents per accepted outcome. The unaccepted attempts still cost money. These inputs are chosen for teaching, not measured vendor performance. Keep promotional credits separate from gross resource consumption if the audience raises free allowances.</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Run the four-minute economics demonstration from the companion guide. Start at the baseline, then sweep inference price through two, five, and ten times its starting value. Hold attempts, acceptance rate, and other costs fixed. Monthly costs for this invented batch become thirty, fifty, one hundred ten, and two hundred ten dollars. Divide each by seven hundred fifty accepted outcomes. This is a sensitivity analysis, not a price prediction or a complete profitability model. Ask which assumption the audience would challenge before committing to an optimization project.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Continue the synthetic scenario without inventing a measured optimization win. Assume a change could halve inference usage per attempt while maintaining the same seventy-five-percent acceptance rate. At ten times baseline price, total cost becomes one hundred ten dollars across a thousand attempts, or about fourteen-point-seven cents per accepted outcome. Label preserved acceptance as an assumption requiring an eval. The optimization project also costs engineering time and ongoing maintenance. Compare those costs with the recurring savings; a router that costs more to run than it saves is not automatically better engineering.</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Expand from code to commitments. A product that promises unlimited work may have less room to react than a product with explicit workload limits. A team that relies on one provider may face a migration project when capabilities or terms change. Labor substitution calculations also depend on recovery, oversight, and quality rather than the invoice alone. These are conditional mechanisms, not evidence that a specific industry is overautomating. Ask which commitments are reversible this quarter and which would take a year to unwind.</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Pose this as a question for the room, not an established market forecast. Aggressive pricing can lower entry costs for application developers while making infrastructure competition difficult for suppliers with less capital. Open models, specialized providers, efficiency improvements, and changing demand can push in the opposite direction. Distinguish access to an API from durable bargaining power. The practical takeaway is to know which parts of the system are portable and to rehearse a replacement on actual workloads before claiming that switching is easy.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Present the strongest objection in your own voice. Better hardware, smaller models, improved serving, and competitive pressure can keep reducing the price of useful work. A team that spends months optimizing a disappearing expense may make a worse business decision than one that ships. The historical evidence on the next slide supports taking this objection seriously. The talk therefore recommends reversible architecture and sensitivity analysis, not austerity, a prediction of collapse, or a universal rule to avoid frontier models.</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Cite Epoch AI's March 2025 analysis, which follows the cheapest model reaching fixed benchmark milestones across six benchmarks. Its observed price declines differ substantially across tasks and thresholds. Keep the benchmark scope explicit: a fixed benchmark score does not imply equivalent performance on every customer workflow. The study measures offered inference prices, not confidential provider cost accounting. Use the evidence to challenge a simplistic subsidy narrative, then return to the unresolved practical issue: your workload may also grow in complexity and consumption.</a:t>
            </a:r>
          </a:p>
          <a:p xmlns:a="http://schemas.openxmlformats.org/drawingml/2006/main">
            <a:r>
              <a:t/>
            </a:r>
          </a:p>
          <a:p xmlns:a="http://schemas.openxmlformats.org/drawingml/2006/main">
            <a:r>
              <a:t>Sources and further reading (verified 2026-09-04):</a:t>
            </a:r>
          </a:p>
          <a:p xmlns:a="http://schemas.openxmlformats.org/drawingml/2006/main">
            <a:r>
              <a:t>https://epoch.ai/data-insights/llm-inference-price-trends</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Write total inference spend as price times consumption, then unpack consumption into accepted jobs, calls per job, and tokens per call. More capable systems may invite new work, longer sessions, or more verification. That is a possible response to cheaper inputs rather than a claimed universal economic law. A falling token price can coexist with a growing bill, and either trend can still be good for the business if customer value rises faster. Measure the relationship instead of treating the bill alone as success or failure.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Give four practical actions in a concrete sequence. Record gross consumption separately from credits. Preserve a small representative acceptance suite. Run one replacement provider or smaller model against that suite, including latency and recovery effort. Then estimate the maintenance cost of portability. A generic abstraction that hides meaningful model differences can make a system worse. The goal is a credible fallback, with known limitations, rather than a promise that every model is interchangeable. Keep simple implementations when the resilience benefit does not justify added machinery.</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Return to the fictional startup and its original design review. Give the team three numbers to bring next time: the effective rate today, the gross rate without promotional treatment, and the highest rate compatible with an acceptable outcome. Sweep downward prices too, so the optimization plan can be abandoned when efficiency gains make it unnecessary. Assign an owner and a review date to the assumptions. This turns an argument about industry destiny into an ordinary decision about exposure, optionality, and engineering effort.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3.5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Close by resolving the initial electricity question. The useful response to a cheap foundational input is to exploit the opportunity while understanding what it has encouraged you to build. Some low prices may prove temporary; others may be a preview of more efficient production. We do not need certainty about which story dominates to measure outcomes and keep important choices reversible. Deliver the signature line slowly: cheap intelligence changes incentives before it changes organizations. Leave the sensitivity table available for questions about assumptions.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f03f58235044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48bb6a25e546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5f0faaa3694a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f2890bb78e4a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58619127924c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7e68afd63ce40c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8bab097e9ae421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3f199736a2543a7"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cb10ac19f44c83" /><Relationship Type="http://schemas.openxmlformats.org/officeDocument/2006/relationships/slideLayout" Target="/ppt/slideLayouts/slideLayout1.xml" Id="R5ca00466f799419c" /><Relationship Type="http://schemas.openxmlformats.org/officeDocument/2006/relationships/slideLayout" Target="/ppt/slideLayouts/slideLayout2.xml" Id="R4a5f7fd2f7ea46c6" /><Relationship Type="http://schemas.openxmlformats.org/officeDocument/2006/relationships/slideLayout" Target="/ppt/slideLayouts/slideLayout3.xml" Id="R54dbc067776943f2" /><Relationship Type="http://schemas.openxmlformats.org/officeDocument/2006/relationships/slideLayout" Target="/ppt/slideLayouts/slideLayout4.xml" Id="R92e6fbf3fbf14ddb" /><Relationship Type="http://schemas.openxmlformats.org/officeDocument/2006/relationships/slideLayout" Target="/ppt/slideLayouts/slideLayout5.xml" Id="Rdcddbb555a6a4195" /><Relationship Type="http://schemas.openxmlformats.org/officeDocument/2006/relationships/slideLayout" Target="/ppt/slideLayouts/slideLayout6.xml" Id="Rebadddc6cc1d49fc" /><Relationship Type="http://schemas.openxmlformats.org/officeDocument/2006/relationships/slideLayout" Target="/ppt/slideLayouts/slideLayout7.xml" Id="R963fd6c8fe2d47eb" /><Relationship Type="http://schemas.openxmlformats.org/officeDocument/2006/relationships/slideLayout" Target="/ppt/slideLayouts/slideLayout8.xml" Id="R43c088ddc64b43f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5ca00466f799419c"/>
    <p:sldLayoutId xmlns:r="http://schemas.openxmlformats.org/officeDocument/2006/relationships" id="2147483650" r:id="R4a5f7fd2f7ea46c6"/>
    <p:sldLayoutId xmlns:r="http://schemas.openxmlformats.org/officeDocument/2006/relationships" id="2147483651" r:id="R54dbc067776943f2"/>
    <p:sldLayoutId xmlns:r="http://schemas.openxmlformats.org/officeDocument/2006/relationships" id="2147483652" r:id="R92e6fbf3fbf14ddb"/>
    <p:sldLayoutId xmlns:r="http://schemas.openxmlformats.org/officeDocument/2006/relationships" id="2147483653" r:id="Rdcddbb555a6a4195"/>
    <p:sldLayoutId xmlns:r="http://schemas.openxmlformats.org/officeDocument/2006/relationships" id="2147483654" r:id="Rebadddc6cc1d49fc"/>
    <p:sldLayoutId xmlns:r="http://schemas.openxmlformats.org/officeDocument/2006/relationships" id="2147483655" r:id="R963fd6c8fe2d47eb"/>
    <p:sldLayoutId xmlns:r="http://schemas.openxmlformats.org/officeDocument/2006/relationships" id="2147483656" r:id="R43c088ddc64b43f0"/>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7db3ee4cf849e5" /><Relationship Type="http://schemas.openxmlformats.org/officeDocument/2006/relationships/image" Target="/ppt/media/image.png" Id="Rd8ec0700a4684e51" /><Relationship Type="http://schemas.openxmlformats.org/officeDocument/2006/relationships/notesSlide" Target="/ppt/notesSlides/notesSlide1.xml" Id="R0804ae95c5ab4d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55e53adfd294040" /><Relationship Type="http://schemas.openxmlformats.org/officeDocument/2006/relationships/notesSlide" Target="/ppt/notesSlides/notesSlide2.xml" Id="R439b824a73ac4f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d64ccec30dd4925" /><Relationship Type="http://schemas.openxmlformats.org/officeDocument/2006/relationships/notesSlide" Target="/ppt/notesSlides/notesSlide3.xml" Id="Re2df9d87b67548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b98e7b5c08c4f78" /><Relationship Type="http://schemas.openxmlformats.org/officeDocument/2006/relationships/notesSlide" Target="/ppt/notesSlides/notesSlide4.xml" Id="Rd24b965125cf4e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dcfeb95b6b46ff" /><Relationship Type="http://schemas.openxmlformats.org/officeDocument/2006/relationships/notesSlide" Target="/ppt/notesSlides/notesSlide5.xml" Id="R8483f383f59b44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89f9d5f0807479c" /><Relationship Type="http://schemas.openxmlformats.org/officeDocument/2006/relationships/notesSlide" Target="/ppt/notesSlides/notesSlide6.xml" Id="R648f7b6ae1be4d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32a9d85b2b4449e" /><Relationship Type="http://schemas.openxmlformats.org/officeDocument/2006/relationships/notesSlide" Target="/ppt/notesSlides/notesSlide7.xml" Id="Rf0b8feb0d93943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5a34e784ee496f" /><Relationship Type="http://schemas.openxmlformats.org/officeDocument/2006/relationships/notesSlide" Target="/ppt/notesSlides/notesSlide8.xml" Id="R5bd1b114a61f4c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0d194859ccf45ad" /><Relationship Type="http://schemas.openxmlformats.org/officeDocument/2006/relationships/notesSlide" Target="/ppt/notesSlides/notesSlide9.xml" Id="R0a26b985669b4b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1a7289a6b934276" /><Relationship Type="http://schemas.openxmlformats.org/officeDocument/2006/relationships/notesSlide" Target="/ppt/notesSlides/notesSlide10.xml" Id="Rc78fd889138942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b81c3c8ab9a4c04" /><Relationship Type="http://schemas.openxmlformats.org/officeDocument/2006/relationships/notesSlide" Target="/ppt/notesSlides/notesSlide11.xml" Id="R1f3e8f868af246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b6e01dbd7b74654" /><Relationship Type="http://schemas.openxmlformats.org/officeDocument/2006/relationships/notesSlide" Target="/ppt/notesSlides/notesSlide12.xml" Id="R4393afab90694a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f4824e536374471" /><Relationship Type="http://schemas.openxmlformats.org/officeDocument/2006/relationships/notesSlide" Target="/ppt/notesSlides/notesSlide13.xml" Id="R15652c114ef740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80c94a074364f11" /><Relationship Type="http://schemas.openxmlformats.org/officeDocument/2006/relationships/notesSlide" Target="/ppt/notesSlides/notesSlide14.xml" Id="Rf6492ed11cd34f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c970566a47d45c8" /><Relationship Type="http://schemas.openxmlformats.org/officeDocument/2006/relationships/notesSlide" Target="/ppt/notesSlides/notesSlide15.xml" Id="Rc92bdb257a4248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3c146fb5d034f66" /><Relationship Type="http://schemas.openxmlformats.org/officeDocument/2006/relationships/notesSlide" Target="/ppt/notesSlides/notesSlide16.xml" Id="Rf42c80cdfce54f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646e6dd4e6e4c4b" /><Relationship Type="http://schemas.openxmlformats.org/officeDocument/2006/relationships/notesSlide" Target="/ppt/notesSlides/notesSlide17.xml" Id="R93a4af7a7f8744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0da4530ff714bdf" /><Relationship Type="http://schemas.openxmlformats.org/officeDocument/2006/relationships/notesSlide" Target="/ppt/notesSlides/notesSlide18.xml" Id="R501c5517d369497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Cry Me a</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Free Tier</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What cheap intelligence teaches us to build</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40-minute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d8ec0700a4684e51"/>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invoice is not the whole story</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Price paid</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Resources consumed</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Cost allocated</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Value delivered</a:t>
            </a:r>
          </a:p>
        </p:txBody>
      </p:sp>
    </p:spTree>
    <p:extLst>
      <p:ext uri="{BB962C8B-B14F-4D97-AF65-F5344CB8AC3E}">
        <p14:creationId xmlns:p14="http://schemas.microsoft.com/office/powerpoint/2010/main" val="3601454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Cheap access has real value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More people can experiment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Small teams can try more ideas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Learning gets a lower entry cost</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Subsidy is a hypothesis, not a disclosed number</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Credits can expire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Bundles can cross-fund usage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Low price alone proves neither</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Free parking is an analogy about incentives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cost moves somewhere else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built environment adapts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AI’s built environment is software</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Architecture learns the price signal</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Longer context</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More retries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More competing branches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Frontier calls by default</a:t>
            </a:r>
          </a:p>
        </p:txBody>
      </p:sp>
    </p:spTree>
    <p:extLst>
      <p:ext uri="{BB962C8B-B14F-4D97-AF65-F5344CB8AC3E}">
        <p14:creationId xmlns:p14="http://schemas.microsoft.com/office/powerpoint/2010/main" val="36014548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Measure the successful outcome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Total operating spend</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 accepted completed jobs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Include retries and human recovery</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fictional workload before the price changes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1,000 attempts; 750 accepted</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$0.02 inference per attempt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$0.01 other cost per attempt</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$0.04 per accepted outcome</a:t>
            </a:r>
          </a:p>
        </p:txBody>
      </p:sp>
    </p:spTree>
    <p:extLst>
      <p:ext uri="{BB962C8B-B14F-4D97-AF65-F5344CB8AC3E}">
        <p14:creationId xmlns:p14="http://schemas.microsoft.com/office/powerpoint/2010/main" val="3601454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Change one assumption. Watch the unit cost.</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Synthetic sensitivity with a fixed 75% acceptance rate</a:t>
            </a:r>
          </a:p>
        </p:txBody>
      </p:sp>
      <p:graphicFrame>
        <p:nvGraphicFramePr>
          <p:cNvPr id="539" name=""/>
          <p:cNvGraphicFramePr/>
          <p:nvPr/>
        </p:nvGraphicFramePr>
        <p:xfrm>
          <a:off xmlns:a="http://schemas.openxmlformats.org/drawingml/2006/main" x="400050" y="2476500"/>
          <a:ext xmlns:a="http://schemas.openxmlformats.org/drawingml/2006/main" cx="11391900" cy="2952750"/>
        </p:xfrm>
        <a:graphic xmlns:a="http://schemas.openxmlformats.org/drawingml/2006/main">
          <a:graphicData uri="http://schemas.openxmlformats.org/drawingml/2006/table">
            <a:tbl>
              <a:tblPr/>
              <a:tblGrid>
                <a:gridCol w="3797300"/>
                <a:gridCol w="3797300"/>
                <a:gridCol w="3797300"/>
              </a:tblGrid>
              <a:tr h="590550">
                <a:tc>
                  <a:txBody>
                    <a:bodyPr/>
                    <a:lstStyle/>
                    <a:p>
                      <a:r>
                        <a:rPr sz="1950">
                          <a:solidFill>
                            <a:srgbClr val="FFFFFF"/>
                          </a:solidFill>
                          <a:latin typeface="Helvetica Neue"/>
                          <a:ea typeface="Helvetica Neue"/>
                          <a:cs typeface="Helvetica Neue"/>
                        </a:rPr>
                        <a:t>Price factor</a:t>
                      </a:r>
                    </a:p>
                  </a:txBody>
                  <a:tcPr marL="91440" marR="91440" marT="45720" marB="45720">
                    <a:solidFill>
                      <a:srgbClr val="242424"/>
                    </a:solidFill>
                  </a:tcPr>
                </a:tc>
                <a:tc>
                  <a:txBody>
                    <a:bodyPr/>
                    <a:lstStyle/>
                    <a:p>
                      <a:r>
                        <a:rPr sz="1950">
                          <a:solidFill>
                            <a:srgbClr val="FFFFFF"/>
                          </a:solidFill>
                          <a:latin typeface="Helvetica Neue"/>
                          <a:ea typeface="Helvetica Neue"/>
                          <a:cs typeface="Helvetica Neue"/>
                        </a:rPr>
                        <a:t>Monthly cost</a:t>
                      </a:r>
                    </a:p>
                  </a:txBody>
                  <a:tcPr marL="91440" marR="91440" marT="45720" marB="45720">
                    <a:solidFill>
                      <a:srgbClr val="242424"/>
                    </a:solidFill>
                  </a:tcPr>
                </a:tc>
                <a:tc>
                  <a:txBody>
                    <a:bodyPr/>
                    <a:lstStyle/>
                    <a:p>
                      <a:r>
                        <a:rPr sz="1950">
                          <a:solidFill>
                            <a:srgbClr val="FFFFFF"/>
                          </a:solidFill>
                          <a:latin typeface="Helvetica Neue"/>
                          <a:ea typeface="Helvetica Neue"/>
                          <a:cs typeface="Helvetica Neue"/>
                        </a:rPr>
                        <a:t>Cost / success</a:t>
                      </a:r>
                    </a:p>
                  </a:txBody>
                  <a:tcPr marL="91440" marR="91440" marT="45720" marB="45720">
                    <a:solidFill>
                      <a:srgbClr val="242424"/>
                    </a:solidFill>
                  </a:tcPr>
                </a:tc>
              </a:tr>
              <a:tr h="590550">
                <a:tc>
                  <a:txBody>
                    <a:bodyPr/>
                    <a:lstStyle/>
                    <a:p>
                      <a:r>
                        <a:rPr sz="1950">
                          <a:solidFill>
                            <a:srgbClr val="FFFFFF"/>
                          </a:solidFill>
                          <a:latin typeface="Helvetica Neue"/>
                          <a:ea typeface="Helvetica Neue"/>
                          <a:cs typeface="Helvetica Neue"/>
                        </a:rPr>
                        <a:t>1×</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$30</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$0.040</a:t>
                      </a:r>
                    </a:p>
                  </a:txBody>
                  <a:tcPr marL="91440" marR="91440" marT="45720" marB="45720">
                    <a:solidFill>
                      <a:srgbClr val="000000"/>
                    </a:solidFill>
                  </a:tcPr>
                </a:tc>
              </a:tr>
              <a:tr h="590550">
                <a:tc>
                  <a:txBody>
                    <a:bodyPr/>
                    <a:lstStyle/>
                    <a:p>
                      <a:r>
                        <a:rPr sz="1950">
                          <a:solidFill>
                            <a:srgbClr val="FFFFFF"/>
                          </a:solidFill>
                          <a:latin typeface="Helvetica Neue"/>
                          <a:ea typeface="Helvetica Neue"/>
                          <a:cs typeface="Helvetica Neue"/>
                        </a:rPr>
                        <a:t>2×</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$50</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$0.067</a:t>
                      </a:r>
                    </a:p>
                  </a:txBody>
                  <a:tcPr marL="91440" marR="91440" marT="45720" marB="45720">
                    <a:solidFill>
                      <a:srgbClr val="000000"/>
                    </a:solidFill>
                  </a:tcPr>
                </a:tc>
              </a:tr>
              <a:tr h="590550">
                <a:tc>
                  <a:txBody>
                    <a:bodyPr/>
                    <a:lstStyle/>
                    <a:p>
                      <a:r>
                        <a:rPr sz="1950">
                          <a:solidFill>
                            <a:srgbClr val="FFFFFF"/>
                          </a:solidFill>
                          <a:latin typeface="Helvetica Neue"/>
                          <a:ea typeface="Helvetica Neue"/>
                          <a:cs typeface="Helvetica Neue"/>
                        </a:rPr>
                        <a:t>5×</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$110</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$0.147</a:t>
                      </a:r>
                    </a:p>
                  </a:txBody>
                  <a:tcPr marL="91440" marR="91440" marT="45720" marB="45720">
                    <a:solidFill>
                      <a:srgbClr val="000000"/>
                    </a:solidFill>
                  </a:tcPr>
                </a:tc>
              </a:tr>
              <a:tr h="590550">
                <a:tc>
                  <a:txBody>
                    <a:bodyPr/>
                    <a:lstStyle/>
                    <a:p>
                      <a:r>
                        <a:rPr sz="1950">
                          <a:solidFill>
                            <a:srgbClr val="FFFFFF"/>
                          </a:solidFill>
                          <a:latin typeface="Helvetica Neue"/>
                          <a:ea typeface="Helvetica Neue"/>
                          <a:cs typeface="Helvetica Neue"/>
                        </a:rPr>
                        <a:t>10×</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$210</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$0.280</a:t>
                      </a:r>
                    </a:p>
                  </a:txBody>
                  <a:tcPr marL="91440" marR="91440" marT="45720" marB="45720">
                    <a:solidFill>
                      <a:srgbClr val="000000"/>
                    </a:solidFill>
                  </a:tcPr>
                </a:tc>
              </a:tr>
            </a:tbl>
          </a:graphicData>
        </a:graphic>
      </p:graphicFrame>
    </p:spTree>
    <p:extLst>
      <p:ext uri="{BB962C8B-B14F-4D97-AF65-F5344CB8AC3E}">
        <p14:creationId xmlns:p14="http://schemas.microsoft.com/office/powerpoint/2010/main" val="32985487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B7BEEEC-A170-5376-2B6E-CB54687B0CB1}" type="slidenum">
              <a:rPr sz="1000">
                <a:solidFill>
                  <a:srgbClr val="FFFFFF"/>
                </a:solidFill>
                <a:latin typeface="Helvetica Neue"/>
                <a:ea typeface="Helvetica Neue"/>
                <a:cs typeface="Helvetica Neue"/>
              </a:rPr>
              <a:t>10</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Now change the architecture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Assume half the inference use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Preserve the 75% acceptance rate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At 10×: 28¢ → 14.7¢ per success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Quality parity must be tested</a:t>
            </a:r>
          </a:p>
        </p:txBody>
      </p:sp>
    </p:spTree>
    <p:extLst>
      <p:ext uri="{BB962C8B-B14F-4D97-AF65-F5344CB8AC3E}">
        <p14:creationId xmlns:p14="http://schemas.microsoft.com/office/powerpoint/2010/main" val="36014548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0394428-F1DC-E5F6-DB0C-7DE31F3D8A23}" type="slidenum">
              <a:rPr sz="1000">
                <a:solidFill>
                  <a:srgbClr val="FFFFFF"/>
                </a:solidFill>
                <a:latin typeface="Helvetica Neue"/>
                <a:ea typeface="Helvetica Neue"/>
                <a:cs typeface="Helvetica Neue"/>
              </a:rPr>
              <a:t>11</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cheap input can shape a company</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Packaging promises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Customer expectations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Supplier dependence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Automation assumptions</a:t>
            </a:r>
          </a:p>
        </p:txBody>
      </p:sp>
    </p:spTree>
    <p:extLst>
      <p:ext uri="{BB962C8B-B14F-4D97-AF65-F5344CB8AC3E}">
        <p14:creationId xmlns:p14="http://schemas.microsoft.com/office/powerpoint/2010/main" val="36014548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4DB16885-0D3F-A391-B669-3211DB3B26E8}" type="slidenum">
              <a:rPr sz="1000">
                <a:solidFill>
                  <a:srgbClr val="FFFFFF"/>
                </a:solidFill>
                <a:latin typeface="Helvetica Neue"/>
                <a:ea typeface="Helvetica Neue"/>
                <a:cs typeface="Helvetica Neue"/>
              </a:rPr>
              <a:t>12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Democratized access, concentrated supply?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More builders can enter</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Few suppliers may carry the cost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Both can happen at once</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DD23107-4986-8758-3A93-3D74F35908CC}" type="slidenum">
              <a:rPr sz="1000">
                <a:solidFill>
                  <a:srgbClr val="FFFFFF"/>
                </a:solidFill>
                <a:latin typeface="Helvetica Neue"/>
                <a:ea typeface="Helvetica Neue"/>
                <a:cs typeface="Helvetica Neue"/>
              </a:rPr>
              <a:t>13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counterargument deserves its own slide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Maybe today’s low price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is tomorrow’s ordinary cost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Efficiency is real</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Do not forecast a price cliff</a:t>
            </a:r>
          </a:p>
        </p:txBody>
      </p:sp>
    </p:spTree>
    <p:extLst>
      <p:ext uri="{BB962C8B-B14F-4D97-AF65-F5344CB8AC3E}">
        <p14:creationId xmlns:p14="http://schemas.microsoft.com/office/powerpoint/2010/main" val="36014548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27921A4-25C4-3DB4-06B1-32693CEE2241}" type="slidenum">
              <a:rPr sz="1000">
                <a:solidFill>
                  <a:srgbClr val="FFFFFF"/>
                </a:solidFill>
                <a:latin typeface="Helvetica Neue"/>
                <a:ea typeface="Helvetica Neue"/>
                <a:cs typeface="Helvetica Neue"/>
              </a:rPr>
              <a:t>14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Fixed capability has become cheaper</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Historical observation: 2021–2025</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Epoch tracks six benchmark families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Declines vary by task and threshold</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Retail price ≠ provider production cost</a:t>
            </a:r>
          </a:p>
        </p:txBody>
      </p:sp>
    </p:spTree>
    <p:extLst>
      <p:ext uri="{BB962C8B-B14F-4D97-AF65-F5344CB8AC3E}">
        <p14:creationId xmlns:p14="http://schemas.microsoft.com/office/powerpoint/2010/main" val="3601454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A83FA91-883A-0168-8075-96CEB9DCA3C2}" type="slidenum">
              <a:rPr sz="1000">
                <a:solidFill>
                  <a:srgbClr val="FFFFFF"/>
                </a:solidFill>
                <a:latin typeface="Helvetica Neue"/>
                <a:ea typeface="Helvetica Neue"/>
                <a:cs typeface="Helvetica Neue"/>
              </a:rPr>
              <a:t>15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Cheaper tokens can meet bigger workloads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Unit price may fall</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Calls per job may rise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Context may grow</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Track both sides of the equation</a:t>
            </a:r>
          </a:p>
        </p:txBody>
      </p:sp>
    </p:spTree>
    <p:extLst>
      <p:ext uri="{BB962C8B-B14F-4D97-AF65-F5344CB8AC3E}">
        <p14:creationId xmlns:p14="http://schemas.microsoft.com/office/powerpoint/2010/main" val="36014548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C9C7607-4BA3-B4DC-A00F-2E67A9FCFF7E}" type="slidenum">
              <a:rPr sz="1000">
                <a:solidFill>
                  <a:srgbClr val="FFFFFF"/>
                </a:solidFill>
                <a:latin typeface="Helvetica Neue"/>
                <a:ea typeface="Helvetica Neue"/>
                <a:cs typeface="Helvetica Neue"/>
              </a:rPr>
              <a:t>16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Buy options before you need them</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Record gross usage and credits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Keep a workload eval set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Rehearse one provider replacement</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Price the cost of extra complexity</a:t>
            </a:r>
          </a:p>
        </p:txBody>
      </p:sp>
    </p:spTree>
    <p:extLst>
      <p:ext uri="{BB962C8B-B14F-4D97-AF65-F5344CB8AC3E}">
        <p14:creationId xmlns:p14="http://schemas.microsoft.com/office/powerpoint/2010/main" val="36014548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90F7333B-44AC-F7E9-D49D-FE92F45E0477}" type="slidenum">
              <a:rPr sz="1000">
                <a:solidFill>
                  <a:srgbClr val="FFFFFF"/>
                </a:solidFill>
                <a:latin typeface="Helvetica Neue"/>
                <a:ea typeface="Helvetica Neue"/>
                <a:cs typeface="Helvetica Neue"/>
              </a:rPr>
              <a:t>17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next design review needs three prices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we pay today</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we pay without the offer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we can survive paying</a:t>
            </a:r>
          </a:p>
        </p:txBody>
      </p:sp>
    </p:spTree>
    <p:extLst>
      <p:ext uri="{BB962C8B-B14F-4D97-AF65-F5344CB8AC3E}">
        <p14:creationId xmlns:p14="http://schemas.microsoft.com/office/powerpoint/2010/main" val="366718214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1C6C81E-38B9-7560-621D-5A151A79DF9B}" type="slidenum">
              <a:rPr sz="1000">
                <a:solidFill>
                  <a:srgbClr val="FFFFFF"/>
                </a:solidFill>
                <a:latin typeface="Helvetica Neue"/>
                <a:ea typeface="Helvetica Neue"/>
                <a:cs typeface="Helvetica Neue"/>
              </a:rPr>
              <a:t>18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Cheap intelligence changes incentives first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Enjoy the experiment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Measure the dependence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Build for more than one answer</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2026-09-05T04:35:33.6550000Z</dcterms:created>
  <dcterms:modified xsi:type="dcterms:W3CDTF">2026-09-05T04:35:33.6550000Z</dcterms:modified>
</coreProperties>
</file>