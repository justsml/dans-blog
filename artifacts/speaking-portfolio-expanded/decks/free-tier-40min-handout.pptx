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 id="273" r:id="rIdSlide18"/>
    <p:sldId id="274" r:id="rIdSlide19"/>
    <p:sldId id="275" r:id="rIdSlide20"/>
    <p:sldId id="276" r:id="rIdSlide21"/>
    <p:sldId id="277" r:id="rIdSlide22"/>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 Id="rIdSlide18" Type="http://schemas.openxmlformats.org/officeDocument/2006/relationships/slide" Target="slides/slide18.xml"/><Relationship Id="rIdSlide19" Type="http://schemas.openxmlformats.org/officeDocument/2006/relationships/slide" Target="slides/slide19.xml"/><Relationship Id="rIdSlide20" Type="http://schemas.openxmlformats.org/officeDocument/2006/relationships/slide" Target="slides/slide20.xml"/><Relationship Id="rIdSlide21" Type="http://schemas.openxmlformats.org/officeDocument/2006/relationships/slide" Target="slides/slide21.xml"/><Relationship Id="rIdSlide22" Type="http://schemas.openxmlformats.org/officeDocument/2006/relationships/slide" Target="slides/slide22.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_rels/notesSlide18.xml.rels><?xml version="1.0" encoding="UTF-8" standalone="yes"?><Relationships xmlns="http://schemas.openxmlformats.org/package/2006/relationships"><Relationship Id="rIdSlide" Type="http://schemas.openxmlformats.org/officeDocument/2006/relationships/slide" Target="../slides/slide18.xml"/><Relationship Id="rIdMaster" Type="http://schemas.openxmlformats.org/officeDocument/2006/relationships/notesMaster" Target="../notesMasters/notesMaster1.xml"/></Relationships>
</file>

<file path=ppt/notesSlides/_rels/notesSlide19.xml.rels><?xml version="1.0" encoding="UTF-8" standalone="yes"?><Relationships xmlns="http://schemas.openxmlformats.org/package/2006/relationships"><Relationship Id="rIdSlide" Type="http://schemas.openxmlformats.org/officeDocument/2006/relationships/slide" Target="../slides/slide19.xml"/><Relationship Id="rIdMaster" Type="http://schemas.openxmlformats.org/officeDocument/2006/relationships/notesMaster" Target="../notesMasters/notesMaster1.xml"/></Relationships>
</file>

<file path=ppt/notesSlides/_rels/notesSlide20.xml.rels><?xml version="1.0" encoding="UTF-8" standalone="yes"?><Relationships xmlns="http://schemas.openxmlformats.org/package/2006/relationships"><Relationship Id="rIdSlide" Type="http://schemas.openxmlformats.org/officeDocument/2006/relationships/slide" Target="../slides/slide20.xml"/><Relationship Id="rIdMaster" Type="http://schemas.openxmlformats.org/officeDocument/2006/relationships/notesMaster" Target="../notesMasters/notesMaster1.xml"/></Relationships>
</file>

<file path=ppt/notesSlides/_rels/notesSlide21.xml.rels><?xml version="1.0" encoding="UTF-8" standalone="yes"?><Relationships xmlns="http://schemas.openxmlformats.org/package/2006/relationships"><Relationship Id="rIdSlide" Type="http://schemas.openxmlformats.org/officeDocument/2006/relationships/slide" Target="../slides/slide21.xml"/><Relationship Id="rIdMaster" Type="http://schemas.openxmlformats.org/officeDocument/2006/relationships/notesMaster" Target="../notesMasters/notesMaster1.xml"/></Relationships>
</file>

<file path=ppt/notesSlides/_rels/notesSlide22.xml.rels><?xml version="1.0" encoding="UTF-8" standalone="yes"?><Relationships xmlns="http://schemas.openxmlformats.org/package/2006/relationships"><Relationship Id="rIdSlide" Type="http://schemas.openxmlformats.org/officeDocument/2006/relationships/slide" Target="../slides/slide22.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What the cheap input taught your architecture to expect.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and retitled 2026-09-06 (was "Cry Me a Free Tier"). 40 minutes, 15 slides, four audience moments, no Q&amp;A. Nobody outside a provider knows its margins and this talk never estimates one; the fixture arithmetic is synthetic. Say that once, on slide 1, then argue.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scripts](../packets/free-tier/script-40min.md) · [Packet](../packets/free-tier/packet.md) · [Runbook section 4](../demos/DEMO-RUNBOOK.md#4-cry-me-a-free-tier) · [Kit](../demos/index.html) · [Evidence](../packets/free-tier/evidence-bank.md)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talk hands the room eight words: externality, induced demand, Jevons paradox, path dependence, moral hazard, credible commitment, asset specificity, real option. Each one is a thing engineers already feel and cannot name in a budget meeting. Slide 15 lists them 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Recheck the dated announcements and the credit offer on slide 4 before every delivery. Regenerate scripts, adaptations and the browser deck with `bun artifacts/speaking-portfolio-expanded/build-talk.ts free-tier`.</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Free electricity for a year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small startup office at night lit by one bare bulb, power cable running out the window to a distant power plant, dark slate background, one amber accent on the bulb,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startup gets free electricity for a year.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does it build?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startup gets free electricity for a year. What does it build? Sit with that for five seconds, because the answer is not "the same thing, but cheaper." It builds a different company. Now: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Swap electricity for inference and that is the whole talk. Here is my one disclaimer, and then I am done qualifying: nobody outside a provider knows its margins, I am not going to guess at one, and every dollar figure in my arithmetic is invented. What I do have is a hundred and fifty years of economists working on exactly this problem in coal, parking, highways and car factories, and they gave it names.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what you are getting today. Eight words. Engineers lose this argument in budget meetings because the best we can say is "it feels wasteful," and finance says "the bill looks fine." These eight words are how you say it so it lands.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first time a bill, a quota, or a rate change broke an assumption in something you built.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Take the five seconds. Actually take them. The silence is the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Four boxes, one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04:30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four separate cardboard boxes in a row, each a different size, one open and empty, dark slate background, amber accent on the open box,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Price paid · Resources consumed · Cost allocated · Value delivered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gap between the last two is why nobody is measuring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boxes. The invoice is the first one. It tells you what you paid and nothing about utilization, depreciation, amortized training, or margin. The second box is what the machine actually burned. The third is how a provider chooses to allocate that internally, which you will never see. The fourth is what the customer got.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gap between what you pay and what you would have been willing to pay has a name: consumer surplus. Yours is enormous right now. That is the pleasant explanation for why nobody in your organization is measuring any of this. When something is dramatically cheaper than it is worth to you, measuring it is not worth the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of these four does your system actually measure, and which does it assume?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Draw the four boxes with your hands. Ask for a show of hands on box two. Count them; it is usually a third of the room.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Why would anyone sell below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04:30 to 07:30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Penetration pricing · Loss leader in a bundle · Predation · It is genuinely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price cannot tell you which. What happens next can.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are four respectable explanations for a low price, and an engineer arguing about this in a meeting should be able to name all four.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Penetration pricing: buy the market now, raise later. Standard, legal, taught in every business school. Loss leader in a bundle: the cheap thing funds the expensive thing next to it, which is what a two-sided market does for a living. Predation: below cost specifically to remove rivals. In US law that is not a vibe, it is a test. Brooke Group, 1993: you need below-cost pricing and a dangerous probability of recoupment. And the fourth explanation, the one that keeps me honest: it is genuinely cheap, and getting cheaper, because the engineering is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useful part. You cannot distinguish these from the price. You can distinguish them from what happens next. Penetration predicts prices rise at renewal, after switching gets hard. Predation predicts a rival disappears and then prices rise. Genuine efficiency predicts prices keep falling without anyone tightening the terms. So watch renewal terms, watch rate limits, watch what happens to the free tier, and stop trying to read a margin off a token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Brooke Group Ltd. v. Brown &amp; Williamson Tobacco Corp., 509 U.S. 209 (1993), on the recoupment requirement in predatory-pricing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Rochet and Tirole (2003), Platform Competition in Two-Sided Markets, Journal of the European Economic Association, on cross-subsidy between sides of a market.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Burn the boats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07:30 to 10:00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$250B incremental Azure services contracted by OpenAI · Microsoft, 28 Oct 2025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More than $100B AWS commitment over ten years · Amazon, 20 Apr 2026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Up to $200K AWS Activate credits · offer checked 5 Sep 2026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numbers everyone quotes. Microsoft announced in October 2025 that OpenAI contracted to purchase an incremental two hundred and fifty billion dollars of Azure services. Amazon announced in April 2026 that Anthropic committed more than a hundred billion over ten years. AWS Activate offers eligible startups up to two hundred thousand in credits.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Everyone reads these as evidence about cost. They are not. They are evidence about strategy, and Thomas Schelling gave us the word in 1960: a credible commitment. You deliberately destroy your own ability to back out, precisely so everyone else updates. Burn the boats. A ten-year contract you cannot walk away from is not a disclosure of your margins. It is a signal that you intend to still be here, aimed at competitors and at customers who are nervous about picking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tells you something about the game underneath. Two well-funded players racing to acquire the same customers, both burning capital, neither able to stop first, is a war of attrition. In that model the price stays low for as long as both sides can pay to keep it there. Note who is not a player in that game. Somebody is buying your free tier, and it is not you. You are not a combatant. You are the terrain.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[Microsoft, 28 Oct 2025](https://blogs.microsoft.com/blog/2025/10/28/the-next-chapter-of-the-microsoft-openai-partnership/) · [Amazon, Apr 2026](https://www.aboutamazon.com/news/company-news/amazon-invests-additional-5-billion-anthropic-ai) · [AWS Activate, accessed 5 Sep 2026](https://aws.amazon.com/startups/credits/).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Schelling (1960), The Strategy of Conflict, Harvard University Press. Nobel 2005.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Recheck all three items the week of the talk. If a number has moved, the frame still works; say the new number. Specifically: Anthropic's IPO prospectus is expected late September 2026 and may disclose contract detail behind the $100B AWS commitment, so that figure or its framing can move. Do not confuse it with the adjacent Microsoft/OpenAI restructuring figures.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Free parking was never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10:00 to 12:30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an enormous empty parking lot at dusk with a tiny storefront at the far edge, painted lines stretching to the horizon, dark slate background, amber accent on the storefront window,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driver sees no meter, so demand looks infinite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cost moves into rents, prices, and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one: externality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Shoup spent a career on the least glamorous subject in urban economics and was right about all of it. Cities required developers to build minimum parking. Nobody paid at the meter, so the cost went somewhere else: into rents, into retail prices, into land that became asphalt. And because drivers saw no price, demand looked infinite, so the minimums grew to match.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your first word: externality. A cost that is real, and paid, but not by the person making the decision. It does not vanish. It relocates, and it usually relocates somewhere you are not looking.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the environment reorganized around it. Buildings spread apart, so density fell. Formats that need a big lot won; the storefront that could not fit one never opened. Every apartment carried a parking space, paid for by tenants who do not drive. Transit lost, because everything was far apart and parking was free at the other end. Every single step was locally reasonable.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Shoup (2005, updated 2011), The High Cost of Free Parking, American Planning Association. Also Shoup (2011), [Free parking or free markets](https://www.accessmagazine.org/spring-2011/free-parking-free-markets/), ACCESS Magazine.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Jevons, coal, and the extra lane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12:30 to 15:00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two lines on a chart crossing, one falling steeply and one rising, drawn as ribbons, dark slate background, amber accent on the rising ribbon,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1865: better engines burned more coal, not 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Add a lane, get traffic. Elasticity near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Spend = price × jobs × calls per job × tokens per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1865 William Stanley Jevons noticed something that annoyed everyone. Steam engines had gotten dramatically more efficient, and Britain was burning far more coal than before, not less. Efficiency made coal useful for more things, so people used it for more things. That is the Jevons paradox, and it is word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transport version is word three, induced demand. Add a lane to a congested highway and you get more traffic. Duranton and Turner measured it across US cities in 2011 and found the elasticity of driving with respect to lane-kilometres is roughly one. Build ten percent more road, get ten percent more driving. The congestion comes 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your per-token price has fallen off a cliff over the last few years, and your bill went up. Everyone in this room has had that conversation with a CFO and lost it. You are not being gouged and you did not do anything wrong. Spend is price times consumption, and consumption is jobs times calls per job times tokens per call. Cheapness moved every term on the right. Epoch's data through 2025 shows the price of a fixed capability falling fast and very unevenly by task, which is real and worth knowing, and is also exactly the condition under which total spend rises.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Both things can be fine. A falling price and a growing bill coexist comfortably as long as customer value grows faster. That is the relationship to measure, and almost nobody measures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Cottier, Snodin, Owen, Adamczewski (Epoch AI, March 2025), [LLM inference prices have fallen rapidly but unequally across tasks](https://epoch.ai/data-insights/llm-inference-price-trends). Check for a newer edition before each delivery.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Jevons, coal, and the extra lane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12:30 to 15:00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two lines on a chart crossing, one falling steeply and one rising, drawn as ribbons, dark slate background, amber accent on the rising ribbon,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1865: better engines burned more coal, not 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Add a lane, get traffic. Elasticity near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Spend = price × jobs × calls per job × tokens per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1865 William Stanley Jevons noticed something that annoyed everyone. Steam engines had gotten dramatically more efficient, and Britain was burning far more coal than before, not less. Efficiency made coal useful for more things, so people used it for more things. That is the Jevons paradox, and it is word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transport version is word three, induced demand. Add a lane to a congested highway and you get more traffic. Duranton and Turner measured it across US cities in 2011 and found the elasticity of driving with respect to lane-kilometres is roughly one. Build ten percent more road, get ten percent more driving. The congestion comes 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your per-token price has fallen off a cliff over the last few years, and your bill went up. Everyone in this room has had that conversation with a CFO and lost it. You are not being gouged and you did not do anything wrong. Spend is price times consumption, and consumption is jobs times calls per job times tokens per call. Cheapness moved every term on the right. Epoch's data through 2025 shows the price of a fixed capability falling fast and very unevenly by task, which is real and worth knowing, and is also exactly the condition under which total spend rises.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Both things can be fine. A falling price and a growing bill coexist comfortably as long as customer value grows faster. That is the relationship to measure, and almost nobody measures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Cottier, Snodin, Owen, Adamczewski (Epoch AI, March 2025), [LLM inference prices have fallen rapidly but unequally across tasks](https://epoch.ai/data-insights/llm-inference-price-trends). Check for a newer edition before each delivery.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Now do it to software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15:00 to 18:00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the same aerial strip mall, but the parking lots are replaced with glowing server racks and the small buildings are tiny code windows, dark slate background, amber accent on the code windows,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Density: a frontier call where a lookup would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Business mix: products viable only at today's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Bundled rent: unlimited usage promised in a contract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Small format: deterministic code loses the design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the same chain through your stack. Density: a frontier call where a cache, a regex, or a dictionary lookup would have done, because the call looked free. Longer context, more retries, more competing branches, frontier by default. Business mix: products whose unit economics only work at promotional rates, crowding out products that would have worked at any price. Bundled rent: unlimited-usage promises to customers, baked into a contract, priced against an input you do not control. And the small format: boring deterministic code losing the design review to "just ask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call it architectural obesity. It is not that any one of those calls is wrong. Redundancy is worth paying for, big context is worth paying for, three parallel attempts are sometimes exactly right. The failure is that nobody measured what the extra call bought, because at these prices nobody had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design review where "inference is basically free" ended the discussion.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for one show of hands: who has shipped a frontier call where a lookup would do? Then admit you have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lots are already built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18:00 to 20:00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three concentric ripple rings on dark water from a single coin drop, outermost ring reaching the frame edge, dark slate background, amber accent on the coin,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Repealing the parking minimum does not remove the asphalt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four: path dependence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test: try to remove one model call and count the hours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should worry you more than the price. Shoup won. Cities have been repealing parking minimums for a decade. The lots are still there. The businesses that could have opened on that land still did not open. The environment outlived the rule that produced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path dependence, word four: where you can get to depends on how you got here, and reversal costs more than the original decision did. Paul David made the argument famous with QWERTY in 1985, and I want to be straight with you, because it matters for how you use this: economists have been fighting about that example ever since. Liebowitz and Margolis published a paper in 1990 called The Fable of the Keys arguing the evidence was thin. The concept survives. The canonical example is contested.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Which is instructive, because path dependence is very easy to assert and very hard to prove, including about your own codebase. So do not assert it. Measure it. Pick one model call in your product and try to remove it. Count the hours. That number is your lock-in, and it is the only version of this argument that will survive contact with your staff engineer.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David (1985), Clio and the Economics of QWERTY, American Economic Review 75(2). Contested by Liebowitz and Margolis (1990), The Fable of the Keys, Journal of Law and Economics 33(1). Arthur (1989), Competing Technologies, Increasing Returns, and Lock-In by Historical Events, The Economic Journal 99(394).</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Whoever chooses is not whoever pays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20:00 to 22:00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five: moral hazard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architecture is chosen in a design review. The bill arrives 60 days later, somewhere else.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Shoup's fix was never a ban. It was a meter.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five, and this one is about your org chart, not your vendor. Moral hazard: when the person making a decision does not bear its cost, they make a different decision. Not a worse person. A different decision.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engineer picks the architecture in a design review on a Tuesday. Finance sees the consequence in an aggregated line item sixty days later, in a different building, attributed to nothing in particular. Nobody in that loop is behaving badly. The meter is invisible at the moment of choice, so consumption is not a moral failure, it is the equilibrium. This is the same structure as the parking lot, running inside your company.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And notice what Shoup actually recommended, because everyone gets this wrong. He never said ban parking. He said charge the right price for it, and give the money back to the neighborhood. Same here. The fix is not austerity and it is not a policy forbidding the model. It is putting the number in front of the person making the choice, at the moment they make it. Estimated cost per accepted outcome, in the design doc, next to the latency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Holmstrom (1979), Moral Hazard and Observability, Bell Journal of Economics 10(1), 74 to 91. Nobel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who can see a per-feature inference cost without filing a ticket. Very few hands. That is the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Doubling on a Tuesday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22:00 to 25:00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long division symbol drawn large, a pile of coins above the line and a single green checkmark below it, dark slate background, amber accent on the checkmark,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Cost per accepted outcome = total spend ÷ accepted jobs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75% accepted means you pay 1.33× sticker. 45% means 2.22×.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30-point acceptance drop costs exactly what doubling every token price costs.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any dollar figure, define the denominator. An accepted outcome meets a rule you wrote down. An impressive answer that a human quietly repairs afterwards is not a success, it is a success plus a hidden salary. Count inference, tools, infrastructure and recovery. A blended token rate is not a unit economics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fixture, synthetic and deliberately small: a thousand attempts a month, two cents of inference and one cent of everything else per attempt, seventy-five percent accepted. Thirty dollars, seven hundred and fifty accepted outcomes, four cents each.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part worth remembering. Divide by the acceptance rate and you get a multiplier on your sticker price. Seventy-five percent acceptance means you are paying one and a third times the list price for every result you keep. Forty-five percent means two point two. Run those two numbers together: dropping from seventy-five to forty-five percent acceptance costs you exactly the same as every token in your stack doubling in price overnight. One of those is on the front page. The other one is a Tuesday.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Do the division on stage. Thirty seconds: name your product's accepted outcome in one sentence. If that is hard, the economics conversation just found a product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Turn the dial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25:00 to 29:00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single dial being turned by a hand, the needle sweeping from 1x to 10x, a bar chart behind it rising steeply, dark slate background, amber accent on the needle,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Sensitivity, not prediction.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Multiply by your volume before you feel anything about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Inference price | Monthly cost | Cost / accepted outcome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 | --- | ---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1× | $30 | $0.040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2× | $50 | $0.067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5× | $110 | $0.147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10× | $210 | $0.280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one-times row, then the ten-times row. Then move the acceptance rate and watch it beat the price change, which is the thing nobody expects.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multiply by your own volume, because the table is meaningless without it. At a thousand attempts a month this entire talk is not worth an engineer's afternoon and you should go build features. At a million attempts a month the same four rows are a hiring plan. The most expensive mistake available in this room is not overspending on inference. It is spending three weeks optimizing a thirty-dollar bill because a conference talk made you anxious.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Runbook section 4. Two-minute compression: the 1× and 10× rows only. Ask for 45 seconds: which assumption would you attack first before funding an optimization project?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Turn the dial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25:00 to 29:00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single dial being turned by a hand, the needle sweeping from 1x to 10x, a bar chart behind it rising steeply, dark slate background, amber accent on the needle,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Sensitivity, not prediction.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Multiply by your volume before you feel anything about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Inference price | Monthly cost | Cost / accepted outcome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 | --- | ---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1× | $30 | $0.040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2× | $50 | $0.067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5× | $110 | $0.147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10× | $210 | $0.280 |</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one-times row, then the ten-times row. Then move the acceptance rate and watch it beat the price change, which is the thing nobody expects.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multiply by your own volume, because the table is meaningless without it. At a thousand attempts a month this entire talk is not worth an engineer's afternoon and you should go build features. At a million attempts a month the same four rows are a hiring plan. The most expensive mistake available in this room is not overspending on inference. It is spending three weeks optimizing a thirty-dollar bill because a conference talk made you anxious.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Runbook section 4. Two-minute compression: the 1× and 10× rows only. Ask for 45 seconds: which assumption would you attack first before funding an optimization project?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 are not shopping, you are contracting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29:00 to 32:00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boxing ring with one empty corner stool under a spotlight, dark slate background, amber spotlight accent,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six: asset specificity. Word seven: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An investment worth a lot inside this relationship and little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Your prompts, evals, fine-tunes, and that unlimited-usage clause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the slide I would keep if you cut every other one. Oliver Williamson won a Nobel in 2009 for working out what happens when two parties make investments that only pay off inside their relationship. He called it asset specificity, and the trouble it produces is called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shape is always the same. You make an investment that is worth a great deal here and very little anywhere else. That surplus, the part that exists only because you are locked in, is a prize, and at renewal your counterparty can reach for it. Nobody has to be a villain. It is simply what the structure permits, and rational parties do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inventory your specific assets. Prompts tuned against one model's quirks. An eval suite that only means anything against one provider's outputs. A fine-tune. A latency budget that assumes one serving stack. And the sharpest one, an unlimited-usage promise you made to your customers, priced against an input you do not control and cannot cap. Every one of those is worth more inside the relationship than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stop thinking of this as shopping, where the customer holds the power because they can leave. You are contracting, with a much better capitalized counterparty, and your architecture is the collateral. That reframe is the whole talk, and everything after this is just a way of reducing specificity or pricing the exposure.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 are not shopping, you are contracting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29:00 to 32:00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a boxing ring with one empty corner stool under a spotlight, dark slate background, amber spotlight accent,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six: asset specificity. Word seven: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An investment worth a lot inside this relationship and little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Your prompts, evals, fine-tunes, and that unlimited-usage clause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the slide I would keep if you cut every other one. Oliver Williamson won a Nobel in 2009 for working out what happens when two parties make investments that only pay off inside their relationship. He called it asset specificity, and the trouble it produces is called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shape is always the same. You make an investment that is worth a great deal here and very little anywhere else. That surplus, the part that exists only because you are locked in, is a prize, and at renewal your counterparty can reach for it. Nobody has to be a villain. It is simply what the structure permits, and rational parties do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inventory your specific assets. Prompts tuned against one model's quirks. An eval suite that only means anything against one provider's outputs. A fine-tune. A latency budget that assumes one serving stack. And the sharpest one, an unlimited-usage promise you made to your customers, priced against an input you do not control and cannot cap. Every one of those is worth more inside the relationship than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stop thinking of this as shopping, where the customer holds the power because they can leave. You are contracting, with a much better capitalized counterparty, and your architecture is the collateral. That reframe is the whole talk, and everything after this is just a way of reducing specificity or pricing the exposure.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Reversible is a line item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32:00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the same bar chart with every bar cut in half by a horizontal slice, the removed top halves fading away, dark slate background, amber accent on the cut line,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eight: real option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option has value. It also has a premium: abstraction tax, eval upkeep, rehearsal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Same project, different answer, depending on which world you are 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Everyone in this field says "keep it reversible" like it is a personality trait. It is not. It is an option, in the financial sense, and Dixit and Pindyck wrote the book on valuing exactly this kind of flexibility under uncertainty. The right to switch providers has a value that rises with how uncertain the price is and how exposed you are. It also has a premium you pay every month: the abstraction tax, a second eval suite, rehearsal time, and a generic wrapper that hides real differences between models and occasionally makes everything worse.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do not argue about portability on vibes. Price it. Your exposure is the three prices on the next slide times your volume. Your premium is the engineering you would spend. Compare the two numbers.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Same for optimization. Take a cache or a router that halves inference per attempt at the same acceptance rate. In our fixture it saves one cent per attempt at one-times pricing and ten cents at ten-times. Divide your build cost by that, divide by monthly attempts, and you have payback in months. At a million attempts a month, ten cents each is a hundred thousand dollars a month and you should have started yesterday. At a thousand attempts a month it is a hundred dollars, ten at today's price, and you should never do it. Identical project. The sweep is what tells you which world you are living in. A router that costs more to run than it saves is not better engineering.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Dixit and Pindyck (1994), Investment Under Uncertainty, Princeton University Press.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Reversible is a line item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32:00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the same bar chart with every bar cut in half by a horizontal slice, the removed top halves fading away, dark slate background, amber accent on the cut line,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Word eight: real option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option has value. It also has a premium: abstraction tax, eval upkeep, rehearsal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Same project, different answer, depending on which world you are 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Everyone in this field says "keep it reversible" like it is a personality trait. It is not. It is an option, in the financial sense, and Dixit and Pindyck wrote the book on valuing exactly this kind of flexibility under uncertainty. The right to switch providers has a value that rises with how uncertain the price is and how exposed you are. It also has a premium you pay every month: the abstraction tax, a second eval suite, rehearsal time, and a generic wrapper that hides real differences between models and occasionally makes everything worse.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do not argue about portability on vibes. Price it. Your exposure is the three prices on the next slide times your volume. Your premium is the engineering you would spend. Compare the two numbers.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Same for optimization. Take a cache or a router that halves inference per attempt at the same acceptance rate. In our fixture it saves one cent per attempt at one-times pricing and ten cents at ten-times. Divide your build cost by that, divide by monthly attempts, and you have payback in months. At a million attempts a month, ten cents each is a hundred thousand dollars a month and you should have started yesterday. At a thousand attempts a month it is a hundred dollars, ten at today's price, and you should never do it. Identical project. The sweep is what tells you which world you are living in. A router that costs more to run than it saves is not better engineering.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Dixit and Pindyck (1994), Investment Under Uncertainty, Princeton University Press.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Three prices for the next design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38:00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three price tags hanging from strings at different heights, the highest one slightly singed at the edge, dark slate background, amber accent on the singed tag,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What we pay today · What we pay without the offer · What we can survive paying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Record gross usage separately from credits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Keep an acceptance suite · Rehearse one replacement · Price the portability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numbers, and if you take nothing else, take these. The effective rate you pay today. The gross rate with no promotional treatment, which is your exposure if the offer ends. And the highest rate at which this product still makes sense, which is the number nobody has ever calculated and everybody should. Sweep downward too, so you can cancel the optimization project when efficiency makes it pointless.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actions, and each one is one of the words. Record gross consumption separately from credits, so price and subsidy stop being the same number on your dashboard. Keep a small representative acceptance suite, because that is the strike test on your option. Rehearse one provider replacement before you need it, latency and recovery included, because that is how you reduce asset specificity from a slide into a fact. And put the estimated cost per accepted outcome in the design doc next to the latency budget, because that is the meter, and the meter is the fix for moral hazard.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45 seconds in pairs on the third price. Most rooms have never computed it and the silence is useful.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Cheap intelligence changes incentives first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38:00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&lt;!-- image: the bare bulb from slide 1 now on a desk beside a small solar panel and a battery, the long cable coiled unused, dark slate background, amber accent on the bulb, flat vector, no text --&gt;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Externality · Induced demand · Jevons paradox · Path dependence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Moral hazard · Credible commitment · Asset specificity · Real option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Build for more than one price.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electricity. Use the cheap input. It is genuinely great and I am not asking anyone to be miserable about it. Just understand what it encouraged you to build, and keep the expensive decisions reversible while you find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are your eight words. Externality, because the cost moved rather than vanished. Induced demand and Jevons, because cheaper made you use more, not less. Path dependence, because the lots stay built. Moral hazard, because whoever chooses is not whoever pays. Credible commitment, because those contracts are moves in a game and not disclosures about it. Asset specificity, because your architecture is worth more here than anywhere else. And real option, because reversibility is something you buy, not something you feel.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 low prices are temporary. Some are a preview of genuinely cheaper production. You do not have to know which. You have to measure outcomes and keep the big choices reversible either 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Cheap intelligence changes incentives before it changes organizations.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Say the last line slowly, then stop talking. For questions, jump back to the sweep table if this route kept slide 11.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Brooke Group Ltd. v. Brown &amp; Williamson Tobacco Corp., 509 U.S. 209 (1993), on the recoupment requirement in predatory-pricing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Rochet and Tirole (2003), Platform Competition in Two-Sided Markets, Journal of the European Economic Association, on cross-subsidy between sides of a market.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[Microsoft, 28 Oct 2025](https://blogs.microsoft.com/blog/2025/10/28/the-next-chapter-of-the-microsoft-openai-partnership/) · [Amazon, Apr 2026](https://www.aboutamazon.com/news/company-news/amazon-invests-additional-5-billion-anthropic-ai) · [AWS Activate, accessed 5 Sep 2026](https://aws.amazon.com/startups/credits/).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Schelling (1960), The Strategy of Conflict, Harvard University Press. Nobel 2005.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Shoup (2005, updated 2011), The High Cost of Free Parking, American Planning Association. Also Shoup (2011), [Free parking or free markets](https://www.accessmagazine.org/spring-2011/free-parking-free-markets/), ACCESS Magazine.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Cottier, Snodin, Owen, Adamczewski (Epoch AI, March 2025), [LLM inference prices have fallen rapidly but unequally across tasks](https://epoch.ai/data-insights/llm-inference-price-trends). Check for a newer edition before each delivery.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David (1985), Clio and the Economics of QWERTY, American Economic Review 75(2). Contested by Liebowitz and Margolis (1990), The Fable of the Keys, Journal of Law and Economics 33(1). Arthur (1989), Competing Technologies, Increasing Returns, and Lock-In by Historical Events, The Economic Journal 99(394).</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Holmstrom (1979), Moral Hazard and Observability, Bell Journal of Economics 10(1), 74 to 91. Nobel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Dixit and Pindyck (1994), Investment Under Uncertainty, Princeton University Press.</a:t>
            </a:r>
            <a:endParaRPr lang="en-US" sz="120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Brooke Group Ltd. v. Brown &amp; Williamson Tobacco Corp., 509 U.S. 209 (1993), on the recoupment requirement in predatory-pricing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Rochet and Tirole (2003), Platform Competition in Two-Sided Markets, Journal of the European Economic Association, on cross-subsidy between sides of a market.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[Microsoft, 28 Oct 2025](https://blogs.microsoft.com/blog/2025/10/28/the-next-chapter-of-the-microsoft-openai-partnership/) · [Amazon, Apr 2026](https://www.aboutamazon.com/news/company-news/amazon-invests-additional-5-billion-anthropic-ai) · [AWS Activate, accessed 5 Sep 2026](https://aws.amazon.com/startups/credits/).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Schelling (1960), The Strategy of Conflict, Harvard University Press. Nobel 2005.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Shoup (2005, updated 2011), The High Cost of Free Parking, American Planning Association. Also Shoup (2011), [Free parking or free markets](https://www.accessmagazine.org/spring-2011/free-parking-free-markets/), ACCESS Magazine.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Cottier, Snodin, Owen, Adamczewski (Epoch AI, March 2025), [LLM inference prices have fallen rapidly but unequally across tasks](https://epoch.ai/data-insights/llm-inference-price-trends). Check for a newer edition before each delivery.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David (1985), Clio and the Economics of QWERTY, American Economic Review 75(2). Contested by Liebowitz and Margolis (1990), The Fable of the Keys, Journal of Law and Economics 33(1). Arthur (1989), Competing Technologies, Increasing Returns, and Lock-In by Historical Events, The Economic Journal 99(394).</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Holmstrom (1979), Moral Hazard and Observability, Bell Journal of Economics 10(1), 74 to 91. Nobel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Dixit and Pindyck (1994), Investment Under Uncertainty, Princeton University Press.</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0.xml"/></Relationships>
</file>

<file path=ppt/slides/_rels/slide2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1.xml"/></Relationships>
</file>

<file path=ppt/slides/_rels/slide2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Buy Me a Free Tier</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40-minute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15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15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Free electricity for a year</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startup gets free electricity for a year.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does it build? What survives when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offer ends?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startup gets free electricity for a year.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does it build? Sit with that for 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seconds, because the answer is not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thing, but cheaper." It builds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company. Now: what survives when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offer ends?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Swap electricity for inference and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whole talk. Here is my one disclaimer,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then I am done qualifying: nobody</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outside a provider knows its margins, I 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going to guess at one, and every dollar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figure in my arithmetic is invented. What 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have is a hundred and fifty years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economists working on exactly this problem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coal, parking, highways and car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factories, and they gave it names.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what you are getting today. Eight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words. Engineers lose this argument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budget meetings because the best we can say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"it feels wasteful," and finance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bill looks fine." These eight words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how you say it so it lands.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15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Four boxes, one invoice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Price paid · Resources consumed ·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allocated · Value delivered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gap between the last two is why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measuring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boxes. The invoice is the first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tells you what you paid and nothing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utilization, depreciation, amortized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training, or margin. The second box is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machine actually burned. The third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how a provider chooses to allocate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internally, which you will never see.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fourth is what the customer got.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gap between what you pay and what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have been willing to pay has a name: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consumer surplus. Yours is enormous right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That is the pleasant explanation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why nobody in your organization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measuring any of this. When something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dramatically cheaper than it is worth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measuring it is not worth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afternoon.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of these four does your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measure, and which does it assume?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15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Why would anyone sell below cost?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Penetration pricing · Loss leader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bundle · Predation · It is genuinely cheap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price cannot tell you which.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happens next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are four respectable explanations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low price, and an engineer arguing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in a meeting should be able to name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four.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Penetration pricing: buy the market now,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raise later. Standard, legal, taught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business school. Loss leader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bundle: the cheap thing funds the expensive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thing next to it, which is what a two-sided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market does for a living. Predation: below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 specifically to remove rivals. In 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law that is not a vibe, it is a test.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Brooke Group, 1993: you need below-cost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pricing and a dangerous probability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recoupment. And the fourth explanation,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that keeps me honest: it is genuinely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cheap, and getting cheaper, because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engineering is real.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the useful part. You cannot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distinguish these from the price. You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distinguish them from what happens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Penetration predicts prices rise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renewal, after switching gets hard.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Predation predicts a rival disappears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prices rise. Genuine efficiency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predicts prices keep falling without anyone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tightening the terms. So watch renewal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terms, watch rate limits, watch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happens to the free tier, and stop trying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read a margin off a token rate.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15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Burn the boats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$250B incremental Azure services contracted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OpenAI · Microsoft, 28 Oct 2025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More than $100B AWS commitment over 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years · Amazon, 20 Apr 2026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Up to $200K AWS Activate credits · offer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checked 5 Sep 2026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numbers everyone quotes. Microsoft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announced in October 2025 that OpenAI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contracted to purchase an incremental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hundred and fifty billion dollars of Azure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services. Amazon announced in April 2026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Anthropic committed more than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hundred billion over ten years. AWS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Activate offers eligible startups up to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hundred thousand in credits.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Everyone reads these as evidence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 They are not. They are evidence about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strategy, and Thomas Schelling gave us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 in 1960: a credible commitment.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deliberately destroy your own ability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 out, precisely so everyone else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updates. Burn the boats. A ten-year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contract you cannot walk away from is not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disclosure of your margins. It is a signal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you intend to still be here, aimed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competitors and at customers who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nervous about picking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tells you something about the game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underneath. Two well-funded players racing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acquire the same customers, both burning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capital, neither able to stop first, is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war of attrition. In that model the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stays low for as long as both sides can pay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keep it there. Note who is not a player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that game. Somebody is buying your free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tier, and it is not you. You are not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combatant. You are the terrain.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15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Free parking was never free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driver sees no meter, so demand looks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infinite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cost moves into rents, prices, and land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 one: externality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Donald Shoup spent a career on the least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glamorous subject in urban economics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was right about all of it. Cities required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developers to build minimum parking.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paid at the meter, so the cost went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somewhere else: into rents, into retail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prices, into land that became asphalt.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drivers saw no price, demand looked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infinite, so the minimums grew to match.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That is your first word: externality.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 that is real, and paid, but not by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person making the decision. It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vanish. It relocates, and it usually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relocates somewhere you are not looking.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the environment reorganized around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Buildings spread apart, so density fell.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Formats that need a big lot won;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storefront that could not fit one never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opened. Every apartment carried a parking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space, paid for by tenants who do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drive. Transit lost, because everything was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far apart and parking was free at the 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end. Every single step was locally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reasonable.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15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Jevons, coal, and the extra lane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1865: better engines burned more coal,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 a lane, get traffic. Elasticity near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Spend = price × jobs × calls per job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tokens per 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1865 William Stanley Jevons noticed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that annoyed everyone. Steam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engines had gotten dramatically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efficient, and Britain was burning far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coal than before, not less. Efficiency made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coal useful for more things, so people used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for more things. That is the Jevons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paradox, and it is word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transport version is word three,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induced demand. Add a lane to a congested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highway and you get more traffic. Duranton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and Turner measured it across US cities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2011 and found the elasticity of driving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respect to lane-kilometres is roughly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Build ten percent more road, get 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more driving. The congestion comes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your per-token price has fallen off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cliff over the last few years, and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bill went up. Everyone in this room has had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conversation with a CFO and lost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are not being gouged and you did not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anything wrong. Spend is price times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consumption, and consumption is jobs times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calls per job times tokens per 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Cheapness moved every term on the right.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Epoch's data through 2025 shows the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a fixed capability falling fast and 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unevenly by task, which is real and worth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knowing, and is also exactly the condition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under which total spend rises.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15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Jevons, coal, and the extra lane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Both things can be fine. A falling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a growing bill coexist comfortably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long as customer value grows faster. That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is the relationship to measure, and almost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measures it.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15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Now do it to software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Density: a frontier call where a lookup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Business mix: products viable only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today's 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Bundled rent: unlimited usage promised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contract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format: deterministic code loses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design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Walk the same chain through your stack.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Density: a frontier call where a cache,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regex, or a dictionary lookup would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done, because the call looked free. Longer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context, more retries, more competing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branches, frontier by default. Business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mix: products whose unit economics only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at promotional rates, crowding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products that would have worked at any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 Bundled rent: unlimited-usage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promises to customers, baked into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contract, priced against an input you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control. And the small format: boring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deterministic code losing the design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"just ask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 call it architectural obesity. It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any one of those calls is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Redundancy is worth paying for, big context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worth paying for, three parallel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attempts are sometimes exactly right.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failure is that nobody measured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extra call bought, because at these prices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had to.</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15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lots are already built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Repealing the parking minimum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remove the asphalt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 four: path dependence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test: try to remove one model call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 the hours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the part that should worry you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than the price. Shoup won. Cities have been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repealing parking minimums for a decade.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lots are still there. The businesses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could have opened on that land still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did not open. The environment outlived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rule that produced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path dependence, word four: where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can get to depends on how you got 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reversal costs more than the original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 did. Paul David made the argument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famous with QWERTY in 1985, and I want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 straight with you, because it matters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how you use this: economists have been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fighting about that example ever since.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Liebowitz and Margolis published a paper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1990 called The Fable of the Keys arguing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evidence was thin. The concept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survives. The canonical example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contested.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is instructive, because path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dependence is very easy to assert and 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hard to prove, including about your 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codebase. So do not assert it. Measure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Pick one model call in your product and try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remove it. Count the hours. That number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your lock-in, and it is the only version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this argument that will survive contact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your staff engineer.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15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Whoever chooses is not whoever pays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Word five: moral hazard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architecture is chosen in a design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The bill arrives 60 days later,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somewhere else.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Shoup's fix was never a ban. It was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 five, and this one is about your org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chart, not your vendor. Moral hazard: when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person making a decision does not bear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its cost, they make a different decision.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 worse person. A different decision.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engineer picks the architecture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design review on a Tuesday. Finance sees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consequence in an aggregated line item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sixty days later, in a different building,</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attributed to nothing in particular. Nobody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that loop is behaving badly. The meter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invisible at the moment of choice, so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consumption is not a moral failure,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equilibrium. This is the same structure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 the parking lot, running inside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notice what Shoup actually recommended,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everyone gets this wrong. He never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said ban parking. He said charge the right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 for it, and give the money back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neighborhood. Same here. The fix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austerity and it is not a policy forbidding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model. It is putting the number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front of the person making the choice,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moment they make it. Estimated cost per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accepted outcome, in the design doc,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the latency budget.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15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Doubling on a Tuesday</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Cost per accepted outcome = total spend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accepted jobs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75% accepted means you pay 1.33× sticker.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45% means 2.22×.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30-point acceptance drop costs exactly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doubling every token price costs.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any dollar figure, define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denominator. An accepted outcome meets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rule you wrote down. An impressive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a human quietly repairs afterwards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 success, it is a success plus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hidden salary. Count inference, tools,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infrastructure and recovery. A blended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token rate is not a unit economics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fixture, synthetic and deliberately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a thousand attempts a month, two</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cents of inference and one cent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everything else per attempt, seventy-five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accepted. Thirty dollars, seven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hundred and fifty accepted outcomes, four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cents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the part worth remembering. Divide by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acceptance rate and you get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multiplier on your sticker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Seventy-five percent acceptance means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paying one and a third times the list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 for every result you keep. Forty-five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means two point two. Run those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numbers together: dropping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seventy-five to forty-five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acceptance costs you exactly the same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token in your stack doubling in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overnight. One of those is on the front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page. The other one is a Tuesday.</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15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Turn the dial</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Sensitivity, not prediction.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Multiply by your volume before you feel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anything about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 the one-times row, then the ten-times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row. Then move the acceptance rate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 it beat the price change, which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thing nobody expects.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multiply by your own volume, because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table is meaningless without it. At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thousand attempts a month this entire talk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not worth an engineer's afternoon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should go build features. At a million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attempts a month the same four rows are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hiring plan. The most expensive mistake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available in this room is not overspending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inference. It is spending three weeks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optimizing a thirty-dollar bill because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conference talk made you anxious.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TABLE</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Turn the dial</a:t>
            </a:r>
            <a:endParaRPr lang="en-US" sz="2550"/>
          </a:p>
        </p:txBody>
      </p:sp>
      <p:graphicFrame>
        <p:nvGraphicFramePr>
          <p:cNvPr id="4" name="Editable table"/>
          <p:cNvGraphicFramePr/>
          <p:nvPr/>
        </p:nvGraphicFramePr>
        <p:xfrm>
          <a:off x="457200" y="1905000"/>
          <a:ext cx="9144000" cy="2302669"/>
        </p:xfrm>
        <a:graphic>
          <a:graphicData uri="http://schemas.openxmlformats.org/drawingml/2006/main/table">
            <a:tbl>
              <a:tblPr firstRow="1" bandRow="0"/>
              <a:tblGrid>
                <a:gridCol w="3048000"/>
                <a:gridCol w="3048000"/>
                <a:gridCol w="3048000"/>
              </a:tblGrid>
              <a:tr h="460534">
                <a:tc>
                  <a:txBody>
                    <a:bodyPr wrap="none" lIns="0" tIns="0" rIns="0" bIns="0"/>
                    <a:lstStyle/>
                    <a:p>
                      <a:pPr marL="0" indent="0">
                        <a:lnSpc>
                          <a:spcPts val="2126"/>
                        </a:lnSpc>
                        <a:spcAft>
                          <a:spcPts val="0"/>
                        </a:spcAft>
                        <a:buNone/>
                      </a:pPr>
                      <a:r>
                        <a:rPr lang="en-US" sz="1575" b="1">
                          <a:solidFill>
                            <a:srgbClr val="246957"/>
                          </a:solidFill>
                          <a:latin typeface="Arial"/>
                          <a:ea typeface="Arial"/>
                          <a:cs typeface="Arial"/>
                        </a:rPr>
                        <a:t xml:space="preserve">Inference price</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1">
                          <a:solidFill>
                            <a:srgbClr val="246957"/>
                          </a:solidFill>
                          <a:latin typeface="Arial"/>
                          <a:ea typeface="Arial"/>
                          <a:cs typeface="Arial"/>
                        </a:rPr>
                        <a:t xml:space="preserve">Monthly cost</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1">
                          <a:solidFill>
                            <a:srgbClr val="246957"/>
                          </a:solidFill>
                          <a:latin typeface="Arial"/>
                          <a:ea typeface="Arial"/>
                          <a:cs typeface="Arial"/>
                        </a:rPr>
                        <a:t xml:space="preserve">Cost / accepted outcome</a:t>
                      </a:r>
                      <a:endParaRPr lang="en-US" sz="1575"/>
                    </a:p>
                  </a:txBody>
                  <a:tcPr marL="95250" marR="95250" marT="95250" marB="95250">
                    <a:lnB w="6350">
                      <a:solidFill>
                        <a:srgbClr val="CBD2CF"/>
                      </a:solidFill>
                    </a:lnB>
                    <a:noFill/>
                  </a:tcPr>
                </a:tc>
              </a:tr>
              <a:tr h="460534">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1×</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$30</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$0.040</a:t>
                      </a:r>
                      <a:endParaRPr lang="en-US" sz="1575"/>
                    </a:p>
                  </a:txBody>
                  <a:tcPr marL="95250" marR="95250" marT="95250" marB="95250">
                    <a:lnB w="6350">
                      <a:solidFill>
                        <a:srgbClr val="CBD2CF"/>
                      </a:solidFill>
                    </a:lnB>
                    <a:noFill/>
                  </a:tcPr>
                </a:tc>
              </a:tr>
              <a:tr h="460534">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2×</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$50</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$0.067</a:t>
                      </a:r>
                      <a:endParaRPr lang="en-US" sz="1575"/>
                    </a:p>
                  </a:txBody>
                  <a:tcPr marL="95250" marR="95250" marT="95250" marB="95250">
                    <a:lnB w="6350">
                      <a:solidFill>
                        <a:srgbClr val="CBD2CF"/>
                      </a:solidFill>
                    </a:lnB>
                    <a:noFill/>
                  </a:tcPr>
                </a:tc>
              </a:tr>
              <a:tr h="460534">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5×</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$110</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$0.147</a:t>
                      </a:r>
                      <a:endParaRPr lang="en-US" sz="1575"/>
                    </a:p>
                  </a:txBody>
                  <a:tcPr marL="95250" marR="95250" marT="95250" marB="95250">
                    <a:lnB w="6350">
                      <a:solidFill>
                        <a:srgbClr val="CBD2CF"/>
                      </a:solidFill>
                    </a:lnB>
                    <a:noFill/>
                  </a:tcPr>
                </a:tc>
              </a:tr>
              <a:tr h="460534">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10×</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$210</a:t>
                      </a:r>
                      <a:endParaRPr lang="en-US" sz="1575"/>
                    </a:p>
                  </a:txBody>
                  <a:tcPr marL="95250" marR="95250" marT="95250" marB="95250">
                    <a:lnB w="6350">
                      <a:solidFill>
                        <a:srgbClr val="CBD2CF"/>
                      </a:solidFill>
                    </a:lnB>
                    <a:noFill/>
                  </a:tcPr>
                </a:tc>
                <a:tc>
                  <a:txBody>
                    <a:bodyPr wrap="none" lIns="0" tIns="0" rIns="0" bIns="0"/>
                    <a:lstStyle/>
                    <a:p>
                      <a:pPr marL="0" indent="0">
                        <a:lnSpc>
                          <a:spcPts val="2126"/>
                        </a:lnSpc>
                        <a:spcAft>
                          <a:spcPts val="0"/>
                        </a:spcAft>
                        <a:buNone/>
                      </a:pPr>
                      <a:r>
                        <a:rPr lang="en-US" sz="1575" b="0">
                          <a:solidFill>
                            <a:srgbClr val="202B33"/>
                          </a:solidFill>
                          <a:latin typeface="Arial"/>
                          <a:ea typeface="Arial"/>
                          <a:cs typeface="Arial"/>
                        </a:rPr>
                        <a:t xml:space="preserve">$0.280</a:t>
                      </a:r>
                      <a:endParaRPr lang="en-US" sz="1575"/>
                    </a:p>
                  </a:txBody>
                  <a:tcPr marL="95250" marR="95250" marT="95250" marB="95250">
                    <a:lnB w="6350">
                      <a:solidFill>
                        <a:srgbClr val="CBD2CF"/>
                      </a:solidFill>
                    </a:lnB>
                    <a:noFill/>
                  </a:tcPr>
                </a:tc>
              </a:tr>
            </a:tbl>
          </a:graphicData>
        </a:graphic>
      </p:graphicFrame>
      <p:sp>
        <p:nvSpPr>
          <p:cNvPr id="5" name="Text 5"/>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6" name="Text 6"/>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15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 are not shopping, you are contracting</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Word six: asset specificity. Word seven: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hold-up.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investment worth a lot inside this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relationship and little outside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prompts, evals, fine-tunes, and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unlimited-usage clause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the slide I would keep if you cut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other one. Oliver Williamson won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Nobel in 2009 for working out what happens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two parties make investments that only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pay off inside their relationship. 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called it asset specificity,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trouble it produces is called hold-up.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shape is always the same. You make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investment that is worth a great deal here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and very little anywhere else.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surplus, the part that exists only because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are locked in, is a prize, and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renewal your counterparty can reach for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has to be a villain. It is simply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the structure permits, and rational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parties do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inventory your specific assets. Prompts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tuned against one model's quirks. An 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suite that only means anything against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provider's outputs. A fine-tune. A latency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budget that assumes one serving stack.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sharpest one, an unlimited-usage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promise you made to your customers, priced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against an input you do not control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cannot cap. Every one of those is worth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more inside the relationship than outside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15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 are not shopping, you are contracting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So stop thinking of this as shopping, where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customer holds the power because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leave. You are contracting, with a much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better capitalized counterparty, and your</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architecture is the collateral.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reframe is the whole talk, and everything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 this is just a way of reducing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specificity or pricing the exposure.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15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Reversible is a line item</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Word eight: real option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option has value. It also has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premium: abstraction tax, eval upkeep,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rehearsal 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project, different answer, depending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which world you are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Everyone in this field says "keep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reversible" like it is a personality trait.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is not. It is an option, in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financial sense, and Dixit and Pindyck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wrote the book on valuing exactly this kind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flexibility under uncertainty. The right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to switch providers has a value that rises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how uncertain the price is and how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exposed you are. It also has a premium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pay every month: the abstraction tax,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 eval suite, rehearsal time, and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generic wrapper that hides real differences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between models and occasionally makes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everything worse.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do not argue about portability on vibes.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 it. Your exposure is the three prices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the next slide times your volume.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premium is the engineering you would spend.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the two numbers.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15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Reversible is a line item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Same for optimization. Take a cache or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router that halves inference per attempt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same acceptance rate. In our fixture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saves one cent per attempt at one-times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pricing and ten cents at ten-times. Divide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build cost by that, divide by monthly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attempts, and you have payback in months.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 a million attempts a month, ten cents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each is a hundred thousand dollars a month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you should have started yesterday. At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thousand attempts a month it is a hundred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dollars, ten at today's price, and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should never do it. Identical project.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sweep is what tells you which world you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living in. A router that costs more to 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than it saves is not better engineering.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18</a:t>
            </a:r>
            <a:endParaRPr lang="en-US" sz="975"/>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15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Three prices for the next design review</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we pay today · What we pay without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offer · What we can survive paying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Record gross usage separately from credits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an acceptance suite · Rehearse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replacement · Price the portability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Three numbers, and if you take nothing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else, take these. The effective rate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pay today. The gross rate with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promotional treatment, which is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exposure if the offer ends. And the highest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rate at which this product still makes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sense, which is the number nobody has 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calculated and everybody should. Sweep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downward too, so you can cancel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optimization project when efficiency makes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it pointless.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Four actions, and each one is one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words. Record gross consumption separately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from credits, so price and subsidy stop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being the same number on your dashboard.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a small representative acceptance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suite, because that is the strike test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option. Rehearse one provider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replacement before you need it, latency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recovery included, because that is how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reduce asset specificity from a slide into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fact. And put the estimated cost per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accepted outcome in the design doc next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latency budget, because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meter, and the meter is the fix for moral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hazard.</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19</a:t>
            </a:r>
            <a:endParaRPr lang="en-US" sz="975"/>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15 / 15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Cheap intelligence changes incentives first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Externality · Induced demand · Jevons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paradox · Path dependence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Moral hazard · Credible commitment · Asset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specificity · Real option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 for more than one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 to the electricity. Use the cheap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input. It is genuinely great and I am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asking anyone to be miserable about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Just understand what it encouraged you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 and keep the expensive decisions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reversible while you find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are your eight words. Externality,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the cost moved rather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vanished. Induced demand and Jevons,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cheaper made you use more, not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less. Path dependence, because the lots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stay built. Moral hazard, because whoever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chooses is not whoever pays. Credible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commitment, because those contracts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moves in a game and not disclosures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Asset specificity, because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architecture is worth more here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anywhere else. And real option, because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reversibility is something you buy,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you feel.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 low prices are temporary. Some are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preview of genuinely cheaper production.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do not have to know which. You have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outcomes and keep the big choices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reversible either way.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Cheap intelligence changes incentives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it changes organizations.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20</a:t>
            </a:r>
            <a:endParaRPr lang="en-US" sz="975"/>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Brooke Group Ltd. v. Brown &amp; Williamson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Tobacco Corp., 509 U.S. 209 (1993), on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recoupment requirement in predatory-pricing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claims.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Rochet and Tirole (2003), Platform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Competition in Two-Sided Markets, Journal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the European Economic Association,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cross-subsidy between sides of a market.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Microsoft, 28 Oct 2025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https://blogs.microsoft.com/blog/2025/10/28/the-next-chapter-of-the-microsoft-openai-partnership/)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[Amazon, Apr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2026](https://www.aboutamazon.com/news/company-news/amazon-invests-additional-5-billion-anthropic-ai)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[AWS Activate, accessed 5 Sep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2026](https://aws.amazon.com/startups/credits/.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Schelling (1960), The Strategy of Conflict,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Harvard University Press. Nobel 2005.</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Shoup (2005, updated 2011), The High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Free Parking, American Planning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Association. Also Shoup (2011), Free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parking or free markets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https://www.accessmagazine.org/spring-2011/free-parking-free-markets/,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ACCESS Magazine.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Jevons (1865), The Coal Question, chapter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VII. Duranton and Turner (2011),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Fundamental Law of Road Congestion,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American Economic Review 101(6).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Cottier, Snodin, Owen, Adamczewski (Epoch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AI, March 2025), LLM inference prices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fallen rapidly but unequally across tasks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https://epoch.ai/data-insights/llm-inference-price-trends.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 for a newer edition before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delivery.</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21</a:t>
            </a:r>
            <a:endParaRPr lang="en-US" sz="975"/>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David (1985), Clio and the Economics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QWERTY, American Economic Review 75(2).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Contested by Liebowitz and Margolis (1990),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Fable of the Keys, Journal of Law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Economics 33(1). Arthur (1989), Competing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Technologies, Increasing Returns,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Lock-In by Historical Events, The Economic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Journal 99(394).</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Holmstrom (1979), Moral Hazard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Observability, Bell Journal of Economics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10(1), 74 to 91. Nobel 2016.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Dixit and Pindyck (1994), Investment Under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Uncertainty, Princeton University Press.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22</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22</Slides>
  <Notes>22</Notes>
</Properties>
</file>

<file path=docProps/core.xml><?xml version="1.0" encoding="utf-8"?>
<cp:coreProperties xmlns:cp="http://schemas.openxmlformats.org/package/2006/metadata/core-properties" xmlns:dc="http://purl.org/dc/elements/1.1/" xmlns:dcterms="http://purl.org/dc/terms/" xmlns:xsi="http://www.w3.org/2001/XMLSchema-instance">
  <dc:title>Buy Me a Free Tier</dc:title>
  <dc:creator>Dan Levy</dc:creator>
  <dc:description>handout edition generated from current reviewed talk materials</dc:description>
  <dcterms:created xsi:type="dcterms:W3CDTF">2026-09-07T02:16:44Z</dcterms:created>
</cp:coreProperties>
</file>