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Default Extension="svg" ContentType="image/svg+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Master"/>
  </p:sldMasterIdLst>
  <p:notesMasterIdLst>
    <p:notesMasterId r:id="rIdNotesMaster"/>
  </p:notesMasterIdLst>
  <p:sldIdLst>
    <p:sldId id="256" r:id="rIdSlide1"/>
    <p:sldId id="257" r:id="rIdSlide2"/>
    <p:sldId id="258" r:id="rIdSlide3"/>
    <p:sldId id="259" r:id="rIdSlide4"/>
    <p:sldId id="260" r:id="rIdSlide5"/>
    <p:sldId id="261" r:id="rIdSlide6"/>
    <p:sldId id="262" r:id="rIdSlide7"/>
    <p:sldId id="263" r:id="rIdSlide8"/>
    <p:sldId id="264" r:id="rIdSlide9"/>
    <p:sldId id="265" r:id="rIdSlide10"/>
    <p:sldId id="266" r:id="rIdSlide11"/>
    <p:sldId id="267" r:id="rIdSlide12"/>
    <p:sldId id="268" r:id="rIdSlide13"/>
    <p:sldId id="269" r:id="rIdSlide14"/>
    <p:sldId id="270" r:id="rIdSlide15"/>
  </p:sldIdLst>
  <p:sldSz cx="10058400" cy="7772400" type="custom"/>
  <p:notesSz cx="6858000" cy="9144000"/>
  <p:defaultTextStyle/>
</p:presentation>
</file>

<file path=ppt/_rels/presentation.xml.rels><?xml version="1.0" encoding="UTF-8" standalone="yes"?><Relationships xmlns="http://schemas.openxmlformats.org/package/2006/relationships"><Relationship Id="rIdMaster" Type="http://schemas.openxmlformats.org/officeDocument/2006/relationships/slideMaster" Target="slideMasters/slideMaster1.xml"/><Relationship Id="rIdNotesMaster" Type="http://schemas.openxmlformats.org/officeDocument/2006/relationships/notesMaster" Target="notesMasters/notesMaster1.xml"/><Relationship Id="rIdSlide1" Type="http://schemas.openxmlformats.org/officeDocument/2006/relationships/slide" Target="slides/slide1.xml"/><Relationship Id="rIdSlide2" Type="http://schemas.openxmlformats.org/officeDocument/2006/relationships/slide" Target="slides/slide2.xml"/><Relationship Id="rIdSlide3" Type="http://schemas.openxmlformats.org/officeDocument/2006/relationships/slide" Target="slides/slide3.xml"/><Relationship Id="rIdSlide4" Type="http://schemas.openxmlformats.org/officeDocument/2006/relationships/slide" Target="slides/slide4.xml"/><Relationship Id="rIdSlide5" Type="http://schemas.openxmlformats.org/officeDocument/2006/relationships/slide" Target="slides/slide5.xml"/><Relationship Id="rIdSlide6" Type="http://schemas.openxmlformats.org/officeDocument/2006/relationships/slide" Target="slides/slide6.xml"/><Relationship Id="rIdSlide7" Type="http://schemas.openxmlformats.org/officeDocument/2006/relationships/slide" Target="slides/slide7.xml"/><Relationship Id="rIdSlide8" Type="http://schemas.openxmlformats.org/officeDocument/2006/relationships/slide" Target="slides/slide8.xml"/><Relationship Id="rIdSlide9" Type="http://schemas.openxmlformats.org/officeDocument/2006/relationships/slide" Target="slides/slide9.xml"/><Relationship Id="rIdSlide10" Type="http://schemas.openxmlformats.org/officeDocument/2006/relationships/slide" Target="slides/slide10.xml"/><Relationship Id="rIdSlide11" Type="http://schemas.openxmlformats.org/officeDocument/2006/relationships/slide" Target="slides/slide11.xml"/><Relationship Id="rIdSlide12" Type="http://schemas.openxmlformats.org/officeDocument/2006/relationships/slide" Target="slides/slide12.xml"/><Relationship Id="rIdSlide13" Type="http://schemas.openxmlformats.org/officeDocument/2006/relationships/slide" Target="slides/slide13.xml"/><Relationship Id="rIdSlide14" Type="http://schemas.openxmlformats.org/officeDocument/2006/relationships/slide" Target="slides/slide14.xml"/><Relationship Id="rIdSlide15" Type="http://schemas.openxmlformats.org/officeDocument/2006/relationships/slide" Target="slides/slide15.xml"/></Relationships>
</file>

<file path=ppt/notesMasters/_rels/notesMaster1.xml.rels><?xml version="1.0" encoding="UTF-8" standalone="yes"?><Relationships xmlns="http://schemas.openxmlformats.org/package/2006/relationships"><Relationship Id="rIdTheme"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notesStyle/>
</p:notesMaster>
</file>

<file path=ppt/notesSlides/_rels/notesSlide1.xml.rels><?xml version="1.0" encoding="UTF-8" standalone="yes"?><Relationships xmlns="http://schemas.openxmlformats.org/package/2006/relationships"><Relationship Id="rIdSlide" Type="http://schemas.openxmlformats.org/officeDocument/2006/relationships/slide" Target="../slides/slide1.xml"/><Relationship Id="rIdMaster" Type="http://schemas.openxmlformats.org/officeDocument/2006/relationships/notesMaster" Target="../notesMasters/notesMaster1.xml"/></Relationships>
</file>

<file path=ppt/notesSlides/_rels/notesSlide2.xml.rels><?xml version="1.0" encoding="UTF-8" standalone="yes"?><Relationships xmlns="http://schemas.openxmlformats.org/package/2006/relationships"><Relationship Id="rIdSlide" Type="http://schemas.openxmlformats.org/officeDocument/2006/relationships/slide" Target="../slides/slide2.xml"/><Relationship Id="rIdMaster" Type="http://schemas.openxmlformats.org/officeDocument/2006/relationships/notesMaster" Target="../notesMasters/notesMaster1.xml"/></Relationships>
</file>

<file path=ppt/notesSlides/_rels/notesSlide3.xml.rels><?xml version="1.0" encoding="UTF-8" standalone="yes"?><Relationships xmlns="http://schemas.openxmlformats.org/package/2006/relationships"><Relationship Id="rIdSlide" Type="http://schemas.openxmlformats.org/officeDocument/2006/relationships/slide" Target="../slides/slide3.xml"/><Relationship Id="rIdMaster" Type="http://schemas.openxmlformats.org/officeDocument/2006/relationships/notesMaster" Target="../notesMasters/notesMaster1.xml"/></Relationships>
</file>

<file path=ppt/notesSlides/_rels/notesSlide4.xml.rels><?xml version="1.0" encoding="UTF-8" standalone="yes"?><Relationships xmlns="http://schemas.openxmlformats.org/package/2006/relationships"><Relationship Id="rIdSlide" Type="http://schemas.openxmlformats.org/officeDocument/2006/relationships/slide" Target="../slides/slide4.xml"/><Relationship Id="rIdMaster" Type="http://schemas.openxmlformats.org/officeDocument/2006/relationships/notesMaster" Target="../notesMasters/notesMaster1.xml"/></Relationships>
</file>

<file path=ppt/notesSlides/_rels/notesSlide5.xml.rels><?xml version="1.0" encoding="UTF-8" standalone="yes"?><Relationships xmlns="http://schemas.openxmlformats.org/package/2006/relationships"><Relationship Id="rIdSlide" Type="http://schemas.openxmlformats.org/officeDocument/2006/relationships/slide" Target="../slides/slide5.xml"/><Relationship Id="rIdMaster" Type="http://schemas.openxmlformats.org/officeDocument/2006/relationships/notesMaster" Target="../notesMasters/notesMaster1.xml"/></Relationships>
</file>

<file path=ppt/notesSlides/_rels/notesSlide6.xml.rels><?xml version="1.0" encoding="UTF-8" standalone="yes"?><Relationships xmlns="http://schemas.openxmlformats.org/package/2006/relationships"><Relationship Id="rIdSlide" Type="http://schemas.openxmlformats.org/officeDocument/2006/relationships/slide" Target="../slides/slide6.xml"/><Relationship Id="rIdMaster" Type="http://schemas.openxmlformats.org/officeDocument/2006/relationships/notesMaster" Target="../notesMasters/notesMaster1.xml"/></Relationships>
</file>

<file path=ppt/notesSlides/_rels/notesSlide7.xml.rels><?xml version="1.0" encoding="UTF-8" standalone="yes"?><Relationships xmlns="http://schemas.openxmlformats.org/package/2006/relationships"><Relationship Id="rIdSlide" Type="http://schemas.openxmlformats.org/officeDocument/2006/relationships/slide" Target="../slides/slide7.xml"/><Relationship Id="rIdMaster" Type="http://schemas.openxmlformats.org/officeDocument/2006/relationships/notesMaster" Target="../notesMasters/notesMaster1.xml"/></Relationships>
</file>

<file path=ppt/notesSlides/_rels/notesSlide8.xml.rels><?xml version="1.0" encoding="UTF-8" standalone="yes"?><Relationships xmlns="http://schemas.openxmlformats.org/package/2006/relationships"><Relationship Id="rIdSlide" Type="http://schemas.openxmlformats.org/officeDocument/2006/relationships/slide" Target="../slides/slide8.xml"/><Relationship Id="rIdMaster" Type="http://schemas.openxmlformats.org/officeDocument/2006/relationships/notesMaster" Target="../notesMasters/notesMaster1.xml"/></Relationships>
</file>

<file path=ppt/notesSlides/_rels/notesSlide9.xml.rels><?xml version="1.0" encoding="UTF-8" standalone="yes"?><Relationships xmlns="http://schemas.openxmlformats.org/package/2006/relationships"><Relationship Id="rIdSlide" Type="http://schemas.openxmlformats.org/officeDocument/2006/relationships/slide" Target="../slides/slide9.xml"/><Relationship Id="rIdMaster" Type="http://schemas.openxmlformats.org/officeDocument/2006/relationships/notesMaster" Target="../notesMasters/notesMaster1.xml"/></Relationships>
</file>

<file path=ppt/notesSlides/_rels/notesSlide10.xml.rels><?xml version="1.0" encoding="UTF-8" standalone="yes"?><Relationships xmlns="http://schemas.openxmlformats.org/package/2006/relationships"><Relationship Id="rIdSlide" Type="http://schemas.openxmlformats.org/officeDocument/2006/relationships/slide" Target="../slides/slide10.xml"/><Relationship Id="rIdMaster" Type="http://schemas.openxmlformats.org/officeDocument/2006/relationships/notesMaster" Target="../notesMasters/notesMaster1.xml"/></Relationships>
</file>

<file path=ppt/notesSlides/_rels/notesSlide11.xml.rels><?xml version="1.0" encoding="UTF-8" standalone="yes"?><Relationships xmlns="http://schemas.openxmlformats.org/package/2006/relationships"><Relationship Id="rIdSlide" Type="http://schemas.openxmlformats.org/officeDocument/2006/relationships/slide" Target="../slides/slide11.xml"/><Relationship Id="rIdMaster" Type="http://schemas.openxmlformats.org/officeDocument/2006/relationships/notesMaster" Target="../notesMasters/notesMaster1.xml"/></Relationships>
</file>

<file path=ppt/notesSlides/_rels/notesSlide12.xml.rels><?xml version="1.0" encoding="UTF-8" standalone="yes"?><Relationships xmlns="http://schemas.openxmlformats.org/package/2006/relationships"><Relationship Id="rIdSlide" Type="http://schemas.openxmlformats.org/officeDocument/2006/relationships/slide" Target="../slides/slide12.xml"/><Relationship Id="rIdMaster" Type="http://schemas.openxmlformats.org/officeDocument/2006/relationships/notesMaster" Target="../notesMasters/notesMaster1.xml"/></Relationships>
</file>

<file path=ppt/notesSlides/_rels/notesSlide13.xml.rels><?xml version="1.0" encoding="UTF-8" standalone="yes"?><Relationships xmlns="http://schemas.openxmlformats.org/package/2006/relationships"><Relationship Id="rIdSlide" Type="http://schemas.openxmlformats.org/officeDocument/2006/relationships/slide" Target="../slides/slide13.xml"/><Relationship Id="rIdMaster" Type="http://schemas.openxmlformats.org/officeDocument/2006/relationships/notesMaster" Target="../notesMasters/notesMaster1.xml"/></Relationships>
</file>

<file path=ppt/notesSlides/_rels/notesSlide14.xml.rels><?xml version="1.0" encoding="UTF-8" standalone="yes"?><Relationships xmlns="http://schemas.openxmlformats.org/package/2006/relationships"><Relationship Id="rIdSlide" Type="http://schemas.openxmlformats.org/officeDocument/2006/relationships/slide" Target="../slides/slide14.xml"/><Relationship Id="rIdMaster" Type="http://schemas.openxmlformats.org/officeDocument/2006/relationships/notesMaster" Target="../notesMasters/notesMaster1.xml"/></Relationships>
</file>

<file path=ppt/notesSlides/_rels/notesSlide15.xml.rels><?xml version="1.0" encoding="UTF-8" standalone="yes"?><Relationships xmlns="http://schemas.openxmlformats.org/package/2006/relationships"><Relationship Id="rIdSlide" Type="http://schemas.openxmlformats.org/officeDocument/2006/relationships/slide" Target="../slides/slide15.xml"/><Relationship Id="rIdMaster"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What the cheap input taught your architecture to expect.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Rewritten and retitled 2026-09-06 (was "Cry Me a Free Tier"). 40 minutes, 15 slides, four audience moments, no Q&amp;A. Nobody outside a provider knows its margins and this talk never estimates one; the fixture arithmetic is synthetic. Say that once, on slide 1, then argue.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[Presenter scripts](../packets/free-tier/script-40min.md) · [Packet](../packets/free-tier/packet.md) · [Runbook section 4](../demos/DEMO-RUNBOOK.md#4-cry-me-a-free-tier) · [Kit](../demos/index.html) · [Evidence](../packets/free-tier/evidence-bank.md)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talk hands the room eight words: externality, induced demand, Jevons paradox, path dependence, moral hazard, credible commitment, asset specificity, real option. Each one is a thing engineers already feel and cannot name in a budget meeting. Slide 15 lists them back.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Recheck the dated announcements and the credit offer on slide 4 before every delivery. Regenerate scripts, adaptations and the browser deck with `bun artifacts/speaking-portfolio-expanded/build-talk.ts free-tier`.</a:t>
            </a:r>
            <a:endParaRPr lang="en-US" sz="120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Buy Me a Free Tier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 00:00 to 02:00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startup gets free electricity for a year.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What does it build? What survives when the offer ends?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startup gets free electricity for a year. What does it build? Sit with that for five seconds, because the answer is not "the same thing, but cheaper." It builds a different company. Now: what survives when the offer ends?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Swap electricity for inference and that is the whole talk. Here is my one disclaimer, and then I am done qualifying: nobody outside a provider knows its margins, I am not going to guess at one, and every dollar figure in my arithmetic is invented. What I do have is a hundred and fifty years of economists working on exactly this problem in coal, parking, highways and car factories, and they gave it names.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That is what you are getting today. Eight words. Engineers lose this argument in budget meetings because the best we can say is "it feels wasteful," and finance says "the bill looks fine." These eight words are how you say it so it lands.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first time a bill, a quota, or a rate change broke an assumption in something you built.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Take the five seconds. Actually take them. The silence is the slide.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Buy Me a Free Tier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2. 02:00 to 04:00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Price paid · Resources consumed · Cost allocated · Value delivered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gap between the last two is why nobody is measuring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Four boxes. The invoice is the first one. It tells you what you paid and nothing about utilization, depreciation, amortized training, or margin. The second box is what the machine actually burned. The third is how a provider chooses to allocate that internally, which you will never see. The fourth is what the customer got.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gap between what you pay and what you would have been willing to pay has a name: consumer surplus. Yours is enormous right now. That is the pleasant explanation for why nobody in your organization is measuring any of this. When something is dramatically cheaper than it is worth to you, measuring it is not worth the afternoon.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Which of these four does your system actually measure, and which does it assume?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Draw the four boxes with your hands. Ask for a show of hands on box two. Count them; it is usually a third of the room.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Buy Me a Free Tier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3. 04:00 to 07:00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Penetration pricing · Loss leader in a bundle · Predation · It is genuinely cheap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price cannot tell you which. What happens next can.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There are four respectable explanations for a low price, and an engineer arguing about this in a meeting should be able to name all four.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Penetration pricing: buy the market now, raise later. Standard, legal, taught in every business school. Loss leader in a bundle: the cheap thing funds the expensive thing next to it, which is what a two-sided market does for a living. Predation: below cost specifically to remove rivals. In US law that is not a vibe, it is a test. Brooke Group, 1993: you need below-cost pricing and a dangerous probability of recoupment. And the fourth explanation, the one that keeps me honest: it is genuinely cheap, and getting cheaper, because the engineering is real.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Here is the useful part. You cannot distinguish these from the price. You can distinguish them from what happens next. Penetration predicts prices rise at renewal, after switching gets hard. Predation predicts a rival disappears and then prices rise. Genuine efficiency predicts prices keep falling without anyone tightening the terms. So watch renewal terms, watch rate limits, watch what happens to the free tier, and stop trying to read a margin off a token rate.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Brooke Group Ltd. v. Brown &amp; Williamson Tobacco Corp., 509 U.S. 209 (1993), on the recoupment requirement in predatory-pricing claims.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Rochet and Tirole (2003), Platform Competition in Two-Sided Markets, Journal of the European Economic Association, on cross-subsidy between sides of a market.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the enormous compute commitments everyone quotes are credible commitments in Schelling's sense, moves in a war of attrition, not disclosures about cost. And note who is not a player in that game. Somebody is buying your free tier, and it is not you. You are not a combatant. You are the terrain.</a:t>
            </a:r>
            <a:endParaRPr lang="en-US" sz="120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Buy Me a Free Tier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5. 07:00 to 09:00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driver sees no meter, so demand looks infinite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cost moves into rents, prices, and land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Word one: externality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Donald Shoup spent a career on the least glamorous subject in urban economics and was right about all of it. Cities required developers to build minimum parking. Nobody paid at the meter, so the cost went somewhere else: into rents, into retail prices, into land that became asphalt. And because drivers saw no price, demand looked infinite, so the minimums grew to match.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That is your first word: externality. A cost that is real, and paid, but not by the person making the decision. It does not vanish. It relocates, and it usually relocates somewhere you are not looking.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Then the environment reorganized around it. Buildings spread apart, so density fell. Formats that need a big lot won; the storefront that could not fit one never opened. Every apartment carried a parking space, paid for by tenants who do not drive. Transit lost, because everything was far apart and parking was free at the other end. Every single step was locally reasonable.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Shoup (2005, updated 2011), The High Cost of Free Parking, American Planning Association. Also Shoup (2011), [Free parking or free markets](https://www.accessmagazine.org/spring-2011/free-parking-free-markets/), ACCESS Magazine.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Buy Me a Free Tier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6. 09:00 to 11:30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1865: better engines burned more coal, not less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Add a lane, get traffic. Elasticity near one.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Spend = price × jobs × calls per job × tokens per call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In 1865 William Stanley Jevons noticed something that annoyed everyone. Steam engines had gotten dramatically more efficient, and Britain was burning far more coal than before, not less. Efficiency made coal useful for more things, so people used it for more things. That is the Jevons paradox, and it is word two.</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transport version is word three, induced demand. Add a lane to a congested highway and you get more traffic. Duranton and Turner measured it across US cities in 2011 and found the elasticity of driving with respect to lane-kilometres is roughly one. Build ten percent more road, get ten percent more driving. The congestion comes back.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Both things can be fine. A falling price and a growing bill coexist comfortably as long as customer value grows faster. That is the relationship to measure, and almost nobody measures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Jevons (1865), The Coal Question, chapter VII. Duranton and Turner (2011), The Fundamental Law of Road Congestion, American Economic Review 101(6).</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Cottier, Snodin, Owen, Adamczewski (Epoch AI, March 2025), [LLM inference prices have fallen rapidly but unequally across tasks](https://epoch.ai/data-insights/llm-inference-price-trends). Check for a newer edition before each delivery.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Buy Me a Free Tier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7. 11:30 to 14:00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Density: a frontier call where a lookup would do</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Business mix: products viable only at today's rate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Bundled rent: unlimited usage promised in a contract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Small format: deterministic code loses the design review</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Walk the same chain through your stack. Density: a frontier call where a cache, a regex, or a dictionary lookup would have done, because the call looked free. Longer context, more retries, more competing branches, frontier by default. Business mix: products whose unit economics only work at promotional rates, crowding out products that would have worked at any price. Bundled rent: unlimited-usage promises to customers, baked into a contract, priced against an input you do not control. And the small format: boring deterministic code losing the design review to "just ask the model."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 call it architectural obesity. It is not that any one of those calls is wrong. Redundancy is worth paying for, big context is worth paying for, three parallel attempts are sometimes exactly right. The failure is that nobody measured what the extra call bought, because at these prices nobody had to.</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design review where "inference is basically free" ended the discussion.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Ask for one show of hands: who has shipped a frontier call where a lookup would do? Then admit you have too.</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and the lots stay built. Repealing a parking minimum does not remove asphalt, which is path dependence; measure yours by trying to remove one model call and counting the hours.</a:t>
            </a:r>
            <a:endParaRPr lang="en-US" sz="120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Buy Me a Free Tier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9. 14:00 to 16:30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Word five: moral hazard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architecture is chosen in a design review. The bill arrives 60 days later, somewhere else.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Shoup's fix was never a ban. It was a meter.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Word five, and this one is about your org chart, not your vendor. Moral hazard: when the person making a decision does not bear its cost, they make a different decision. Not a worse person. A different decision.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An engineer picks the architecture in a design review on a Tuesday. Finance sees the consequence in an aggregated line item sixty days later, in a different building, attributed to nothing in particular. Nobody in that loop is behaving badly. The meter is invisible at the moment of choice, so consumption is not a moral failure, it is the equilibrium. This is the same structure as the parking lot, running inside your company.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And notice what Shoup actually recommended, because everyone gets this wrong. He never said ban parking. He said charge the right price and give the money back to the neighborhood. Same here. The fix is not austerity or a policy forbidding the model. It is putting the number in front of the person choosing, at the moment they choose: estimated cost per accepted outcome, in the design doc, next to the latency budget.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Holmstrom (1979), Moral Hazard and Observability, Bell Journal of Economics 10(1), 74 to 91. Nobel 2016.</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Ask who can see a per-feature inference cost without filing a ticket. Very few hands. That is the slide.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Buy Me a Free Tier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10. 16:30 to 19:00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Cost per accepted outcome = total spend ÷ accepted jobs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75% accepted means you pay 1.33× sticker. 45% means 2.22×.</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30-point acceptance drop costs exactly what doubling every token price costs.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Before any dollar figure, define the denominator. An accepted outcome meets a rule you wrote down. An impressive answer that a human quietly repairs afterwards is not a success, it is a success plus a hidden salary. Count inference, tools, infrastructure and recovery. A blended token rate is not a unit economics model.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fixture, synthetic and deliberately small: a thousand attempts a month, two cents of inference and one cent of everything else per attempt, seventy-five percent accepted. Thirty dollars, seven hundred and fifty accepted outcomes, four cents each.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Now the part worth remembering. Divide by the acceptance rate and you get a multiplier on your sticker price. Seventy-five percent acceptance means you are paying one and a third times the list price for every result you keep. Forty-five percent means two point two. Run those two numbers together: dropping from seventy-five to forty-five percent acceptance costs you exactly the same as every token in your stack doubling in price overnight. One of those is on the front page. The other one is a Tuesday.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Do the division on stage. Thirty seconds: name your product's accepted outcome in one sentence. If that is hard, the economics conversation just found a product problem.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Buy Me a Free Tier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11. 19:00 to 22:00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Sensitivity, not prediction.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Multiply by your volume before you feel anything about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Read the one-times row, then the ten-times row. Then move the acceptance rate and watch it beat the price change, which is the thing nobody expects.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Then multiply by your own volume, because the table is meaningless without it. At a thousand attempts a month this entire talk is not worth an engineer's afternoon and you should go build features. At a million attempts a month the same four rows are a hiring plan. The most expensive mistake available in this room is not overspending on inference. It is spending three weeks optimizing a thirty-dollar bill because a conference talk made you anxious.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Runbook section 4. Two-minute compression: the 1× and 10× rows only. Ask for 45 seconds: which assumption would you attack first before funding an optimization project?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Buy Me a Free Tier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11. 19:00 to 22:00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Sensitivity, not prediction.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Multiply by your volume before you feel anything about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Read the one-times row, then the ten-times row. Then move the acceptance rate and watch it beat the price change, which is the thing nobody expects.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Then multiply by your own volume, because the table is meaningless without it. At a thousand attempts a month this entire talk is not worth an engineer's afternoon and you should go build features. At a million attempts a month the same four rows are a hiring plan. The most expensive mistake available in this room is not overspending on inference. It is spending three weeks optimizing a thirty-dollar bill because a conference talk made you anxious.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Runbook section 4. Two-minute compression: the 1× and 10× rows only. Ask for 45 seconds: which assumption would you attack first before funding an optimization project?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Buy Me a Free Tier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12. 22:00 to 25:00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Word six: asset specificity. Word seven: hold-up.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An investment worth a lot inside this relationship and little outside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Your prompts, evals, fine-tunes, and that unlimited-usage clause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This is the slide I would keep if you cut every other one. Oliver Williamson won a Nobel in 2009 for working out what happens when two parties make investments that only pay off inside their relationship. He called it asset specificity, and the trouble it produces is called hold-up.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Now inventory your specific assets. Prompts tuned against one model's quirks. An eval suite that only means anything against one provider's outputs. A fine-tune. A latency budget that assumes one serving stack. And the sharpest one, an unlimited-usage promise you made to your customers, priced against an input you do not control and cannot cap. Every one of those is worth more inside the relationship than outside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 stop thinking of this as shopping, where the customer holds the power because they can leave. You are contracting, with a much better capitalized counterparty, and your architecture is the collateral. That reframe is the whole talk, and everything after this is just a way of reducing specificity or pricing the exposure.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reversibility is a real option with a value and a premium, so price it against your exposure instead of arguing about it on vibes.</a:t>
            </a:r>
            <a:endParaRPr lang="en-US" sz="1200"/>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Buy Me a Free Tier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14. 25:00 to 27:30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What we pay today · What we pay without the offer · What we can survive paying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Record gross usage separately from credits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Keep an acceptance suite · Rehearse one replacement · Price the portability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Three numbers, and if you take nothing else, take these. The effective rate you pay today. The gross rate with no promotional treatment, which is your exposure if the offer ends. And the highest rate at which this product still makes sense, which is the number nobody has ever calculated and everybody should. Sweep downward too, so you can cancel the optimization project when efficiency makes it pointless.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Four actions, and each one is one of the words. Record gross consumption separately from credits, so price and subsidy stop being the same number on your dashboard. Keep a small representative acceptance suite, because that is the strike test on your option. Rehearse one provider replacement before you need it, latency and recovery included, because that is how you reduce asset specificity from a slide into a fact. And put the estimated cost per accepted outcome in the design doc next to the latency budget, because that is the meter, and the meter is the fix for moral hazard.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45 seconds in pairs on the third price. Most rooms have never computed it and the silence is useful.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Buy Me a Free Tier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15. 27:30 to 30:00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Externality · Induced demand · Jevons paradox · Path dependence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Moral hazard · Credible commitment · Asset specificity · Real option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Build for more than one price.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Back to the electricity. Use the cheap input. It is genuinely great and I am not asking anyone to be miserable about it. Just understand what it encouraged you to build, and keep the expensive decisions reversible while you find out.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There are your eight words. Externality, because the cost moved rather than vanished. Induced demand and Jevons, because cheaper made you use more, not less. Path dependence, because the lots stay built. Moral hazard, because whoever chooses is not whoever pays. Credible commitment, because those contracts are moves in a game and not disclosures about it. Asset specificity, because your architecture is worth more here than anywhere else. And real option, because reversibility is something you buy, not something you feel.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Cheap intelligence changes incentives before it changes organizations.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Say the last line slowly, then stop talking. For questions, jump back to the sweep table if this route kept slide 11.</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Brooke Group Ltd. v. Brown &amp; Williamson Tobacco Corp., 509 U.S. 209 (1993), on the recoupment requirement in predatory-pricing claims.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Rochet and Tirole (2003), Platform Competition in Two-Sided Markets, Journal of the European Economic Association, on cross-subsidy between sides of a market.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Shoup (2005, updated 2011), The High Cost of Free Parking, American Planning Association. Also Shoup (2011), [Free parking or free markets](https://www.accessmagazine.org/spring-2011/free-parking-free-markets/), ACCESS Magazine.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Jevons (1865), The Coal Question, chapter VII. Duranton and Turner (2011), The Fundamental Law of Road Congestion, American Economic Review 101(6).</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Cottier, Snodin, Owen, Adamczewski (Epoch AI, March 2025), [LLM inference prices have fallen rapidly but unequally across tasks](https://epoch.ai/data-insights/llm-inference-price-trends). Check for a newer edition before each delivery.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Holmstrom (1979), Moral Hazard and Observability, Bell Journal of Economics 10(1), 74 to 91. Nobel 2016.</a:t>
            </a:r>
            <a:endParaRPr lang="en-US" sz="1200"/>
          </a:p>
        </p:txBody>
      </p:sp>
    </p:spTree>
  </p:cSld>
  <p:clrMapOvr>
    <a:masterClrMapping/>
  </p:clrMapOvr>
</p:notes>
</file>

<file path=ppt/slideLayouts/_rels/slideLayout1.xml.rels><?xml version="1.0" encoding="UTF-8" standalone="yes"?><Relationships xmlns="http://schemas.openxmlformats.org/package/2006/relationships"><Relationship Id="rIdMaster"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Relationships xmlns="http://schemas.openxmlformats.org/package/2006/relationships"><Relationship Id="rIdLayout" Type="http://schemas.openxmlformats.org/officeDocument/2006/relationships/slideLayout" Target="../slideLayouts/slideLayout1.xml"/><Relationship Id="rIdTheme"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sldLayoutIdLst>
    <p:sldLayoutId id="2147483649" r:id="rIdLayout"/>
  </p:sldLayoutIdLst>
  <p:txStyles>
    <p:titleStyle/>
    <p:bodyStyle/>
    <p:otherStyle/>
  </p:txStyles>
</p:sldMaster>
</file>

<file path=ppt/slides/_rels/slide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xml"/></Relationships>
</file>

<file path=ppt/slides/_rels/slide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xml"/></Relationships>
</file>

<file path=ppt/slides/_rels/slide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3.xml"/></Relationships>
</file>

<file path=ppt/slides/_rels/slide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4.xml"/></Relationships>
</file>

<file path=ppt/slides/_rels/slide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5.xml"/></Relationships>
</file>

<file path=ppt/slides/_rels/slide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6.xml"/></Relationships>
</file>

<file path=ppt/slides/_rels/slide7.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7.xml"/></Relationships>
</file>

<file path=ppt/slides/_rels/slide8.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8.xml"/></Relationships>
</file>

<file path=ppt/slides/_rels/slide9.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9.xml"/></Relationships>
</file>

<file path=ppt/slides/_rels/slide10.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0.xml"/></Relationships>
</file>

<file path=ppt/slides/_rels/slide1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1.xml"/></Relationships>
</file>

<file path=ppt/slides/_rels/slide1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2.xml"/></Relationships>
</file>

<file path=ppt/slides/_rels/slide1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3.xml"/></Relationships>
</file>

<file path=ppt/slides/_rels/slide1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4.xml"/></Relationships>
</file>

<file path=ppt/slides/_rels/slide1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514350"/>
            <a:ext cx="9144000" cy="28575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246957"/>
                </a:solidFill>
                <a:latin typeface="Arial"/>
                <a:ea typeface="Arial"/>
                <a:cs typeface="Arial"/>
              </a:rPr>
              <a:t xml:space="preserve">DAN LEVY</a:t>
            </a:r>
            <a:endParaRPr lang="en-US" sz="1350"/>
          </a:p>
        </p:txBody>
      </p:sp>
      <p:sp>
        <p:nvSpPr>
          <p:cNvPr id="3" name="Text 3"/>
          <p:cNvSpPr txBox="1"/>
          <p:nvPr/>
        </p:nvSpPr>
        <p:spPr>
          <a:xfrm>
            <a:off x="457200" y="1428750"/>
            <a:ext cx="9144000" cy="2381250"/>
          </a:xfrm>
          <a:prstGeom prst="rect">
            <a:avLst/>
          </a:prstGeom>
          <a:noFill/>
          <a:ln>
            <a:noFill/>
          </a:ln>
        </p:spPr>
        <p:txBody>
          <a:bodyPr wrap="none" lIns="0" tIns="0" rIns="0" bIns="0" anchor="t">
            <a:noAutofit/>
          </a:bodyPr>
          <a:lstStyle/>
          <a:p>
            <a:pPr marL="0" indent="0">
              <a:lnSpc>
                <a:spcPts val="4500"/>
              </a:lnSpc>
              <a:spcAft>
                <a:spcPts val="0"/>
              </a:spcAft>
              <a:buNone/>
            </a:pPr>
            <a:r>
              <a:rPr lang="en-US" sz="3750" b="1">
                <a:solidFill>
                  <a:srgbClr val="202B33"/>
                </a:solidFill>
                <a:latin typeface="Arial"/>
                <a:ea typeface="Arial"/>
                <a:cs typeface="Arial"/>
              </a:rPr>
              <a:t xml:space="preserve">Buy Me a Free Tier</a:t>
            </a:r>
            <a:endParaRPr lang="en-US" sz="3750"/>
          </a:p>
        </p:txBody>
      </p:sp>
      <p:sp>
        <p:nvSpPr>
          <p:cNvPr id="4" name="Text 4"/>
          <p:cNvSpPr txBox="1"/>
          <p:nvPr/>
        </p:nvSpPr>
        <p:spPr>
          <a:xfrm>
            <a:off x="457200" y="4476750"/>
            <a:ext cx="9144000" cy="571500"/>
          </a:xfrm>
          <a:prstGeom prst="rect">
            <a:avLst/>
          </a:prstGeom>
          <a:noFill/>
          <a:ln>
            <a:noFill/>
          </a:ln>
        </p:spPr>
        <p:txBody>
          <a:bodyPr wrap="none" lIns="0" tIns="0" rIns="0" bIns="0" anchor="t">
            <a:noAutofit/>
          </a:bodyPr>
          <a:lstStyle/>
          <a:p>
            <a:pPr marL="0" indent="0">
              <a:lnSpc>
                <a:spcPts val="2925"/>
              </a:lnSpc>
              <a:spcAft>
                <a:spcPts val="0"/>
              </a:spcAft>
              <a:buNone/>
            </a:pPr>
            <a:r>
              <a:rPr lang="en-US" sz="2250" b="0">
                <a:solidFill>
                  <a:srgbClr val="246957"/>
                </a:solidFill>
                <a:latin typeface="Arial"/>
                <a:ea typeface="Arial"/>
                <a:cs typeface="Arial"/>
              </a:rPr>
              <a:t xml:space="preserve">30-minute route · Reading edition</a:t>
            </a:r>
            <a:endParaRPr lang="en-US" sz="2250"/>
          </a:p>
        </p:txBody>
      </p:sp>
      <p:sp>
        <p:nvSpPr>
          <p:cNvPr id="5" name="Text 5"/>
          <p:cNvSpPr txBox="1"/>
          <p:nvPr/>
        </p:nvSpPr>
        <p:spPr>
          <a:xfrm>
            <a:off x="457200" y="6496050"/>
            <a:ext cx="9048750" cy="762000"/>
          </a:xfrm>
          <a:prstGeom prst="rect">
            <a:avLst/>
          </a:prstGeom>
          <a:noFill/>
          <a:ln>
            <a:noFill/>
          </a:ln>
        </p:spPr>
        <p:txBody>
          <a:bodyPr wrap="none" lIns="0" tIns="0" rIns="0" bIns="0" anchor="t">
            <a:noAutofit/>
          </a:bodyPr>
          <a:lstStyle/>
          <a:p>
            <a:pPr marL="0" indent="0">
              <a:lnSpc>
                <a:spcPts val="2175"/>
              </a:lnSpc>
              <a:spcAft>
                <a:spcPts val="0"/>
              </a:spcAft>
              <a:buNone/>
            </a:pPr>
            <a:r>
              <a:rPr lang="en-US" sz="1575" b="0">
                <a:solidFill>
                  <a:srgbClr val="202B33"/>
                </a:solidFill>
                <a:latin typeface="Arial"/>
                <a:ea typeface="Arial"/>
                <a:cs typeface="Arial"/>
              </a:rPr>
              <a:t xml:space="preserve">12 source sections</a:t>
            </a:r>
            <a:endParaRPr lang="en-US" sz="1575"/>
          </a:p>
          <a:p>
            <a:pPr marL="0" indent="0">
              <a:lnSpc>
                <a:spcPts val="2175"/>
              </a:lnSpc>
              <a:spcAft>
                <a:spcPts val="0"/>
              </a:spcAft>
              <a:buNone/>
            </a:pPr>
            <a:r>
              <a:rPr lang="en-US" sz="1575" b="0">
                <a:solidFill>
                  <a:srgbClr val="202B33"/>
                </a:solidFill>
                <a:latin typeface="Arial"/>
                <a:ea typeface="Arial"/>
                <a:cs typeface="Arial"/>
              </a:rPr>
              <a:t xml:space="preserve">September 6, 2026</a:t>
            </a:r>
            <a:endParaRPr lang="en-US" sz="1575"/>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Buy Me a Free Tier</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a:t>
            </a:r>
            <a:endParaRPr lang="en-US" sz="975"/>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01 / 12    SOURCE SLIDE 1</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Free electricity for a year</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 startup gets free electricity for a year.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What does it build? What survives when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offer ends?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startup gets free electricity for a year.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What does it build? Sit with that for five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seconds, because the answer is not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same thing, but cheaper." It builds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different company. Now: what survives when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offer ends?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Swap electricity for inference and that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whole talk. Here is my one disclaimer,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then I am done qualifying: nobody</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outside a provider knows its margins, I am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not going to guess at one, and every dollar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figure in my arithmetic is invented. What I</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 have is a hundred and fifty years of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economists working on exactly this problem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 coal, parking, highways and car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factories, and they gave it names.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That is what you are getting today. Eight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words. Engineers lose this argument in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budget meetings because the best we can say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is "it feels wasteful," and finance says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bill looks fine." These eight words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are how you say it so it lands.</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Buy Me a Free Tier</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2</a:t>
            </a:r>
            <a:endParaRPr lang="en-US" sz="975"/>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02 / 12    SOURCE SLIDE 2</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Four boxes, one invoice</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Price paid · Resources consumed · Cost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allocated · Value delivered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gap between the last two is why nobody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is measuring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Four boxes. The invoice is the first one.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It tells you what you paid and nothing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about utilization, depreciation, amortized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training, or margin. The second box is what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machine actually burned. The third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how a provider chooses to allocate that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internally, which you will never see.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fourth is what the customer got.</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gap between what you pay and what you</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would have been willing to pay has a name: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consumer surplus. Yours is enormous right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now. That is the pleasant explanation for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why nobody in your organization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measuring any of this. When something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dramatically cheaper than it is worth to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you, measuring it is not worth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afternoon.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Which of these four does your system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actually measure, and which does it assume?</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Buy Me a Free Tier</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3</a:t>
            </a:r>
            <a:endParaRPr lang="en-US" sz="975"/>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03 / 12    SOURCE SLIDE 3</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Why would anyone sell below cost?</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Penetration pricing · Loss leader in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bundle · Predation · It is genuinely cheap</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price cannot tell you which. What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happens next can.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There are four respectable explanations for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low price, and an engineer arguing about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this in a meeting should be able to name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all four.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Penetration pricing: buy the market now,</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raise later. Standard, legal, taught in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every business school. Loss leader in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bundle: the cheap thing funds the expensive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thing next to it, which is what a two-sided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market does for a living. Predation: below</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cost specifically to remove rivals. In US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law that is not a vibe, it is a test.</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Brooke Group, 1993: you need below-cost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pricing and a dangerous probability of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recoupment. And the fourth explanation,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one that keeps me honest: it is genuinely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cheap, and getting cheaper, because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engineering is real.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Here is the useful part. You cannot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distinguish these from the price. You can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distinguish them from what happens next.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Penetration predicts prices rise 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renewal, after switching gets hard.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Predation predicts a rival disappears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then prices rise. Genuine efficiency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predicts prices keep falling without anyone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tightening the terms. So watch renewal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terms, watch rate limits, watch what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happens to the free tier, and stop trying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 read a margin off a token rate.</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Buy Me a Free Tier</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4</a:t>
            </a:r>
            <a:endParaRPr lang="en-US" sz="975"/>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04 / 12    SOURCE SLIDE 5</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Free parking was never free</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The driver sees no meter, so demand looks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infinite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cost moves into rents, prices, and land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Word one: externality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Donald Shoup spent a career on the least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glamorous subject in urban economics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was right about all of it. Cities required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developers to build minimum parking. Nobody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paid at the meter, so the cost went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somewhere else: into rents, into retail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prices, into land that became asphalt.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because drivers saw no price, demand looked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infinite, so the minimums grew to match.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That is your first word: externality.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cost that is real, and paid, but not by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person making the decision. It does not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vanish. It relocates, and it usually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relocates somewhere you are not looking.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Then the environment reorganized around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Buildings spread apart, so density fell.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Formats that need a big lot won;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storefront that could not fit one never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opened. Every apartment carried a parking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space, paid for by tenants who do not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drive. Transit lost, because everything was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far apart and parking was free at the other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end. Every single step was locally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reasonable.</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Buy Me a Free Tier</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5</a:t>
            </a:r>
            <a:endParaRPr lang="en-US" sz="975"/>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05 / 12    SOURCE SLIDE 6</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Jevons, coal, and the extra lane</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1865: better engines burned more coal, not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less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Add a lane, get traffic. Elasticity near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Spend = price × jobs × calls per job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tokens per call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 1865 William Stanley Jevons noticed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something that annoyed everyone. Steam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engines had gotten dramatically more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efficient, and Britain was burning far more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coal than before, not less. Efficiency made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coal useful for more things, so people used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it for more things. That is the Jevons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paradox, and it is word two.</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transport version is word three,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induced demand. Add a lane to a congested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highway and you get more traffic. Duranton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Turner measured it across US cities in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2011 and found the elasticity of driving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with respect to lane-kilometres is roughly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one. Build ten percent more road, get ten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percent more driving. The congestion comes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back.</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Both things can be fine. A falling price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a growing bill coexist comfortably as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long as customer value grows faster. That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is the relationship to measure, and almost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nobody measures it.</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Buy Me a Free Tier</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6</a:t>
            </a:r>
            <a:endParaRPr lang="en-US" sz="975"/>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06 / 12    SOURCE SLIDE 7</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Now do it to software</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Density: a frontier call where a lookup</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would do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Business mix: products viable only 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today's rate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Bundled rent: unlimited usage promised in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contract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Small format: deterministic code loses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design review</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Walk the same chain through your stack.</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Density: a frontier call where a cache,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regex, or a dictionary lookup would have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done, because the call looked free. Longer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context, more retries, more competing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branches, frontier by default. Business</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mix: products whose unit economics only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work at promotional rates, crowding out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products that would have worked at any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price. Bundled rent: unlimited-usage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promises to customers, baked into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contract, priced against an input you do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not control. And the small format: boring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deterministic code losing the design review</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 "just ask the model."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I call it architectural obesity. It is not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that any one of those calls is wrong.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Redundancy is worth paying for, big context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is worth paying for, three parallel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attempts are sometimes exactly right.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failure is that nobody measured what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extra call bought, because at these prices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nobody had to.</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Buy Me a Free Tier</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7</a:t>
            </a:r>
            <a:endParaRPr lang="en-US" sz="975"/>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07 / 12    SOURCE SLIDE 9</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Whoever chooses is not whoever pays</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Word five: moral hazard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architecture is chosen in a design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review. The bill arrives 60 days later,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somewhere else.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Shoup's fix was never a ban. It was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meter.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Word five, and this one is about your org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chart, not your vendor. Moral hazard: when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person making a decision does not bear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its cost, they make a different decision.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Not a worse person. A different decision.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 engineer picks the architecture in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design review on a Tuesday. Finance sees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consequence in an aggregated line item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sixty days later, in a different building,</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attributed to nothing in particular. Nobody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 that loop is behaving badly. The meter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is invisible at the moment of choice, so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consumption is not a moral failure, it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equilibrium. This is the same structure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as the parking lot, running inside your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company.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notice what Shoup actually recommended,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because everyone gets this wrong. He never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said ban parking. He said charge the right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price and give the money back to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neighborhood. Same here. The fix is not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austerity or a policy forbidding the model.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It is putting the number in front of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person choosing, at the moment they choose: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estimated cost per accepted outcome, in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design doc, next to the latency budget.</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Buy Me a Free Tier</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8</a:t>
            </a:r>
            <a:endParaRPr lang="en-US" sz="975"/>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08 / 12    SOURCE SLIDE 10</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Doubling on a Tuesday</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Cost per accepted outcome = total spend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accepted jobs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75% accepted means you pay 1.33× sticker.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45% means 2.22×.</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30-point acceptance drop costs exactly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what doubling every token price costs.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Before any dollar figure, define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denominator. An accepted outcome meets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rule you wrote down. An impressive answer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that a human quietly repairs afterwards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not a success, it is a success plus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hidden salary. Count inference, tools,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infrastructure and recovery. A blended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token rate is not a unit economics model.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fixture, synthetic and deliberately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small: a thousand attempts a month, two</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cents of inference and one cent of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everything else per attempt, seventy-five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percent accepted. Thirty dollars, seven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hundred and fifty accepted outcomes, four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cents each.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Now the part worth remembering. Divide by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acceptance rate and you get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multiplier on your sticker price.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Seventy-five percent acceptance means you</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are paying one and a third times the list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price for every result you keep. Forty-five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percent means two point two. Run those two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numbers together: dropping from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seventy-five to forty-five percent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acceptance costs you exactly the same as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every token in your stack doubling in price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overnight. One of those is on the front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page. The other one is a Tuesday.</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Buy Me a Free Tier</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9</a:t>
            </a:r>
            <a:endParaRPr lang="en-US" sz="975"/>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09 / 12    SOURCE SLIDE 11</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Turn the dial</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Sensitivity, not prediction.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Multiply by your volume before you feel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anything about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Read the one-times row, then the ten-times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row. Then move the acceptance rate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watch it beat the price change, which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thing nobody expects.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Then multiply by your own volume, because</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the table is meaningless without it. At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thousand attempts a month this entire talk</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is not worth an engineer's afternoon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you should go build features. At a million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attempts a month the same four rows are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hiring plan. The most expensive mistake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available in this room is not overspending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on inference. It is spending three weeks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optimizing a thirty-dollar bill because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conference talk made you anxious.</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Buy Me a Free Tier</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10</a:t>
            </a:r>
            <a:endParaRPr lang="en-US" sz="975"/>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SOURCE TABLE</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Turn the dial</a:t>
            </a:r>
            <a:endParaRPr lang="en-US" sz="2550"/>
          </a:p>
        </p:txBody>
      </p:sp>
      <p:graphicFrame>
        <p:nvGraphicFramePr>
          <p:cNvPr id="4" name="Editable table"/>
          <p:cNvGraphicFramePr/>
          <p:nvPr/>
        </p:nvGraphicFramePr>
        <p:xfrm>
          <a:off x="457200" y="1905000"/>
          <a:ext cx="9144000" cy="2302669"/>
        </p:xfrm>
        <a:graphic>
          <a:graphicData uri="http://schemas.openxmlformats.org/drawingml/2006/main/table">
            <a:tbl>
              <a:tblPr firstRow="1" bandRow="0"/>
              <a:tblGrid>
                <a:gridCol w="3048000"/>
                <a:gridCol w="3048000"/>
                <a:gridCol w="3048000"/>
              </a:tblGrid>
              <a:tr h="460534">
                <a:tc>
                  <a:txBody>
                    <a:bodyPr wrap="none" lIns="0" tIns="0" rIns="0" bIns="0"/>
                    <a:lstStyle/>
                    <a:p>
                      <a:pPr marL="0" indent="0">
                        <a:lnSpc>
                          <a:spcPts val="2126"/>
                        </a:lnSpc>
                        <a:spcAft>
                          <a:spcPts val="0"/>
                        </a:spcAft>
                        <a:buNone/>
                      </a:pPr>
                      <a:r>
                        <a:rPr lang="en-US" sz="1575" b="1">
                          <a:solidFill>
                            <a:srgbClr val="246957"/>
                          </a:solidFill>
                          <a:latin typeface="Arial"/>
                          <a:ea typeface="Arial"/>
                          <a:cs typeface="Arial"/>
                        </a:rPr>
                        <a:t xml:space="preserve">Inference price</a:t>
                      </a:r>
                      <a:endParaRPr lang="en-US" sz="1575"/>
                    </a:p>
                  </a:txBody>
                  <a:tcPr marL="95250" marR="95250" marT="95250" marB="95250">
                    <a:lnB w="6350">
                      <a:solidFill>
                        <a:srgbClr val="CBD2CF"/>
                      </a:solidFill>
                    </a:lnB>
                    <a:noFill/>
                  </a:tcPr>
                </a:tc>
                <a:tc>
                  <a:txBody>
                    <a:bodyPr wrap="none" lIns="0" tIns="0" rIns="0" bIns="0"/>
                    <a:lstStyle/>
                    <a:p>
                      <a:pPr marL="0" indent="0">
                        <a:lnSpc>
                          <a:spcPts val="2126"/>
                        </a:lnSpc>
                        <a:spcAft>
                          <a:spcPts val="0"/>
                        </a:spcAft>
                        <a:buNone/>
                      </a:pPr>
                      <a:r>
                        <a:rPr lang="en-US" sz="1575" b="1">
                          <a:solidFill>
                            <a:srgbClr val="246957"/>
                          </a:solidFill>
                          <a:latin typeface="Arial"/>
                          <a:ea typeface="Arial"/>
                          <a:cs typeface="Arial"/>
                        </a:rPr>
                        <a:t xml:space="preserve">Monthly cost</a:t>
                      </a:r>
                      <a:endParaRPr lang="en-US" sz="1575"/>
                    </a:p>
                  </a:txBody>
                  <a:tcPr marL="95250" marR="95250" marT="95250" marB="95250">
                    <a:lnB w="6350">
                      <a:solidFill>
                        <a:srgbClr val="CBD2CF"/>
                      </a:solidFill>
                    </a:lnB>
                    <a:noFill/>
                  </a:tcPr>
                </a:tc>
                <a:tc>
                  <a:txBody>
                    <a:bodyPr wrap="none" lIns="0" tIns="0" rIns="0" bIns="0"/>
                    <a:lstStyle/>
                    <a:p>
                      <a:pPr marL="0" indent="0">
                        <a:lnSpc>
                          <a:spcPts val="2126"/>
                        </a:lnSpc>
                        <a:spcAft>
                          <a:spcPts val="0"/>
                        </a:spcAft>
                        <a:buNone/>
                      </a:pPr>
                      <a:r>
                        <a:rPr lang="en-US" sz="1575" b="1">
                          <a:solidFill>
                            <a:srgbClr val="246957"/>
                          </a:solidFill>
                          <a:latin typeface="Arial"/>
                          <a:ea typeface="Arial"/>
                          <a:cs typeface="Arial"/>
                        </a:rPr>
                        <a:t xml:space="preserve">Cost / accepted outcome</a:t>
                      </a:r>
                      <a:endParaRPr lang="en-US" sz="1575"/>
                    </a:p>
                  </a:txBody>
                  <a:tcPr marL="95250" marR="95250" marT="95250" marB="95250">
                    <a:lnB w="6350">
                      <a:solidFill>
                        <a:srgbClr val="CBD2CF"/>
                      </a:solidFill>
                    </a:lnB>
                    <a:noFill/>
                  </a:tcPr>
                </a:tc>
              </a:tr>
              <a:tr h="460534">
                <a:tc>
                  <a:txBody>
                    <a:bodyPr wrap="none" lIns="0" tIns="0" rIns="0" bIns="0"/>
                    <a:lstStyle/>
                    <a:p>
                      <a:pPr marL="0" indent="0">
                        <a:lnSpc>
                          <a:spcPts val="2126"/>
                        </a:lnSpc>
                        <a:spcAft>
                          <a:spcPts val="0"/>
                        </a:spcAft>
                        <a:buNone/>
                      </a:pPr>
                      <a:r>
                        <a:rPr lang="en-US" sz="1575" b="0">
                          <a:solidFill>
                            <a:srgbClr val="202B33"/>
                          </a:solidFill>
                          <a:latin typeface="Arial"/>
                          <a:ea typeface="Arial"/>
                          <a:cs typeface="Arial"/>
                        </a:rPr>
                        <a:t xml:space="preserve">1×</a:t>
                      </a:r>
                      <a:endParaRPr lang="en-US" sz="1575"/>
                    </a:p>
                  </a:txBody>
                  <a:tcPr marL="95250" marR="95250" marT="95250" marB="95250">
                    <a:lnB w="6350">
                      <a:solidFill>
                        <a:srgbClr val="CBD2CF"/>
                      </a:solidFill>
                    </a:lnB>
                    <a:noFill/>
                  </a:tcPr>
                </a:tc>
                <a:tc>
                  <a:txBody>
                    <a:bodyPr wrap="none" lIns="0" tIns="0" rIns="0" bIns="0"/>
                    <a:lstStyle/>
                    <a:p>
                      <a:pPr marL="0" indent="0">
                        <a:lnSpc>
                          <a:spcPts val="2126"/>
                        </a:lnSpc>
                        <a:spcAft>
                          <a:spcPts val="0"/>
                        </a:spcAft>
                        <a:buNone/>
                      </a:pPr>
                      <a:r>
                        <a:rPr lang="en-US" sz="1575" b="0">
                          <a:solidFill>
                            <a:srgbClr val="202B33"/>
                          </a:solidFill>
                          <a:latin typeface="Arial"/>
                          <a:ea typeface="Arial"/>
                          <a:cs typeface="Arial"/>
                        </a:rPr>
                        <a:t xml:space="preserve">$30</a:t>
                      </a:r>
                      <a:endParaRPr lang="en-US" sz="1575"/>
                    </a:p>
                  </a:txBody>
                  <a:tcPr marL="95250" marR="95250" marT="95250" marB="95250">
                    <a:lnB w="6350">
                      <a:solidFill>
                        <a:srgbClr val="CBD2CF"/>
                      </a:solidFill>
                    </a:lnB>
                    <a:noFill/>
                  </a:tcPr>
                </a:tc>
                <a:tc>
                  <a:txBody>
                    <a:bodyPr wrap="none" lIns="0" tIns="0" rIns="0" bIns="0"/>
                    <a:lstStyle/>
                    <a:p>
                      <a:pPr marL="0" indent="0">
                        <a:lnSpc>
                          <a:spcPts val="2126"/>
                        </a:lnSpc>
                        <a:spcAft>
                          <a:spcPts val="0"/>
                        </a:spcAft>
                        <a:buNone/>
                      </a:pPr>
                      <a:r>
                        <a:rPr lang="en-US" sz="1575" b="0">
                          <a:solidFill>
                            <a:srgbClr val="202B33"/>
                          </a:solidFill>
                          <a:latin typeface="Arial"/>
                          <a:ea typeface="Arial"/>
                          <a:cs typeface="Arial"/>
                        </a:rPr>
                        <a:t xml:space="preserve">$0.040</a:t>
                      </a:r>
                      <a:endParaRPr lang="en-US" sz="1575"/>
                    </a:p>
                  </a:txBody>
                  <a:tcPr marL="95250" marR="95250" marT="95250" marB="95250">
                    <a:lnB w="6350">
                      <a:solidFill>
                        <a:srgbClr val="CBD2CF"/>
                      </a:solidFill>
                    </a:lnB>
                    <a:noFill/>
                  </a:tcPr>
                </a:tc>
              </a:tr>
              <a:tr h="460534">
                <a:tc>
                  <a:txBody>
                    <a:bodyPr wrap="none" lIns="0" tIns="0" rIns="0" bIns="0"/>
                    <a:lstStyle/>
                    <a:p>
                      <a:pPr marL="0" indent="0">
                        <a:lnSpc>
                          <a:spcPts val="2126"/>
                        </a:lnSpc>
                        <a:spcAft>
                          <a:spcPts val="0"/>
                        </a:spcAft>
                        <a:buNone/>
                      </a:pPr>
                      <a:r>
                        <a:rPr lang="en-US" sz="1575" b="0">
                          <a:solidFill>
                            <a:srgbClr val="202B33"/>
                          </a:solidFill>
                          <a:latin typeface="Arial"/>
                          <a:ea typeface="Arial"/>
                          <a:cs typeface="Arial"/>
                        </a:rPr>
                        <a:t xml:space="preserve">2×</a:t>
                      </a:r>
                      <a:endParaRPr lang="en-US" sz="1575"/>
                    </a:p>
                  </a:txBody>
                  <a:tcPr marL="95250" marR="95250" marT="95250" marB="95250">
                    <a:lnB w="6350">
                      <a:solidFill>
                        <a:srgbClr val="CBD2CF"/>
                      </a:solidFill>
                    </a:lnB>
                    <a:noFill/>
                  </a:tcPr>
                </a:tc>
                <a:tc>
                  <a:txBody>
                    <a:bodyPr wrap="none" lIns="0" tIns="0" rIns="0" bIns="0"/>
                    <a:lstStyle/>
                    <a:p>
                      <a:pPr marL="0" indent="0">
                        <a:lnSpc>
                          <a:spcPts val="2126"/>
                        </a:lnSpc>
                        <a:spcAft>
                          <a:spcPts val="0"/>
                        </a:spcAft>
                        <a:buNone/>
                      </a:pPr>
                      <a:r>
                        <a:rPr lang="en-US" sz="1575" b="0">
                          <a:solidFill>
                            <a:srgbClr val="202B33"/>
                          </a:solidFill>
                          <a:latin typeface="Arial"/>
                          <a:ea typeface="Arial"/>
                          <a:cs typeface="Arial"/>
                        </a:rPr>
                        <a:t xml:space="preserve">$50</a:t>
                      </a:r>
                      <a:endParaRPr lang="en-US" sz="1575"/>
                    </a:p>
                  </a:txBody>
                  <a:tcPr marL="95250" marR="95250" marT="95250" marB="95250">
                    <a:lnB w="6350">
                      <a:solidFill>
                        <a:srgbClr val="CBD2CF"/>
                      </a:solidFill>
                    </a:lnB>
                    <a:noFill/>
                  </a:tcPr>
                </a:tc>
                <a:tc>
                  <a:txBody>
                    <a:bodyPr wrap="none" lIns="0" tIns="0" rIns="0" bIns="0"/>
                    <a:lstStyle/>
                    <a:p>
                      <a:pPr marL="0" indent="0">
                        <a:lnSpc>
                          <a:spcPts val="2126"/>
                        </a:lnSpc>
                        <a:spcAft>
                          <a:spcPts val="0"/>
                        </a:spcAft>
                        <a:buNone/>
                      </a:pPr>
                      <a:r>
                        <a:rPr lang="en-US" sz="1575" b="0">
                          <a:solidFill>
                            <a:srgbClr val="202B33"/>
                          </a:solidFill>
                          <a:latin typeface="Arial"/>
                          <a:ea typeface="Arial"/>
                          <a:cs typeface="Arial"/>
                        </a:rPr>
                        <a:t xml:space="preserve">$0.067</a:t>
                      </a:r>
                      <a:endParaRPr lang="en-US" sz="1575"/>
                    </a:p>
                  </a:txBody>
                  <a:tcPr marL="95250" marR="95250" marT="95250" marB="95250">
                    <a:lnB w="6350">
                      <a:solidFill>
                        <a:srgbClr val="CBD2CF"/>
                      </a:solidFill>
                    </a:lnB>
                    <a:noFill/>
                  </a:tcPr>
                </a:tc>
              </a:tr>
              <a:tr h="460534">
                <a:tc>
                  <a:txBody>
                    <a:bodyPr wrap="none" lIns="0" tIns="0" rIns="0" bIns="0"/>
                    <a:lstStyle/>
                    <a:p>
                      <a:pPr marL="0" indent="0">
                        <a:lnSpc>
                          <a:spcPts val="2126"/>
                        </a:lnSpc>
                        <a:spcAft>
                          <a:spcPts val="0"/>
                        </a:spcAft>
                        <a:buNone/>
                      </a:pPr>
                      <a:r>
                        <a:rPr lang="en-US" sz="1575" b="0">
                          <a:solidFill>
                            <a:srgbClr val="202B33"/>
                          </a:solidFill>
                          <a:latin typeface="Arial"/>
                          <a:ea typeface="Arial"/>
                          <a:cs typeface="Arial"/>
                        </a:rPr>
                        <a:t xml:space="preserve">5×</a:t>
                      </a:r>
                      <a:endParaRPr lang="en-US" sz="1575"/>
                    </a:p>
                  </a:txBody>
                  <a:tcPr marL="95250" marR="95250" marT="95250" marB="95250">
                    <a:lnB w="6350">
                      <a:solidFill>
                        <a:srgbClr val="CBD2CF"/>
                      </a:solidFill>
                    </a:lnB>
                    <a:noFill/>
                  </a:tcPr>
                </a:tc>
                <a:tc>
                  <a:txBody>
                    <a:bodyPr wrap="none" lIns="0" tIns="0" rIns="0" bIns="0"/>
                    <a:lstStyle/>
                    <a:p>
                      <a:pPr marL="0" indent="0">
                        <a:lnSpc>
                          <a:spcPts val="2126"/>
                        </a:lnSpc>
                        <a:spcAft>
                          <a:spcPts val="0"/>
                        </a:spcAft>
                        <a:buNone/>
                      </a:pPr>
                      <a:r>
                        <a:rPr lang="en-US" sz="1575" b="0">
                          <a:solidFill>
                            <a:srgbClr val="202B33"/>
                          </a:solidFill>
                          <a:latin typeface="Arial"/>
                          <a:ea typeface="Arial"/>
                          <a:cs typeface="Arial"/>
                        </a:rPr>
                        <a:t xml:space="preserve">$110</a:t>
                      </a:r>
                      <a:endParaRPr lang="en-US" sz="1575"/>
                    </a:p>
                  </a:txBody>
                  <a:tcPr marL="95250" marR="95250" marT="95250" marB="95250">
                    <a:lnB w="6350">
                      <a:solidFill>
                        <a:srgbClr val="CBD2CF"/>
                      </a:solidFill>
                    </a:lnB>
                    <a:noFill/>
                  </a:tcPr>
                </a:tc>
                <a:tc>
                  <a:txBody>
                    <a:bodyPr wrap="none" lIns="0" tIns="0" rIns="0" bIns="0"/>
                    <a:lstStyle/>
                    <a:p>
                      <a:pPr marL="0" indent="0">
                        <a:lnSpc>
                          <a:spcPts val="2126"/>
                        </a:lnSpc>
                        <a:spcAft>
                          <a:spcPts val="0"/>
                        </a:spcAft>
                        <a:buNone/>
                      </a:pPr>
                      <a:r>
                        <a:rPr lang="en-US" sz="1575" b="0">
                          <a:solidFill>
                            <a:srgbClr val="202B33"/>
                          </a:solidFill>
                          <a:latin typeface="Arial"/>
                          <a:ea typeface="Arial"/>
                          <a:cs typeface="Arial"/>
                        </a:rPr>
                        <a:t xml:space="preserve">$0.147</a:t>
                      </a:r>
                      <a:endParaRPr lang="en-US" sz="1575"/>
                    </a:p>
                  </a:txBody>
                  <a:tcPr marL="95250" marR="95250" marT="95250" marB="95250">
                    <a:lnB w="6350">
                      <a:solidFill>
                        <a:srgbClr val="CBD2CF"/>
                      </a:solidFill>
                    </a:lnB>
                    <a:noFill/>
                  </a:tcPr>
                </a:tc>
              </a:tr>
              <a:tr h="460534">
                <a:tc>
                  <a:txBody>
                    <a:bodyPr wrap="none" lIns="0" tIns="0" rIns="0" bIns="0"/>
                    <a:lstStyle/>
                    <a:p>
                      <a:pPr marL="0" indent="0">
                        <a:lnSpc>
                          <a:spcPts val="2126"/>
                        </a:lnSpc>
                        <a:spcAft>
                          <a:spcPts val="0"/>
                        </a:spcAft>
                        <a:buNone/>
                      </a:pPr>
                      <a:r>
                        <a:rPr lang="en-US" sz="1575" b="0">
                          <a:solidFill>
                            <a:srgbClr val="202B33"/>
                          </a:solidFill>
                          <a:latin typeface="Arial"/>
                          <a:ea typeface="Arial"/>
                          <a:cs typeface="Arial"/>
                        </a:rPr>
                        <a:t xml:space="preserve">10×</a:t>
                      </a:r>
                      <a:endParaRPr lang="en-US" sz="1575"/>
                    </a:p>
                  </a:txBody>
                  <a:tcPr marL="95250" marR="95250" marT="95250" marB="95250">
                    <a:lnB w="6350">
                      <a:solidFill>
                        <a:srgbClr val="CBD2CF"/>
                      </a:solidFill>
                    </a:lnB>
                    <a:noFill/>
                  </a:tcPr>
                </a:tc>
                <a:tc>
                  <a:txBody>
                    <a:bodyPr wrap="none" lIns="0" tIns="0" rIns="0" bIns="0"/>
                    <a:lstStyle/>
                    <a:p>
                      <a:pPr marL="0" indent="0">
                        <a:lnSpc>
                          <a:spcPts val="2126"/>
                        </a:lnSpc>
                        <a:spcAft>
                          <a:spcPts val="0"/>
                        </a:spcAft>
                        <a:buNone/>
                      </a:pPr>
                      <a:r>
                        <a:rPr lang="en-US" sz="1575" b="0">
                          <a:solidFill>
                            <a:srgbClr val="202B33"/>
                          </a:solidFill>
                          <a:latin typeface="Arial"/>
                          <a:ea typeface="Arial"/>
                          <a:cs typeface="Arial"/>
                        </a:rPr>
                        <a:t xml:space="preserve">$210</a:t>
                      </a:r>
                      <a:endParaRPr lang="en-US" sz="1575"/>
                    </a:p>
                  </a:txBody>
                  <a:tcPr marL="95250" marR="95250" marT="95250" marB="95250">
                    <a:lnB w="6350">
                      <a:solidFill>
                        <a:srgbClr val="CBD2CF"/>
                      </a:solidFill>
                    </a:lnB>
                    <a:noFill/>
                  </a:tcPr>
                </a:tc>
                <a:tc>
                  <a:txBody>
                    <a:bodyPr wrap="none" lIns="0" tIns="0" rIns="0" bIns="0"/>
                    <a:lstStyle/>
                    <a:p>
                      <a:pPr marL="0" indent="0">
                        <a:lnSpc>
                          <a:spcPts val="2126"/>
                        </a:lnSpc>
                        <a:spcAft>
                          <a:spcPts val="0"/>
                        </a:spcAft>
                        <a:buNone/>
                      </a:pPr>
                      <a:r>
                        <a:rPr lang="en-US" sz="1575" b="0">
                          <a:solidFill>
                            <a:srgbClr val="202B33"/>
                          </a:solidFill>
                          <a:latin typeface="Arial"/>
                          <a:ea typeface="Arial"/>
                          <a:cs typeface="Arial"/>
                        </a:rPr>
                        <a:t xml:space="preserve">$0.280</a:t>
                      </a:r>
                      <a:endParaRPr lang="en-US" sz="1575"/>
                    </a:p>
                  </a:txBody>
                  <a:tcPr marL="95250" marR="95250" marT="95250" marB="95250">
                    <a:lnB w="6350">
                      <a:solidFill>
                        <a:srgbClr val="CBD2CF"/>
                      </a:solidFill>
                    </a:lnB>
                    <a:noFill/>
                  </a:tcPr>
                </a:tc>
              </a:tr>
            </a:tbl>
          </a:graphicData>
        </a:graphic>
      </p:graphicFrame>
      <p:sp>
        <p:nvSpPr>
          <p:cNvPr id="5" name="Text 5"/>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Buy Me a Free Tier</a:t>
            </a:r>
            <a:endParaRPr lang="en-US" sz="975"/>
          </a:p>
        </p:txBody>
      </p:sp>
      <p:sp>
        <p:nvSpPr>
          <p:cNvPr id="6" name="Text 6"/>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11</a:t>
            </a:r>
            <a:endParaRPr lang="en-US" sz="975"/>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10 / 12    SOURCE SLIDE 12</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You are not shopping, you are contracting</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Word six: asset specificity. Word seven: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hold-up.</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 investment worth a lot inside this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relationship and little outside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Your prompts, evals, fine-tunes, and that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unlimited-usage clause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This is the slide I would keep if you cut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every other one. Oliver Williamson won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Nobel in 2009 for working out what happens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when two parties make investments that only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pay off inside their relationship. 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called it asset specificity, and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trouble it produces is called hold-up.</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Now inventory your specific assets. Prompts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tuned against one model's quirks. An eval</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suite that only means anything against one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provider's outputs. A fine-tune. A latency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budget that assumes one serving stack.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sharpest one, an unlimited-usage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promise you made to your customers, priced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against an input you do not control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cannot cap. Every one of those is worth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more inside the relationship than outside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So stop thinking of this as shopping, where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customer holds the power because they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can leave. You are contracting, with a much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better capitalized counterparty, and your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architecture is the collateral. That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reframe is the whole talk, and everything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after this is just a way of reducing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specificity or pricing the exposure.</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Buy Me a Free Tier</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12</a:t>
            </a:r>
            <a:endParaRPr lang="en-US" sz="975"/>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11 / 12    SOURCE SLIDE 14</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Three prices for the next design review</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What we pay today · What we pay without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offer · What we can survive paying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Record gross usage separately from credits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Keep an acceptance suite · Rehearse one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replacement · Price the portability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Three numbers, and if you take nothing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else, take these. The effective rate you</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pay today. The gross rate with no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promotional treatment, which is your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exposure if the offer ends. And the highest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rate at which this product still makes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sense, which is the number nobody has ever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calculated and everybody should. Sweep</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downward too, so you can cancel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optimization project when efficiency makes</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it pointless.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Four actions, and each one is one of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words. Record gross consumption separately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from credits, so price and subsidy stop</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being the same number on your dashboard.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Keep a small representative acceptance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suite, because that is the strike test 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your option. Rehearse one provider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replacement before you need it, latency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recovery included, because that is how you</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reduce asset specificity from a slide into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fact. And put the estimated cost per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accepted outcome in the design doc next to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latency budget, because that is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meter, and the meter is the fix for moral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hazard.</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Buy Me a Free Tier</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13</a:t>
            </a:r>
            <a:endParaRPr lang="en-US" sz="975"/>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12 / 12    SOURCE SLIDE 15</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Cheap intelligence changes incentives first</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Externality · Induced demand · Jevons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paradox · Path dependence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Moral hazard · Credible commitment · Asset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specificity · Real option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Build for more than one price.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Back to the electricity. Use the cheap</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input. It is genuinely great and I am not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asking anyone to be miserable about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Just understand what it encouraged you to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build, and keep the expensive decisions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reversible while you find out.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There are your eight words. Externality,</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because the cost moved rather than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vanished. Induced demand and Jevons,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because cheaper made you use more, not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less. Path dependence, because the lots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stay built. Moral hazard, because whoever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chooses is not whoever pays. Credible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commitment, because those contracts are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moves in a game and not disclosures about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it. Asset specificity, because your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architecture is worth more here than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anywhere else. And real option, because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reversibility is something you buy, not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something you feel.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Cheap intelligence changes incentives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before it changes organizations.</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Buy Me a Free Tier</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14</a:t>
            </a:r>
            <a:endParaRPr lang="en-US" sz="975"/>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SOURCE REFERENCES</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References</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Brooke Group Ltd. v. Brown &amp; Williamson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Tobacco Corp., 509 U.S. 209 (1993), on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recoupment requirement in predatory-pricing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claims.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Rochet and Tirole (2003), Platform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Competition in Two-Sided Markets, Journal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of the European Economic Association, 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cross-subsidy between sides of a market.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Shoup (2005, updated 2011), The High Cost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of Free Parking, American Planning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Association. Also Shoup (2011), Free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parking or free markets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https://www.accessmagazine.org/spring-2011/free-parking-free-markets/,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ACCESS Magazine.</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Jevons (1865), The Coal Question, chapter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VII. Duranton and Turner (2011),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Fundamental Law of Road Congestion,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American Economic Review 101(6).</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Cottier, Snodin, Owen, Adamczewski (Epoch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AI, March 2025), LLM inference prices have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fallen rapidly but unequally across tasks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https://epoch.ai/data-insights/llm-inference-price-trends.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Check for a newer edition before each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delivery.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Holmstrom (1979), Moral Hazard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Observability, Bell Journal of Economics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10(1), 74 to 91. Nobel 2016.</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Buy Me a Free Tier</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15</a:t>
            </a:r>
            <a:endParaRPr lang="en-US" sz="975"/>
          </a:p>
        </p:txBody>
      </p:sp>
    </p:spTree>
  </p:cSld>
  <p:clrMapOvr>
    <a:masterClrMapping/>
  </p:clrMapOvr>
</p:sld>
</file>

<file path=ppt/theme/theme1.xml><?xml version="1.0" encoding="utf-8"?>
<a:theme xmlns:a="http://schemas.openxmlformats.org/drawingml/2006/main" name="Dan Levy talks">
  <a:themeElements>
    <a:clrScheme name="Talk palette">
      <a:dk1>
        <a:srgbClr val="202B33"/>
      </a:dk1>
      <a:lt1>
        <a:srgbClr val="FFFFFF"/>
      </a:lt1>
      <a:dk2>
        <a:srgbClr val="48555B"/>
      </a:dk2>
      <a:lt2>
        <a:srgbClr val="FAFAF7"/>
      </a:lt2>
      <a:accent1>
        <a:srgbClr val="246957"/>
      </a:accent1>
      <a:accent2>
        <a:srgbClr val="728482"/>
      </a:accent2>
      <a:accent3>
        <a:srgbClr val="53616F"/>
      </a:accent3>
      <a:accent4>
        <a:srgbClr val="9D7462"/>
      </a:accent4>
      <a:accent5>
        <a:srgbClr val="7D86A0"/>
      </a:accent5>
      <a:accent6>
        <a:srgbClr val="9E996B"/>
      </a:accent6>
      <a:hlink>
        <a:srgbClr val="246957"/>
      </a:hlink>
      <a:folHlink>
        <a:srgbClr val="925700"/>
      </a:folHlink>
    </a:clrScheme>
    <a:fontScheme name="Arial">
      <a:majorFont>
        <a:latin typeface="Arial"/>
        <a:ea typeface=""/>
        <a:cs typeface=""/>
      </a:majorFont>
      <a:minorFont>
        <a:latin typeface="Arial"/>
        <a:ea typeface=""/>
        <a:cs typeface=""/>
      </a:minorFont>
    </a:fontScheme>
    <a:fmtScheme name="Plain">
      <a:fillStyleLst>
        <a:solidFill>
          <a:schemeClr val="phClr"/>
        </a:solidFill>
        <a:solidFill>
          <a:schemeClr val="phClr"/>
        </a:solidFill>
        <a:solidFill>
          <a:schemeClr val="phClr"/>
        </a:solidFill>
      </a:fillStyleLst>
      <a:lnStyleLst>
        <a:ln w="9525">
          <a:solidFill>
            <a:schemeClr val="phClr"/>
          </a:solidFill>
          <a:prstDash val="solid"/>
        </a:ln>
        <a:ln w="9525">
          <a:solidFill>
            <a:schemeClr val="phClr"/>
          </a:solidFill>
          <a:prstDash val="solid"/>
        </a:ln>
        <a:ln w="9525">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Application>Talk package exporter</Application>
  <Slides>15</Slides>
  <Notes>15</Notes>
</Properties>
</file>

<file path=docProps/core.xml><?xml version="1.0" encoding="utf-8"?>
<cp:coreProperties xmlns:cp="http://schemas.openxmlformats.org/package/2006/metadata/core-properties" xmlns:dc="http://purl.org/dc/elements/1.1/" xmlns:dcterms="http://purl.org/dc/terms/" xmlns:xsi="http://www.w3.org/2001/XMLSchema-instance">
  <dc:title>Buy Me a Free Tier</dc:title>
  <dc:creator>Dan Levy</dc:creator>
  <dc:description>handout edition generated from current reviewed talk materials</dc:description>
  <dcterms:created xsi:type="dcterms:W3CDTF">2026-09-07T02:31:12Z</dcterms:created>
</cp:coreProperties>
</file>