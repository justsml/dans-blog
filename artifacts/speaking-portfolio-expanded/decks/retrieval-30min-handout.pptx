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Default Extension="svg" ContentType="image/svg+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theme/theme1.xml" ContentType="application/vnd.openxmlformats-officedocument.theme+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Master"/>
  </p:sldMasterIdLst>
  <p:notesMasterIdLst>
    <p:notesMasterId r:id="rIdNotesMaster"/>
  </p:notesMasterIdLst>
  <p:sldIdLst>
    <p:sldId id="256" r:id="rIdSlide1"/>
    <p:sldId id="257" r:id="rIdSlide2"/>
    <p:sldId id="258" r:id="rIdSlide3"/>
    <p:sldId id="259" r:id="rIdSlide4"/>
    <p:sldId id="260" r:id="rIdSlide5"/>
    <p:sldId id="261" r:id="rIdSlide6"/>
    <p:sldId id="262" r:id="rIdSlide7"/>
    <p:sldId id="263" r:id="rIdSlide8"/>
    <p:sldId id="264" r:id="rIdSlide9"/>
    <p:sldId id="265" r:id="rIdSlide10"/>
    <p:sldId id="266" r:id="rIdSlide11"/>
    <p:sldId id="267" r:id="rIdSlide12"/>
    <p:sldId id="268" r:id="rIdSlide13"/>
    <p:sldId id="269" r:id="rIdSlide14"/>
    <p:sldId id="270" r:id="rIdSlide15"/>
    <p:sldId id="271" r:id="rIdSlide16"/>
    <p:sldId id="272" r:id="rIdSlide17"/>
  </p:sldIdLst>
  <p:sldSz cx="10058400" cy="7772400" type="custom"/>
  <p:notesSz cx="6858000" cy="9144000"/>
  <p:defaultTextStyle/>
</p:presentation>
</file>

<file path=ppt/_rels/presentation.xml.rels><?xml version="1.0" encoding="UTF-8" standalone="yes"?><Relationships xmlns="http://schemas.openxmlformats.org/package/2006/relationships"><Relationship Id="rIdMaster" Type="http://schemas.openxmlformats.org/officeDocument/2006/relationships/slideMaster" Target="slideMasters/slideMaster1.xml"/><Relationship Id="rIdNotesMaster" Type="http://schemas.openxmlformats.org/officeDocument/2006/relationships/notesMaster" Target="notesMasters/notesMaster1.xml"/><Relationship Id="rIdSlide1" Type="http://schemas.openxmlformats.org/officeDocument/2006/relationships/slide" Target="slides/slide1.xml"/><Relationship Id="rIdSlide2" Type="http://schemas.openxmlformats.org/officeDocument/2006/relationships/slide" Target="slides/slide2.xml"/><Relationship Id="rIdSlide3" Type="http://schemas.openxmlformats.org/officeDocument/2006/relationships/slide" Target="slides/slide3.xml"/><Relationship Id="rIdSlide4" Type="http://schemas.openxmlformats.org/officeDocument/2006/relationships/slide" Target="slides/slide4.xml"/><Relationship Id="rIdSlide5" Type="http://schemas.openxmlformats.org/officeDocument/2006/relationships/slide" Target="slides/slide5.xml"/><Relationship Id="rIdSlide6" Type="http://schemas.openxmlformats.org/officeDocument/2006/relationships/slide" Target="slides/slide6.xml"/><Relationship Id="rIdSlide7" Type="http://schemas.openxmlformats.org/officeDocument/2006/relationships/slide" Target="slides/slide7.xml"/><Relationship Id="rIdSlide8" Type="http://schemas.openxmlformats.org/officeDocument/2006/relationships/slide" Target="slides/slide8.xml"/><Relationship Id="rIdSlide9" Type="http://schemas.openxmlformats.org/officeDocument/2006/relationships/slide" Target="slides/slide9.xml"/><Relationship Id="rIdSlide10" Type="http://schemas.openxmlformats.org/officeDocument/2006/relationships/slide" Target="slides/slide10.xml"/><Relationship Id="rIdSlide11" Type="http://schemas.openxmlformats.org/officeDocument/2006/relationships/slide" Target="slides/slide11.xml"/><Relationship Id="rIdSlide12" Type="http://schemas.openxmlformats.org/officeDocument/2006/relationships/slide" Target="slides/slide12.xml"/><Relationship Id="rIdSlide13" Type="http://schemas.openxmlformats.org/officeDocument/2006/relationships/slide" Target="slides/slide13.xml"/><Relationship Id="rIdSlide14" Type="http://schemas.openxmlformats.org/officeDocument/2006/relationships/slide" Target="slides/slide14.xml"/><Relationship Id="rIdSlide15" Type="http://schemas.openxmlformats.org/officeDocument/2006/relationships/slide" Target="slides/slide15.xml"/><Relationship Id="rIdSlide16" Type="http://schemas.openxmlformats.org/officeDocument/2006/relationships/slide" Target="slides/slide16.xml"/><Relationship Id="rIdSlide17" Type="http://schemas.openxmlformats.org/officeDocument/2006/relationships/slide" Target="slides/slide17.xml"/></Relationships>
</file>

<file path=ppt/notesMasters/_rels/notesMaster1.xml.rels><?xml version="1.0" encoding="UTF-8" standalone="yes"?><Relationships xmlns="http://schemas.openxmlformats.org/package/2006/relationships"><Relationship Id="rIdTheme"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notesStyle/>
</p:notesMaster>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 Id="rIdMaster" Type="http://schemas.openxmlformats.org/officeDocument/2006/relationships/notesMaster" Target="../notesMasters/notesMaster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 Id="rIdMaster" Type="http://schemas.openxmlformats.org/officeDocument/2006/relationships/notesMaster" Target="../notesMasters/notesMaster1.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 Id="rIdMaster" Type="http://schemas.openxmlformats.org/officeDocument/2006/relationships/notesMaster" Target="../notesMasters/notesMaster1.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 Id="rIdMaster" Type="http://schemas.openxmlformats.org/officeDocument/2006/relationships/notesMaster" Target="../notesMasters/notesMaster1.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 Id="rIdMaster" Type="http://schemas.openxmlformats.org/officeDocument/2006/relationships/notesMaster" Target="../notesMasters/notesMaster1.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 Id="rIdMaster" Type="http://schemas.openxmlformats.org/officeDocument/2006/relationships/notesMaster" Target="../notesMasters/notesMaster1.xml"/></Relationships>
</file>

<file path=ppt/notesSlides/_rels/notesSlide7.xml.rels><?xml version="1.0" encoding="UTF-8" standalone="yes"?><Relationships xmlns="http://schemas.openxmlformats.org/package/2006/relationships"><Relationship Id="rIdSlide" Type="http://schemas.openxmlformats.org/officeDocument/2006/relationships/slide" Target="../slides/slide7.xml"/><Relationship Id="rIdMaster" Type="http://schemas.openxmlformats.org/officeDocument/2006/relationships/notesMaster" Target="../notesMasters/notesMaster1.xml"/></Relationships>
</file>

<file path=ppt/notesSlides/_rels/notesSlide8.xml.rels><?xml version="1.0" encoding="UTF-8" standalone="yes"?><Relationships xmlns="http://schemas.openxmlformats.org/package/2006/relationships"><Relationship Id="rIdSlide" Type="http://schemas.openxmlformats.org/officeDocument/2006/relationships/slide" Target="../slides/slide8.xml"/><Relationship Id="rIdMaster" Type="http://schemas.openxmlformats.org/officeDocument/2006/relationships/notesMaster" Target="../notesMasters/notesMaster1.xml"/></Relationships>
</file>

<file path=ppt/notesSlides/_rels/notesSlide9.xml.rels><?xml version="1.0" encoding="UTF-8" standalone="yes"?><Relationships xmlns="http://schemas.openxmlformats.org/package/2006/relationships"><Relationship Id="rIdSlide" Type="http://schemas.openxmlformats.org/officeDocument/2006/relationships/slide" Target="../slides/slide9.xml"/><Relationship Id="rIdMaster" Type="http://schemas.openxmlformats.org/officeDocument/2006/relationships/notesMaster" Target="../notesMasters/notesMaster1.xml"/></Relationships>
</file>

<file path=ppt/notesSlides/_rels/notesSlide10.xml.rels><?xml version="1.0" encoding="UTF-8" standalone="yes"?><Relationships xmlns="http://schemas.openxmlformats.org/package/2006/relationships"><Relationship Id="rIdSlide" Type="http://schemas.openxmlformats.org/officeDocument/2006/relationships/slide" Target="../slides/slide10.xml"/><Relationship Id="rIdMaster" Type="http://schemas.openxmlformats.org/officeDocument/2006/relationships/notesMaster" Target="../notesMasters/notesMaster1.xml"/></Relationships>
</file>

<file path=ppt/notesSlides/_rels/notesSlide11.xml.rels><?xml version="1.0" encoding="UTF-8" standalone="yes"?><Relationships xmlns="http://schemas.openxmlformats.org/package/2006/relationships"><Relationship Id="rIdSlide" Type="http://schemas.openxmlformats.org/officeDocument/2006/relationships/slide" Target="../slides/slide11.xml"/><Relationship Id="rIdMaster" Type="http://schemas.openxmlformats.org/officeDocument/2006/relationships/notesMaster" Target="../notesMasters/notesMaster1.xml"/></Relationships>
</file>

<file path=ppt/notesSlides/_rels/notesSlide12.xml.rels><?xml version="1.0" encoding="UTF-8" standalone="yes"?><Relationships xmlns="http://schemas.openxmlformats.org/package/2006/relationships"><Relationship Id="rIdSlide" Type="http://schemas.openxmlformats.org/officeDocument/2006/relationships/slide" Target="../slides/slide12.xml"/><Relationship Id="rIdMaster" Type="http://schemas.openxmlformats.org/officeDocument/2006/relationships/notesMaster" Target="../notesMasters/notesMaster1.xml"/></Relationships>
</file>

<file path=ppt/notesSlides/_rels/notesSlide13.xml.rels><?xml version="1.0" encoding="UTF-8" standalone="yes"?><Relationships xmlns="http://schemas.openxmlformats.org/package/2006/relationships"><Relationship Id="rIdSlide" Type="http://schemas.openxmlformats.org/officeDocument/2006/relationships/slide" Target="../slides/slide13.xml"/><Relationship Id="rIdMaster" Type="http://schemas.openxmlformats.org/officeDocument/2006/relationships/notesMaster" Target="../notesMasters/notesMaster1.xml"/></Relationships>
</file>

<file path=ppt/notesSlides/_rels/notesSlide14.xml.rels><?xml version="1.0" encoding="UTF-8" standalone="yes"?><Relationships xmlns="http://schemas.openxmlformats.org/package/2006/relationships"><Relationship Id="rIdSlide" Type="http://schemas.openxmlformats.org/officeDocument/2006/relationships/slide" Target="../slides/slide14.xml"/><Relationship Id="rIdMaster" Type="http://schemas.openxmlformats.org/officeDocument/2006/relationships/notesMaster" Target="../notesMasters/notesMaster1.xml"/></Relationships>
</file>

<file path=ppt/notesSlides/_rels/notesSlide15.xml.rels><?xml version="1.0" encoding="UTF-8" standalone="yes"?><Relationships xmlns="http://schemas.openxmlformats.org/package/2006/relationships"><Relationship Id="rIdSlide" Type="http://schemas.openxmlformats.org/officeDocument/2006/relationships/slide" Target="../slides/slide15.xml"/><Relationship Id="rIdMaster" Type="http://schemas.openxmlformats.org/officeDocument/2006/relationships/notesMaster" Target="../notesMasters/notesMaster1.xml"/></Relationships>
</file>

<file path=ppt/notesSlides/_rels/notesSlide16.xml.rels><?xml version="1.0" encoding="UTF-8" standalone="yes"?><Relationships xmlns="http://schemas.openxmlformats.org/package/2006/relationships"><Relationship Id="rIdSlide" Type="http://schemas.openxmlformats.org/officeDocument/2006/relationships/slide" Target="../slides/slide16.xml"/><Relationship Id="rIdMaster" Type="http://schemas.openxmlformats.org/officeDocument/2006/relationships/notesMaster" Target="../notesMasters/notesMaster1.xml"/></Relationships>
</file>

<file path=ppt/notesSlides/_rels/notesSlide17.xml.rels><?xml version="1.0" encoding="UTF-8" standalone="yes"?><Relationships xmlns="http://schemas.openxmlformats.org/package/2006/relationships"><Relationship Id="rIdSlide" Type="http://schemas.openxmlformats.org/officeDocument/2006/relationships/slide" Target="../slides/slide17.xml"/><Relationship Id="rIdMaster"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40 minutes. Timings include the exercises and delivery pauses, without Q&amp;A. Sources checked 6 September 2026. Story prompts belong in speaker notes and require Dan’s own records before delivery.</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 00:00 to 02:30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RAG · embeddings · memory · MCP · judges · traces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There is a reading list under that pitch.</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agent uses RAG over an embedding store, adds memories to context, calls MCP tools, emits structured outputs, gets evaluated by an LLM judge, and traces the whole thing through our agent observability platform.</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sentence used to be the talk. Translate the nouns and everybody feels less behind. But knowing what the nouns mean does not tell us whether the retrieval works. The useful question is what the people who studied it already found out.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spent years calling it search. Then we called it a vector database and raised a round. The product category changed. The problem of deciding whether the returned material is useful did not wait for the funding announcement.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Read the opening sentence quickly and straight-faced. Pause after it. Keep this hook in every route.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2. 02:30 to 04:00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 are joining an old field late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This is an engineer's reading of information retrieval, with synthetic exercises and sources attached. The claim is that we skipped useful evaluation work, not that IR researchers solved every problem in RAG.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Eight words will do the work: term specificity, vector space model, vocabulary problem, passage retrieval, relevance judgment, the Cranfield paradigm, pooling, and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By the end we will use them to find a hole in a golden dataset. The hole will make a better retriever look worse. Then we will ask whether that happens in a collection built by people who knew to look for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retrieval improvement your eval rejected because it found evidence outside the original expected set. Bring the query, old labels, new document, and rejudgment.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3. 04:00 to 05:30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Sparck Jones · term specificity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1972 → 2026 = 54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Sparck Jones published a statistical interpretation of term specificity in 1972. A word that appears in almost every document tells you less about which document you want than a rare term does.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Think of an error code in a support query. The words "application error" occur everywhere. The exact identifier narrows the search. That is a concrete reason to keep lexical evidence in a retrieval system that also understands paraphrases.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Fifty-four years. We have had time to put her name on the slide. The point is not that every rare word is relevant. A typo can be rare. The point is that corpus frequency supplies evidence, and the evidence has a history and assumptions you can inspect.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Karen Sparck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a generic support phrase with an exact error identifier. Ask the room which term it would retain in a hybrid query.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4. 05:30 to 07:00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Yang · vector space model · 1975</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Deerwester and colleagues · latent semantic analysis · 1990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described a vector space model for automatic indexing in 1975. Documents become weighted representations that support comparisons. In 1990, Deerwester and colleagues described latent semantic analysis using a low-rank representation of term-document structure.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Modern neural embeddings differ in how they learn and what they represent. The useful continuity is representing text numerically so related material can be retrieved despite imperfect word matching.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vector store gives you a place to search those representations. It does not choose the right relevance definition. It does not tell you that a highly similar contract governs this customer. That work is still ours.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5. 07:00 to 08:30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customer says “stop billing”</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document says “terminate renewal”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Two people can refer to the same thing using different words. Furnas, Landauer, Gomez, and Dumais studied that vocabulary problem in human-system communication in 1987.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customer says stop billing. The policy says terminate renewal. Exact matching has a problem. A semantic representation is one answer. So are aliases, expansion, and better indexing. An embedding is a method, not the reason the problem exists.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reverse it. Two documents both say cancel, but one cancels a meeting and one cancels a subscription. Shared words do not establish shared intent. Evaluation needs cases for both vocabulary mismatch and misleading overlap.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Ask for two phrases a customer uses that never appear in the internal docs. Allow 30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6. 08:30 to 10:00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Buckley ·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useful passage may cross your boundary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Passage retrieval was being studied before our chunk-size arguments acquired a token budget. Salton, Allan, and Buckley compared approaches in 1993.</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Take a policy paragraph that says cancellation is allowed, followed by an exception for annual contracts. Split between those paragraphs and the first chunk becomes a very persuasive wrong answer. Make the chunk enormous and the exception competes with a page of irrelevant material.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papers do not contain the perfect chunk size for your current generator. They give you experimental questions. What unit are we retrieving? What counts as enough evidence? Are we measuring the passage, the document, or the answer produced from it? Change one and the score may mean something else.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7. 10:00 to 11:30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 2021: a robust lexical baseline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Compare lexical, dense, and hybrid on your task</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BEIR's 2021 experiments found BM25 a robust baseline across heterogeneous retrieval tasks. Reranking and late-interaction models performed best on average in that study, at higher computational cost.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a dated experimental result, not a claim that BM25 wins in 2026. It is a reason to include a cheap lexical baseline when measuring a new retriever. Exact identifiers and unfamiliar domain language are places where a semantic-looking system can disappoint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the comparison on the same corpus, queries, and judgments. Otherwise you have compared two demonstrations and called the difference a model improvement.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8. 11:30 to 14:30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 current generic policy; 30-day notice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 · signed Acme addendum; “see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 · expired Acme terms; immediate cancellation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D · current terms for another customer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 · support note; “probably immediate”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Acme asks whether it can cancel today without a fee. Which documents belong in the evidence supplied to answer it? Work in pairs for sixty seconds.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is current but generic. B is signed and specific, but refers to a schedule we have not supplied. C has the answer we might like and is expired. D is about somebody else. E is an employee's guess.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Now compare answers. You just made relevance judgments. Relevant to the topic, applicable to this customer, authoritative, and sufficient to answer are different criteria. If the room agrees perfectly, change the question from "useful evidence" to "enough to authorize cancellation" and compare again. Do not manufacture disagreement for the punchline.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Give 60 seconds in pairs and collect two judgments with reasons. Do not reveal the missing schedule until slide 10. Use contracts.md for the full synthetic fixture.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9. 14:30 to 17:00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Keen's Cranfield report is dated 1966. Fix a document collection, define questions, judge relevance, and compare systems under the same conditions. Sixty years later, that is a recognizable shape for an eval harness.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name is the Cranfield paradigm. It gives you a controlled comparison. It also forces choices about who writes the questions, who judges the evidence, and what the collection represents.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golden dataset is a test collection with a flattering filename. Write down its collection protocol. If it consists of whatever your first retriever happened to find, the next slide is about you.</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10. 17:00 to 21:00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Old pool: A, B, C, D, 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New result: F · signed Schedule 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Unjudged is not a relevance judgment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old retrievers contributed A through E to the judgment pool. Our new retriever finds F: the signed Schedule R referenced by B. It waives Acme's cancellation fee. Nobody judged it because nobody retrieved it.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Our naive scorer treats unjudged as nonrelevant. Old top two, B and A: two judged relevant, precision at two equals one. New top two, B and F: only B gets credit, precision at two equals point five. Judge F under the same rubric and the new run returns to one. We changed no retrieval output. We fixed the instrument.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TREC used pooling because judging every document for every query was impractical. Zobel investigated reliability with incomplete judgments. The risk is real; universal failure is not. In a 2022 recheck, Voorhees, Soboroff, and Lin expanded TREC-8 judgments and found system-rank correlations above point nine nine. Deep, diverse pools had held up.</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That is the lesson we missed. They tested whether the shortcut damaged the comparison. We called our first results golden.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Run `bun artifacts/speaking-portfolio-expanded/packets/retrieval/pooling.ts` after revealing F. Walk through 2/2, 1/2, then 2/2. Explain that the metric measures topical relevance, not sufficiency or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11. 21:00 to 23:30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2000: changed judgments, stable comparisons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Test your comparison under more than one assessor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Voorhees varied relevance judgments and examined the resulting system rankings. The comparative results stayed stable despite substantial judgment differences in those experiments.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An absolute score and an A-versus-B ordering make different demands on the labels. That does not mean a model judge is trustworthy because it ranks two answers. It means we have a specific test to run: relabel a sample independently, then see which conclusions survive.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disagreement as data. Was the case ambiguous? Did the rubric ask two questions at once? Did one assessor have the signed schedule and another not? A consensus label without that explanation can conceal exactly the distinction the next system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12. 23:30 to 26:00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Useful to inspect ≠ sufficient to answer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Score retrieval and the resulting answer separately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person inspecting a ranked list can notice that the signed addendum refers to a missing schedule and go looking. Our generator may instead turn the generic thirty-day policy into a fluent answer about Acme.</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We can build abstention and verification into that system. We cannot infer that it will use them from a good retrieval score. The retrieved material must be applicable, sufficiently complete, and represented with the qualifiers the answer needs.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Evaluate the handoff. Did retrieval find B and F? Did context assembly keep their relationship? Did the answer cite the actual exception? If the answer is wrong, those checks locate the failure instead of blaming the nearest model. IR also studied machine consumers before modern RAG; the change here is this particular generative handoff and its failure modes.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13. 26:00 to 28:00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Relevance gives evidence, not authority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A document cannot grant a tool permission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Put a sentence in the retrieved support note telling the assistant to ignore policy and issue a credit. It may be relevant text in a support corpus. It is still untrusted input.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The ranking score answers how well the content matches a retrieval objective. It does not authorize an action. Keep tool permissions and policy checks outside the retrieved document's control. A signed cancellation exception can supply facts for a decision; it cannot change which account the tool is permitted to modify.</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Keep this boundary in the end-to-end evaluation. Retrieval success, answer correctness, and action authorization are separate results. A useful citation does not turn a document into a supervisor.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Use a harmless printed instruction in the synthetic support note. Do not connect the exercise to live tools.</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Bridge: name the owner who updates the corpus and invalidates stale knowledge; the R1 maintenance comparison is in the long route.</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Source slide 15. 28:00 to 30:00</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Your eval suite has a grandfather.</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Find the documents your eval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Term specificity. Vector space model. Vocabulary problem. Passage retrieval. Relevance judgment. The Cranfield paradigm. Pooling. Assessor disagreement.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Those words tell us why rare identifiers matter, why synonyms are hard, why a passage needs its exception, and why the score depends on who judged which documents. They are tools for investigating a failure, not a history quiz.</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Sixty years since the Cranfield report. The field did not just build evaluations. It investigated when they could be trusted. Go find the documents your eval set never judged.</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Leave the B/F example up during questions. Keep all eight terms in the notes; the screen closes on the instruction.</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Sparck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resenter notes"/>
          <p:cNvSpPr txBox="1"/>
          <p:nvPr>
            <p:ph type="body" idx="1"/>
          </p:nvPr>
        </p:nvSpPr>
        <p:spPr>
          <a:xfrm>
            <a:off x="457200" y="1428750"/>
            <a:ext cx="5715000" cy="6667500"/>
          </a:xfrm>
        </p:spPr>
        <p:txBody>
          <a:bodyPr/>
          <a:lstStyle/>
          <a:p>
            <a:pPr marL="0" indent="0">
              <a:lnSpc>
                <a:spcPts val="1560"/>
              </a:lnSpc>
              <a:spcAft>
                <a:spcPts val="0"/>
              </a:spcAft>
              <a:buNone/>
            </a:pPr>
            <a:r>
              <a:rPr lang="en-US" sz="1200" b="0">
                <a:solidFill>
                  <a:srgbClr val="202b33"/>
                </a:solidFill>
                <a:latin typeface="Arial"/>
                <a:ea typeface="Arial"/>
                <a:cs typeface="Arial"/>
              </a:rPr>
              <a:t xml:space="preserve">Karen Sparck Jones (1972), A statistical interpretation of term specificity and its application in retrieval, Journal of Documentation 28(1), 11–21. [Author’s publication archive](https://www.cl.cam.ac.uk/archive/ksj21/ksjdigipapers/ksjbib3.html).</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Wong, and Yang (1975), [A vector space model for automatic indexing](https://doi.org/10.1145/361219.361220), Communications of the ACM 18(11), 613–620. Deerwester, Dumais, Furnas, Landauer, and Harshman (1990), [Indexing by Latent Semantic Analysis](https://www.cs.csustan.edu/~mmartin/LDS/Deerwester-et-al.pdf), JASIS 41(6), 391–407.</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Furnas, Landauer, Gomez, and Dumais (1987), [The vocabulary problem in human-system communication](https://doi.org/10.1145/32206.32212), Communications of the ACM 30(11), 964–971.</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Salton, Allan, and Buckley (1993), [Approaches to passage retrieval in full text information systems](https://doi.org/10.1145/160688.160693), SIGIR, 49–58.</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Thakur et al. (2021), [BEIR: A Heterogeneous Benchmark for Zero-shot Evaluation of Information Retrieval Models](https://openreview.net/pdf?id=wCu6T5xFjeJ), NeurIPS Datasets and Benchmarks. This slide reports the 2021 experiment.</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Cleverdon, Mills, and Keen (1966), [Factors Determining the Performance of Indexing Systems, Volume I, Design, Part 2, front matter](https://sigir.org/files/museum/Factors%20Determining%20the%20Performance%20of%20Indexing%20Systems%20Volume%20I.%20Design%20-%20Part%202.%20Appendices/pdfs/frontmatter.pdf).</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Justin Zobel (1998), [How reliable are the results of large-scale information retrieval experiments?](https://doi.org/10.1145/290941.291014), SIGIR, 307–314. Voorhees, Soboroff, and Lin (2022), [Can Old TREC Collections Reliably Evaluate Modern Neural Retrieval Models?](https://arxiv.org/abs/2201.11086). [NIST TREC overview](https://trec.nist.gov/overview.html), started 1992.</a:t>
            </a:r>
            <a:endParaRPr lang="en-US" sz="1200"/>
          </a:p>
          <a:p>
            <a:pPr marL="0" indent="0">
              <a:lnSpc>
                <a:spcPts val="1560"/>
              </a:lnSpc>
              <a:spcAft>
                <a:spcPts val="0"/>
              </a:spcAft>
              <a:buNone/>
            </a:pPr>
            <a:r>
              <a:rPr lang="en-US" sz="1200" b="0">
                <a:solidFill>
                  <a:srgbClr val="202b33"/>
                </a:solidFill>
                <a:latin typeface="Arial"/>
                <a:ea typeface="Arial"/>
                <a:cs typeface="Arial"/>
              </a:rPr>
              <a:t xml:space="preserve"/>
            </a:r>
            <a:endParaRPr lang="en-US" sz="1200"/>
          </a:p>
          <a:p>
            <a:pPr marL="0" indent="0">
              <a:lnSpc>
                <a:spcPts val="1560"/>
              </a:lnSpc>
              <a:spcAft>
                <a:spcPts val="0"/>
              </a:spcAft>
              <a:buNone/>
            </a:pPr>
            <a:r>
              <a:rPr lang="en-US" sz="1200" b="0">
                <a:solidFill>
                  <a:srgbClr val="202b33"/>
                </a:solidFill>
                <a:latin typeface="Arial"/>
                <a:ea typeface="Arial"/>
                <a:cs typeface="Arial"/>
              </a:rPr>
              <a:t xml:space="preserve">Ellen M. Voorhees (2000), [Variations in Relevance Judgments and the Measurement of Retrieval Effectiveness](https://www.nist.gov/publications/variations-relevance-judgments-and-measurement-retrieval-effectiveness), Information Processing &amp; Management 36(5), 697–716.</a:t>
            </a:r>
            <a:endParaRPr lang="en-US" sz="1200"/>
          </a:p>
        </p:txBody>
      </p:sp>
    </p:spTree>
  </p:cSld>
  <p:clrMapOvr>
    <a:masterClrMapping/>
  </p:clrMapOvr>
</p:notes>
</file>

<file path=ppt/slideLayouts/_rels/slideLayout1.xml.rels><?xml version="1.0" encoding="UTF-8" standalone="yes"?><Relationships xmlns="http://schemas.openxmlformats.org/package/2006/relationships"><Relationship Id="rIdMaster"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Relationships xmlns="http://schemas.openxmlformats.org/package/2006/relationships"><Relationship Id="rIdLayout" Type="http://schemas.openxmlformats.org/officeDocument/2006/relationships/slideLayout" Target="../slideLayouts/slideLayout1.xml"/><Relationship Id="rIdTheme"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accent1="accent1" accent2="accent2" accent3="accent3" accent4="accent4" accent5="accent5" accent6="accent6" bg1="lt1" bg2="lt2" folHlink="folHlink" hlink="hlink" tx1="dk1" tx2="dk2"/>
  <p:sldLayoutIdLst>
    <p:sldLayoutId id="2147483649" r:id="rIdLayout"/>
  </p:sldLayoutIdLst>
  <p:txStyles>
    <p:titleStyle/>
    <p:bodyStyle/>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0.xml"/><Relationship Id="rIdImage1" Type="http://schemas.openxmlformats.org/officeDocument/2006/relationships/image" Target="../media/slide10-1.png"/><Relationship Id="rIdSvg1" Type="http://schemas.openxmlformats.org/officeDocument/2006/relationships/image" Target="../media/slide10-1.svg"/></Relationships>
</file>

<file path=ppt/slides/_rels/slide1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514350"/>
            <a:ext cx="9144000" cy="285750"/>
          </a:xfrm>
          <a:prstGeom prst="rect">
            <a:avLst/>
          </a:prstGeom>
          <a:noFill/>
          <a:ln>
            <a:noFill/>
          </a:ln>
        </p:spPr>
        <p:txBody>
          <a:bodyPr wrap="none" lIns="0" tIns="0" rIns="0" bIns="0" anchor="t">
            <a:noAutofit/>
          </a:bodyPr>
          <a:lstStyle/>
          <a:p>
            <a:pPr marL="0" indent="0">
              <a:lnSpc>
                <a:spcPts val="1755"/>
              </a:lnSpc>
              <a:spcAft>
                <a:spcPts val="0"/>
              </a:spcAft>
              <a:buNone/>
            </a:pPr>
            <a:r>
              <a:rPr lang="en-US" sz="1350" b="1">
                <a:solidFill>
                  <a:srgbClr val="246957"/>
                </a:solidFill>
                <a:latin typeface="Arial"/>
                <a:ea typeface="Arial"/>
                <a:cs typeface="Arial"/>
              </a:rPr>
              <a:t xml:space="preserve">DAN LEVY</a:t>
            </a:r>
            <a:endParaRPr lang="en-US" sz="1350"/>
          </a:p>
        </p:txBody>
      </p:sp>
      <p:sp>
        <p:nvSpPr>
          <p:cNvPr id="3" name="Text 3"/>
          <p:cNvSpPr txBox="1"/>
          <p:nvPr/>
        </p:nvSpPr>
        <p:spPr>
          <a:xfrm>
            <a:off x="457200" y="1428750"/>
            <a:ext cx="9144000" cy="2381250"/>
          </a:xfrm>
          <a:prstGeom prst="rect">
            <a:avLst/>
          </a:prstGeom>
          <a:noFill/>
          <a:ln>
            <a:noFill/>
          </a:ln>
        </p:spPr>
        <p:txBody>
          <a:bodyPr wrap="none" lIns="0" tIns="0" rIns="0" bIns="0" anchor="t">
            <a:noAutofit/>
          </a:bodyPr>
          <a:lstStyle/>
          <a:p>
            <a:pPr marL="0" indent="0">
              <a:lnSpc>
                <a:spcPts val="4500"/>
              </a:lnSpc>
              <a:spcAft>
                <a:spcPts val="0"/>
              </a:spcAft>
              <a:buNone/>
            </a:pPr>
            <a:r>
              <a:rPr lang="en-US" sz="3750" b="1">
                <a:solidFill>
                  <a:srgbClr val="202B33"/>
                </a:solidFill>
                <a:latin typeface="Arial"/>
                <a:ea typeface="Arial"/>
                <a:cs typeface="Arial"/>
              </a:rPr>
              <a:t xml:space="preserve">Your Eval Suite Has a Grandfather</a:t>
            </a:r>
            <a:endParaRPr lang="en-US" sz="3750"/>
          </a:p>
        </p:txBody>
      </p:sp>
      <p:sp>
        <p:nvSpPr>
          <p:cNvPr id="4" name="Text 4"/>
          <p:cNvSpPr txBox="1"/>
          <p:nvPr/>
        </p:nvSpPr>
        <p:spPr>
          <a:xfrm>
            <a:off x="457200" y="4476750"/>
            <a:ext cx="9144000" cy="571500"/>
          </a:xfrm>
          <a:prstGeom prst="rect">
            <a:avLst/>
          </a:prstGeom>
          <a:noFill/>
          <a:ln>
            <a:noFill/>
          </a:ln>
        </p:spPr>
        <p:txBody>
          <a:bodyPr wrap="none" lIns="0" tIns="0" rIns="0" bIns="0" anchor="t">
            <a:noAutofit/>
          </a:bodyPr>
          <a:lstStyle/>
          <a:p>
            <a:pPr marL="0" indent="0">
              <a:lnSpc>
                <a:spcPts val="2925"/>
              </a:lnSpc>
              <a:spcAft>
                <a:spcPts val="0"/>
              </a:spcAft>
              <a:buNone/>
            </a:pPr>
            <a:r>
              <a:rPr lang="en-US" sz="2250" b="0">
                <a:solidFill>
                  <a:srgbClr val="246957"/>
                </a:solidFill>
                <a:latin typeface="Arial"/>
                <a:ea typeface="Arial"/>
                <a:cs typeface="Arial"/>
              </a:rPr>
              <a:t xml:space="preserve">30-minute route · Reading edition</a:t>
            </a:r>
            <a:endParaRPr lang="en-US" sz="2250"/>
          </a:p>
        </p:txBody>
      </p:sp>
      <p:sp>
        <p:nvSpPr>
          <p:cNvPr id="5" name="Text 5"/>
          <p:cNvSpPr txBox="1"/>
          <p:nvPr/>
        </p:nvSpPr>
        <p:spPr>
          <a:xfrm>
            <a:off x="457200" y="6496050"/>
            <a:ext cx="9048750" cy="762000"/>
          </a:xfrm>
          <a:prstGeom prst="rect">
            <a:avLst/>
          </a:prstGeom>
          <a:noFill/>
          <a:ln>
            <a:noFill/>
          </a:ln>
        </p:spPr>
        <p:txBody>
          <a:bodyPr wrap="none" lIns="0" tIns="0" rIns="0" bIns="0" anchor="t">
            <a:noAutofit/>
          </a:bodyPr>
          <a:lstStyle/>
          <a:p>
            <a:pPr marL="0" indent="0">
              <a:lnSpc>
                <a:spcPts val="2175"/>
              </a:lnSpc>
              <a:spcAft>
                <a:spcPts val="0"/>
              </a:spcAft>
              <a:buNone/>
            </a:pPr>
            <a:r>
              <a:rPr lang="en-US" sz="1575" b="0">
                <a:solidFill>
                  <a:srgbClr val="202B33"/>
                </a:solidFill>
                <a:latin typeface="Arial"/>
                <a:ea typeface="Arial"/>
                <a:cs typeface="Arial"/>
              </a:rPr>
              <a:t xml:space="preserve">14 source sections</a:t>
            </a:r>
            <a:endParaRPr lang="en-US" sz="1575"/>
          </a:p>
          <a:p>
            <a:pPr marL="0" indent="0">
              <a:lnSpc>
                <a:spcPts val="2175"/>
              </a:lnSpc>
              <a:spcAft>
                <a:spcPts val="0"/>
              </a:spcAft>
              <a:buNone/>
            </a:pPr>
            <a:r>
              <a:rPr lang="en-US" sz="1575" b="0">
                <a:solidFill>
                  <a:srgbClr val="202B33"/>
                </a:solidFill>
                <a:latin typeface="Arial"/>
                <a:ea typeface="Arial"/>
                <a:cs typeface="Arial"/>
              </a:rPr>
              <a:t xml:space="preserve">September 6, 2026</a:t>
            </a:r>
            <a:endParaRPr lang="en-US" sz="1575"/>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a:t>
            </a:r>
            <a:endParaRPr lang="en-US" sz="975"/>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01 / 14    SOURCE SLIDE 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sentence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RAG · embeddings · memory · MCP · judges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traces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There is a reading list under that pitch.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agent uses RAG over an embedding store,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adds memories to context, calls MCP tools,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emits structured outputs, gets evaluated by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LLM judge, and traces the whole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through our agent observability platform.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sentence used to be the talk.</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Translate the nouns and everybody feels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less behind. But knowing what the nouns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mean does not tell us whether the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works. The useful question is what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people who studied it already found out.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spent years calling it search. Then we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called it a vector database and raised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round. The product category changed.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of deciding whether the returned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material is useful did not wait for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funding announcement.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2</a:t>
            </a:r>
            <a:endParaRPr lang="en-US" sz="975"/>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02 / 14    SOURCE SLIDE 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bet, and the eight words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 are joining an old field late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This is an engineer's reading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with synthetic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exercises and sources attached. The claim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is that we skipped useful evaluation work,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that IR researchers solved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RAG.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Eight words will do the work: term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specificity, vector space model,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passage retrieval, relevance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judgment, the Cranfield paradigm, pooling,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the end we will use them to find a hole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golden dataset. The hole will make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retriever look worse. Then we will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ask whether that happens in a collection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built by people who knew to look for it.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3</a:t>
            </a:r>
            <a:endParaRPr lang="en-US" sz="975"/>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03 / 14    SOURCE SLIDE 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1972: rare words matter more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Sparck Jones · term specificity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1972 → 2026 = 54 years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Karen Sparck Jones published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in 1972.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word that appears in almost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tells you less about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you want than a rare term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Think of an error code in a support query.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words "application error" occur</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everywhere. The exact identifier narrows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search. That is a concrete reason to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lexical evidence in a retrieval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also understands paraphrases.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Fifty-four years. We have had time to 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her name on the slide. The point is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every rare word is relevant. A typo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be rare. The point is that corpus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frequency supplies evidence,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has a history and assumptions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inspect.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4</a:t>
            </a:r>
            <a:endParaRPr lang="en-US" sz="975"/>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04 / 14    SOURCE SLIDE 4</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1975 and 1990: the vector was already there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Wong, Yang · vector space model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 latent 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 ·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described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in 1975.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become weighted representations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support comparisons. In 1990,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and colleagues described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 analysis using a low-rank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representation of term-document structure.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Modern neural embeddings differ in how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learn and what they represent. The useful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continuity is representing text numerically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so related material can be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despite imperfect word matching.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vector store gives you a place to search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representations. It does not choose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right relevance definition. It does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tell you that a highly similar contract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governs this customer. That work is still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5</a:t>
            </a:r>
            <a:endParaRPr lang="en-US" sz="975"/>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05 / 14    SOURCE SLIDE 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The vocabulary problem</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The customer says “stop billing”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document says “terminate renewal”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Two people can refer to the same 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using different words. Furnas, Landauer,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Gomez, and Dumais studied that vocabulary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problem in human-system communication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customer says stop billing. The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says terminate renewal. Exact matching has</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problem. A semantic representation is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So are aliases, expansion,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better indexing. An embedding is a method,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the reason the problem exists.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reverse it. Two documents both say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 but one cancels a meeting and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cancels a subscription. Shared words do not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establish shared intent. Evaluation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cases for both vocabulary mismatch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misleading overlap.</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6</a:t>
            </a:r>
            <a:endParaRPr lang="en-US" sz="975"/>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06 / 14    SOURCE SLIDE 6</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Chunking is passage retrieval</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Salton, Allan, Buckley ·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useful passage may cross your boundary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Passage retrieval was being studied before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chunk-size arguments acquired a token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budget. Salton, Allan, and Buckley compared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in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Take a policy paragraph that says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is allowed, followed by 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for annual contracts. Split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between those paragraphs and the first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chunk becomes a very persuasive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answer. Make the chunk enormous and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exception competes with a page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irrelevant material.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papers do not contain the perfect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chunk size for your current generator. They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give you experimental questions. What unit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we retrieving? What counts as enough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evidence? Are we measuring the passage,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or the answer produced from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one and the score may mean something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7</a:t>
            </a:r>
            <a:endParaRPr lang="en-US" sz="975"/>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07 / 14    SOURCE SLIDE 7</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BM25 is still standing there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BEIR, 2021: a robust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lexical, dense, and hybrid on your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BEIR's 2021 experiments found BM25 a robust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baseline across heterogeneous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tasks. Reranking and late-interaction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 performed best on average in that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study, at higher computational cost.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a dated experimental result, not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claim that BM25 wins in 2026. It is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reason to include a cheap lexical baseline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when measuring a new retriever. Exact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identifiers and unfamiliar domain language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are places where a semantic-looking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 disappoint you.</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the comparison on the same corpus,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queries, and judgments. Otherwise you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compared two demonstrations and called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difference a model improvement.</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8</a:t>
            </a:r>
            <a:endParaRPr lang="en-US" sz="975"/>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08 / 14    SOURCE SLIDE 8</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Judge these five documents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 current generic policy; 30-day notice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B · signed Acme addendum; “see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 · expired Acme terms;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D · current terms for another customer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 · support note; “probably immediate”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Acme asks whether it can cancel today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a fee. Which documents belong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evidence supplied to answer it? Work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pairs for sixty seconds.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A is current but generic. B is signed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specific, but refers to a schedule we have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supplied. C has the answer we might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like and is expired. D is about somebody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else. E is an employee's guess.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Now compare answers. You just made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Relevant to the topic,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applicable to this customer, authoritative,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sufficient to answer are different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criteria. If the room agrees perfectly,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the question from "useful evidence"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"enough to authorize cancellation"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compare again. Do not manufacture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disagreement for the punchline.</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9</a:t>
            </a:r>
            <a:endParaRPr lang="en-US" sz="975"/>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09 / 14    SOURCE SLIDE 9</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Cranfield, Bedfordshire, 1966</a:t>
            </a:r>
            <a:endParaRPr lang="en-US" sz="2550"/>
          </a:p>
        </p:txBody>
      </p:sp>
      <p:sp>
        <p:nvSpPr>
          <p:cNvPr id="4" name="Image background"/>
          <p:cNvSpPr/>
          <p:nvPr/>
        </p:nvSpPr>
        <p:spPr>
          <a:xfrm>
            <a:off x="1554480" y="1781175"/>
            <a:ext cx="6949440" cy="2714625"/>
          </a:xfrm>
          <a:prstGeom prst="rect">
            <a:avLst/>
          </a:prstGeom>
          <a:solidFill>
            <a:srgbClr val="161D26"/>
          </a:solidFill>
          <a:ln>
            <a:noFill/>
          </a:ln>
        </p:spPr>
      </p:sp>
      <p:pic>
        <p:nvPicPr>
          <p:cNvPr id="5" name="3d65c12ae661fd9ad5ccfdb4af281d085e0dc1608a0306f237db7921c07bcdad" descr="Cranfield, Bedfordshire, 1966"/>
          <p:cNvPicPr>
            <a:picLocks noChangeAspect="1"/>
          </p:cNvPicPr>
          <p:nvPr/>
        </p:nvPicPr>
        <p:blipFill>
          <a:blip r:embed="rIdImage1">
            <a:extLst>
              <a:ext uri="{96DAC541-7B7A-43D3-8B79-37D633B846F1}">
                <asvg:svgBlip xmlns:asvg="http://schemas.microsoft.com/office/drawing/2016/SVG/main" r:embed="rIdSvg1"/>
              </a:ext>
            </a:extLst>
          </a:blip>
          <a:stretch>
            <a:fillRect/>
          </a:stretch>
        </p:blipFill>
        <p:spPr>
          <a:xfrm>
            <a:off x="1554480" y="1781175"/>
            <a:ext cx="6949440" cy="2714625"/>
          </a:xfrm>
          <a:prstGeom prst="rect">
            <a:avLst/>
          </a:prstGeom>
          <a:ln>
            <a:noFill/>
          </a:ln>
        </p:spPr>
      </p:pic>
      <p:sp>
        <p:nvSpPr>
          <p:cNvPr id="6" name="Text 6"/>
          <p:cNvSpPr txBox="1"/>
          <p:nvPr/>
        </p:nvSpPr>
        <p:spPr>
          <a:xfrm>
            <a:off x="457200" y="4648200"/>
            <a:ext cx="4352925"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Corpus + queries + relevance judgments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1966 → 2026 = 60 years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Cleverdon, Mills, and Keen's Cranfield report is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dated 1966. Fix a document collection, define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questions, judge relevance, and compare systems under</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the same conditions. Sixty years later, that is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recognizable shape for an eval harness.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p:txBody>
      </p:sp>
      <p:sp>
        <p:nvSpPr>
          <p:cNvPr id="7" name="Text 7"/>
          <p:cNvSpPr txBox="1"/>
          <p:nvPr/>
        </p:nvSpPr>
        <p:spPr>
          <a:xfrm>
            <a:off x="5238750" y="4648200"/>
            <a:ext cx="4362450" cy="2647950"/>
          </a:xfrm>
          <a:prstGeom prst="rect">
            <a:avLst/>
          </a:prstGeom>
          <a:noFill/>
          <a:ln>
            <a:noFill/>
          </a:ln>
        </p:spPr>
        <p:txBody>
          <a:bodyPr wrap="none" lIns="0" tIns="0" rIns="0" bIns="0" anchor="t">
            <a:noAutofit/>
          </a:bodyPr>
          <a:lstStyle/>
          <a:p>
            <a:pPr marL="0" indent="0">
              <a:lnSpc>
                <a:spcPts val="1575"/>
              </a:lnSpc>
              <a:spcAft>
                <a:spcPts val="0"/>
              </a:spcAft>
              <a:buNone/>
            </a:pPr>
            <a:r>
              <a:rPr lang="en-US" sz="1200" b="0">
                <a:solidFill>
                  <a:srgbClr val="202B33"/>
                </a:solidFill>
                <a:latin typeface="Arial"/>
                <a:ea typeface="Arial"/>
                <a:cs typeface="Arial"/>
              </a:rPr>
              <a:t xml:space="preserve">The name is the Cranfield paradigm. It gives you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controlled comparison. It also forces choices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who writes the questions, who judges the evidence,</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and what the collection represents.</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Your golden dataset is a test collection with a</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flattering filename. Write down its collection</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protocol. If it consists of whatever your first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retriever happened to find, the next slide is about</a:t>
            </a:r>
            <a:endParaRPr lang="en-US" sz="1200"/>
          </a:p>
          <a:p>
            <a:pPr marL="0" indent="0">
              <a:lnSpc>
                <a:spcPts val="1575"/>
              </a:lnSpc>
              <a:spcAft>
                <a:spcPts val="0"/>
              </a:spcAft>
              <a:buNone/>
            </a:pPr>
            <a:r>
              <a:rPr lang="en-US" sz="1200" b="0">
                <a:solidFill>
                  <a:srgbClr val="202B33"/>
                </a:solidFill>
                <a:latin typeface="Arial"/>
                <a:ea typeface="Arial"/>
                <a:cs typeface="Arial"/>
              </a:rPr>
              <a:t xml:space="preserve">you.</a:t>
            </a:r>
            <a:endParaRPr lang="en-US" sz="1200"/>
          </a:p>
        </p:txBody>
      </p:sp>
      <p:sp>
        <p:nvSpPr>
          <p:cNvPr id="8" name="Text 8"/>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9" name="Text 9"/>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10</a:t>
            </a:r>
            <a:endParaRPr lang="en-US" sz="975"/>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10 / 14    SOURCE SLIDE 10</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Demo: the hole in the golden set</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Old pool: A, B, C, D,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New result: F · signed Schedule 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Unjudged is not a relevance judgment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old retrievers contributed A through 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to the judgment pool. Our new retriever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finds F: the signed Schedule R referenced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by B. It waives Acme's cancellation fee.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Nobody judged it because nobody retrieved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Our naive scorer treats unjudged as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nonrelevant. Old top two, B and A: two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 relevant, precision at two equals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one. New top two, B and F: only B gets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credit, precision at two equals point five.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Judge F under the same rubric and the new</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run returns to one. We changed no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output. We fixed the instrument.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TREC used pooling because judging every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 for every query was impractical.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Zobel investigated reliability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incomplete judgments. The risk is real;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universal failure is not. In a 2022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recheck,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expanded TREC-8 judgments and found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system-rank correlations above point nine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nine. Deep, diverse pools had held up.</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That is the lesson we missed. They tested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whether the shortcut damaged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 We called our first results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golden.</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11</a:t>
            </a:r>
            <a:endParaRPr lang="en-US" sz="975"/>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11 / 14    SOURCE SLIDE 11</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Assessors disagree. Rankings can survive.</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Voorhees, 2000: changed judgments, stable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comparisons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Test your comparison under more than one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assessor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Voorhees varied relevance judgments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examined the resulting system rankings.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comparative results stayed stable despite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substantial judgment differences in those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experiments.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 absolute score and an A-versus-B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ordering make different demands on the</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labels. That does not mean a model judge is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trustworthy because it ranks two answers.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It means we have a specific test to run: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relabel a sample independently, then see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which conclusions survive.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disagreement as data. Was the case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ambiguous? Did the rubric ask two questions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at once? Did one assessor have the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schedule and another not? A consensus label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without that explanation can conceal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exactly the distinction the next 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needs.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12</a:t>
            </a:r>
            <a:endParaRPr lang="en-US" sz="975"/>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12 / 14    SOURCE SLIDE 12</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What changed: the next reader is a generator</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Useful to inspect ≠ sufficient to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retrieval and the resulting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person inspecting a ranked list can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notice that the signed addendum refers to a</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missing schedule and go looking. Our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generator may instead turn the generic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thirty-day policy into a fluent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about Acme.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We can build abstention and verification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into that system. We cannot infer that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will use them from a good retrieval score.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retrieved material must be applicable,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sufficiently complete, and represented with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qualifiers the answer needs.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the handoff. Did retrieval find B</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F? Did context assembly keep their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relationship? Did the answer cite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actual exception? If the answer is wrong,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checks locate the failure instead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blaming the nearest model. IR also studied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machine consumers before modern RAG;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change here is this particular generative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handoff and its failure modes.</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13</a:t>
            </a:r>
            <a:endParaRPr lang="en-US" sz="975"/>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13 / 14    SOURCE SLIDE 13</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Retrieved text now sits beside instructions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Relevance gives evidence, not authority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document cannot grant a tool permission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Put a sentence in the retrieved support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note telling the assistant to ignore policy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and issue a credit. It may be relevant text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 a support corpus. It is still untrusted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input.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ranking score answers how well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content matches a retrieval objective. It</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does not authorize an action. Keep tool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permissions and policy checks outside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retrieved document's control. A signed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cancellation exception can supply facts for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decision; it cannot change which account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tool is permitted to modify.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Keep this boundary in the end-to-end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evaluation. Retrieval success, answer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correctness, and action authorization are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separate results. A useful citation does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not turn a document into a supervisor.</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14</a:t>
            </a:r>
            <a:endParaRPr lang="en-US" sz="975"/>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14 / 14    SOURCE SLIDE 15</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Eight words. Sixty years. One instruction.</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Your eval suite has a grandfather.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never judged.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Term specificity. Vector space model.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Vocabulary problem. Passage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 The Cranfield paradigm.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Pooling. Assessor disagreement.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Those words tell us why rare identifiers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why synonyms are hard, why a</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passage needs its exception, and why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score depends on who judged which</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documents. They are tools for investigating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 failure, not a history quiz.</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Sixty years since the Cranfield report.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field did not just build evaluations. It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investigated when they could be trusted. Go</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find the documents your eval set never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judged.</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15</a:t>
            </a:r>
            <a:endParaRPr lang="en-US" sz="975"/>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Karen Sparck Jones (1972), A statistical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interpretation of term specificity and its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application in retrieval, Journal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Documentation 28(1), 11–21. Author’s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publication archive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https://www.cl.cam.ac.uk/archive/ksj21/ksjdigipapers/ksjbib3.html.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Wong, and Yang (1975), A vector</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space model for automatic indexing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https://doi.org/10.1145/361219.361220),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Communications of the ACM 18(11), 613–620.</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Deerwester, Dumais, Furnas, Landauer, and</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Harshman (1990), [Indexing by Latent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Semantic</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Analysis](https://www.cs.csustan.edu/~mmartin/LDS/Deerwester-et-al.pdf),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JASIS 41(6, 391–407.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Furnas, Landauer, Gomez, and Dumais (1987),</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The vocabulary problem in human-system</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communication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https://doi.org/10.1145/32206.32212),</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Communications of the ACM 30(11, 964–971.</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Salton, Allan, and Buckley (1993),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Approaches to passage retrieval in full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text information systems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https://doi.org/10.1145/160688.160693,</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49–58.</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Thakur et al. (2021), BEIR: A Heterogeneous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Benchmark for Zero-shot Evaluation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Retrieval Models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https://openreview.net/pdf?id=wCu6T5xFjeJ,</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NeurIPS Datasets and Benchmarks. This slide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reports the 2021 experiment.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Cleverdon, Mills, and Keen (1966), Factors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Determining the Performance of Indexing</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Systems, Volume I, Design, Part 2, front</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matter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https://sigir.org/files/museum/Factors%20Determining%20the%20Performance%20of%20Indexing%20Systems%20Volume%20I.%20Design%20-%20Part%202.%20Appendices/pdfs/frontmatter.pdf.</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16</a:t>
            </a:r>
            <a:endParaRPr lang="en-US" sz="975"/>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AFAF7"/>
        </a:solidFill>
        <a:effectLst/>
      </p:bgPr>
    </p:bg>
    <p:spTree>
      <p:nvGrpSpPr>
        <p:cNvPr id="1" name=""/>
        <p:cNvGrpSpPr/>
        <p:nvPr/>
      </p:nvGrpSpPr>
      <p:grpSpPr>
        <a:xfrm>
          <a:off x="0" y="0"/>
          <a:ext cx="0" cy="0"/>
          <a:chOff x="0" y="0"/>
          <a:chExt cx="0" cy="0"/>
        </a:xfrm>
      </p:grpSpPr>
      <p:sp>
        <p:nvSpPr>
          <p:cNvPr id="2" name="Text 2"/>
          <p:cNvSpPr txBox="1"/>
          <p:nvPr/>
        </p:nvSpPr>
        <p:spPr>
          <a:xfrm>
            <a:off x="457200" y="266700"/>
            <a:ext cx="9144000" cy="228600"/>
          </a:xfrm>
          <a:prstGeom prst="rect">
            <a:avLst/>
          </a:prstGeom>
          <a:noFill/>
          <a:ln>
            <a:noFill/>
          </a:ln>
        </p:spPr>
        <p:txBody>
          <a:bodyPr wrap="none" lIns="0" tIns="0" rIns="0" bIns="0" anchor="t">
            <a:noAutofit/>
          </a:bodyPr>
          <a:lstStyle/>
          <a:p>
            <a:pPr marL="0" indent="0">
              <a:lnSpc>
                <a:spcPts val="1365"/>
              </a:lnSpc>
              <a:spcAft>
                <a:spcPts val="0"/>
              </a:spcAft>
              <a:buNone/>
            </a:pPr>
            <a:r>
              <a:rPr lang="en-US" sz="1050" b="1">
                <a:solidFill>
                  <a:srgbClr val="246957"/>
                </a:solidFill>
                <a:latin typeface="Arial"/>
                <a:ea typeface="Arial"/>
                <a:cs typeface="Arial"/>
              </a:rPr>
              <a:t xml:space="preserve">SOURCE REFERENCES</a:t>
            </a:r>
            <a:endParaRPr lang="en-US" sz="1050"/>
          </a:p>
        </p:txBody>
      </p:sp>
      <p:sp>
        <p:nvSpPr>
          <p:cNvPr id="3" name="Text 3"/>
          <p:cNvSpPr txBox="1"/>
          <p:nvPr/>
        </p:nvSpPr>
        <p:spPr>
          <a:xfrm>
            <a:off x="457200" y="657225"/>
            <a:ext cx="9144000" cy="1104900"/>
          </a:xfrm>
          <a:prstGeom prst="rect">
            <a:avLst/>
          </a:prstGeom>
          <a:noFill/>
          <a:ln>
            <a:noFill/>
          </a:ln>
        </p:spPr>
        <p:txBody>
          <a:bodyPr wrap="none" lIns="0" tIns="0" rIns="0" bIns="0" anchor="t">
            <a:noAutofit/>
          </a:bodyPr>
          <a:lstStyle/>
          <a:p>
            <a:pPr marL="0" indent="0">
              <a:lnSpc>
                <a:spcPts val="3060"/>
              </a:lnSpc>
              <a:spcAft>
                <a:spcPts val="0"/>
              </a:spcAft>
              <a:buNone/>
            </a:pPr>
            <a:r>
              <a:rPr lang="en-US" sz="2550" b="1">
                <a:solidFill>
                  <a:srgbClr val="202B33"/>
                </a:solidFill>
                <a:latin typeface="Arial"/>
                <a:ea typeface="Arial"/>
                <a:cs typeface="Arial"/>
              </a:rPr>
              <a:t xml:space="preserve">References (continued)</a:t>
            </a:r>
            <a:endParaRPr lang="en-US" sz="2550"/>
          </a:p>
        </p:txBody>
      </p:sp>
      <p:sp>
        <p:nvSpPr>
          <p:cNvPr id="4" name="Text 4"/>
          <p:cNvSpPr txBox="1"/>
          <p:nvPr/>
        </p:nvSpPr>
        <p:spPr>
          <a:xfrm>
            <a:off x="457200" y="1971675"/>
            <a:ext cx="4352925"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Justin Zobel (1998), How reliable are the</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results of large-scale information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experiments?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https://doi.org/10.1145/290941.291014),</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SIGIR, 307–314. Voorhees, Soboroff, and Lin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(2022), [Can Old TREC Collections Reliably</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Evaluate Modern Neural Retrieval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Models?](https://arxiv.org/abs/2201.11086).</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[NIST TREC</a:t>
            </a:r>
            <a:endParaRPr lang="en-US" sz="1500"/>
          </a:p>
        </p:txBody>
      </p:sp>
      <p:sp>
        <p:nvSpPr>
          <p:cNvPr id="5" name="Text 5"/>
          <p:cNvSpPr txBox="1"/>
          <p:nvPr/>
        </p:nvSpPr>
        <p:spPr>
          <a:xfrm>
            <a:off x="5238750" y="1971675"/>
            <a:ext cx="4362450" cy="5314950"/>
          </a:xfrm>
          <a:prstGeom prst="rect">
            <a:avLst/>
          </a:prstGeom>
          <a:noFill/>
          <a:ln>
            <a:noFill/>
          </a:ln>
        </p:spPr>
        <p:txBody>
          <a:bodyPr wrap="none" lIns="0" tIns="0" rIns="0" bIns="0" anchor="t">
            <a:noAutofit/>
          </a:bodyPr>
          <a:lstStyle/>
          <a:p>
            <a:pPr marL="0" indent="0">
              <a:lnSpc>
                <a:spcPts val="1950"/>
              </a:lnSpc>
              <a:spcAft>
                <a:spcPts val="0"/>
              </a:spcAft>
              <a:buNone/>
            </a:pPr>
            <a:r>
              <a:rPr lang="en-US" sz="1500" b="0">
                <a:solidFill>
                  <a:srgbClr val="202B33"/>
                </a:solidFill>
                <a:latin typeface="Arial"/>
                <a:ea typeface="Arial"/>
                <a:cs typeface="Arial"/>
              </a:rPr>
              <a:t xml:space="preserve">overview](https://trec.nist.gov/overview.html,</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started 1992.</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
            </a:r>
            <a:endParaRPr lang="en-US" sz="1500"/>
          </a:p>
          <a:p>
            <a:pPr marL="0" indent="0">
              <a:lnSpc>
                <a:spcPts val="1950"/>
              </a:lnSpc>
              <a:spcAft>
                <a:spcPts val="0"/>
              </a:spcAft>
              <a:buNone/>
            </a:pPr>
            <a:r>
              <a:rPr lang="en-US" sz="1500" b="0">
                <a:solidFill>
                  <a:srgbClr val="202B33"/>
                </a:solidFill>
                <a:latin typeface="Arial"/>
                <a:ea typeface="Arial"/>
                <a:cs typeface="Arial"/>
              </a:rPr>
              <a:t xml:space="preserve">Ellen M. Voorhees (2000), Variations in</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Relevance Judgments and the Measurement of</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Retrieval Effectiveness —</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https://www.nist.gov/publications/variations-relevance-judgments-and-measurement-retrieval-effectiveness),</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Information Processing &amp; Management 36(5,</a:t>
            </a:r>
            <a:endParaRPr lang="en-US" sz="1500"/>
          </a:p>
          <a:p>
            <a:pPr marL="0" indent="0">
              <a:lnSpc>
                <a:spcPts val="1950"/>
              </a:lnSpc>
              <a:spcAft>
                <a:spcPts val="0"/>
              </a:spcAft>
              <a:buNone/>
            </a:pPr>
            <a:r>
              <a:rPr lang="en-US" sz="1500" b="0">
                <a:solidFill>
                  <a:srgbClr val="202B33"/>
                </a:solidFill>
                <a:latin typeface="Arial"/>
                <a:ea typeface="Arial"/>
                <a:cs typeface="Arial"/>
              </a:rPr>
              <a:t xml:space="preserve">697–716.</a:t>
            </a:r>
            <a:endParaRPr lang="en-US" sz="1500"/>
          </a:p>
        </p:txBody>
      </p:sp>
      <p:sp>
        <p:nvSpPr>
          <p:cNvPr id="6" name="Text 6"/>
          <p:cNvSpPr txBox="1"/>
          <p:nvPr/>
        </p:nvSpPr>
        <p:spPr>
          <a:xfrm>
            <a:off x="457200" y="7486650"/>
            <a:ext cx="8820150"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Your Eval Suite Has a Grandfather</a:t>
            </a:r>
            <a:endParaRPr lang="en-US" sz="975"/>
          </a:p>
        </p:txBody>
      </p:sp>
      <p:sp>
        <p:nvSpPr>
          <p:cNvPr id="7" name="Text 7"/>
          <p:cNvSpPr txBox="1"/>
          <p:nvPr/>
        </p:nvSpPr>
        <p:spPr>
          <a:xfrm>
            <a:off x="9391650" y="7486650"/>
            <a:ext cx="238125" cy="190500"/>
          </a:xfrm>
          <a:prstGeom prst="rect">
            <a:avLst/>
          </a:prstGeom>
          <a:noFill/>
          <a:ln>
            <a:noFill/>
          </a:ln>
        </p:spPr>
        <p:txBody>
          <a:bodyPr wrap="none" lIns="0" tIns="0" rIns="0" bIns="0" anchor="t">
            <a:noAutofit/>
          </a:bodyPr>
          <a:lstStyle/>
          <a:p>
            <a:pPr marL="0" indent="0">
              <a:lnSpc>
                <a:spcPts val="1268"/>
              </a:lnSpc>
              <a:spcAft>
                <a:spcPts val="0"/>
              </a:spcAft>
              <a:buNone/>
            </a:pPr>
            <a:r>
              <a:rPr lang="en-US" sz="975" b="0">
                <a:solidFill>
                  <a:srgbClr val="48555B"/>
                </a:solidFill>
                <a:latin typeface="Arial"/>
                <a:ea typeface="Arial"/>
                <a:cs typeface="Arial"/>
              </a:rPr>
              <a:t xml:space="preserve">17</a:t>
            </a:r>
            <a:endParaRPr lang="en-US" sz="975"/>
          </a:p>
        </p:txBody>
      </p:sp>
    </p:spTree>
  </p:cSld>
  <p:clrMapOvr>
    <a:masterClrMapping/>
  </p:clrMapOvr>
</p:sld>
</file>

<file path=ppt/theme/theme1.xml><?xml version="1.0" encoding="utf-8"?>
<a:theme xmlns:a="http://schemas.openxmlformats.org/drawingml/2006/main" name="Dan Levy talks">
  <a:themeElements>
    <a:clrScheme name="Talk palette">
      <a:dk1>
        <a:srgbClr val="202B33"/>
      </a:dk1>
      <a:lt1>
        <a:srgbClr val="FFFFFF"/>
      </a:lt1>
      <a:dk2>
        <a:srgbClr val="48555B"/>
      </a:dk2>
      <a:lt2>
        <a:srgbClr val="FAFAF7"/>
      </a:lt2>
      <a:accent1>
        <a:srgbClr val="246957"/>
      </a:accent1>
      <a:accent2>
        <a:srgbClr val="728482"/>
      </a:accent2>
      <a:accent3>
        <a:srgbClr val="53616F"/>
      </a:accent3>
      <a:accent4>
        <a:srgbClr val="9D7462"/>
      </a:accent4>
      <a:accent5>
        <a:srgbClr val="7D86A0"/>
      </a:accent5>
      <a:accent6>
        <a:srgbClr val="9E996B"/>
      </a:accent6>
      <a:hlink>
        <a:srgbClr val="246957"/>
      </a:hlink>
      <a:folHlink>
        <a:srgbClr val="925700"/>
      </a:folHlink>
    </a:clrScheme>
    <a:fontScheme name="Arial">
      <a:majorFont>
        <a:latin typeface="Arial"/>
        <a:ea typeface=""/>
        <a:cs typeface=""/>
      </a:majorFont>
      <a:minorFont>
        <a:latin typeface="Arial"/>
        <a:ea typeface=""/>
        <a:cs typeface=""/>
      </a:minorFont>
    </a:fontScheme>
    <a:fmtScheme name="Plain">
      <a:fillStyleLst>
        <a:solidFill>
          <a:schemeClr val="phClr"/>
        </a:solidFill>
        <a:solidFill>
          <a:schemeClr val="phClr"/>
        </a:solidFill>
        <a:solidFill>
          <a:schemeClr val="phClr"/>
        </a:solidFill>
      </a:fillStyleLst>
      <a:lnStyleLst>
        <a:ln w="9525">
          <a:solidFill>
            <a:schemeClr val="phClr"/>
          </a:solidFill>
          <a:prstDash val="solid"/>
        </a:ln>
        <a:ln w="9525">
          <a:solidFill>
            <a:schemeClr val="phClr"/>
          </a:solidFill>
          <a:prstDash val="solid"/>
        </a:ln>
        <a:ln w="9525">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solidFill>
          <a:schemeClr val="phClr"/>
        </a:solidFill>
        <a:solidFill>
          <a:schemeClr val="phClr"/>
        </a:solidFill>
      </a:bgFillStyleLst>
    </a:fmtScheme>
  </a:themeElements>
</a:theme>
</file>

<file path=docProps/app.xml><?xml version="1.0" encoding="utf-8"?>
<Properties xmlns="http://schemas.openxmlformats.org/officeDocument/2006/extended-properties">
  <Application>Talk package exporter</Application>
  <Slides>17</Slides>
  <Notes>17</Notes>
</Properties>
</file>

<file path=docProps/core.xml><?xml version="1.0" encoding="utf-8"?>
<cp:coreProperties xmlns:cp="http://schemas.openxmlformats.org/package/2006/metadata/core-properties" xmlns:dc="http://purl.org/dc/elements/1.1/" xmlns:dcterms="http://purl.org/dc/terms/" xmlns:xsi="http://www.w3.org/2001/XMLSchema-instance">
  <dc:title>Your Eval Suite Has a Grandfather</dc:title>
  <dc:creator>Dan Levy</dc:creator>
  <dc:description>handout edition generated from current reviewed talk materials</dc:description>
  <dcterms:created xsi:type="dcterms:W3CDTF">2026-09-06T09:11:11Z</dcterms:created>
</cp:coreProperties>
</file>