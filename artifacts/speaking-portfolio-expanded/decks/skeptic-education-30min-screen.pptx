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Preserve the reason students are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Educators hear two promises: every student gets a private genius, or every assignment is now worthless. Neither tells you what to do on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I assume access will persist, so we design around it. Research today stays attached to its setting. The exercise is a design tool. From here on, recommendations.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Hold one real assignment in mind. By the end you should be able to name its capability, place assistance, and choose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assignment of yours or a colleague's that AI broke first, and what you did that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count as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benefits if we believe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Skepticism should produce better questions, not permanent refusal. A vendor says the tutor improves learning: ask what students did unaided afterward. A colleague says the tool destroys thinking: ask which task, which learners, which help. Both need a comparison. Write the claim so it could fail: "students using this hint sequence will explain source bias on a new document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failures you will hear about this year: the confident wrong answer that got an A, and the pilot that improved scores and nothing else. Both are design failures, and both can be anticipated.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Artifact: a polished essay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Capability: weigh conflicting sources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Evidence: explain a choice and revise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formatted essay proves an essay exists. Our objective: given two primary sources that disagree about the same event, explain which to trust more for a specific question and why. A polished essay can summarize both and never make the judgment. Keep the artifact; add the moment where the reasoning is visible.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Delegate effort outside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Augment practice toward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Preserve evidence of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Decisions about a learner on a task at a stage, not permanent lists. Formatting citations: delegate in a seminar, preserve when citation is the lesson. Suggesting a counter-reading: augment during drafting, preserve during the independent check. The same activity moves columns when the objective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(60 s): one verb from your assignment in a column, and finish "because students need to learn [blank]." If the reason is missing, the tool policy is doing the curriculum's job badly.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Spelling without assistance →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Strength of an argument → Augment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Scientific explanation → Delegate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Follow [runbook section 1](../demos/DEMO-RUNBOOK.md#1-a-skeptics-guide-to-surviving-ai-in-education). Same general assistance; the verdict changes with the capability under assessment. Translate to the history example: grammar help is Delegate; a counter-reading is Augment while drafting; the final "which source and why" paragraph is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(45 s): for your assignment, what evidence would show the capability if the artifact were produced with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Compression: at two minutes, one switch, state the other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switches; narrate the third.</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11:30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 "The diary is more reliable because it is older."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Tutor A: "Great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Tutor B: "Older than what? What would make a diary unreliable?"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Sycophancy is the first failure to expect. A tutor that affirms a plausible mistake trains the mistake. Handling is on slide 11: confident wrong answers go into your local eval set before any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confidently wrong AI answer you or a student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Drop the story.</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13:00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16:00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Authorship inference ≠ learning evidence ≠ misconduct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and colleagues found the detectors they tested produced false positives on nonnative English writing and were sensitive to rewriting. Evidence about tested tools, not every future detector. Even a good authorship signal would not tell you whether the student can weigh sources. Handling: no disciplinary consequence is automated from a score. And no detector stunt on 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17:30 to 19:00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Comparable tools or a usable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Accessible ways to explain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Clear permission before the task; no surprise surveillance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assisted practice is permitted, provide comparable access. If oral explanation is chosen, plan accommodations and language needs so you are not grading speaking ease by accident. State what is retained and who sees it. A policy that creates unequal access distorts the measurement before the first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19:00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smallest change that would have caught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two minutes. One partner names how the assignment's AI policy failed: confirmed error, vanished gains, false accusation, unequal access, or something new. The other names the smallest change that would have caught it. Then thirty seconds of shared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how confidence is earned. Not by trusting the tool, but by having already imagined its failure and put a check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ninety seconds.</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 set: a confident wrong answer, a right answer with faulty reasoning, a request for the solution, a learner the tutor misunderstands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Evidence: one added question, a changed constraint, a correction with a reason, a later independent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cases before any pilot. For the history example, the tutor must not affirm "older means more reliable." Two educators score the teaching moves; factual errors counted separately from pacing and tone. A benchmark score cannot certify your lesson.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proportional evidence. Add one question that improves the inference: "which source did you trust more, and what would change your mind?" Collect enough to support a decision, not enough to reconstruct a student's life.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24:00 to 25:30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Diagnose the misconception · Interpret ambiguous evidence · Own consequential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AI scales instruction far more easily than it scales wisdom. A tutor supplies another exercise fast. A teacher notices the student reasons well aloud but freezes on the written form, or that a language issue is being scored as a history error. Reserve human attention for interpretation and consequential grading. A human escalation promise needs an actual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25:30 to 28:30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Name the capability · Specify permitted assistance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evidence before and after · Decide whether to keep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 the vendor: what learning improved, compared with what, for whom, at what staff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Redesign one assignment, not the institution. Write the objective and a simple rubric. Keep a baseline sample. Estimate staff time. Agree what improvement justifies continuing. Invite students to report confusing instructions. Two educators grade a sample and resolve disagreements first. TEQSA's guidance supports multiple contextual approaches; this is one local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the next vendor demo, ask them to walk through one learner misconception and show the teaching response. Ask what was measured after assistance stopped, what happens when the tutor is wrong, and what work falls back onto staff. A tool that saves preparation time without improving learning may still be worth buying if it is sold that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pilot you ran or watched: what surprised you, what you kept]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Drop the story.</a:t>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28:30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Name the capability. Choose assistance deliberately.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Collect evidence of understanding. Evaluate the teaching, not the hype.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(45 s): the learner should be able to [blank]; assistance is useful at [blank]; I will know they can do it when [blank].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goal is not education where students don't use AI. It is education where using AI doesn't eliminate the reason they're there. Change one prompt, add one check, look at what the evidence lets you conclude.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Shorten the write to twenty seconds.</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 Skeptic's Guide to Surviving AI in Education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Assume access. Demand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Preserve the reason students are here.</a:t>
            </a:r>
            <a:endParaRPr lang="en-US" sz="3150"/>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Skepticism is a method, not a mood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claim?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would count as evidence?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benefits if we believe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proxy is not the capability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Artifact: a polished essay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Capability: weigh conflicting sources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Evidence: explain a choice and revise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Delegate / Augment / Preserve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Delegate effort outside the objective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Augment practice toward the objective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Preserve evidence of the objective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same assistance, three verdicts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Spelling without assistance → Preserve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Strength of an argument → Augment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Scientific explanation → Delegate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1: the tutor that agrees with you</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Student: "The diary is more reliable because it 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older."</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Tutor A: "Great point!"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Tutor B: "Older than what? What would make a diary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unreliable?"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2: gains that vanish, and when</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they don't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Bastani: assisted practice up, unaided performance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down, safeguards helped</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Kestin: a designed tutor beat active learning 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immediate outcomes</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learners, which teaching moves, which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 how long after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3: the detector as judge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Authorship inference ≠ learning evidence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misconduct decision</a:t>
            </a:r>
            <a:endParaRPr lang="en-US" sz="3150"/>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4: unequal access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Comparable tools or a usable alternative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Accessible ways to explain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Clear permission before the task; no surprise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surveillance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Pre-mortem: it is week ten and the policy</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failed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happened?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smallest change that would have caught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Handle it: a local eval set and proportional</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57924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Eval set: a confident wrong answer, a right answer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faulty reasoning, a request for the solution, a</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learner the tutor misunderstands</a:t>
            </a:r>
            <a:endParaRPr lang="en-US" sz="3150"/>
          </a:p>
        </p:txBody>
      </p:sp>
      <p:sp>
        <p:nvSpPr>
          <p:cNvPr id="6" name="Text 6"/>
          <p:cNvSpPr txBox="1"/>
          <p:nvPr/>
        </p:nvSpPr>
        <p:spPr>
          <a:xfrm>
            <a:off x="685800" y="45986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598670"/>
            <a:ext cx="11029950" cy="157924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Evidence: one added question, a changed constraint,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 correction with a reason, a later independent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check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Humans belong at consequential decisions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Diagnose the misconception · Interpret ambiguous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evidence · Own consequential decisions</a:t>
            </a:r>
            <a:endParaRPr lang="en-US" sz="3150"/>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Pilot one assignment; ask one better question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Name the capability · Specify permitted assistance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evidence before and after · Decide whether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to keep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 the vendor: what learning improved, compared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what, for whom, at what staff cost?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Keep the reason students are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Name the capability. Choose assistance deliberately.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Collect evidence of understanding. Evaluate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teaching, not the hype.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A Skeptic's Guide to Surviving AI in Education</dc:title>
  <dc:creator>Dan Levy</dc:creator>
  <dc:description>screen edition generated from current reviewed talk materials</dc:description>
  <dcterms:created xsi:type="dcterms:W3CDTF">2026-09-06T09:11:11Z</dcterms:created>
</cp:coreProperties>
</file>