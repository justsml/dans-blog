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 14 slides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one line.** How to adopt AI in a course with justified confidence: name the capability, decide where assistance belongs, anticipate the four ways it fails, and handle each with a small pilot instead of a policy war.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**Arc.** Warm open, steady through the framework, build through the demo and the four failure modes, peak at the pre-mortem, land on the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Planning assumption: AI access will remain available enough that curriculum cannot depend on preventing it. Research stays attached to its setting. The framework exercise and the demo are design tools. Say it once on slide 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**Demo.** [Runbook section 1](../demos/DEMO-RUNBOOK.md#1-a-skeptics-guide-to-surviving-ai-in-education) · [Kit](../demos/index.html). Fallback: narrate the three cases on slide 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**Worked example.** A history essay weighing two conflicting primary sources. The percentage-change fixture belongs to the assessment-design talk, so the two can be booked together.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each delivery.** Fill the `Story` lines.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**Image style.** Dark slate background, one amber accent, flat vector, generous negative space, no text or logos. Each slide comment is a complete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**Timings** are rehearsal targets, no Q&amp;A. Notes are cues.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Assume access. Demand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classroom desk with an open notebook, a glowing phone face down beside it, a window with morning light, dark slate background, amber accent on the phone edge,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Preserve the reason students are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Educators hear two promises: every student gets a private genius, or every assignment is now worthless. Neither tells you what to do on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once: I assume access will persist, so we design around it. Research today stays attached to its setting. The exercise is a design tool. From here on, recommendations.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Hold one real assignment in mind. By the end you should be able to name its capability, place assistance, and choose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assignment of yours or a colleague's that AI broke first, and what you did that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Skepticism is a method, not a mood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magnifying glass held over a glossy brochure, the lens revealing plain handwritten notes underneath, dark slate background, amber accent on the lens rim,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is the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would count as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benefits if we believe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Skepticism should produce better questions, not permanent refusal. A vendor says the tutor improves learning: ask what students did unaided afterward. A colleague says the tool destroys thinking: ask which task, which learners, which help. Both need a comparison. Write the claim so it could fail: "students using this hint sequence will explain source bias on a new document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failures you will hear about this year: the confident wrong answer that got an A, and the pilot that improved scores and nothing else. Both are design failures, and both can be anticipated.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proxy is not the capability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5:00–7:00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beautifully bound essay on a pedestal casting a shadow, the shadow shaped like a question mark, dark slate background, amber accent on the shadow,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Artifact: a polished essay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Capability: weigh conflicting sources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explain a choice and revise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formatted essay proves an essay exists. Our objective: given two primary sources that disagree about the same event, explain which to trust more for a specific question and why. A polished essay can summarize both and never make the judgment. Keep the artifact; add the moment where the reasoning is visible.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Delegate / Augment /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7:00–10:00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vertical columns like sorting bins, a hand dropping a single verb-shaped token into the middle one, dark slate background, amber accent on the token,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Delegate effort outside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Augment practice toward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Preserve evidence of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Decisions about a learner on a task at a stage, not permanent lists. Formatting citations: delegate in a seminar, preserve when citation is the lesson. Suggesting a counter-reading: augment during drafting, preserve during the independent check. The same activity moves columns when the objective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(60 s): one verb from your assignment in a column, and finish "because students need to learn [blank]." If the reason is missing, the tool policy is doing the curriculum's job badly.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same assistance, three verdicts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10:00–14:30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one identical helping hand icon shown three times, each time landing in a different one of three bins, dark slate background, amber accent on the third bin,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Spelling without assistance →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Strength of an argument → Augment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Scientific explanation → Delegate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Follow [runbook section 1](../demos/DEMO-RUNBOOK.md#1-a-skeptics-guide-to-surviving-ai-in-education). Same general assistance; the verdict changes with the capability under assessment. Translate to the history example: grammar help is Delegate; a counter-reading is Augment while drafting; the final "which source and why" paragraph is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(45 s): for your assignment, what evidence would show the capability if the artifact were produced with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Compression: at two minutes, one switch, state the other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Failure mode 1: the tutor that agrees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14:30–17:00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chat bubble with a thumbs-up emoji next to a chat bubble containing a question mark, the thumbs-up bubble slightly cracked, dark slate background, amber accent on the crack,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Student: "The diary is more reliable because it is older."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Tutor A: "Great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Tutor B: "Older than what? What would make a diary unreliable?"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Sycophancy is the first failure to expect. A tutor that affirms a plausible mistake trains the mistake. Handling is on slide 11: confident wrong answers go into your local eval set before any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confidently wrong AI answer you or a student accepted]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Failure mode 2: gains that vanish, and when they don't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17:00–21:00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line graphs side by side, the first rising then dropping off a cliff, the second rising and holding, a small scaffold drawn under the second line, dark slate background, amber accent on the scaffold,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Bastani: assisted practice up, unaided performance down, safeguards helped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Kestin: a designed tutor beat active learning on immediate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learners, which teaching moves, which comparison, how long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ran a high-school mathematics trial. Unrestricted GPT access improved practice and worsened later unaided performance; a version with teacher-designed safeguards mitigated the harm. One intervention, one setting. Reuse the design lesson, not a headline percentage, and check the corrected article before quoting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and colleagues found a carefully engineered AI tutor outperformed the active-learning comparison in a university physics course on immediate outcomes. Keep the treatment attached to the finding.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Together the two studies should make you curious about instructional design rather than eager to pick a winner. Ask what the tutor makes the learner do: attempt, expose an assumption, check a new example. Handling: record supported and independent performance separately. A dashboard counting completed exercises tells you the system is busy.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Sources: Bastani et al. (2025), [Generative AI without guardrails can harm learning](https://doi.org/10.1073/pnas.2422633122), PNAS, with a [correction](https://doi.org/10.1073/pnas.2518204122) · Kestin et al. (2025), [AI tutoring outperforms in-class active learning](https://www.nature.com/articles/s41598-025-97652-6), Scientific Reports.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Failure mode 2: gains that vanish, and when they don't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17:00–21:00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line graphs side by side, the first rising then dropping off a cliff, the second rising and holding, a small scaffold drawn under the second line, dark slate background, amber accent on the scaffold,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Bastani: assisted practice up, unaided performance down, safeguards helped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Kestin: a designed tutor beat active learning on immediate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learners, which teaching moves, which comparison, how long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ran a high-school mathematics trial. Unrestricted GPT access improved practice and worsened later unaided performance; a version with teacher-designed safeguards mitigated the harm. One intervention, one setting. Reuse the design lesson, not a headline percentage, and check the corrected article before quoting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and colleagues found a carefully engineered AI tutor outperformed the active-learning comparison in a university physics course on immediate outcomes. Keep the treatment attached to the finding.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Together the two studies should make you curious about instructional design rather than eager to pick a winner. Ask what the tutor makes the learner do: attempt, expose an assumption, check a new example. Handling: record supported and independent performance separately. A dashboard counting completed exercises tells you the system is busy.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Sources: Bastani et al. (2025), [Generative AI without guardrails can harm learning](https://doi.org/10.1073/pnas.2422633122), PNAS, with a [correction](https://doi.org/10.1073/pnas.2518204122) · Kestin et al. (2025), [AI tutoring outperforms in-class active learning](https://www.nature.com/articles/s41598-025-97652-6), Scientific Reports.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Failure mode 3: the detector as judge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21:00–23:00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courtroom gavel resting on a probability dial reading somewhere in the middle, the dial needle trembling, dark slate background, amber accent on the needle,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Authorship inference ≠ learning evidence ≠ misconduct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and colleagues found the detectors they tested produced false positives on nonnative English writing and were sensitive to rewriting. Evidence about tested tools, not every future detector. Even a good authorship signal would not tell you whether the student can weigh sources. Handling: no disciplinary consequence is automated from a score. And no detector stunt on 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Failure mode 4: unequal access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identical doors, one with a wide ramp and one with a tall step, dark slate background, amber accent on the ramp,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Comparable tools or a usable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Accessible ways to explain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Clear permission before the task; no surprise surveillance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assisted practice is permitted, provide comparable access. If oral explanation is chosen, plan accommodations and language needs so you are not grading speaking ease by accident. State what is retained and who sees it. A policy that creates unequal access distorts the measurement before the first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Pre-mortem: it is week ten and the policy failed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25:00–29:00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calendar page torn off showing a distant week, a small crack running across the page, two chairs facing each other beneath it, dark slate background, amber accent on the crack,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is the smallest change that would have caught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two minutes. One partner names how the assignment's AI policy failed: confirmed error, vanished gains, false accusation, unequal access, or something new. The other names the smallest change that would have caught it. Then thirty seconds of shared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how confidence is earned. Not by trusting the tool, but by having already imagined its failure and put a check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Handle it: a local eval set and proportional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29:00–32:30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four index cards fanned out on a table, one marked with an X, one with a checkmark and a question mark, one with a hand asking, one with a tangled line, dark slate background, amber accent on the X card,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Eval set: a confident wrong answer, a right answer with faulty reasoning, a request for the solution, a learner the tutor misunderstands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one added question, a changed constraint, a correction with a reason, a later independent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cases before any pilot. For the history example, the tutor must not affirm "older means more reliable." Two educators score the teaching moves; factual errors counted separately from pacing and tone. A benchmark score cannot certify your lesson.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proportional evidence. Add one question that improves the inference: "which source did you trust more, and what would change your mind?" Collect enough to support a decision, not enough to reconstruct a student's life.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Humans belong at consequential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32:30–34:30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long conveyor of identical worksheets with one worksheet lifted out and held in a pair of hands, dark slate background, amber accent on the lifted sheet,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Diagnose the misconception · Interpret ambiguous evidence · Own consequential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AI scales instruction far more easily than it scales wisdom. A tutor supplies another exercise fast. A teacher notices the student reasons well aloud but freezes on the written form, or that a language issue is being scored as a history error. Reserve human attention for interpretation and consequential grading. A human escalation promise needs an actual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Pilot one assignment; ask one better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34:30–38:00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single seedling in a small pot on a windowsill beside a large empty planter, dark slate background, amber accent on the seedling,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Name the capability · Specify permitted assistance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evidence before and after · Decide whether to keep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 the vendor: what learning improved, compared with what, for whom, at what staff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Redesign one assignment, not the institution. Write the objective and a simple rubric. Keep a baseline sample. Estimate staff time. Agree what improvement justifies continuing. Invite students to report confusing instructions. Two educators grade a sample and resolve disagreements first. TEQSA's guidance supports multiple contextual approaches; this is one local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the next vendor demo, ask them to walk through one learner misconception and show the teaching response. Ask what was measured after assistance stopped, what happens when the tutor is wrong, and what work falls back onto staff. A tool that saves preparation time without improving learning may still be worth buying if it is sold that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pilot you ran or watched: what surprised you, what you kept]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Keep the reason students are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classroom desk from slide 1, the phone now face up showing a blank screen, the notebook filled with three handwritten lines, dark slate background, amber accent on the notebook lines,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Name the capability. Choose assistance deliberately.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Collect evidence of understanding. Evaluate the teaching, not the hype.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(45 s): the learner should be able to [blank]; assistance is useful at [blank]; I will know they can do it when [blank].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goal is not education where students don't use AI. It is education where using AI doesn't eliminate the reason they're there. Change one prompt, add one check, look at what the evidence lets you conclude.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 Skeptic's Guide to Surviving AI in</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Education</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Assume access. Demand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Preserve the reason students are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hear two promises: every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gets a private genius, or every assignment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now worthless. Neither tells you what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on Monday.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Scope, once: I assume access will persist,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we design around it. Research today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stays attached to its setting. The exercise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design tool. From here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recommendations.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 one real assignment in mind.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end you should be able to name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capability, place assistance, and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Skepticism is a method, not a mood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is the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would count as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benefits if we believe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Skepticism should produce better questions,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permanent refusal. A vendor says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improves learning: ask what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unaided afterward. A colleague says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destroys thinking: ask which task,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learners, which help. Both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Write the claim so it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 "students using this hint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 explain source bias on a new document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failures you will hear about this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confident wrong answer that got an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pilot that improved scores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nothing else. Both are design failures,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can be anticipated.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proxy is not the capability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Artifact: a polished essay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Capability: weigh conflicting sources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explain a choice and revise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formatted essay proves an essay exists.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Our objective: given two primary sources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disagree about the same event, explain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to trust more for a specific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why. A polished essay can summarize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and never make the judgment.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artifact; add the moment where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reasoning is visible.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Delegate / Augment / Preserve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Delegate effort outside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Augment practice toward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evidence of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Decisions about a learner on a task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stage, not permanent lists. Formatting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citations: delegate in a seminar,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citation is the lesson. Suggesting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counter-reading: augment during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during the independent check.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activity moves columns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objective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it (60 s): one verb from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assignment in a column, and finish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need to learn [blank]."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is missing, the tool policy is doing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curriculum's job badly.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same assistance, three verdicts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Spelling without assistance →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Strength of an argument → Augment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Scientific explanation → Delegate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Follow [runbook section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1](../demos/DEMO-RUNBOOK.md#1-a-skeptics-guide-to-surviving-ai-in-education).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general assistance; the verdict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with the capability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assessment. Translate to the history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example: grammar help is Delegate;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counter-reading is Augment while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final "which source and why" paragraph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(45 s): for your assignment,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would show the capability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artifact were produced with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Compression: at two minutes, one switch,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state the other two.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1: the tutor that agrees with you</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Student: "The diary is more reliable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it is older."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A: "Great point!"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B: "Older than what? What would 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diary unreliable?"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Sycophancy is the first failure to expect.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tutor that affirms a plausible mistake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trains the mistake. Handling is on slide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11: confident wrong answers go into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local eval set before any pilot.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2: gains that vanish, and when they</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don't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Bastani: assisted practice up, unaided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down, safeguards helped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Kestin: a designed tutor beat active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on immediate outcomes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learners, which teaching moves,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how long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and colleagues ran a high-school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mathematics trial. Unrestricted GPT access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improved practice and worsened later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unaided performance; a version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teacher-designed safeguards mitigated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harm. One intervention, one setting. Reuse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design lesson, not a headline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and check the corrected article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quoting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Kestin and colleagues found a carefully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engineered AI tutor outperformed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active-learning comparison in a university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physics course on immediate outcomes.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treatment attached to the finding.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Together the two studies should make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curious about instructional design rather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eager to pick a winner. Ask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makes the learner do: attempt, expose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assumption, check a new example.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Handling: record supported and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separately. A dashboard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counting completed exercises tells you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is busy.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2: gains that vanish, and when they</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don't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Sources: Bastani et al. (2025), Generative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without guardrails can harm learning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https://doi.org/10.1073/pnas.2422633122),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PNAS,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[correction](https://doi.org/10.1073/pnas.2518204122)</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Kestin et al. (2025), [AI tutoring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outperforms in-class active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learning](https://www.nature.com/articles/s41598-025-97652-6,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Scientific Reports.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3: the detector as judge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Authorship inference ≠ learning evidence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misconduct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Liang and colleagues found the detectors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tested produced false positives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nonnative English writing and were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sensitive to rewriting. Evidence about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tested tools, not every future detector.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 a good authorship signal would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whether the student can weigh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sources. Handling: no disciplinary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 is automated from a score.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 detector stunt on stage.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4: unequal access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Comparable tools or a usable alternative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Accessible ways to explain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Clear permission before the task;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surprise surveillance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assisted practice is permitted, provide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comparable access. If oral explanation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chosen, plan accommodations and language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 so you are not grading speaking ease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accident. State what is retained and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sees it. A policy that creates unequal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distorts the measurement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answer.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Pre-mortem: it is week ten and the policy failed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happened?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is the smallest change that would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caught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two minutes. One partner names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assignment's AI policy failed: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confirmed error, vanished gains, false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accusation, unequal access, or something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The other names the smallest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would have caught it. Then thirty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of shared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how confidence is earned. Not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trusting the tool, but by having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imagined its failure and put a check there.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Handle it: a local eval set and proportional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Eval set: a confident wrong answer, a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with faulty reasoning, a request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solution, a learner the tutor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misunderstands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one added question, a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constraint, a correction with a reason,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later independent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cases before any pilot.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history example, the tutor must not affirm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"older means more reliable." Two educators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the teaching moves; factual errors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counted separately from pacing and tone.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 score cannot certify your lesson.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proportional evidence. Add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that improves the inference: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source did you trust more, and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change your mind?" Collect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a decision, not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reconstruct a student's life.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Humans belong at consequential decisions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Diagnose the misconception · Interpret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ambiguous evidence · Own consequential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scales instruction far more easily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scales wisdom. A tutor supplies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 fast. A teacher notices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student reasons well aloud but freezes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written form, or that a language issue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being scored as a history error. 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human attention for interpretation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consequential grading. A human escalation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 needs an actual route.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Pilot one assignment; ask one better question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Name the capability · Specify permitted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evidence before and after · Decide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to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vendor: what learning improved,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compared with what, for whom, at what staff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Redesign one assignment,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institution. Write the objective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simple rubric. Keep a baseline sample.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Estimate staff time. Agree what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justifies continuing. Invite students to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report confusing instructions.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grade a sample and resolve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disagreements first. TEQSA's guidance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supports multiple contextual approaches;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one local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the next vendor demo, ask them to walk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 one learner misconception and show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teaching response. Ask what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measured after assistance stopped,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when the tutor is wrong, and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falls back onto staff. A tool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saves preparation time without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may still be worth buying if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sold that way.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Keep the reason students are 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Name the capability. Choose assistance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deliberately.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 evidence of understanding. Evaluate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teaching, not the hype.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it (45 s): the learner should be 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[blank]; assistance is useful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[blank]; I will know they can do it when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[blank].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goal is not education where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don't use AI. It is education where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doesn't eliminate the reason they're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Change one prompt, add one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at what the evidence lets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conclude.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Liang et al. (2023), GPT detectors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biased against non-native English writers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https://doi.org/10.1016/j.patter.2023.100779,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TEQSA (2023), Assessment reform for the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artificial intelligence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https://www.teqsa.gov.au/guides-resources/resources/corporate-publications/assessment-reform-age-artificial-intelligence.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A Skeptic's Guide to Surviving AI in Education</dc:title>
  <dc:creator>Dan Levy</dc:creator>
  <dc:description>handout edition generated from current reviewed talk materials</dc:description>
  <dcterms:created xsi:type="dcterms:W3CDTF">2026-09-06T09:11:11Z</dcterms:created>
</cp:coreProperties>
</file>