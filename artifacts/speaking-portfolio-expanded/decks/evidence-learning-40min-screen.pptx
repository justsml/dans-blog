
<file path=[Content_Types].xml><?xml version="1.0" encoding="utf-8"?>
<Types xmlns="http://schemas.openxmlformats.org/package/2006/content-types">
  <Default Extension="rels" ContentType="application/vnd.openxmlformats-package.relationships+xml"/>
  <Default Extension="xml" ContentType="application/xml"/>
  <Default Extension="png" ContentType="image/png"/>
  <Default Extension="svg" ContentType="image/svg+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Layouts/slideLayout1.xml" ContentType="application/vnd.openxmlformats-officedocument.presentationml.slideLayout+xml"/>
  <Override PartName="/ppt/notesMasters/notesMaster1.xml" ContentType="application/vnd.openxmlformats-officedocument.presentationml.notesMaster+xml"/>
  <Override PartName="/ppt/theme/theme1.xml" ContentType="application/vnd.openxmlformats-officedocument.theme+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notesSlides/notesSlide9.xml" ContentType="application/vnd.openxmlformats-officedocument.presentationml.notesSlide+xml"/>
  <Override PartName="/ppt/slides/slide10.xml" ContentType="application/vnd.openxmlformats-officedocument.presentationml.slide+xml"/>
  <Override PartName="/ppt/notesSlides/notesSlide10.xml" ContentType="application/vnd.openxmlformats-officedocument.presentationml.notesSlide+xml"/>
  <Override PartName="/ppt/slides/slide11.xml" ContentType="application/vnd.openxmlformats-officedocument.presentationml.slide+xml"/>
  <Override PartName="/ppt/notesSlides/notesSlide11.xml" ContentType="application/vnd.openxmlformats-officedocument.presentationml.notesSlide+xml"/>
  <Override PartName="/ppt/slides/slide12.xml" ContentType="application/vnd.openxmlformats-officedocument.presentationml.slide+xml"/>
  <Override PartName="/ppt/notesSlides/notesSlide12.xml" ContentType="application/vnd.openxmlformats-officedocument.presentationml.notesSlide+xml"/>
  <Override PartName="/ppt/slides/slide13.xml" ContentType="application/vnd.openxmlformats-officedocument.presentationml.slide+xml"/>
  <Override PartName="/ppt/notesSlides/notesSlide13.xml" ContentType="application/vnd.openxmlformats-officedocument.presentationml.notesSlide+xml"/>
  <Override PartName="/ppt/slides/slide14.xml" ContentType="application/vnd.openxmlformats-officedocument.presentationml.slide+xml"/>
  <Override PartName="/ppt/notesSlides/notesSlide1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p:sldMasterIdLst>
    <p:sldMasterId id="2147483648" r:id="rIdMaster"/>
  </p:sldMasterIdLst>
  <p:notesMasterIdLst>
    <p:notesMasterId r:id="rIdNotesMaster"/>
  </p:notesMasterIdLst>
  <p:sldIdLst>
    <p:sldId id="256" r:id="rIdSlide1"/>
    <p:sldId id="257" r:id="rIdSlide2"/>
    <p:sldId id="258" r:id="rIdSlide3"/>
    <p:sldId id="259" r:id="rIdSlide4"/>
    <p:sldId id="260" r:id="rIdSlide5"/>
    <p:sldId id="261" r:id="rIdSlide6"/>
    <p:sldId id="262" r:id="rIdSlide7"/>
    <p:sldId id="263" r:id="rIdSlide8"/>
    <p:sldId id="264" r:id="rIdSlide9"/>
    <p:sldId id="265" r:id="rIdSlide10"/>
    <p:sldId id="266" r:id="rIdSlide11"/>
    <p:sldId id="267" r:id="rIdSlide12"/>
    <p:sldId id="268" r:id="rIdSlide13"/>
    <p:sldId id="269" r:id="rIdSlide14"/>
  </p:sldIdLst>
  <p:sldSz cx="13716000" cy="8572500" type="custom"/>
  <p:notesSz cx="6858000" cy="9144000"/>
  <p:defaultTextStyle/>
</p:presentation>
</file>

<file path=ppt/_rels/presentation.xml.rels><?xml version="1.0" encoding="UTF-8" standalone="yes"?><Relationships xmlns="http://schemas.openxmlformats.org/package/2006/relationships"><Relationship Id="rIdMaster" Type="http://schemas.openxmlformats.org/officeDocument/2006/relationships/slideMaster" Target="slideMasters/slideMaster1.xml"/><Relationship Id="rIdNotesMaster" Type="http://schemas.openxmlformats.org/officeDocument/2006/relationships/notesMaster" Target="notesMasters/notesMaster1.xml"/><Relationship Id="rIdSlide1" Type="http://schemas.openxmlformats.org/officeDocument/2006/relationships/slide" Target="slides/slide1.xml"/><Relationship Id="rIdSlide2" Type="http://schemas.openxmlformats.org/officeDocument/2006/relationships/slide" Target="slides/slide2.xml"/><Relationship Id="rIdSlide3" Type="http://schemas.openxmlformats.org/officeDocument/2006/relationships/slide" Target="slides/slide3.xml"/><Relationship Id="rIdSlide4" Type="http://schemas.openxmlformats.org/officeDocument/2006/relationships/slide" Target="slides/slide4.xml"/><Relationship Id="rIdSlide5" Type="http://schemas.openxmlformats.org/officeDocument/2006/relationships/slide" Target="slides/slide5.xml"/><Relationship Id="rIdSlide6" Type="http://schemas.openxmlformats.org/officeDocument/2006/relationships/slide" Target="slides/slide6.xml"/><Relationship Id="rIdSlide7" Type="http://schemas.openxmlformats.org/officeDocument/2006/relationships/slide" Target="slides/slide7.xml"/><Relationship Id="rIdSlide8" Type="http://schemas.openxmlformats.org/officeDocument/2006/relationships/slide" Target="slides/slide8.xml"/><Relationship Id="rIdSlide9" Type="http://schemas.openxmlformats.org/officeDocument/2006/relationships/slide" Target="slides/slide9.xml"/><Relationship Id="rIdSlide10" Type="http://schemas.openxmlformats.org/officeDocument/2006/relationships/slide" Target="slides/slide10.xml"/><Relationship Id="rIdSlide11" Type="http://schemas.openxmlformats.org/officeDocument/2006/relationships/slide" Target="slides/slide11.xml"/><Relationship Id="rIdSlide12" Type="http://schemas.openxmlformats.org/officeDocument/2006/relationships/slide" Target="slides/slide12.xml"/><Relationship Id="rIdSlide13" Type="http://schemas.openxmlformats.org/officeDocument/2006/relationships/slide" Target="slides/slide13.xml"/><Relationship Id="rIdSlide14" Type="http://schemas.openxmlformats.org/officeDocument/2006/relationships/slide" Target="slides/slide14.xml"/></Relationships>
</file>

<file path=ppt/notesMasters/_rels/notesMaster1.xml.rels><?xml version="1.0" encoding="UTF-8" standalone="yes"?><Relationships xmlns="http://schemas.openxmlformats.org/package/2006/relationships"><Relationship Id="rIdTheme"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accent1="accent1" accent2="accent2" accent3="accent3" accent4="accent4" accent5="accent5" accent6="accent6" bg1="lt1" bg2="lt2" folHlink="folHlink" hlink="hlink" tx1="dk1" tx2="dk2"/>
  <p:notesStyle/>
</p:notesMaster>
</file>

<file path=ppt/notesSlides/_rels/notesSlide1.xml.rels><?xml version="1.0" encoding="UTF-8" standalone="yes"?><Relationships xmlns="http://schemas.openxmlformats.org/package/2006/relationships"><Relationship Id="rIdSlide" Type="http://schemas.openxmlformats.org/officeDocument/2006/relationships/slide" Target="../slides/slide1.xml"/><Relationship Id="rIdMaster" Type="http://schemas.openxmlformats.org/officeDocument/2006/relationships/notesMaster" Target="../notesMasters/notesMaster1.xml"/></Relationships>
</file>

<file path=ppt/notesSlides/_rels/notesSlide2.xml.rels><?xml version="1.0" encoding="UTF-8" standalone="yes"?><Relationships xmlns="http://schemas.openxmlformats.org/package/2006/relationships"><Relationship Id="rIdSlide" Type="http://schemas.openxmlformats.org/officeDocument/2006/relationships/slide" Target="../slides/slide2.xml"/><Relationship Id="rIdMaster" Type="http://schemas.openxmlformats.org/officeDocument/2006/relationships/notesMaster" Target="../notesMasters/notesMaster1.xml"/></Relationships>
</file>

<file path=ppt/notesSlides/_rels/notesSlide3.xml.rels><?xml version="1.0" encoding="UTF-8" standalone="yes"?><Relationships xmlns="http://schemas.openxmlformats.org/package/2006/relationships"><Relationship Id="rIdSlide" Type="http://schemas.openxmlformats.org/officeDocument/2006/relationships/slide" Target="../slides/slide3.xml"/><Relationship Id="rIdMaster" Type="http://schemas.openxmlformats.org/officeDocument/2006/relationships/notesMaster" Target="../notesMasters/notesMaster1.xml"/></Relationships>
</file>

<file path=ppt/notesSlides/_rels/notesSlide4.xml.rels><?xml version="1.0" encoding="UTF-8" standalone="yes"?><Relationships xmlns="http://schemas.openxmlformats.org/package/2006/relationships"><Relationship Id="rIdSlide" Type="http://schemas.openxmlformats.org/officeDocument/2006/relationships/slide" Target="../slides/slide4.xml"/><Relationship Id="rIdMaster" Type="http://schemas.openxmlformats.org/officeDocument/2006/relationships/notesMaster" Target="../notesMasters/notesMaster1.xml"/></Relationships>
</file>

<file path=ppt/notesSlides/_rels/notesSlide5.xml.rels><?xml version="1.0" encoding="UTF-8" standalone="yes"?><Relationships xmlns="http://schemas.openxmlformats.org/package/2006/relationships"><Relationship Id="rIdSlide" Type="http://schemas.openxmlformats.org/officeDocument/2006/relationships/slide" Target="../slides/slide5.xml"/><Relationship Id="rIdMaster" Type="http://schemas.openxmlformats.org/officeDocument/2006/relationships/notesMaster" Target="../notesMasters/notesMaster1.xml"/></Relationships>
</file>

<file path=ppt/notesSlides/_rels/notesSlide6.xml.rels><?xml version="1.0" encoding="UTF-8" standalone="yes"?><Relationships xmlns="http://schemas.openxmlformats.org/package/2006/relationships"><Relationship Id="rIdSlide" Type="http://schemas.openxmlformats.org/officeDocument/2006/relationships/slide" Target="../slides/slide6.xml"/><Relationship Id="rIdMaster" Type="http://schemas.openxmlformats.org/officeDocument/2006/relationships/notesMaster" Target="../notesMasters/notesMaster1.xml"/></Relationships>
</file>

<file path=ppt/notesSlides/_rels/notesSlide7.xml.rels><?xml version="1.0" encoding="UTF-8" standalone="yes"?><Relationships xmlns="http://schemas.openxmlformats.org/package/2006/relationships"><Relationship Id="rIdSlide" Type="http://schemas.openxmlformats.org/officeDocument/2006/relationships/slide" Target="../slides/slide7.xml"/><Relationship Id="rIdMaster" Type="http://schemas.openxmlformats.org/officeDocument/2006/relationships/notesMaster" Target="../notesMasters/notesMaster1.xml"/></Relationships>
</file>

<file path=ppt/notesSlides/_rels/notesSlide8.xml.rels><?xml version="1.0" encoding="UTF-8" standalone="yes"?><Relationships xmlns="http://schemas.openxmlformats.org/package/2006/relationships"><Relationship Id="rIdSlide" Type="http://schemas.openxmlformats.org/officeDocument/2006/relationships/slide" Target="../slides/slide8.xml"/><Relationship Id="rIdMaster" Type="http://schemas.openxmlformats.org/officeDocument/2006/relationships/notesMaster" Target="../notesMasters/notesMaster1.xml"/></Relationships>
</file>

<file path=ppt/notesSlides/_rels/notesSlide9.xml.rels><?xml version="1.0" encoding="UTF-8" standalone="yes"?><Relationships xmlns="http://schemas.openxmlformats.org/package/2006/relationships"><Relationship Id="rIdSlide" Type="http://schemas.openxmlformats.org/officeDocument/2006/relationships/slide" Target="../slides/slide9.xml"/><Relationship Id="rIdMaster" Type="http://schemas.openxmlformats.org/officeDocument/2006/relationships/notesMaster" Target="../notesMasters/notesMaster1.xml"/></Relationships>
</file>

<file path=ppt/notesSlides/_rels/notesSlide10.xml.rels><?xml version="1.0" encoding="UTF-8" standalone="yes"?><Relationships xmlns="http://schemas.openxmlformats.org/package/2006/relationships"><Relationship Id="rIdSlide" Type="http://schemas.openxmlformats.org/officeDocument/2006/relationships/slide" Target="../slides/slide10.xml"/><Relationship Id="rIdMaster" Type="http://schemas.openxmlformats.org/officeDocument/2006/relationships/notesMaster" Target="../notesMasters/notesMaster1.xml"/></Relationships>
</file>

<file path=ppt/notesSlides/_rels/notesSlide11.xml.rels><?xml version="1.0" encoding="UTF-8" standalone="yes"?><Relationships xmlns="http://schemas.openxmlformats.org/package/2006/relationships"><Relationship Id="rIdSlide" Type="http://schemas.openxmlformats.org/officeDocument/2006/relationships/slide" Target="../slides/slide11.xml"/><Relationship Id="rIdMaster" Type="http://schemas.openxmlformats.org/officeDocument/2006/relationships/notesMaster" Target="../notesMasters/notesMaster1.xml"/></Relationships>
</file>

<file path=ppt/notesSlides/_rels/notesSlide12.xml.rels><?xml version="1.0" encoding="UTF-8" standalone="yes"?><Relationships xmlns="http://schemas.openxmlformats.org/package/2006/relationships"><Relationship Id="rIdSlide" Type="http://schemas.openxmlformats.org/officeDocument/2006/relationships/slide" Target="../slides/slide12.xml"/><Relationship Id="rIdMaster" Type="http://schemas.openxmlformats.org/officeDocument/2006/relationships/notesMaster" Target="../notesMasters/notesMaster1.xml"/></Relationships>
</file>

<file path=ppt/notesSlides/_rels/notesSlide13.xml.rels><?xml version="1.0" encoding="UTF-8" standalone="yes"?><Relationships xmlns="http://schemas.openxmlformats.org/package/2006/relationships"><Relationship Id="rIdSlide" Type="http://schemas.openxmlformats.org/officeDocument/2006/relationships/slide" Target="../slides/slide13.xml"/><Relationship Id="rIdMaster" Type="http://schemas.openxmlformats.org/officeDocument/2006/relationships/notesMaster" Target="../notesMasters/notesMaster1.xml"/></Relationships>
</file>

<file path=ppt/notesSlides/_rels/notesSlide14.xml.rels><?xml version="1.0" encoding="UTF-8" standalone="yes"?><Relationships xmlns="http://schemas.openxmlformats.org/package/2006/relationships"><Relationship Id="rIdSlide" Type="http://schemas.openxmlformats.org/officeDocument/2006/relationships/slide" Target="../slides/slide14.xml"/><Relationship Id="rIdMaster"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The cat is out of the bag</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00:00 to 02:30 · warm</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&lt;!-- image: a vintage calculator wristwatch resting on an open math worksheet, the watch face glowing faintly, a pencil laid across the page, dark slate background, amber accent on the watch face, flat vector, no text --&gt;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Horse out of the barn. Cat out of the bag.</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Math class survived the Casio watch.</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The historical parallels have been beaten to death, so one and done: the calculator panic. Specifically the Casio calculator watch. Math class was dead. The kid sitting next to the Casio owner didn't even need one.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Confession: I may have used one or two on an assessment. But we're not here for that. What I did was wholesome. These kids are phoning it in. Not even trying. Infuriating, right?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Our calculator-clutching ancestors had to write a real trajectory into the curriculum. So do we. Everything today is authored fixtures, a rubric I'm proposing, and one exercise that shows evidence being collected. Here's the plan: what we stop doing, what we protect, what we teach, and three ways to actually outsmart them.</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Story: The submission that made you realize the grade and the understanding had come apart.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Stage direction: Let the confession land before the pivot. The laugh is the title doing its job; do not explain the joke.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The doom loop</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02:30 to 05:00 · warm</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&lt;!-- image: a figure at a locked gate holding a clipboard, behind the gate a small open window with a phone propped in it and a rope ladder hanging down, dark slate background, amber accent on the phone, flat vector, no text --&gt;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Proctoring fails. The pop quiz proves what you already knew.</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Getting away with it is the reward.</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Students are the original adversarial actors.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It can feel like you've lost. The proctoring tools fail readily. What still works is the cold call or the pop quiz, and all it proves is that the student can't hit the first rung of Bloom's taxonomy. Can't recall it. Can't spell it. That crushes you, and it cements the loop: the student learns they can cheat through, and the reward is getting away with it. Even when caught, there's no stigma for using something as common as a phone.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Pummeling them with gotcha quizzes proves what you already knew: Johnny ain't learning too good. Block the chatbot on the network and they share a VPN from a phone. Life finds a way. Students are the original adversarial actors.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The detector is the same trap in software. Liang and colleagues found the detectors they tested flagged non-native English writers at alarming rates. And even if a detector were perfect, it answers the wrong question. Who typed the sentence is not whether the kid can do the thing.</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Source: Liang et al. (2023), [GPT detectors are biased against non-native English writers](https://doi.org/10.1016/j.patter.2023.100779), Patterns.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Write down where the foundations happen</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05:00 to 07:00 · steady</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&lt;!-- image: a whiteboard with a hand-drawn diagram on the left half and a laptop propped on the right half, a marker resting in the tray between them, dark slate background, amber accent on the marker, flat vector, no text --&gt;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Pencil, paper, whiteboard, peers: in the curriculum, with the reason</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Then, same document: "and we are going to teach you the tool"</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Write the trajectory down. Where does handwriting live, and why: the spatial and motor work a pencil activates, the argument you have out loud with a peer, the cohort you find by talking through a problem. Build the environment where those foundations still happen with no model in the room.</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Then, in the same document, tell students you're going to teach them the tool. On purpose. Independent competence and competent tool use both belong in a course. They need different evidence, and every checkpoint should say which one it's measuring.</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This tension is older than the panic and it has a name. Koedinger and Aleven called it the assistance dilemma in 2007: give too much help and the learner never has to generate anything, give too little and they stall out. Nobody has solved it. Say that out loud, because a vendor whose tutor has the help level exactly right is selling you a solved version of an open problem.</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The polished answer with a hole in it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07:00 to 09:00 · steady</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&lt;!-- image: a perfectly ironed shirt on a hanger with a large hole in the back only visible in a mirror behind it, dark slate background, amber accent on the mirror frame, flat vector, no text --&gt;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"A 20% rise and a 20% fall cancel."</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The prose is clean. The denominator is wrong.</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Here's the fixture for the rest of the talk. A shop raises a $100 price by 20%, then discounts the new price by 20%. The student writes: equal and opposite, so the final price is $100. Clean sentence. Confident. Wrong base.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The capability we're after is narrow enough for the room to inspect: explain why a percentage acts on a base, and how the base changes across a sequence. Now imagine the correct number with this faulty explanation hiding behind it. What would a final-answer assessment have caught? Nothing.</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Source: Koedinger and Aleven (2007), [Exploring the Assistance Dilemma in Experiments with Cognitive Tutors](https://doi.org/10.1007/s10648-007-9049-0), Educational Psychology Review 19(3), 239 to 264. Cited on slide 3.</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Stage direction: Ask the room what the final answer alone would have told you. One answer, then move.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Outsmart move one: make verification feel like cheating</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09:00 to 12:00 · build</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&lt;!-- image: a phone photographing a worksheet dense with small arithmetic problems, one digit on the sheet smudged, a magnifying glass lying beside the phone, dark slate background, amber accent on the smudge, flat vector, no text --&gt;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"Take a picture of these hundred problems and make the model do them."</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A 1 that looks like a 7. A smudge that turns an 8 into a 9.</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"You didn't check the results? Johnny, you're not gonna make it."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The highest-leverage assignment I know lets students feel like they're cheating. Photograph the sheet, feed it to the model, submit. The trap is in the sheet: a stroke that reads as either digit, a smudge. The wrong answers come back and the lesson teaches itself. You were supposed to check.</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That one experience beats every ban, filter and lockdown. Hand the prompt out like a worksheet: "paste these instructions as your first message." Expect a recorded screen or an exported session. Older students get to experiment as the objective itself: the writing challenge, the rhyming challenge, whatever riddles the English teachers love. The constraint that keeps it honest is personalization. Narrate it from summer camp. Reference this week's unit. Meet a criterion the model can't know.</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Privacy rides along for free. If you share Lake Tahoe, maybe not the photo of your grandparents' place on the water that any model can geolocate. Nobody is teaching students how these systems actually work. This assignment does.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Stage direction: Thirty seconds: what would the smudge be in your subject? Take two.</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Ask for an attempt, then ration the help</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12:00 to 14:00 · steady</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&lt;!-- image: a staircase of five shallow steps with a small figure on the second step, a hand offering a single step-sized block from the side, a speech bubble shaped like a key above the first step, dark slate background, amber accent on the offered block, flat vector, no text --&gt;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"Which price does the discount use?" Learner: "The original $100."</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Clarify → conceptual hint → missing step → part of an example → full explanation → fresh reconstruction</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Two scripted turns. The diagnostic question finds where the base got lost. The tutor neither praises the error nor dumps the solution. Attempt-first can't punish a kid who can't begin; clarifying a term or offering a parallel example may be the right first move.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Then the ladder. Clarification: the second change acts on the new price. Conceptual hint: find the current base. Missing step: the intermediate $120. Partial example: multiply a different amount by 0.8. Full explanation, then a fresh reconstruction later. Write down which rung you gave, because supported and independent performance are different evidence. Never as a moral failure.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Demo: the four-minute reconstruction</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14:00 to 19:00 · peak</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&lt;!-- image: three price tags in a row reading as shapes only, the middle one larger, an arrow looping from the third back to the first, dark slate background, amber accent on the looping arrow, flat vector, no text --&gt;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$100 → $120 → $96. Why does the second base change?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Now: $80 → +25% → −20%</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Run the two scripted learners from the runbook, then go live. Reveal the wrong argument. Let the room find the base. Reveal $120 only after the diagnostic question. Ask for $96 and one sentence explaining it.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Then change the numbers: $80, up 25%, down 20%. It comes back to $80, because 1.25 times 0.8 is 1. That breaks the shortcut the room just formed, "opposite changes never cancel," and that's the point. A transfer item with the same invariant and different numbers is where you find out whether they learned the rule or memorized the example.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If the room is quiet, present the prepared learner response. Never pressure an individual into a public assessment.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Stage direction: Runbook section 5 for the scripted turns. Two-minute compression: skip the kit, run only the $100 sequence, state the $80 item.</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Score the reasoning, then write down what you saw</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19:00 to 22:30 · steady</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&lt;!-- image: a three-row scorecard with small filled and empty circles beside a filing card with four short lines and a pencil eraser at the corner, a heavy metal stamp lying unused on its side, dark slate background, amber accent on the eraser, flat vector, no text --&gt;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Base identified 0–2 · Calculation justified 0–2 · Transfer explained 0–2 · Help in its own column</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Record: concept · what they said · what help they got · next check</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Never "weak at reasoning." Never "likely cheated."</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Zero: the wrong base persists. One: the right number, no explanation. Two: the learner explains the current amount. Help goes in its own column so a human can read it, and asking a question costs nothing. Try the rubric on sample work before it touches a grade.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The record is four lines. Concept: changing percentage base. Observed: used the original amount for the second change. Support: conceptual hint. Next check: a new item after practice. Keep what the learner said separate from what a model inferred. Follow-ups come from a blueprint, not chatbot curiosity: "does reversing the multipliers change the result?" probes structure; a harder question is not a fair comparison.</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Bastani and colleagues found supported performance and later unaided performance can diverge, and the safeguards that matter come from teachers. So record the conditions, and include an independent check when independence is the objective. A mismatch needs a human to interpret it.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And that finding is not news, which is the useful part. Soderstrom and Bjork reviewed fifty years of it in 2015: how well someone performs while being helped and how much they actually learned come apart routinely, and the conditions that flatter practice frequently damage retention. A tutor is a machine for removing difficulty. Some of that difficulty was the part where they learned. None of this convicts anyone; your integrity process stays where it is. This is the last time I'll say that.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Source: Bastani et al. (2025), [Generative AI without guardrails can harm learning](https://doi.org/10.1073/pnas.2422633122), PNAS. A [correction](https://doi.org/10.1073/pnas.2518204122) exists; check it before quoting figures.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Source: Soderstrom and Bjork (2015), [Learning versus performance: an integrative review](https://doi.org/10.1177/1745691615569000), Perspectives on Psychological Science 10(2), 176 to 199.</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Outsmart move two: make them say it out loud</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22:30 to 25:30 · build</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&lt;!-- image: two sound waveforms side by side, the first smooth and rounded, the second jagged with small breaks where lines wrap, a small padlock icon beneath both, dark slate background, amber accent on the padlock, flat vector, no text --&gt;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Recall errors and reading errors are different animals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Small groups, speaking: the incentives reset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Voice is biometric. Offline. Zero retention. Age-appropriate. Written alternative.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Answering from memory and reading a model's output aloud produce different mistakes. The reader falls behind as the text wraps and jumps. They mispronounce a word they'd never have chosen. Spoken language carries enough tells to sort likely from unlikely, never to convict.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Small groups, speaking, in class: that resets the table. It adds social pressure against cheating and hands you knobs on an incentive structure that today is a magical cheating genie. Not foolproof. A student can build an agent told to seem dumb at first and then learn. Fine. We're changing incentives, not buying certainty.</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Now the care, and it's real. A student's voice identifies them and can be cloned. Fingerprinting voices is plausible technology; that's a reason for caution, not a feature. Newer offline models claim to detect frustration and distress in speech, and offline is what lets them meet zero-retention, no-sharing district rules on modest hardware. Any student-facing voice tool gets maximum privacy, a written alternative, age-appropriate use only, and a retention rule written before the first recording. A replay is context, never proof.</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Outsmart move three: count AI time, then read all 300 transcripts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25:30 to 28:00 · build</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&lt;!-- image: a classroom clock face divided into four unequal wedges, three wedges plain and one wedge patterned with tiny chat bubbles, dark slate background, amber accent on the patterned wedge, flat vector, no text --&gt;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Teacher talk · student talk · think time · AI time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Guided by you, or alone with the model?</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"Show me five students who took a path worth showing the room."</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You already count who's talking, how much silence there is, whose engagement it is. Add one factor: AI time. How much of it did you guide, and how much was a student alone with the model.</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Then the view you have never had. Every transcript from a class of 30 or a course of 300, and a qualitative pass run by the model. Show me the five students who opened a line of inquiry I didn't teach. Show me the one who reached the answer by a path worth putting on the board tomorrow. The same pass surfaces the kid who typed exactly the right terms, or pasted a big block from somewhere. Before you conclude anything: a big block also looks like voice-to-text. Look first.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And know what you are up against when you read the model's summary instead of the transcript. Skitka and colleagues measured it in 1999: people given a highly but imperfectly reliable aid did worse than people given no aid at all, because it is right often enough that you stop checking. The summary is a place to start looking, never a place to stop.</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Source: Skitka, Mosier and Burdick (1999), [Does automation bias decision-making?](https://doi.org/10.1006/ijhc.1999.0252), International Journal of Human-Computer Studies 51(5), 991 to 1006.</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Story: A transcript that showed you a path to the answer you would not have taught.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Write the objective to the agent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28:00 to 31:00 · build</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&lt;!-- image: a whiteboard with three short handwritten lines and a small robot icon drawn in the corner as the addressee, a phone held up photographing the board, dark slate background, amber accent on the robot icon, flat vector, no text --&gt;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"You're my tutor. Don't give me answers. I'm here with three classmates."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Photograph the whiteboard; the objective is the system prompt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Push the practice run first. Then reward the kid who asks for it.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Seen in the wild: students telling a voice assistant not to give them answers, then arguing about Lincoln with it for twenty minutes. So give it the objective. Have them photograph the whiteboard. My prediction is that we end up writing objectives on the board addressed to the agent: "Tutor bot, help my students with..." It holds the rigor you set, explores the stretch goals, fills the remedial gaps, and tells you, the aides and the parents what it saw. Write it in whatever objective process you already use; Lemov's 4Ms work fine.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The other half is discipline. At first, the agent pushes: want a practice run, flashcards, a pop quiz? Then it rewards the student who asks before the test unprompted, and it names the connection distracted students miss: "five flashcards an hour before produced a 98; your last three tests had no prep." Made-up numbers, real mechanism. As someone with ADHD, an assistant that reorders my day and says "you bombed the section quizzes after that reading, take a twenty-minute walk" is not a luxury. It's applied cognitive science with a channel toward wellbeing.</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Story: The student who told the tutor not to give answers.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Widen the door</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31:00 to 33:30 · warm</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&lt;!-- image: a lump of clay wrapped in cloth on a school desk beside a tablet showing a rough charcoal sketch on graph paper, a small bird perched on the desk edge, dark slate background, amber accent on the bird, flat vector, no text --&gt;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"I'm not carrying a brick of clay in my bag."</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"I'm no good with a pencil, but I like that look."</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Sketch → animate → 3D → game asset. Out of ideas? Ask.</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I was told I was terrible at art. In my case it turned out to be true. For a lot of kids it was disbelief, or supplies beyond standard issue. A friend of mine found out after school that they were a talented sculptor. Won awards. They once told me they never touched the wet clay in class. No car at home. Not carrying a brick of clay on the bus. That was it.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Those barriers reflect our socioeconomic structure and sit unexamined in the system. A model widens who gets to participate. The kid who can't draw the charcoal graph-paper look can make it, then animate the birds at the lunch tables, then make it 3D, then a game asset. Ratchet up, lock in, stretch. When they run out of ideas, the model that already knows your objective suggests the next one.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Redesign one checkpoint this week</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33:30 to 37:30 · peak</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&lt;!-- image: a worksheet with three rows of blank boxes, one box filled in with a pencil, a second pencil entering from the opposite side of the page, dark slate background, amber accent on the second pencil, flat vector, no text --&gt;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Capability → task → the smudge → follow-up → permitted help → rubric</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Minutes to review a class set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Neighbor challenges one hidden assumption</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Pairs, three minutes. Write the capability, the task, the smudge that makes verification feel like cheating, one purposeful follow-up, the help you'll permit, and the interpretation you could defend to a parent. Then estimate the minutes to review a class set, because a richer assessment nobody has time to read is a worse assessment. Let the model draft the follow-ups and summarize with links to the excerpt; grading, accusations and anything sensitive stay with you.</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Then your neighbor challenges one hidden assumption: does this also measure fluency, paid-tool access, or comfort speaking under pressure? TEQSA's guidance backs contextual, multiple approaches. This worksheet is our version of it. Output: a sketch you can review, then a small pilot.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Source: TEQSA (2023), [Assessment reform for the age of artificial intelligence](https://www.teqsa.gov.au/guides-resources/resources/corporate-publications/assessment-reform-age-artificial-intelligence).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Stage direction: Three minutes writing, one minute of challenge. Call time on the challenge, not the writing.</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A purpose-built machine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37:30 to 40:00 · land</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&lt;!-- image: a chessboard tilted so the pieces slide off, replaced by an open notebook with five short handwritten lines and a small precise instrument resting on the page, dark slate background, amber accent on the instrument, flat vector, no text --&gt;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Explain it. Challenge it. Change it. Apply it. Defend it.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Too much power to hold casually. Prove the value constantly.</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Stop trying to prove who typed the sentence. Ask whether the student can explain it, challenge it, change it, apply it, and defend it. That means teaching changes: how we put agents in the room, how we model using them, how we design group work around them.</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The kid next to the Casio owner didn't need a watch. The kid with no car never touched the clay. The same tool that lets Johnny phone it in is the one that can hand a sculptor the clay. Which one happens is a design decision, and it's ours.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This is a great deal of data and a great deal of power. Too much to hold casually. The value has to be proven, constantly, for educators and students, or the data should not exist. No ambling through conversations dispensing answers. A purpose-built machine. There are technical ways to build one; come find me after.</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Stage direction: Land on "come find me after." Stop.</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slideLayouts/_rels/slideLayout1.xml.rels><?xml version="1.0" encoding="UTF-8" standalone="yes"?><Relationships xmlns="http://schemas.openxmlformats.org/package/2006/relationships"><Relationship Id="rIdMaster"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Relationships xmlns="http://schemas.openxmlformats.org/package/2006/relationships"><Relationship Id="rIdLayout" Type="http://schemas.openxmlformats.org/officeDocument/2006/relationships/slideLayout" Target="../slideLayouts/slideLayout1.xml"/><Relationship Id="rIdTheme"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accent1="accent1" accent2="accent2" accent3="accent3" accent4="accent4" accent5="accent5" accent6="accent6" bg1="lt1" bg2="lt2" folHlink="folHlink" hlink="hlink" tx1="dk1" tx2="dk2"/>
  <p:sldLayoutIdLst>
    <p:sldLayoutId id="2147483649" r:id="rIdLayout"/>
  </p:sldLayoutIdLst>
  <p:txStyles>
    <p:titleStyle/>
    <p:bodyStyle/>
    <p:otherStyle/>
  </p:txStyles>
</p:sldMaster>
</file>

<file path=ppt/slides/_rels/slide1.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1.xml"/></Relationships>
</file>

<file path=ppt/slides/_rels/slide2.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2.xml"/></Relationships>
</file>

<file path=ppt/slides/_rels/slide3.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3.xml"/></Relationships>
</file>

<file path=ppt/slides/_rels/slide4.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4.xml"/></Relationships>
</file>

<file path=ppt/slides/_rels/slide5.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5.xml"/></Relationships>
</file>

<file path=ppt/slides/_rels/slide6.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6.xml"/></Relationships>
</file>

<file path=ppt/slides/_rels/slide7.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7.xml"/></Relationships>
</file>

<file path=ppt/slides/_rels/slide8.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8.xml"/></Relationships>
</file>

<file path=ppt/slides/_rels/slide9.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9.xml"/></Relationships>
</file>

<file path=ppt/slides/_rels/slide10.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10.xml"/></Relationships>
</file>

<file path=ppt/slides/_rels/slide11.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11.xml"/></Relationships>
</file>

<file path=ppt/slides/_rels/slide12.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12.xml"/></Relationships>
</file>

<file path=ppt/slides/_rels/slide13.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13.xml"/></Relationships>
</file>

<file path=ppt/slides/_rels/slide14.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14.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61D26"/>
        </a:solidFill>
        <a:effectLst/>
      </p:bgPr>
    </p:bg>
    <p:spTree>
      <p:nvGrpSpPr>
        <p:cNvPr id="1" name=""/>
        <p:cNvGrpSpPr/>
        <p:nvPr/>
      </p:nvGrpSpPr>
      <p:grpSpPr>
        <a:xfrm>
          <a:off x="0" y="0"/>
          <a:ext cx="0" cy="0"/>
          <a:chOff x="0" y="0"/>
          <a:chExt cx="0" cy="0"/>
        </a:xfrm>
      </p:grpSpPr>
      <p:sp>
        <p:nvSpPr>
          <p:cNvPr id="2" name="Text 2"/>
          <p:cNvSpPr txBox="1"/>
          <p:nvPr/>
        </p:nvSpPr>
        <p:spPr>
          <a:xfrm>
            <a:off x="685800" y="381000"/>
            <a:ext cx="12344400" cy="457200"/>
          </a:xfrm>
          <a:prstGeom prst="rect">
            <a:avLst/>
          </a:prstGeom>
          <a:noFill/>
          <a:ln>
            <a:noFill/>
          </a:ln>
        </p:spPr>
        <p:txBody>
          <a:bodyPr wrap="none" lIns="0" tIns="0" rIns="0" bIns="0" anchor="t">
            <a:noAutofit/>
          </a:bodyPr>
          <a:lstStyle/>
          <a:p>
            <a:pPr marL="0" indent="0">
              <a:lnSpc>
                <a:spcPts val="1755"/>
              </a:lnSpc>
              <a:spcAft>
                <a:spcPts val="0"/>
              </a:spcAft>
              <a:buNone/>
            </a:pPr>
            <a:r>
              <a:rPr lang="en-US" sz="1350" b="1">
                <a:solidFill>
                  <a:srgbClr val="EFB45F"/>
                </a:solidFill>
                <a:latin typeface="Arial"/>
                <a:ea typeface="Arial"/>
                <a:cs typeface="Arial"/>
              </a:rPr>
              <a:t xml:space="preserve">Outsmart Your Lying, Cheating Students · Dan Levy</a:t>
            </a:r>
            <a:endParaRPr lang="en-US" sz="1350"/>
          </a:p>
        </p:txBody>
      </p:sp>
      <p:sp>
        <p:nvSpPr>
          <p:cNvPr id="3" name="Text 3"/>
          <p:cNvSpPr txBox="1"/>
          <p:nvPr/>
        </p:nvSpPr>
        <p:spPr>
          <a:xfrm>
            <a:off x="685800" y="1057275"/>
            <a:ext cx="12344400" cy="1381125"/>
          </a:xfrm>
          <a:prstGeom prst="rect">
            <a:avLst/>
          </a:prstGeom>
          <a:noFill/>
          <a:ln>
            <a:noFill/>
          </a:ln>
        </p:spPr>
        <p:txBody>
          <a:bodyPr wrap="none" lIns="0" tIns="0" rIns="0" bIns="0" anchor="t">
            <a:noAutofit/>
          </a:bodyPr>
          <a:lstStyle/>
          <a:p>
            <a:pPr marL="0" indent="0">
              <a:lnSpc>
                <a:spcPts val="4680"/>
              </a:lnSpc>
              <a:spcAft>
                <a:spcPts val="0"/>
              </a:spcAft>
              <a:buNone/>
            </a:pPr>
            <a:r>
              <a:rPr lang="en-US" sz="3900" b="1">
                <a:solidFill>
                  <a:srgbClr val="F5F1E9"/>
                </a:solidFill>
                <a:latin typeface="Arial"/>
                <a:ea typeface="Arial"/>
                <a:cs typeface="Arial"/>
              </a:rPr>
              <a:t xml:space="preserve">The cat is out of the bag</a:t>
            </a:r>
            <a:endParaRPr lang="en-US" sz="3900"/>
          </a:p>
        </p:txBody>
      </p:sp>
      <p:sp>
        <p:nvSpPr>
          <p:cNvPr id="4" name="Text 4"/>
          <p:cNvSpPr txBox="1"/>
          <p:nvPr/>
        </p:nvSpPr>
        <p:spPr>
          <a:xfrm>
            <a:off x="685800" y="2771775"/>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01</a:t>
            </a:r>
            <a:endParaRPr lang="en-US" sz="1875"/>
          </a:p>
        </p:txBody>
      </p:sp>
      <p:sp>
        <p:nvSpPr>
          <p:cNvPr id="5" name="Text 5"/>
          <p:cNvSpPr txBox="1"/>
          <p:nvPr/>
        </p:nvSpPr>
        <p:spPr>
          <a:xfrm>
            <a:off x="2000250" y="2771775"/>
            <a:ext cx="11029950" cy="539115"/>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Horse out of the barn. Cat out of the bag.</a:t>
            </a:r>
            <a:endParaRPr lang="en-US" sz="3150"/>
          </a:p>
        </p:txBody>
      </p:sp>
      <p:sp>
        <p:nvSpPr>
          <p:cNvPr id="6" name="Text 6"/>
          <p:cNvSpPr txBox="1"/>
          <p:nvPr/>
        </p:nvSpPr>
        <p:spPr>
          <a:xfrm>
            <a:off x="685800" y="3558540"/>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02</a:t>
            </a:r>
            <a:endParaRPr lang="en-US" sz="1875"/>
          </a:p>
        </p:txBody>
      </p:sp>
      <p:sp>
        <p:nvSpPr>
          <p:cNvPr id="7" name="Text 7"/>
          <p:cNvSpPr txBox="1"/>
          <p:nvPr/>
        </p:nvSpPr>
        <p:spPr>
          <a:xfrm>
            <a:off x="2000250" y="3558540"/>
            <a:ext cx="11029950" cy="539115"/>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Math class survived the Casio watch.</a:t>
            </a:r>
            <a:endParaRPr lang="en-US" sz="3150"/>
          </a:p>
        </p:txBody>
      </p:sp>
      <p:sp>
        <p:nvSpPr>
          <p:cNvPr id="8" name="Text 8"/>
          <p:cNvSpPr txBox="1"/>
          <p:nvPr/>
        </p:nvSpPr>
        <p:spPr>
          <a:xfrm>
            <a:off x="457200" y="8286750"/>
            <a:ext cx="124777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Outsmart Your Lying, Cheating Students</a:t>
            </a:r>
            <a:endParaRPr lang="en-US" sz="975"/>
          </a:p>
        </p:txBody>
      </p:sp>
      <p:sp>
        <p:nvSpPr>
          <p:cNvPr id="9" name="Text 9"/>
          <p:cNvSpPr txBox="1"/>
          <p:nvPr/>
        </p:nvSpPr>
        <p:spPr>
          <a:xfrm>
            <a:off x="13049250" y="82867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1</a:t>
            </a:r>
            <a:endParaRPr lang="en-US" sz="975"/>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161D26"/>
        </a:solidFill>
        <a:effectLst/>
      </p:bgPr>
    </p:bg>
    <p:spTree>
      <p:nvGrpSpPr>
        <p:cNvPr id="1" name=""/>
        <p:cNvGrpSpPr/>
        <p:nvPr/>
      </p:nvGrpSpPr>
      <p:grpSpPr>
        <a:xfrm>
          <a:off x="0" y="0"/>
          <a:ext cx="0" cy="0"/>
          <a:chOff x="0" y="0"/>
          <a:chExt cx="0" cy="0"/>
        </a:xfrm>
      </p:grpSpPr>
      <p:sp>
        <p:nvSpPr>
          <p:cNvPr id="2" name="Text 2"/>
          <p:cNvSpPr txBox="1"/>
          <p:nvPr/>
        </p:nvSpPr>
        <p:spPr>
          <a:xfrm>
            <a:off x="685800" y="381000"/>
            <a:ext cx="12344400" cy="457200"/>
          </a:xfrm>
          <a:prstGeom prst="rect">
            <a:avLst/>
          </a:prstGeom>
          <a:noFill/>
          <a:ln>
            <a:noFill/>
          </a:ln>
        </p:spPr>
        <p:txBody>
          <a:bodyPr wrap="none" lIns="0" tIns="0" rIns="0" bIns="0" anchor="t">
            <a:noAutofit/>
          </a:bodyPr>
          <a:lstStyle/>
          <a:p>
            <a:pPr marL="0" indent="0">
              <a:lnSpc>
                <a:spcPts val="1755"/>
              </a:lnSpc>
              <a:spcAft>
                <a:spcPts val="0"/>
              </a:spcAft>
              <a:buNone/>
            </a:pPr>
            <a:r>
              <a:rPr lang="en-US" sz="1350" b="1">
                <a:solidFill>
                  <a:srgbClr val="EFB45F"/>
                </a:solidFill>
                <a:latin typeface="Arial"/>
                <a:ea typeface="Arial"/>
                <a:cs typeface="Arial"/>
              </a:rPr>
              <a:t xml:space="preserve">02 / 14    SOURCE SLIDE 2</a:t>
            </a:r>
            <a:endParaRPr lang="en-US" sz="1350"/>
          </a:p>
        </p:txBody>
      </p:sp>
      <p:sp>
        <p:nvSpPr>
          <p:cNvPr id="3" name="Text 3"/>
          <p:cNvSpPr txBox="1"/>
          <p:nvPr/>
        </p:nvSpPr>
        <p:spPr>
          <a:xfrm>
            <a:off x="685800" y="1057275"/>
            <a:ext cx="12344400" cy="1381125"/>
          </a:xfrm>
          <a:prstGeom prst="rect">
            <a:avLst/>
          </a:prstGeom>
          <a:noFill/>
          <a:ln>
            <a:noFill/>
          </a:ln>
        </p:spPr>
        <p:txBody>
          <a:bodyPr wrap="none" lIns="0" tIns="0" rIns="0" bIns="0" anchor="t">
            <a:noAutofit/>
          </a:bodyPr>
          <a:lstStyle/>
          <a:p>
            <a:pPr marL="0" indent="0">
              <a:lnSpc>
                <a:spcPts val="4680"/>
              </a:lnSpc>
              <a:spcAft>
                <a:spcPts val="0"/>
              </a:spcAft>
              <a:buNone/>
            </a:pPr>
            <a:r>
              <a:rPr lang="en-US" sz="3900" b="1">
                <a:solidFill>
                  <a:srgbClr val="F5F1E9"/>
                </a:solidFill>
                <a:latin typeface="Arial"/>
                <a:ea typeface="Arial"/>
                <a:cs typeface="Arial"/>
              </a:rPr>
              <a:t xml:space="preserve">The doom loop</a:t>
            </a:r>
            <a:endParaRPr lang="en-US" sz="3900"/>
          </a:p>
        </p:txBody>
      </p:sp>
      <p:sp>
        <p:nvSpPr>
          <p:cNvPr id="4" name="Text 4"/>
          <p:cNvSpPr txBox="1"/>
          <p:nvPr/>
        </p:nvSpPr>
        <p:spPr>
          <a:xfrm>
            <a:off x="685800" y="2771775"/>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01</a:t>
            </a:r>
            <a:endParaRPr lang="en-US" sz="1875"/>
          </a:p>
        </p:txBody>
      </p:sp>
      <p:sp>
        <p:nvSpPr>
          <p:cNvPr id="5" name="Text 5"/>
          <p:cNvSpPr txBox="1"/>
          <p:nvPr/>
        </p:nvSpPr>
        <p:spPr>
          <a:xfrm>
            <a:off x="2000250" y="2771775"/>
            <a:ext cx="11029950" cy="1059180"/>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Proctoring fails. The pop quiz proves what you</a:t>
            </a:r>
            <a:endParaRPr lang="en-US" sz="3150"/>
          </a:p>
          <a:p>
            <a:pPr marL="0" indent="0">
              <a:lnSpc>
                <a:spcPts val="4095"/>
              </a:lnSpc>
              <a:spcAft>
                <a:spcPts val="0"/>
              </a:spcAft>
              <a:buNone/>
            </a:pPr>
            <a:r>
              <a:rPr lang="en-US" sz="3150" b="0">
                <a:solidFill>
                  <a:srgbClr val="F5F1E9"/>
                </a:solidFill>
                <a:latin typeface="Arial"/>
                <a:ea typeface="Arial"/>
                <a:cs typeface="Arial"/>
              </a:rPr>
              <a:t xml:space="preserve">already knew.</a:t>
            </a:r>
            <a:endParaRPr lang="en-US" sz="3150"/>
          </a:p>
        </p:txBody>
      </p:sp>
      <p:sp>
        <p:nvSpPr>
          <p:cNvPr id="6" name="Text 6"/>
          <p:cNvSpPr txBox="1"/>
          <p:nvPr/>
        </p:nvSpPr>
        <p:spPr>
          <a:xfrm>
            <a:off x="685800" y="4078605"/>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02</a:t>
            </a:r>
            <a:endParaRPr lang="en-US" sz="1875"/>
          </a:p>
        </p:txBody>
      </p:sp>
      <p:sp>
        <p:nvSpPr>
          <p:cNvPr id="7" name="Text 7"/>
          <p:cNvSpPr txBox="1"/>
          <p:nvPr/>
        </p:nvSpPr>
        <p:spPr>
          <a:xfrm>
            <a:off x="2000250" y="4078605"/>
            <a:ext cx="11029950" cy="539115"/>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Getting away with it is the reward.</a:t>
            </a:r>
            <a:endParaRPr lang="en-US" sz="3150"/>
          </a:p>
        </p:txBody>
      </p:sp>
      <p:sp>
        <p:nvSpPr>
          <p:cNvPr id="8" name="Text 8"/>
          <p:cNvSpPr txBox="1"/>
          <p:nvPr/>
        </p:nvSpPr>
        <p:spPr>
          <a:xfrm>
            <a:off x="685800" y="4865370"/>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03</a:t>
            </a:r>
            <a:endParaRPr lang="en-US" sz="1875"/>
          </a:p>
        </p:txBody>
      </p:sp>
      <p:sp>
        <p:nvSpPr>
          <p:cNvPr id="9" name="Text 9"/>
          <p:cNvSpPr txBox="1"/>
          <p:nvPr/>
        </p:nvSpPr>
        <p:spPr>
          <a:xfrm>
            <a:off x="2000250" y="4865370"/>
            <a:ext cx="11029950" cy="539115"/>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Students are the original adversarial actors.</a:t>
            </a:r>
            <a:endParaRPr lang="en-US" sz="3150"/>
          </a:p>
        </p:txBody>
      </p:sp>
      <p:sp>
        <p:nvSpPr>
          <p:cNvPr id="10" name="Text 10"/>
          <p:cNvSpPr txBox="1"/>
          <p:nvPr/>
        </p:nvSpPr>
        <p:spPr>
          <a:xfrm>
            <a:off x="457200" y="8286750"/>
            <a:ext cx="124777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Outsmart Your Lying, Cheating Students</a:t>
            </a:r>
            <a:endParaRPr lang="en-US" sz="975"/>
          </a:p>
        </p:txBody>
      </p:sp>
      <p:sp>
        <p:nvSpPr>
          <p:cNvPr id="11" name="Text 11"/>
          <p:cNvSpPr txBox="1"/>
          <p:nvPr/>
        </p:nvSpPr>
        <p:spPr>
          <a:xfrm>
            <a:off x="13049250" y="82867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2</a:t>
            </a:r>
            <a:endParaRPr lang="en-US" sz="975"/>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161D26"/>
        </a:solidFill>
        <a:effectLst/>
      </p:bgPr>
    </p:bg>
    <p:spTree>
      <p:nvGrpSpPr>
        <p:cNvPr id="1" name=""/>
        <p:cNvGrpSpPr/>
        <p:nvPr/>
      </p:nvGrpSpPr>
      <p:grpSpPr>
        <a:xfrm>
          <a:off x="0" y="0"/>
          <a:ext cx="0" cy="0"/>
          <a:chOff x="0" y="0"/>
          <a:chExt cx="0" cy="0"/>
        </a:xfrm>
      </p:grpSpPr>
      <p:sp>
        <p:nvSpPr>
          <p:cNvPr id="2" name="Text 2"/>
          <p:cNvSpPr txBox="1"/>
          <p:nvPr/>
        </p:nvSpPr>
        <p:spPr>
          <a:xfrm>
            <a:off x="685800" y="381000"/>
            <a:ext cx="12344400" cy="457200"/>
          </a:xfrm>
          <a:prstGeom prst="rect">
            <a:avLst/>
          </a:prstGeom>
          <a:noFill/>
          <a:ln>
            <a:noFill/>
          </a:ln>
        </p:spPr>
        <p:txBody>
          <a:bodyPr wrap="none" lIns="0" tIns="0" rIns="0" bIns="0" anchor="t">
            <a:noAutofit/>
          </a:bodyPr>
          <a:lstStyle/>
          <a:p>
            <a:pPr marL="0" indent="0">
              <a:lnSpc>
                <a:spcPts val="1755"/>
              </a:lnSpc>
              <a:spcAft>
                <a:spcPts val="0"/>
              </a:spcAft>
              <a:buNone/>
            </a:pPr>
            <a:r>
              <a:rPr lang="en-US" sz="1350" b="1">
                <a:solidFill>
                  <a:srgbClr val="EFB45F"/>
                </a:solidFill>
                <a:latin typeface="Arial"/>
                <a:ea typeface="Arial"/>
                <a:cs typeface="Arial"/>
              </a:rPr>
              <a:t xml:space="preserve">03 / 14    SOURCE SLIDE 3</a:t>
            </a:r>
            <a:endParaRPr lang="en-US" sz="1350"/>
          </a:p>
        </p:txBody>
      </p:sp>
      <p:sp>
        <p:nvSpPr>
          <p:cNvPr id="3" name="Text 3"/>
          <p:cNvSpPr txBox="1"/>
          <p:nvPr/>
        </p:nvSpPr>
        <p:spPr>
          <a:xfrm>
            <a:off x="685800" y="1057275"/>
            <a:ext cx="12344400" cy="1381125"/>
          </a:xfrm>
          <a:prstGeom prst="rect">
            <a:avLst/>
          </a:prstGeom>
          <a:noFill/>
          <a:ln>
            <a:noFill/>
          </a:ln>
        </p:spPr>
        <p:txBody>
          <a:bodyPr wrap="none" lIns="0" tIns="0" rIns="0" bIns="0" anchor="t">
            <a:noAutofit/>
          </a:bodyPr>
          <a:lstStyle/>
          <a:p>
            <a:pPr marL="0" indent="0">
              <a:lnSpc>
                <a:spcPts val="4680"/>
              </a:lnSpc>
              <a:spcAft>
                <a:spcPts val="0"/>
              </a:spcAft>
              <a:buNone/>
            </a:pPr>
            <a:r>
              <a:rPr lang="en-US" sz="3900" b="1">
                <a:solidFill>
                  <a:srgbClr val="F5F1E9"/>
                </a:solidFill>
                <a:latin typeface="Arial"/>
                <a:ea typeface="Arial"/>
                <a:cs typeface="Arial"/>
              </a:rPr>
              <a:t xml:space="preserve">Write down where the foundations happen</a:t>
            </a:r>
            <a:endParaRPr lang="en-US" sz="3900"/>
          </a:p>
        </p:txBody>
      </p:sp>
      <p:sp>
        <p:nvSpPr>
          <p:cNvPr id="4" name="Text 4"/>
          <p:cNvSpPr txBox="1"/>
          <p:nvPr/>
        </p:nvSpPr>
        <p:spPr>
          <a:xfrm>
            <a:off x="685800" y="2771775"/>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01</a:t>
            </a:r>
            <a:endParaRPr lang="en-US" sz="1875"/>
          </a:p>
        </p:txBody>
      </p:sp>
      <p:sp>
        <p:nvSpPr>
          <p:cNvPr id="5" name="Text 5"/>
          <p:cNvSpPr txBox="1"/>
          <p:nvPr/>
        </p:nvSpPr>
        <p:spPr>
          <a:xfrm>
            <a:off x="2000250" y="2771775"/>
            <a:ext cx="11029950" cy="1059180"/>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Pencil, paper, whiteboard, peers: in the curriculum,</a:t>
            </a:r>
            <a:endParaRPr lang="en-US" sz="3150"/>
          </a:p>
          <a:p>
            <a:pPr marL="0" indent="0">
              <a:lnSpc>
                <a:spcPts val="4095"/>
              </a:lnSpc>
              <a:spcAft>
                <a:spcPts val="0"/>
              </a:spcAft>
              <a:buNone/>
            </a:pPr>
            <a:r>
              <a:rPr lang="en-US" sz="3150" b="0">
                <a:solidFill>
                  <a:srgbClr val="F5F1E9"/>
                </a:solidFill>
                <a:latin typeface="Arial"/>
                <a:ea typeface="Arial"/>
                <a:cs typeface="Arial"/>
              </a:rPr>
              <a:t xml:space="preserve">with the reason</a:t>
            </a:r>
            <a:endParaRPr lang="en-US" sz="3150"/>
          </a:p>
        </p:txBody>
      </p:sp>
      <p:sp>
        <p:nvSpPr>
          <p:cNvPr id="6" name="Text 6"/>
          <p:cNvSpPr txBox="1"/>
          <p:nvPr/>
        </p:nvSpPr>
        <p:spPr>
          <a:xfrm>
            <a:off x="685800" y="4078605"/>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02</a:t>
            </a:r>
            <a:endParaRPr lang="en-US" sz="1875"/>
          </a:p>
        </p:txBody>
      </p:sp>
      <p:sp>
        <p:nvSpPr>
          <p:cNvPr id="7" name="Text 7"/>
          <p:cNvSpPr txBox="1"/>
          <p:nvPr/>
        </p:nvSpPr>
        <p:spPr>
          <a:xfrm>
            <a:off x="2000250" y="4078605"/>
            <a:ext cx="11029950" cy="1059180"/>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Then, same document: "and we are going to teach you</a:t>
            </a:r>
            <a:endParaRPr lang="en-US" sz="3150"/>
          </a:p>
          <a:p>
            <a:pPr marL="0" indent="0">
              <a:lnSpc>
                <a:spcPts val="4095"/>
              </a:lnSpc>
              <a:spcAft>
                <a:spcPts val="0"/>
              </a:spcAft>
              <a:buNone/>
            </a:pPr>
            <a:r>
              <a:rPr lang="en-US" sz="3150" b="0">
                <a:solidFill>
                  <a:srgbClr val="F5F1E9"/>
                </a:solidFill>
                <a:latin typeface="Arial"/>
                <a:ea typeface="Arial"/>
                <a:cs typeface="Arial"/>
              </a:rPr>
              <a:t xml:space="preserve">the tool"</a:t>
            </a:r>
            <a:endParaRPr lang="en-US" sz="3150"/>
          </a:p>
        </p:txBody>
      </p:sp>
      <p:sp>
        <p:nvSpPr>
          <p:cNvPr id="8" name="Text 8"/>
          <p:cNvSpPr txBox="1"/>
          <p:nvPr/>
        </p:nvSpPr>
        <p:spPr>
          <a:xfrm>
            <a:off x="457200" y="8286750"/>
            <a:ext cx="124777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Outsmart Your Lying, Cheating Students</a:t>
            </a:r>
            <a:endParaRPr lang="en-US" sz="975"/>
          </a:p>
        </p:txBody>
      </p:sp>
      <p:sp>
        <p:nvSpPr>
          <p:cNvPr id="9" name="Text 9"/>
          <p:cNvSpPr txBox="1"/>
          <p:nvPr/>
        </p:nvSpPr>
        <p:spPr>
          <a:xfrm>
            <a:off x="13049250" y="82867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3</a:t>
            </a:r>
            <a:endParaRPr lang="en-US" sz="975"/>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161D26"/>
        </a:solidFill>
        <a:effectLst/>
      </p:bgPr>
    </p:bg>
    <p:spTree>
      <p:nvGrpSpPr>
        <p:cNvPr id="1" name=""/>
        <p:cNvGrpSpPr/>
        <p:nvPr/>
      </p:nvGrpSpPr>
      <p:grpSpPr>
        <a:xfrm>
          <a:off x="0" y="0"/>
          <a:ext cx="0" cy="0"/>
          <a:chOff x="0" y="0"/>
          <a:chExt cx="0" cy="0"/>
        </a:xfrm>
      </p:grpSpPr>
      <p:sp>
        <p:nvSpPr>
          <p:cNvPr id="2" name="Text 2"/>
          <p:cNvSpPr txBox="1"/>
          <p:nvPr/>
        </p:nvSpPr>
        <p:spPr>
          <a:xfrm>
            <a:off x="685800" y="381000"/>
            <a:ext cx="12344400" cy="457200"/>
          </a:xfrm>
          <a:prstGeom prst="rect">
            <a:avLst/>
          </a:prstGeom>
          <a:noFill/>
          <a:ln>
            <a:noFill/>
          </a:ln>
        </p:spPr>
        <p:txBody>
          <a:bodyPr wrap="none" lIns="0" tIns="0" rIns="0" bIns="0" anchor="t">
            <a:noAutofit/>
          </a:bodyPr>
          <a:lstStyle/>
          <a:p>
            <a:pPr marL="0" indent="0">
              <a:lnSpc>
                <a:spcPts val="1755"/>
              </a:lnSpc>
              <a:spcAft>
                <a:spcPts val="0"/>
              </a:spcAft>
              <a:buNone/>
            </a:pPr>
            <a:r>
              <a:rPr lang="en-US" sz="1350" b="1">
                <a:solidFill>
                  <a:srgbClr val="EFB45F"/>
                </a:solidFill>
                <a:latin typeface="Arial"/>
                <a:ea typeface="Arial"/>
                <a:cs typeface="Arial"/>
              </a:rPr>
              <a:t xml:space="preserve">04 / 14    SOURCE SLIDE 4</a:t>
            </a:r>
            <a:endParaRPr lang="en-US" sz="1350"/>
          </a:p>
        </p:txBody>
      </p:sp>
      <p:sp>
        <p:nvSpPr>
          <p:cNvPr id="3" name="Text 3"/>
          <p:cNvSpPr txBox="1"/>
          <p:nvPr/>
        </p:nvSpPr>
        <p:spPr>
          <a:xfrm>
            <a:off x="685800" y="1057275"/>
            <a:ext cx="12344400" cy="1381125"/>
          </a:xfrm>
          <a:prstGeom prst="rect">
            <a:avLst/>
          </a:prstGeom>
          <a:noFill/>
          <a:ln>
            <a:noFill/>
          </a:ln>
        </p:spPr>
        <p:txBody>
          <a:bodyPr wrap="none" lIns="0" tIns="0" rIns="0" bIns="0" anchor="t">
            <a:noAutofit/>
          </a:bodyPr>
          <a:lstStyle/>
          <a:p>
            <a:pPr marL="0" indent="0">
              <a:lnSpc>
                <a:spcPts val="4680"/>
              </a:lnSpc>
              <a:spcAft>
                <a:spcPts val="0"/>
              </a:spcAft>
              <a:buNone/>
            </a:pPr>
            <a:r>
              <a:rPr lang="en-US" sz="3900" b="1">
                <a:solidFill>
                  <a:srgbClr val="F5F1E9"/>
                </a:solidFill>
                <a:latin typeface="Arial"/>
                <a:ea typeface="Arial"/>
                <a:cs typeface="Arial"/>
              </a:rPr>
              <a:t xml:space="preserve">The polished answer with a hole in it</a:t>
            </a:r>
            <a:endParaRPr lang="en-US" sz="3900"/>
          </a:p>
        </p:txBody>
      </p:sp>
      <p:sp>
        <p:nvSpPr>
          <p:cNvPr id="4" name="Text 4"/>
          <p:cNvSpPr txBox="1"/>
          <p:nvPr/>
        </p:nvSpPr>
        <p:spPr>
          <a:xfrm>
            <a:off x="685800" y="2771775"/>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01</a:t>
            </a:r>
            <a:endParaRPr lang="en-US" sz="1875"/>
          </a:p>
        </p:txBody>
      </p:sp>
      <p:sp>
        <p:nvSpPr>
          <p:cNvPr id="5" name="Text 5"/>
          <p:cNvSpPr txBox="1"/>
          <p:nvPr/>
        </p:nvSpPr>
        <p:spPr>
          <a:xfrm>
            <a:off x="2000250" y="2771775"/>
            <a:ext cx="11029950" cy="539115"/>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"A 20% rise and a 20% fall cancel."</a:t>
            </a:r>
            <a:endParaRPr lang="en-US" sz="3150"/>
          </a:p>
        </p:txBody>
      </p:sp>
      <p:sp>
        <p:nvSpPr>
          <p:cNvPr id="6" name="Text 6"/>
          <p:cNvSpPr txBox="1"/>
          <p:nvPr/>
        </p:nvSpPr>
        <p:spPr>
          <a:xfrm>
            <a:off x="685800" y="3558540"/>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02</a:t>
            </a:r>
            <a:endParaRPr lang="en-US" sz="1875"/>
          </a:p>
        </p:txBody>
      </p:sp>
      <p:sp>
        <p:nvSpPr>
          <p:cNvPr id="7" name="Text 7"/>
          <p:cNvSpPr txBox="1"/>
          <p:nvPr/>
        </p:nvSpPr>
        <p:spPr>
          <a:xfrm>
            <a:off x="2000250" y="3558540"/>
            <a:ext cx="11029950" cy="539115"/>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The prose is clean. The denominator is wrong.</a:t>
            </a:r>
            <a:endParaRPr lang="en-US" sz="3150"/>
          </a:p>
        </p:txBody>
      </p:sp>
      <p:sp>
        <p:nvSpPr>
          <p:cNvPr id="8" name="Text 8"/>
          <p:cNvSpPr txBox="1"/>
          <p:nvPr/>
        </p:nvSpPr>
        <p:spPr>
          <a:xfrm>
            <a:off x="457200" y="8286750"/>
            <a:ext cx="124777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Outsmart Your Lying, Cheating Students</a:t>
            </a:r>
            <a:endParaRPr lang="en-US" sz="975"/>
          </a:p>
        </p:txBody>
      </p:sp>
      <p:sp>
        <p:nvSpPr>
          <p:cNvPr id="9" name="Text 9"/>
          <p:cNvSpPr txBox="1"/>
          <p:nvPr/>
        </p:nvSpPr>
        <p:spPr>
          <a:xfrm>
            <a:off x="13049250" y="82867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4</a:t>
            </a:r>
            <a:endParaRPr lang="en-US" sz="975"/>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161D26"/>
        </a:solidFill>
        <a:effectLst/>
      </p:bgPr>
    </p:bg>
    <p:spTree>
      <p:nvGrpSpPr>
        <p:cNvPr id="1" name=""/>
        <p:cNvGrpSpPr/>
        <p:nvPr/>
      </p:nvGrpSpPr>
      <p:grpSpPr>
        <a:xfrm>
          <a:off x="0" y="0"/>
          <a:ext cx="0" cy="0"/>
          <a:chOff x="0" y="0"/>
          <a:chExt cx="0" cy="0"/>
        </a:xfrm>
      </p:grpSpPr>
      <p:sp>
        <p:nvSpPr>
          <p:cNvPr id="2" name="Text 2"/>
          <p:cNvSpPr txBox="1"/>
          <p:nvPr/>
        </p:nvSpPr>
        <p:spPr>
          <a:xfrm>
            <a:off x="685800" y="381000"/>
            <a:ext cx="12344400" cy="457200"/>
          </a:xfrm>
          <a:prstGeom prst="rect">
            <a:avLst/>
          </a:prstGeom>
          <a:noFill/>
          <a:ln>
            <a:noFill/>
          </a:ln>
        </p:spPr>
        <p:txBody>
          <a:bodyPr wrap="none" lIns="0" tIns="0" rIns="0" bIns="0" anchor="t">
            <a:noAutofit/>
          </a:bodyPr>
          <a:lstStyle/>
          <a:p>
            <a:pPr marL="0" indent="0">
              <a:lnSpc>
                <a:spcPts val="1755"/>
              </a:lnSpc>
              <a:spcAft>
                <a:spcPts val="0"/>
              </a:spcAft>
              <a:buNone/>
            </a:pPr>
            <a:r>
              <a:rPr lang="en-US" sz="1350" b="1">
                <a:solidFill>
                  <a:srgbClr val="EFB45F"/>
                </a:solidFill>
                <a:latin typeface="Arial"/>
                <a:ea typeface="Arial"/>
                <a:cs typeface="Arial"/>
              </a:rPr>
              <a:t xml:space="preserve">05 / 14    SOURCE SLIDE 5</a:t>
            </a:r>
            <a:endParaRPr lang="en-US" sz="1350"/>
          </a:p>
        </p:txBody>
      </p:sp>
      <p:sp>
        <p:nvSpPr>
          <p:cNvPr id="3" name="Text 3"/>
          <p:cNvSpPr txBox="1"/>
          <p:nvPr/>
        </p:nvSpPr>
        <p:spPr>
          <a:xfrm>
            <a:off x="685800" y="1057275"/>
            <a:ext cx="12344400" cy="1381125"/>
          </a:xfrm>
          <a:prstGeom prst="rect">
            <a:avLst/>
          </a:prstGeom>
          <a:noFill/>
          <a:ln>
            <a:noFill/>
          </a:ln>
        </p:spPr>
        <p:txBody>
          <a:bodyPr wrap="none" lIns="0" tIns="0" rIns="0" bIns="0" anchor="t">
            <a:noAutofit/>
          </a:bodyPr>
          <a:lstStyle/>
          <a:p>
            <a:pPr marL="0" indent="0">
              <a:lnSpc>
                <a:spcPts val="4680"/>
              </a:lnSpc>
              <a:spcAft>
                <a:spcPts val="0"/>
              </a:spcAft>
              <a:buNone/>
            </a:pPr>
            <a:r>
              <a:rPr lang="en-US" sz="3900" b="1">
                <a:solidFill>
                  <a:srgbClr val="F5F1E9"/>
                </a:solidFill>
                <a:latin typeface="Arial"/>
                <a:ea typeface="Arial"/>
                <a:cs typeface="Arial"/>
              </a:rPr>
              <a:t xml:space="preserve">Outsmart move one: make verification feel like</a:t>
            </a:r>
            <a:endParaRPr lang="en-US" sz="3900"/>
          </a:p>
          <a:p>
            <a:pPr marL="0" indent="0">
              <a:lnSpc>
                <a:spcPts val="4680"/>
              </a:lnSpc>
              <a:spcAft>
                <a:spcPts val="0"/>
              </a:spcAft>
              <a:buNone/>
            </a:pPr>
            <a:r>
              <a:rPr lang="en-US" sz="3900" b="1">
                <a:solidFill>
                  <a:srgbClr val="F5F1E9"/>
                </a:solidFill>
                <a:latin typeface="Arial"/>
                <a:ea typeface="Arial"/>
                <a:cs typeface="Arial"/>
              </a:rPr>
              <a:t xml:space="preserve">cheating</a:t>
            </a:r>
            <a:endParaRPr lang="en-US" sz="3900"/>
          </a:p>
        </p:txBody>
      </p:sp>
      <p:sp>
        <p:nvSpPr>
          <p:cNvPr id="4" name="Text 4"/>
          <p:cNvSpPr txBox="1"/>
          <p:nvPr/>
        </p:nvSpPr>
        <p:spPr>
          <a:xfrm>
            <a:off x="685800" y="2771775"/>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01</a:t>
            </a:r>
            <a:endParaRPr lang="en-US" sz="1875"/>
          </a:p>
        </p:txBody>
      </p:sp>
      <p:sp>
        <p:nvSpPr>
          <p:cNvPr id="5" name="Text 5"/>
          <p:cNvSpPr txBox="1"/>
          <p:nvPr/>
        </p:nvSpPr>
        <p:spPr>
          <a:xfrm>
            <a:off x="2000250" y="2771775"/>
            <a:ext cx="11029950" cy="1059180"/>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"Take a picture of these hundred problems and make</a:t>
            </a:r>
            <a:endParaRPr lang="en-US" sz="3150"/>
          </a:p>
          <a:p>
            <a:pPr marL="0" indent="0">
              <a:lnSpc>
                <a:spcPts val="4095"/>
              </a:lnSpc>
              <a:spcAft>
                <a:spcPts val="0"/>
              </a:spcAft>
              <a:buNone/>
            </a:pPr>
            <a:r>
              <a:rPr lang="en-US" sz="3150" b="0">
                <a:solidFill>
                  <a:srgbClr val="F5F1E9"/>
                </a:solidFill>
                <a:latin typeface="Arial"/>
                <a:ea typeface="Arial"/>
                <a:cs typeface="Arial"/>
              </a:rPr>
              <a:t xml:space="preserve">the model do them."</a:t>
            </a:r>
            <a:endParaRPr lang="en-US" sz="3150"/>
          </a:p>
        </p:txBody>
      </p:sp>
      <p:sp>
        <p:nvSpPr>
          <p:cNvPr id="6" name="Text 6"/>
          <p:cNvSpPr txBox="1"/>
          <p:nvPr/>
        </p:nvSpPr>
        <p:spPr>
          <a:xfrm>
            <a:off x="685800" y="4078605"/>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02</a:t>
            </a:r>
            <a:endParaRPr lang="en-US" sz="1875"/>
          </a:p>
        </p:txBody>
      </p:sp>
      <p:sp>
        <p:nvSpPr>
          <p:cNvPr id="7" name="Text 7"/>
          <p:cNvSpPr txBox="1"/>
          <p:nvPr/>
        </p:nvSpPr>
        <p:spPr>
          <a:xfrm>
            <a:off x="2000250" y="4078605"/>
            <a:ext cx="11029950" cy="1059180"/>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A 1 that looks like a 7. A smudge that turns an 8</a:t>
            </a:r>
            <a:endParaRPr lang="en-US" sz="3150"/>
          </a:p>
          <a:p>
            <a:pPr marL="0" indent="0">
              <a:lnSpc>
                <a:spcPts val="4095"/>
              </a:lnSpc>
              <a:spcAft>
                <a:spcPts val="0"/>
              </a:spcAft>
              <a:buNone/>
            </a:pPr>
            <a:r>
              <a:rPr lang="en-US" sz="3150" b="0">
                <a:solidFill>
                  <a:srgbClr val="F5F1E9"/>
                </a:solidFill>
                <a:latin typeface="Arial"/>
                <a:ea typeface="Arial"/>
                <a:cs typeface="Arial"/>
              </a:rPr>
              <a:t xml:space="preserve">into a 9.</a:t>
            </a:r>
            <a:endParaRPr lang="en-US" sz="3150"/>
          </a:p>
        </p:txBody>
      </p:sp>
      <p:sp>
        <p:nvSpPr>
          <p:cNvPr id="8" name="Text 8"/>
          <p:cNvSpPr txBox="1"/>
          <p:nvPr/>
        </p:nvSpPr>
        <p:spPr>
          <a:xfrm>
            <a:off x="685800" y="5385435"/>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03</a:t>
            </a:r>
            <a:endParaRPr lang="en-US" sz="1875"/>
          </a:p>
        </p:txBody>
      </p:sp>
      <p:sp>
        <p:nvSpPr>
          <p:cNvPr id="9" name="Text 9"/>
          <p:cNvSpPr txBox="1"/>
          <p:nvPr/>
        </p:nvSpPr>
        <p:spPr>
          <a:xfrm>
            <a:off x="2000250" y="5385435"/>
            <a:ext cx="11029950" cy="1059180"/>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"You didn't check the results? Johnny, you're not</a:t>
            </a:r>
            <a:endParaRPr lang="en-US" sz="3150"/>
          </a:p>
          <a:p>
            <a:pPr marL="0" indent="0">
              <a:lnSpc>
                <a:spcPts val="4095"/>
              </a:lnSpc>
              <a:spcAft>
                <a:spcPts val="0"/>
              </a:spcAft>
              <a:buNone/>
            </a:pPr>
            <a:r>
              <a:rPr lang="en-US" sz="3150" b="0">
                <a:solidFill>
                  <a:srgbClr val="F5F1E9"/>
                </a:solidFill>
                <a:latin typeface="Arial"/>
                <a:ea typeface="Arial"/>
                <a:cs typeface="Arial"/>
              </a:rPr>
              <a:t xml:space="preserve">gonna make it."</a:t>
            </a:r>
            <a:endParaRPr lang="en-US" sz="3150"/>
          </a:p>
        </p:txBody>
      </p:sp>
      <p:sp>
        <p:nvSpPr>
          <p:cNvPr id="10" name="Text 10"/>
          <p:cNvSpPr txBox="1"/>
          <p:nvPr/>
        </p:nvSpPr>
        <p:spPr>
          <a:xfrm>
            <a:off x="457200" y="8286750"/>
            <a:ext cx="124777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Outsmart Your Lying, Cheating Students</a:t>
            </a:r>
            <a:endParaRPr lang="en-US" sz="975"/>
          </a:p>
        </p:txBody>
      </p:sp>
      <p:sp>
        <p:nvSpPr>
          <p:cNvPr id="11" name="Text 11"/>
          <p:cNvSpPr txBox="1"/>
          <p:nvPr/>
        </p:nvSpPr>
        <p:spPr>
          <a:xfrm>
            <a:off x="13049250" y="82867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5</a:t>
            </a:r>
            <a:endParaRPr lang="en-US" sz="975"/>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161D26"/>
        </a:solidFill>
        <a:effectLst/>
      </p:bgPr>
    </p:bg>
    <p:spTree>
      <p:nvGrpSpPr>
        <p:cNvPr id="1" name=""/>
        <p:cNvGrpSpPr/>
        <p:nvPr/>
      </p:nvGrpSpPr>
      <p:grpSpPr>
        <a:xfrm>
          <a:off x="0" y="0"/>
          <a:ext cx="0" cy="0"/>
          <a:chOff x="0" y="0"/>
          <a:chExt cx="0" cy="0"/>
        </a:xfrm>
      </p:grpSpPr>
      <p:sp>
        <p:nvSpPr>
          <p:cNvPr id="2" name="Text 2"/>
          <p:cNvSpPr txBox="1"/>
          <p:nvPr/>
        </p:nvSpPr>
        <p:spPr>
          <a:xfrm>
            <a:off x="685800" y="381000"/>
            <a:ext cx="12344400" cy="457200"/>
          </a:xfrm>
          <a:prstGeom prst="rect">
            <a:avLst/>
          </a:prstGeom>
          <a:noFill/>
          <a:ln>
            <a:noFill/>
          </a:ln>
        </p:spPr>
        <p:txBody>
          <a:bodyPr wrap="none" lIns="0" tIns="0" rIns="0" bIns="0" anchor="t">
            <a:noAutofit/>
          </a:bodyPr>
          <a:lstStyle/>
          <a:p>
            <a:pPr marL="0" indent="0">
              <a:lnSpc>
                <a:spcPts val="1755"/>
              </a:lnSpc>
              <a:spcAft>
                <a:spcPts val="0"/>
              </a:spcAft>
              <a:buNone/>
            </a:pPr>
            <a:r>
              <a:rPr lang="en-US" sz="1350" b="1">
                <a:solidFill>
                  <a:srgbClr val="EFB45F"/>
                </a:solidFill>
                <a:latin typeface="Arial"/>
                <a:ea typeface="Arial"/>
                <a:cs typeface="Arial"/>
              </a:rPr>
              <a:t xml:space="preserve">06 / 14    SOURCE SLIDE 6</a:t>
            </a:r>
            <a:endParaRPr lang="en-US" sz="1350"/>
          </a:p>
        </p:txBody>
      </p:sp>
      <p:sp>
        <p:nvSpPr>
          <p:cNvPr id="3" name="Text 3"/>
          <p:cNvSpPr txBox="1"/>
          <p:nvPr/>
        </p:nvSpPr>
        <p:spPr>
          <a:xfrm>
            <a:off x="685800" y="1057275"/>
            <a:ext cx="12344400" cy="1381125"/>
          </a:xfrm>
          <a:prstGeom prst="rect">
            <a:avLst/>
          </a:prstGeom>
          <a:noFill/>
          <a:ln>
            <a:noFill/>
          </a:ln>
        </p:spPr>
        <p:txBody>
          <a:bodyPr wrap="none" lIns="0" tIns="0" rIns="0" bIns="0" anchor="t">
            <a:noAutofit/>
          </a:bodyPr>
          <a:lstStyle/>
          <a:p>
            <a:pPr marL="0" indent="0">
              <a:lnSpc>
                <a:spcPts val="4680"/>
              </a:lnSpc>
              <a:spcAft>
                <a:spcPts val="0"/>
              </a:spcAft>
              <a:buNone/>
            </a:pPr>
            <a:r>
              <a:rPr lang="en-US" sz="3900" b="1">
                <a:solidFill>
                  <a:srgbClr val="F5F1E9"/>
                </a:solidFill>
                <a:latin typeface="Arial"/>
                <a:ea typeface="Arial"/>
                <a:cs typeface="Arial"/>
              </a:rPr>
              <a:t xml:space="preserve">Ask for an attempt, then ration the help</a:t>
            </a:r>
            <a:endParaRPr lang="en-US" sz="3900"/>
          </a:p>
        </p:txBody>
      </p:sp>
      <p:sp>
        <p:nvSpPr>
          <p:cNvPr id="4" name="Text 4"/>
          <p:cNvSpPr txBox="1"/>
          <p:nvPr/>
        </p:nvSpPr>
        <p:spPr>
          <a:xfrm>
            <a:off x="685800" y="2771775"/>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01</a:t>
            </a:r>
            <a:endParaRPr lang="en-US" sz="1875"/>
          </a:p>
        </p:txBody>
      </p:sp>
      <p:sp>
        <p:nvSpPr>
          <p:cNvPr id="5" name="Text 5"/>
          <p:cNvSpPr txBox="1"/>
          <p:nvPr/>
        </p:nvSpPr>
        <p:spPr>
          <a:xfrm>
            <a:off x="2000250" y="2771775"/>
            <a:ext cx="11029950" cy="1059180"/>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"Which price does the discount use?" Learner: "The</a:t>
            </a:r>
            <a:endParaRPr lang="en-US" sz="3150"/>
          </a:p>
          <a:p>
            <a:pPr marL="0" indent="0">
              <a:lnSpc>
                <a:spcPts val="4095"/>
              </a:lnSpc>
              <a:spcAft>
                <a:spcPts val="0"/>
              </a:spcAft>
              <a:buNone/>
            </a:pPr>
            <a:r>
              <a:rPr lang="en-US" sz="3150" b="0">
                <a:solidFill>
                  <a:srgbClr val="F5F1E9"/>
                </a:solidFill>
                <a:latin typeface="Arial"/>
                <a:ea typeface="Arial"/>
                <a:cs typeface="Arial"/>
              </a:rPr>
              <a:t xml:space="preserve">original $100."</a:t>
            </a:r>
            <a:endParaRPr lang="en-US" sz="3150"/>
          </a:p>
        </p:txBody>
      </p:sp>
      <p:sp>
        <p:nvSpPr>
          <p:cNvPr id="6" name="Text 6"/>
          <p:cNvSpPr txBox="1"/>
          <p:nvPr/>
        </p:nvSpPr>
        <p:spPr>
          <a:xfrm>
            <a:off x="685800" y="4078605"/>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02</a:t>
            </a:r>
            <a:endParaRPr lang="en-US" sz="1875"/>
          </a:p>
        </p:txBody>
      </p:sp>
      <p:sp>
        <p:nvSpPr>
          <p:cNvPr id="7" name="Text 7"/>
          <p:cNvSpPr txBox="1"/>
          <p:nvPr/>
        </p:nvSpPr>
        <p:spPr>
          <a:xfrm>
            <a:off x="2000250" y="4078605"/>
            <a:ext cx="11029950" cy="1059180"/>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Clarify → conceptual hint → missing step → part of</a:t>
            </a:r>
            <a:endParaRPr lang="en-US" sz="3150"/>
          </a:p>
          <a:p>
            <a:pPr marL="0" indent="0">
              <a:lnSpc>
                <a:spcPts val="4095"/>
              </a:lnSpc>
              <a:spcAft>
                <a:spcPts val="0"/>
              </a:spcAft>
              <a:buNone/>
            </a:pPr>
            <a:r>
              <a:rPr lang="en-US" sz="3150" b="0">
                <a:solidFill>
                  <a:srgbClr val="F5F1E9"/>
                </a:solidFill>
                <a:latin typeface="Arial"/>
                <a:ea typeface="Arial"/>
                <a:cs typeface="Arial"/>
              </a:rPr>
              <a:t xml:space="preserve">an example → full explanation → fresh reconstruction</a:t>
            </a:r>
            <a:endParaRPr lang="en-US" sz="3150"/>
          </a:p>
        </p:txBody>
      </p:sp>
      <p:sp>
        <p:nvSpPr>
          <p:cNvPr id="8" name="Text 8"/>
          <p:cNvSpPr txBox="1"/>
          <p:nvPr/>
        </p:nvSpPr>
        <p:spPr>
          <a:xfrm>
            <a:off x="457200" y="8286750"/>
            <a:ext cx="124777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Outsmart Your Lying, Cheating Students</a:t>
            </a:r>
            <a:endParaRPr lang="en-US" sz="975"/>
          </a:p>
        </p:txBody>
      </p:sp>
      <p:sp>
        <p:nvSpPr>
          <p:cNvPr id="9" name="Text 9"/>
          <p:cNvSpPr txBox="1"/>
          <p:nvPr/>
        </p:nvSpPr>
        <p:spPr>
          <a:xfrm>
            <a:off x="13049250" y="82867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6</a:t>
            </a:r>
            <a:endParaRPr lang="en-US" sz="975"/>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161D26"/>
        </a:solidFill>
        <a:effectLst/>
      </p:bgPr>
    </p:bg>
    <p:spTree>
      <p:nvGrpSpPr>
        <p:cNvPr id="1" name=""/>
        <p:cNvGrpSpPr/>
        <p:nvPr/>
      </p:nvGrpSpPr>
      <p:grpSpPr>
        <a:xfrm>
          <a:off x="0" y="0"/>
          <a:ext cx="0" cy="0"/>
          <a:chOff x="0" y="0"/>
          <a:chExt cx="0" cy="0"/>
        </a:xfrm>
      </p:grpSpPr>
      <p:sp>
        <p:nvSpPr>
          <p:cNvPr id="2" name="Text 2"/>
          <p:cNvSpPr txBox="1"/>
          <p:nvPr/>
        </p:nvSpPr>
        <p:spPr>
          <a:xfrm>
            <a:off x="685800" y="381000"/>
            <a:ext cx="12344400" cy="457200"/>
          </a:xfrm>
          <a:prstGeom prst="rect">
            <a:avLst/>
          </a:prstGeom>
          <a:noFill/>
          <a:ln>
            <a:noFill/>
          </a:ln>
        </p:spPr>
        <p:txBody>
          <a:bodyPr wrap="none" lIns="0" tIns="0" rIns="0" bIns="0" anchor="t">
            <a:noAutofit/>
          </a:bodyPr>
          <a:lstStyle/>
          <a:p>
            <a:pPr marL="0" indent="0">
              <a:lnSpc>
                <a:spcPts val="1755"/>
              </a:lnSpc>
              <a:spcAft>
                <a:spcPts val="0"/>
              </a:spcAft>
              <a:buNone/>
            </a:pPr>
            <a:r>
              <a:rPr lang="en-US" sz="1350" b="1">
                <a:solidFill>
                  <a:srgbClr val="EFB45F"/>
                </a:solidFill>
                <a:latin typeface="Arial"/>
                <a:ea typeface="Arial"/>
                <a:cs typeface="Arial"/>
              </a:rPr>
              <a:t xml:space="preserve">07 / 14    SOURCE SLIDE 7</a:t>
            </a:r>
            <a:endParaRPr lang="en-US" sz="1350"/>
          </a:p>
        </p:txBody>
      </p:sp>
      <p:sp>
        <p:nvSpPr>
          <p:cNvPr id="3" name="Text 3"/>
          <p:cNvSpPr txBox="1"/>
          <p:nvPr/>
        </p:nvSpPr>
        <p:spPr>
          <a:xfrm>
            <a:off x="685800" y="1057275"/>
            <a:ext cx="12344400" cy="1381125"/>
          </a:xfrm>
          <a:prstGeom prst="rect">
            <a:avLst/>
          </a:prstGeom>
          <a:noFill/>
          <a:ln>
            <a:noFill/>
          </a:ln>
        </p:spPr>
        <p:txBody>
          <a:bodyPr wrap="none" lIns="0" tIns="0" rIns="0" bIns="0" anchor="t">
            <a:noAutofit/>
          </a:bodyPr>
          <a:lstStyle/>
          <a:p>
            <a:pPr marL="0" indent="0">
              <a:lnSpc>
                <a:spcPts val="4680"/>
              </a:lnSpc>
              <a:spcAft>
                <a:spcPts val="0"/>
              </a:spcAft>
              <a:buNone/>
            </a:pPr>
            <a:r>
              <a:rPr lang="en-US" sz="3900" b="1">
                <a:solidFill>
                  <a:srgbClr val="F5F1E9"/>
                </a:solidFill>
                <a:latin typeface="Arial"/>
                <a:ea typeface="Arial"/>
                <a:cs typeface="Arial"/>
              </a:rPr>
              <a:t xml:space="preserve">Demo: the four-minute reconstruction</a:t>
            </a:r>
            <a:endParaRPr lang="en-US" sz="3900"/>
          </a:p>
        </p:txBody>
      </p:sp>
      <p:sp>
        <p:nvSpPr>
          <p:cNvPr id="4" name="Text 4"/>
          <p:cNvSpPr txBox="1"/>
          <p:nvPr/>
        </p:nvSpPr>
        <p:spPr>
          <a:xfrm>
            <a:off x="685800" y="2771775"/>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01</a:t>
            </a:r>
            <a:endParaRPr lang="en-US" sz="1875"/>
          </a:p>
        </p:txBody>
      </p:sp>
      <p:sp>
        <p:nvSpPr>
          <p:cNvPr id="5" name="Text 5"/>
          <p:cNvSpPr txBox="1"/>
          <p:nvPr/>
        </p:nvSpPr>
        <p:spPr>
          <a:xfrm>
            <a:off x="2000250" y="2771775"/>
            <a:ext cx="11029950" cy="539115"/>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$100 → $120 → $96. Why does the second base change?</a:t>
            </a:r>
            <a:endParaRPr lang="en-US" sz="3150"/>
          </a:p>
        </p:txBody>
      </p:sp>
      <p:sp>
        <p:nvSpPr>
          <p:cNvPr id="6" name="Text 6"/>
          <p:cNvSpPr txBox="1"/>
          <p:nvPr/>
        </p:nvSpPr>
        <p:spPr>
          <a:xfrm>
            <a:off x="685800" y="3558540"/>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02</a:t>
            </a:r>
            <a:endParaRPr lang="en-US" sz="1875"/>
          </a:p>
        </p:txBody>
      </p:sp>
      <p:sp>
        <p:nvSpPr>
          <p:cNvPr id="7" name="Text 7"/>
          <p:cNvSpPr txBox="1"/>
          <p:nvPr/>
        </p:nvSpPr>
        <p:spPr>
          <a:xfrm>
            <a:off x="2000250" y="3558540"/>
            <a:ext cx="11029950" cy="539115"/>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Now: $80 → +25% → −20%</a:t>
            </a:r>
            <a:endParaRPr lang="en-US" sz="3150"/>
          </a:p>
        </p:txBody>
      </p:sp>
      <p:sp>
        <p:nvSpPr>
          <p:cNvPr id="8" name="Text 8"/>
          <p:cNvSpPr txBox="1"/>
          <p:nvPr/>
        </p:nvSpPr>
        <p:spPr>
          <a:xfrm>
            <a:off x="457200" y="8286750"/>
            <a:ext cx="124777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Outsmart Your Lying, Cheating Students</a:t>
            </a:r>
            <a:endParaRPr lang="en-US" sz="975"/>
          </a:p>
        </p:txBody>
      </p:sp>
      <p:sp>
        <p:nvSpPr>
          <p:cNvPr id="9" name="Text 9"/>
          <p:cNvSpPr txBox="1"/>
          <p:nvPr/>
        </p:nvSpPr>
        <p:spPr>
          <a:xfrm>
            <a:off x="13049250" y="82867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7</a:t>
            </a:r>
            <a:endParaRPr lang="en-US" sz="975"/>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161D26"/>
        </a:solidFill>
        <a:effectLst/>
      </p:bgPr>
    </p:bg>
    <p:spTree>
      <p:nvGrpSpPr>
        <p:cNvPr id="1" name=""/>
        <p:cNvGrpSpPr/>
        <p:nvPr/>
      </p:nvGrpSpPr>
      <p:grpSpPr>
        <a:xfrm>
          <a:off x="0" y="0"/>
          <a:ext cx="0" cy="0"/>
          <a:chOff x="0" y="0"/>
          <a:chExt cx="0" cy="0"/>
        </a:xfrm>
      </p:grpSpPr>
      <p:sp>
        <p:nvSpPr>
          <p:cNvPr id="2" name="Text 2"/>
          <p:cNvSpPr txBox="1"/>
          <p:nvPr/>
        </p:nvSpPr>
        <p:spPr>
          <a:xfrm>
            <a:off x="685800" y="381000"/>
            <a:ext cx="12344400" cy="457200"/>
          </a:xfrm>
          <a:prstGeom prst="rect">
            <a:avLst/>
          </a:prstGeom>
          <a:noFill/>
          <a:ln>
            <a:noFill/>
          </a:ln>
        </p:spPr>
        <p:txBody>
          <a:bodyPr wrap="none" lIns="0" tIns="0" rIns="0" bIns="0" anchor="t">
            <a:noAutofit/>
          </a:bodyPr>
          <a:lstStyle/>
          <a:p>
            <a:pPr marL="0" indent="0">
              <a:lnSpc>
                <a:spcPts val="1755"/>
              </a:lnSpc>
              <a:spcAft>
                <a:spcPts val="0"/>
              </a:spcAft>
              <a:buNone/>
            </a:pPr>
            <a:r>
              <a:rPr lang="en-US" sz="1350" b="1">
                <a:solidFill>
                  <a:srgbClr val="EFB45F"/>
                </a:solidFill>
                <a:latin typeface="Arial"/>
                <a:ea typeface="Arial"/>
                <a:cs typeface="Arial"/>
              </a:rPr>
              <a:t xml:space="preserve">08 / 14    SOURCE SLIDE 8</a:t>
            </a:r>
            <a:endParaRPr lang="en-US" sz="1350"/>
          </a:p>
        </p:txBody>
      </p:sp>
      <p:sp>
        <p:nvSpPr>
          <p:cNvPr id="3" name="Text 3"/>
          <p:cNvSpPr txBox="1"/>
          <p:nvPr/>
        </p:nvSpPr>
        <p:spPr>
          <a:xfrm>
            <a:off x="685800" y="1057275"/>
            <a:ext cx="12344400" cy="1381125"/>
          </a:xfrm>
          <a:prstGeom prst="rect">
            <a:avLst/>
          </a:prstGeom>
          <a:noFill/>
          <a:ln>
            <a:noFill/>
          </a:ln>
        </p:spPr>
        <p:txBody>
          <a:bodyPr wrap="none" lIns="0" tIns="0" rIns="0" bIns="0" anchor="t">
            <a:noAutofit/>
          </a:bodyPr>
          <a:lstStyle/>
          <a:p>
            <a:pPr marL="0" indent="0">
              <a:lnSpc>
                <a:spcPts val="4680"/>
              </a:lnSpc>
              <a:spcAft>
                <a:spcPts val="0"/>
              </a:spcAft>
              <a:buNone/>
            </a:pPr>
            <a:r>
              <a:rPr lang="en-US" sz="3900" b="1">
                <a:solidFill>
                  <a:srgbClr val="F5F1E9"/>
                </a:solidFill>
                <a:latin typeface="Arial"/>
                <a:ea typeface="Arial"/>
                <a:cs typeface="Arial"/>
              </a:rPr>
              <a:t xml:space="preserve">Score the reasoning, then write down what you</a:t>
            </a:r>
            <a:endParaRPr lang="en-US" sz="3900"/>
          </a:p>
          <a:p>
            <a:pPr marL="0" indent="0">
              <a:lnSpc>
                <a:spcPts val="4680"/>
              </a:lnSpc>
              <a:spcAft>
                <a:spcPts val="0"/>
              </a:spcAft>
              <a:buNone/>
            </a:pPr>
            <a:r>
              <a:rPr lang="en-US" sz="3900" b="1">
                <a:solidFill>
                  <a:srgbClr val="F5F1E9"/>
                </a:solidFill>
                <a:latin typeface="Arial"/>
                <a:ea typeface="Arial"/>
                <a:cs typeface="Arial"/>
              </a:rPr>
              <a:t xml:space="preserve">saw</a:t>
            </a:r>
            <a:endParaRPr lang="en-US" sz="3900"/>
          </a:p>
        </p:txBody>
      </p:sp>
      <p:sp>
        <p:nvSpPr>
          <p:cNvPr id="4" name="Text 4"/>
          <p:cNvSpPr txBox="1"/>
          <p:nvPr/>
        </p:nvSpPr>
        <p:spPr>
          <a:xfrm>
            <a:off x="685800" y="2771775"/>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01</a:t>
            </a:r>
            <a:endParaRPr lang="en-US" sz="1875"/>
          </a:p>
        </p:txBody>
      </p:sp>
      <p:sp>
        <p:nvSpPr>
          <p:cNvPr id="5" name="Text 5"/>
          <p:cNvSpPr txBox="1"/>
          <p:nvPr/>
        </p:nvSpPr>
        <p:spPr>
          <a:xfrm>
            <a:off x="2000250" y="2771775"/>
            <a:ext cx="11029950" cy="1059180"/>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Base identified 0–2 · Calculation justified 0–2 ·</a:t>
            </a:r>
            <a:endParaRPr lang="en-US" sz="3150"/>
          </a:p>
          <a:p>
            <a:pPr marL="0" indent="0">
              <a:lnSpc>
                <a:spcPts val="4095"/>
              </a:lnSpc>
              <a:spcAft>
                <a:spcPts val="0"/>
              </a:spcAft>
              <a:buNone/>
            </a:pPr>
            <a:r>
              <a:rPr lang="en-US" sz="3150" b="0">
                <a:solidFill>
                  <a:srgbClr val="F5F1E9"/>
                </a:solidFill>
                <a:latin typeface="Arial"/>
                <a:ea typeface="Arial"/>
                <a:cs typeface="Arial"/>
              </a:rPr>
              <a:t xml:space="preserve">Transfer explained 0–2 · Help in its own column</a:t>
            </a:r>
            <a:endParaRPr lang="en-US" sz="3150"/>
          </a:p>
        </p:txBody>
      </p:sp>
      <p:sp>
        <p:nvSpPr>
          <p:cNvPr id="6" name="Text 6"/>
          <p:cNvSpPr txBox="1"/>
          <p:nvPr/>
        </p:nvSpPr>
        <p:spPr>
          <a:xfrm>
            <a:off x="685800" y="4078605"/>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02</a:t>
            </a:r>
            <a:endParaRPr lang="en-US" sz="1875"/>
          </a:p>
        </p:txBody>
      </p:sp>
      <p:sp>
        <p:nvSpPr>
          <p:cNvPr id="7" name="Text 7"/>
          <p:cNvSpPr txBox="1"/>
          <p:nvPr/>
        </p:nvSpPr>
        <p:spPr>
          <a:xfrm>
            <a:off x="2000250" y="4078605"/>
            <a:ext cx="11029950" cy="1059180"/>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Record: concept · what they said · what help they</a:t>
            </a:r>
            <a:endParaRPr lang="en-US" sz="3150"/>
          </a:p>
          <a:p>
            <a:pPr marL="0" indent="0">
              <a:lnSpc>
                <a:spcPts val="4095"/>
              </a:lnSpc>
              <a:spcAft>
                <a:spcPts val="0"/>
              </a:spcAft>
              <a:buNone/>
            </a:pPr>
            <a:r>
              <a:rPr lang="en-US" sz="3150" b="0">
                <a:solidFill>
                  <a:srgbClr val="F5F1E9"/>
                </a:solidFill>
                <a:latin typeface="Arial"/>
                <a:ea typeface="Arial"/>
                <a:cs typeface="Arial"/>
              </a:rPr>
              <a:t xml:space="preserve">got · next check</a:t>
            </a:r>
            <a:endParaRPr lang="en-US" sz="3150"/>
          </a:p>
        </p:txBody>
      </p:sp>
      <p:sp>
        <p:nvSpPr>
          <p:cNvPr id="8" name="Text 8"/>
          <p:cNvSpPr txBox="1"/>
          <p:nvPr/>
        </p:nvSpPr>
        <p:spPr>
          <a:xfrm>
            <a:off x="685800" y="5385435"/>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03</a:t>
            </a:r>
            <a:endParaRPr lang="en-US" sz="1875"/>
          </a:p>
        </p:txBody>
      </p:sp>
      <p:sp>
        <p:nvSpPr>
          <p:cNvPr id="9" name="Text 9"/>
          <p:cNvSpPr txBox="1"/>
          <p:nvPr/>
        </p:nvSpPr>
        <p:spPr>
          <a:xfrm>
            <a:off x="2000250" y="5385435"/>
            <a:ext cx="11029950" cy="539115"/>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Never "weak at reasoning." Never "likely cheated."</a:t>
            </a:r>
            <a:endParaRPr lang="en-US" sz="3150"/>
          </a:p>
        </p:txBody>
      </p:sp>
      <p:sp>
        <p:nvSpPr>
          <p:cNvPr id="10" name="Text 10"/>
          <p:cNvSpPr txBox="1"/>
          <p:nvPr/>
        </p:nvSpPr>
        <p:spPr>
          <a:xfrm>
            <a:off x="457200" y="8286750"/>
            <a:ext cx="124777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Outsmart Your Lying, Cheating Students</a:t>
            </a:r>
            <a:endParaRPr lang="en-US" sz="975"/>
          </a:p>
        </p:txBody>
      </p:sp>
      <p:sp>
        <p:nvSpPr>
          <p:cNvPr id="11" name="Text 11"/>
          <p:cNvSpPr txBox="1"/>
          <p:nvPr/>
        </p:nvSpPr>
        <p:spPr>
          <a:xfrm>
            <a:off x="13049250" y="82867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8</a:t>
            </a:r>
            <a:endParaRPr lang="en-US" sz="975"/>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161D26"/>
        </a:solidFill>
        <a:effectLst/>
      </p:bgPr>
    </p:bg>
    <p:spTree>
      <p:nvGrpSpPr>
        <p:cNvPr id="1" name=""/>
        <p:cNvGrpSpPr/>
        <p:nvPr/>
      </p:nvGrpSpPr>
      <p:grpSpPr>
        <a:xfrm>
          <a:off x="0" y="0"/>
          <a:ext cx="0" cy="0"/>
          <a:chOff x="0" y="0"/>
          <a:chExt cx="0" cy="0"/>
        </a:xfrm>
      </p:grpSpPr>
      <p:sp>
        <p:nvSpPr>
          <p:cNvPr id="2" name="Text 2"/>
          <p:cNvSpPr txBox="1"/>
          <p:nvPr/>
        </p:nvSpPr>
        <p:spPr>
          <a:xfrm>
            <a:off x="685800" y="381000"/>
            <a:ext cx="12344400" cy="457200"/>
          </a:xfrm>
          <a:prstGeom prst="rect">
            <a:avLst/>
          </a:prstGeom>
          <a:noFill/>
          <a:ln>
            <a:noFill/>
          </a:ln>
        </p:spPr>
        <p:txBody>
          <a:bodyPr wrap="none" lIns="0" tIns="0" rIns="0" bIns="0" anchor="t">
            <a:noAutofit/>
          </a:bodyPr>
          <a:lstStyle/>
          <a:p>
            <a:pPr marL="0" indent="0">
              <a:lnSpc>
                <a:spcPts val="1755"/>
              </a:lnSpc>
              <a:spcAft>
                <a:spcPts val="0"/>
              </a:spcAft>
              <a:buNone/>
            </a:pPr>
            <a:r>
              <a:rPr lang="en-US" sz="1350" b="1">
                <a:solidFill>
                  <a:srgbClr val="EFB45F"/>
                </a:solidFill>
                <a:latin typeface="Arial"/>
                <a:ea typeface="Arial"/>
                <a:cs typeface="Arial"/>
              </a:rPr>
              <a:t xml:space="preserve">09 / 14    SOURCE SLIDE 9</a:t>
            </a:r>
            <a:endParaRPr lang="en-US" sz="1350"/>
          </a:p>
        </p:txBody>
      </p:sp>
      <p:sp>
        <p:nvSpPr>
          <p:cNvPr id="3" name="Text 3"/>
          <p:cNvSpPr txBox="1"/>
          <p:nvPr/>
        </p:nvSpPr>
        <p:spPr>
          <a:xfrm>
            <a:off x="685800" y="1057275"/>
            <a:ext cx="12344400" cy="1381125"/>
          </a:xfrm>
          <a:prstGeom prst="rect">
            <a:avLst/>
          </a:prstGeom>
          <a:noFill/>
          <a:ln>
            <a:noFill/>
          </a:ln>
        </p:spPr>
        <p:txBody>
          <a:bodyPr wrap="none" lIns="0" tIns="0" rIns="0" bIns="0" anchor="t">
            <a:noAutofit/>
          </a:bodyPr>
          <a:lstStyle/>
          <a:p>
            <a:pPr marL="0" indent="0">
              <a:lnSpc>
                <a:spcPts val="4680"/>
              </a:lnSpc>
              <a:spcAft>
                <a:spcPts val="0"/>
              </a:spcAft>
              <a:buNone/>
            </a:pPr>
            <a:r>
              <a:rPr lang="en-US" sz="3900" b="1">
                <a:solidFill>
                  <a:srgbClr val="F5F1E9"/>
                </a:solidFill>
                <a:latin typeface="Arial"/>
                <a:ea typeface="Arial"/>
                <a:cs typeface="Arial"/>
              </a:rPr>
              <a:t xml:space="preserve">Outsmart move two: make them say it out loud</a:t>
            </a:r>
            <a:endParaRPr lang="en-US" sz="3900"/>
          </a:p>
        </p:txBody>
      </p:sp>
      <p:sp>
        <p:nvSpPr>
          <p:cNvPr id="4" name="Text 4"/>
          <p:cNvSpPr txBox="1"/>
          <p:nvPr/>
        </p:nvSpPr>
        <p:spPr>
          <a:xfrm>
            <a:off x="685800" y="2771775"/>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01</a:t>
            </a:r>
            <a:endParaRPr lang="en-US" sz="1875"/>
          </a:p>
        </p:txBody>
      </p:sp>
      <p:sp>
        <p:nvSpPr>
          <p:cNvPr id="5" name="Text 5"/>
          <p:cNvSpPr txBox="1"/>
          <p:nvPr/>
        </p:nvSpPr>
        <p:spPr>
          <a:xfrm>
            <a:off x="2000250" y="2771775"/>
            <a:ext cx="11029950" cy="1059180"/>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Recall errors and reading errors are different</a:t>
            </a:r>
            <a:endParaRPr lang="en-US" sz="3150"/>
          </a:p>
          <a:p>
            <a:pPr marL="0" indent="0">
              <a:lnSpc>
                <a:spcPts val="4095"/>
              </a:lnSpc>
              <a:spcAft>
                <a:spcPts val="0"/>
              </a:spcAft>
              <a:buNone/>
            </a:pPr>
            <a:r>
              <a:rPr lang="en-US" sz="3150" b="0">
                <a:solidFill>
                  <a:srgbClr val="F5F1E9"/>
                </a:solidFill>
                <a:latin typeface="Arial"/>
                <a:ea typeface="Arial"/>
                <a:cs typeface="Arial"/>
              </a:rPr>
              <a:t xml:space="preserve">animals</a:t>
            </a:r>
            <a:endParaRPr lang="en-US" sz="3150"/>
          </a:p>
        </p:txBody>
      </p:sp>
      <p:sp>
        <p:nvSpPr>
          <p:cNvPr id="6" name="Text 6"/>
          <p:cNvSpPr txBox="1"/>
          <p:nvPr/>
        </p:nvSpPr>
        <p:spPr>
          <a:xfrm>
            <a:off x="685800" y="4078605"/>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02</a:t>
            </a:r>
            <a:endParaRPr lang="en-US" sz="1875"/>
          </a:p>
        </p:txBody>
      </p:sp>
      <p:sp>
        <p:nvSpPr>
          <p:cNvPr id="7" name="Text 7"/>
          <p:cNvSpPr txBox="1"/>
          <p:nvPr/>
        </p:nvSpPr>
        <p:spPr>
          <a:xfrm>
            <a:off x="2000250" y="4078605"/>
            <a:ext cx="11029950" cy="539115"/>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Small groups, speaking: the incentives reset</a:t>
            </a:r>
            <a:endParaRPr lang="en-US" sz="3150"/>
          </a:p>
        </p:txBody>
      </p:sp>
      <p:sp>
        <p:nvSpPr>
          <p:cNvPr id="8" name="Text 8"/>
          <p:cNvSpPr txBox="1"/>
          <p:nvPr/>
        </p:nvSpPr>
        <p:spPr>
          <a:xfrm>
            <a:off x="685800" y="4865370"/>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03</a:t>
            </a:r>
            <a:endParaRPr lang="en-US" sz="1875"/>
          </a:p>
        </p:txBody>
      </p:sp>
      <p:sp>
        <p:nvSpPr>
          <p:cNvPr id="9" name="Text 9"/>
          <p:cNvSpPr txBox="1"/>
          <p:nvPr/>
        </p:nvSpPr>
        <p:spPr>
          <a:xfrm>
            <a:off x="2000250" y="4865370"/>
            <a:ext cx="11029950" cy="1059180"/>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Voice is biometric. Offline. Zero retention.</a:t>
            </a:r>
            <a:endParaRPr lang="en-US" sz="3150"/>
          </a:p>
          <a:p>
            <a:pPr marL="0" indent="0">
              <a:lnSpc>
                <a:spcPts val="4095"/>
              </a:lnSpc>
              <a:spcAft>
                <a:spcPts val="0"/>
              </a:spcAft>
              <a:buNone/>
            </a:pPr>
            <a:r>
              <a:rPr lang="en-US" sz="3150" b="0">
                <a:solidFill>
                  <a:srgbClr val="F5F1E9"/>
                </a:solidFill>
                <a:latin typeface="Arial"/>
                <a:ea typeface="Arial"/>
                <a:cs typeface="Arial"/>
              </a:rPr>
              <a:t xml:space="preserve">Age-appropriate. Written alternative.</a:t>
            </a:r>
            <a:endParaRPr lang="en-US" sz="3150"/>
          </a:p>
        </p:txBody>
      </p:sp>
      <p:sp>
        <p:nvSpPr>
          <p:cNvPr id="10" name="Text 10"/>
          <p:cNvSpPr txBox="1"/>
          <p:nvPr/>
        </p:nvSpPr>
        <p:spPr>
          <a:xfrm>
            <a:off x="457200" y="8286750"/>
            <a:ext cx="124777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Outsmart Your Lying, Cheating Students</a:t>
            </a:r>
            <a:endParaRPr lang="en-US" sz="975"/>
          </a:p>
        </p:txBody>
      </p:sp>
      <p:sp>
        <p:nvSpPr>
          <p:cNvPr id="11" name="Text 11"/>
          <p:cNvSpPr txBox="1"/>
          <p:nvPr/>
        </p:nvSpPr>
        <p:spPr>
          <a:xfrm>
            <a:off x="13049250" y="82867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9</a:t>
            </a:r>
            <a:endParaRPr lang="en-US" sz="975"/>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161D26"/>
        </a:solidFill>
        <a:effectLst/>
      </p:bgPr>
    </p:bg>
    <p:spTree>
      <p:nvGrpSpPr>
        <p:cNvPr id="1" name=""/>
        <p:cNvGrpSpPr/>
        <p:nvPr/>
      </p:nvGrpSpPr>
      <p:grpSpPr>
        <a:xfrm>
          <a:off x="0" y="0"/>
          <a:ext cx="0" cy="0"/>
          <a:chOff x="0" y="0"/>
          <a:chExt cx="0" cy="0"/>
        </a:xfrm>
      </p:grpSpPr>
      <p:sp>
        <p:nvSpPr>
          <p:cNvPr id="2" name="Text 2"/>
          <p:cNvSpPr txBox="1"/>
          <p:nvPr/>
        </p:nvSpPr>
        <p:spPr>
          <a:xfrm>
            <a:off x="685800" y="381000"/>
            <a:ext cx="12344400" cy="457200"/>
          </a:xfrm>
          <a:prstGeom prst="rect">
            <a:avLst/>
          </a:prstGeom>
          <a:noFill/>
          <a:ln>
            <a:noFill/>
          </a:ln>
        </p:spPr>
        <p:txBody>
          <a:bodyPr wrap="none" lIns="0" tIns="0" rIns="0" bIns="0" anchor="t">
            <a:noAutofit/>
          </a:bodyPr>
          <a:lstStyle/>
          <a:p>
            <a:pPr marL="0" indent="0">
              <a:lnSpc>
                <a:spcPts val="1755"/>
              </a:lnSpc>
              <a:spcAft>
                <a:spcPts val="0"/>
              </a:spcAft>
              <a:buNone/>
            </a:pPr>
            <a:r>
              <a:rPr lang="en-US" sz="1350" b="1">
                <a:solidFill>
                  <a:srgbClr val="EFB45F"/>
                </a:solidFill>
                <a:latin typeface="Arial"/>
                <a:ea typeface="Arial"/>
                <a:cs typeface="Arial"/>
              </a:rPr>
              <a:t xml:space="preserve">10 / 14    SOURCE SLIDE 10</a:t>
            </a:r>
            <a:endParaRPr lang="en-US" sz="1350"/>
          </a:p>
        </p:txBody>
      </p:sp>
      <p:sp>
        <p:nvSpPr>
          <p:cNvPr id="3" name="Text 3"/>
          <p:cNvSpPr txBox="1"/>
          <p:nvPr/>
        </p:nvSpPr>
        <p:spPr>
          <a:xfrm>
            <a:off x="685800" y="1057275"/>
            <a:ext cx="12344400" cy="1381125"/>
          </a:xfrm>
          <a:prstGeom prst="rect">
            <a:avLst/>
          </a:prstGeom>
          <a:noFill/>
          <a:ln>
            <a:noFill/>
          </a:ln>
        </p:spPr>
        <p:txBody>
          <a:bodyPr wrap="none" lIns="0" tIns="0" rIns="0" bIns="0" anchor="t">
            <a:noAutofit/>
          </a:bodyPr>
          <a:lstStyle/>
          <a:p>
            <a:pPr marL="0" indent="0">
              <a:lnSpc>
                <a:spcPts val="4680"/>
              </a:lnSpc>
              <a:spcAft>
                <a:spcPts val="0"/>
              </a:spcAft>
              <a:buNone/>
            </a:pPr>
            <a:r>
              <a:rPr lang="en-US" sz="3900" b="1">
                <a:solidFill>
                  <a:srgbClr val="F5F1E9"/>
                </a:solidFill>
                <a:latin typeface="Arial"/>
                <a:ea typeface="Arial"/>
                <a:cs typeface="Arial"/>
              </a:rPr>
              <a:t xml:space="preserve">Outsmart move three: count AI time, then read</a:t>
            </a:r>
            <a:endParaRPr lang="en-US" sz="3900"/>
          </a:p>
          <a:p>
            <a:pPr marL="0" indent="0">
              <a:lnSpc>
                <a:spcPts val="4680"/>
              </a:lnSpc>
              <a:spcAft>
                <a:spcPts val="0"/>
              </a:spcAft>
              <a:buNone/>
            </a:pPr>
            <a:r>
              <a:rPr lang="en-US" sz="3900" b="1">
                <a:solidFill>
                  <a:srgbClr val="F5F1E9"/>
                </a:solidFill>
                <a:latin typeface="Arial"/>
                <a:ea typeface="Arial"/>
                <a:cs typeface="Arial"/>
              </a:rPr>
              <a:t xml:space="preserve">all 300 transcripts</a:t>
            </a:r>
            <a:endParaRPr lang="en-US" sz="3900"/>
          </a:p>
        </p:txBody>
      </p:sp>
      <p:sp>
        <p:nvSpPr>
          <p:cNvPr id="4" name="Text 4"/>
          <p:cNvSpPr txBox="1"/>
          <p:nvPr/>
        </p:nvSpPr>
        <p:spPr>
          <a:xfrm>
            <a:off x="685800" y="2771775"/>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01</a:t>
            </a:r>
            <a:endParaRPr lang="en-US" sz="1875"/>
          </a:p>
        </p:txBody>
      </p:sp>
      <p:sp>
        <p:nvSpPr>
          <p:cNvPr id="5" name="Text 5"/>
          <p:cNvSpPr txBox="1"/>
          <p:nvPr/>
        </p:nvSpPr>
        <p:spPr>
          <a:xfrm>
            <a:off x="2000250" y="2771775"/>
            <a:ext cx="11029950" cy="539115"/>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Teacher talk · student talk · think time · AI time</a:t>
            </a:r>
            <a:endParaRPr lang="en-US" sz="3150"/>
          </a:p>
        </p:txBody>
      </p:sp>
      <p:sp>
        <p:nvSpPr>
          <p:cNvPr id="6" name="Text 6"/>
          <p:cNvSpPr txBox="1"/>
          <p:nvPr/>
        </p:nvSpPr>
        <p:spPr>
          <a:xfrm>
            <a:off x="685800" y="3558540"/>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02</a:t>
            </a:r>
            <a:endParaRPr lang="en-US" sz="1875"/>
          </a:p>
        </p:txBody>
      </p:sp>
      <p:sp>
        <p:nvSpPr>
          <p:cNvPr id="7" name="Text 7"/>
          <p:cNvSpPr txBox="1"/>
          <p:nvPr/>
        </p:nvSpPr>
        <p:spPr>
          <a:xfrm>
            <a:off x="2000250" y="3558540"/>
            <a:ext cx="11029950" cy="539115"/>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Guided by you, or alone with the model?</a:t>
            </a:r>
            <a:endParaRPr lang="en-US" sz="3150"/>
          </a:p>
        </p:txBody>
      </p:sp>
      <p:sp>
        <p:nvSpPr>
          <p:cNvPr id="8" name="Text 8"/>
          <p:cNvSpPr txBox="1"/>
          <p:nvPr/>
        </p:nvSpPr>
        <p:spPr>
          <a:xfrm>
            <a:off x="685800" y="4345305"/>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03</a:t>
            </a:r>
            <a:endParaRPr lang="en-US" sz="1875"/>
          </a:p>
        </p:txBody>
      </p:sp>
      <p:sp>
        <p:nvSpPr>
          <p:cNvPr id="9" name="Text 9"/>
          <p:cNvSpPr txBox="1"/>
          <p:nvPr/>
        </p:nvSpPr>
        <p:spPr>
          <a:xfrm>
            <a:off x="2000250" y="4345305"/>
            <a:ext cx="11029950" cy="1059180"/>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"Show me five students who took a path worth showing</a:t>
            </a:r>
            <a:endParaRPr lang="en-US" sz="3150"/>
          </a:p>
          <a:p>
            <a:pPr marL="0" indent="0">
              <a:lnSpc>
                <a:spcPts val="4095"/>
              </a:lnSpc>
              <a:spcAft>
                <a:spcPts val="0"/>
              </a:spcAft>
              <a:buNone/>
            </a:pPr>
            <a:r>
              <a:rPr lang="en-US" sz="3150" b="0">
                <a:solidFill>
                  <a:srgbClr val="F5F1E9"/>
                </a:solidFill>
                <a:latin typeface="Arial"/>
                <a:ea typeface="Arial"/>
                <a:cs typeface="Arial"/>
              </a:rPr>
              <a:t xml:space="preserve">the room."</a:t>
            </a:r>
            <a:endParaRPr lang="en-US" sz="3150"/>
          </a:p>
        </p:txBody>
      </p:sp>
      <p:sp>
        <p:nvSpPr>
          <p:cNvPr id="10" name="Text 10"/>
          <p:cNvSpPr txBox="1"/>
          <p:nvPr/>
        </p:nvSpPr>
        <p:spPr>
          <a:xfrm>
            <a:off x="457200" y="8286750"/>
            <a:ext cx="124777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Outsmart Your Lying, Cheating Students</a:t>
            </a:r>
            <a:endParaRPr lang="en-US" sz="975"/>
          </a:p>
        </p:txBody>
      </p:sp>
      <p:sp>
        <p:nvSpPr>
          <p:cNvPr id="11" name="Text 11"/>
          <p:cNvSpPr txBox="1"/>
          <p:nvPr/>
        </p:nvSpPr>
        <p:spPr>
          <a:xfrm>
            <a:off x="13049250" y="82867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10</a:t>
            </a:r>
            <a:endParaRPr lang="en-US" sz="975"/>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161D26"/>
        </a:solidFill>
        <a:effectLst/>
      </p:bgPr>
    </p:bg>
    <p:spTree>
      <p:nvGrpSpPr>
        <p:cNvPr id="1" name=""/>
        <p:cNvGrpSpPr/>
        <p:nvPr/>
      </p:nvGrpSpPr>
      <p:grpSpPr>
        <a:xfrm>
          <a:off x="0" y="0"/>
          <a:ext cx="0" cy="0"/>
          <a:chOff x="0" y="0"/>
          <a:chExt cx="0" cy="0"/>
        </a:xfrm>
      </p:grpSpPr>
      <p:sp>
        <p:nvSpPr>
          <p:cNvPr id="2" name="Text 2"/>
          <p:cNvSpPr txBox="1"/>
          <p:nvPr/>
        </p:nvSpPr>
        <p:spPr>
          <a:xfrm>
            <a:off x="685800" y="381000"/>
            <a:ext cx="12344400" cy="457200"/>
          </a:xfrm>
          <a:prstGeom prst="rect">
            <a:avLst/>
          </a:prstGeom>
          <a:noFill/>
          <a:ln>
            <a:noFill/>
          </a:ln>
        </p:spPr>
        <p:txBody>
          <a:bodyPr wrap="none" lIns="0" tIns="0" rIns="0" bIns="0" anchor="t">
            <a:noAutofit/>
          </a:bodyPr>
          <a:lstStyle/>
          <a:p>
            <a:pPr marL="0" indent="0">
              <a:lnSpc>
                <a:spcPts val="1755"/>
              </a:lnSpc>
              <a:spcAft>
                <a:spcPts val="0"/>
              </a:spcAft>
              <a:buNone/>
            </a:pPr>
            <a:r>
              <a:rPr lang="en-US" sz="1350" b="1">
                <a:solidFill>
                  <a:srgbClr val="EFB45F"/>
                </a:solidFill>
                <a:latin typeface="Arial"/>
                <a:ea typeface="Arial"/>
                <a:cs typeface="Arial"/>
              </a:rPr>
              <a:t xml:space="preserve">11 / 14    SOURCE SLIDE 11</a:t>
            </a:r>
            <a:endParaRPr lang="en-US" sz="1350"/>
          </a:p>
        </p:txBody>
      </p:sp>
      <p:sp>
        <p:nvSpPr>
          <p:cNvPr id="3" name="Text 3"/>
          <p:cNvSpPr txBox="1"/>
          <p:nvPr/>
        </p:nvSpPr>
        <p:spPr>
          <a:xfrm>
            <a:off x="685800" y="1057275"/>
            <a:ext cx="12344400" cy="1381125"/>
          </a:xfrm>
          <a:prstGeom prst="rect">
            <a:avLst/>
          </a:prstGeom>
          <a:noFill/>
          <a:ln>
            <a:noFill/>
          </a:ln>
        </p:spPr>
        <p:txBody>
          <a:bodyPr wrap="none" lIns="0" tIns="0" rIns="0" bIns="0" anchor="t">
            <a:noAutofit/>
          </a:bodyPr>
          <a:lstStyle/>
          <a:p>
            <a:pPr marL="0" indent="0">
              <a:lnSpc>
                <a:spcPts val="4680"/>
              </a:lnSpc>
              <a:spcAft>
                <a:spcPts val="0"/>
              </a:spcAft>
              <a:buNone/>
            </a:pPr>
            <a:r>
              <a:rPr lang="en-US" sz="3900" b="1">
                <a:solidFill>
                  <a:srgbClr val="F5F1E9"/>
                </a:solidFill>
                <a:latin typeface="Arial"/>
                <a:ea typeface="Arial"/>
                <a:cs typeface="Arial"/>
              </a:rPr>
              <a:t xml:space="preserve">Write the objective to the agent</a:t>
            </a:r>
            <a:endParaRPr lang="en-US" sz="3900"/>
          </a:p>
        </p:txBody>
      </p:sp>
      <p:sp>
        <p:nvSpPr>
          <p:cNvPr id="4" name="Text 4"/>
          <p:cNvSpPr txBox="1"/>
          <p:nvPr/>
        </p:nvSpPr>
        <p:spPr>
          <a:xfrm>
            <a:off x="685800" y="2771775"/>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01</a:t>
            </a:r>
            <a:endParaRPr lang="en-US" sz="1875"/>
          </a:p>
        </p:txBody>
      </p:sp>
      <p:sp>
        <p:nvSpPr>
          <p:cNvPr id="5" name="Text 5"/>
          <p:cNvSpPr txBox="1"/>
          <p:nvPr/>
        </p:nvSpPr>
        <p:spPr>
          <a:xfrm>
            <a:off x="2000250" y="2771775"/>
            <a:ext cx="11029950" cy="1059180"/>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"You're my tutor. Don't give me answers. I'm here</a:t>
            </a:r>
            <a:endParaRPr lang="en-US" sz="3150"/>
          </a:p>
          <a:p>
            <a:pPr marL="0" indent="0">
              <a:lnSpc>
                <a:spcPts val="4095"/>
              </a:lnSpc>
              <a:spcAft>
                <a:spcPts val="0"/>
              </a:spcAft>
              <a:buNone/>
            </a:pPr>
            <a:r>
              <a:rPr lang="en-US" sz="3150" b="0">
                <a:solidFill>
                  <a:srgbClr val="F5F1E9"/>
                </a:solidFill>
                <a:latin typeface="Arial"/>
                <a:ea typeface="Arial"/>
                <a:cs typeface="Arial"/>
              </a:rPr>
              <a:t xml:space="preserve">with three classmates."</a:t>
            </a:r>
            <a:endParaRPr lang="en-US" sz="3150"/>
          </a:p>
        </p:txBody>
      </p:sp>
      <p:sp>
        <p:nvSpPr>
          <p:cNvPr id="6" name="Text 6"/>
          <p:cNvSpPr txBox="1"/>
          <p:nvPr/>
        </p:nvSpPr>
        <p:spPr>
          <a:xfrm>
            <a:off x="685800" y="4078605"/>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02</a:t>
            </a:r>
            <a:endParaRPr lang="en-US" sz="1875"/>
          </a:p>
        </p:txBody>
      </p:sp>
      <p:sp>
        <p:nvSpPr>
          <p:cNvPr id="7" name="Text 7"/>
          <p:cNvSpPr txBox="1"/>
          <p:nvPr/>
        </p:nvSpPr>
        <p:spPr>
          <a:xfrm>
            <a:off x="2000250" y="4078605"/>
            <a:ext cx="11029950" cy="1059180"/>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Photograph the whiteboard; the objective is the</a:t>
            </a:r>
            <a:endParaRPr lang="en-US" sz="3150"/>
          </a:p>
          <a:p>
            <a:pPr marL="0" indent="0">
              <a:lnSpc>
                <a:spcPts val="4095"/>
              </a:lnSpc>
              <a:spcAft>
                <a:spcPts val="0"/>
              </a:spcAft>
              <a:buNone/>
            </a:pPr>
            <a:r>
              <a:rPr lang="en-US" sz="3150" b="0">
                <a:solidFill>
                  <a:srgbClr val="F5F1E9"/>
                </a:solidFill>
                <a:latin typeface="Arial"/>
                <a:ea typeface="Arial"/>
                <a:cs typeface="Arial"/>
              </a:rPr>
              <a:t xml:space="preserve">system prompt</a:t>
            </a:r>
            <a:endParaRPr lang="en-US" sz="3150"/>
          </a:p>
        </p:txBody>
      </p:sp>
      <p:sp>
        <p:nvSpPr>
          <p:cNvPr id="8" name="Text 8"/>
          <p:cNvSpPr txBox="1"/>
          <p:nvPr/>
        </p:nvSpPr>
        <p:spPr>
          <a:xfrm>
            <a:off x="685800" y="5385435"/>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03</a:t>
            </a:r>
            <a:endParaRPr lang="en-US" sz="1875"/>
          </a:p>
        </p:txBody>
      </p:sp>
      <p:sp>
        <p:nvSpPr>
          <p:cNvPr id="9" name="Text 9"/>
          <p:cNvSpPr txBox="1"/>
          <p:nvPr/>
        </p:nvSpPr>
        <p:spPr>
          <a:xfrm>
            <a:off x="2000250" y="5385435"/>
            <a:ext cx="11029950" cy="1059180"/>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Push the practice run first. Then reward the kid who</a:t>
            </a:r>
            <a:endParaRPr lang="en-US" sz="3150"/>
          </a:p>
          <a:p>
            <a:pPr marL="0" indent="0">
              <a:lnSpc>
                <a:spcPts val="4095"/>
              </a:lnSpc>
              <a:spcAft>
                <a:spcPts val="0"/>
              </a:spcAft>
              <a:buNone/>
            </a:pPr>
            <a:r>
              <a:rPr lang="en-US" sz="3150" b="0">
                <a:solidFill>
                  <a:srgbClr val="F5F1E9"/>
                </a:solidFill>
                <a:latin typeface="Arial"/>
                <a:ea typeface="Arial"/>
                <a:cs typeface="Arial"/>
              </a:rPr>
              <a:t xml:space="preserve">asks for it.</a:t>
            </a:r>
            <a:endParaRPr lang="en-US" sz="3150"/>
          </a:p>
        </p:txBody>
      </p:sp>
      <p:sp>
        <p:nvSpPr>
          <p:cNvPr id="10" name="Text 10"/>
          <p:cNvSpPr txBox="1"/>
          <p:nvPr/>
        </p:nvSpPr>
        <p:spPr>
          <a:xfrm>
            <a:off x="457200" y="8286750"/>
            <a:ext cx="124777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Outsmart Your Lying, Cheating Students</a:t>
            </a:r>
            <a:endParaRPr lang="en-US" sz="975"/>
          </a:p>
        </p:txBody>
      </p:sp>
      <p:sp>
        <p:nvSpPr>
          <p:cNvPr id="11" name="Text 11"/>
          <p:cNvSpPr txBox="1"/>
          <p:nvPr/>
        </p:nvSpPr>
        <p:spPr>
          <a:xfrm>
            <a:off x="13049250" y="82867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11</a:t>
            </a:r>
            <a:endParaRPr lang="en-US" sz="975"/>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161D26"/>
        </a:solidFill>
        <a:effectLst/>
      </p:bgPr>
    </p:bg>
    <p:spTree>
      <p:nvGrpSpPr>
        <p:cNvPr id="1" name=""/>
        <p:cNvGrpSpPr/>
        <p:nvPr/>
      </p:nvGrpSpPr>
      <p:grpSpPr>
        <a:xfrm>
          <a:off x="0" y="0"/>
          <a:ext cx="0" cy="0"/>
          <a:chOff x="0" y="0"/>
          <a:chExt cx="0" cy="0"/>
        </a:xfrm>
      </p:grpSpPr>
      <p:sp>
        <p:nvSpPr>
          <p:cNvPr id="2" name="Text 2"/>
          <p:cNvSpPr txBox="1"/>
          <p:nvPr/>
        </p:nvSpPr>
        <p:spPr>
          <a:xfrm>
            <a:off x="685800" y="381000"/>
            <a:ext cx="12344400" cy="457200"/>
          </a:xfrm>
          <a:prstGeom prst="rect">
            <a:avLst/>
          </a:prstGeom>
          <a:noFill/>
          <a:ln>
            <a:noFill/>
          </a:ln>
        </p:spPr>
        <p:txBody>
          <a:bodyPr wrap="none" lIns="0" tIns="0" rIns="0" bIns="0" anchor="t">
            <a:noAutofit/>
          </a:bodyPr>
          <a:lstStyle/>
          <a:p>
            <a:pPr marL="0" indent="0">
              <a:lnSpc>
                <a:spcPts val="1755"/>
              </a:lnSpc>
              <a:spcAft>
                <a:spcPts val="0"/>
              </a:spcAft>
              <a:buNone/>
            </a:pPr>
            <a:r>
              <a:rPr lang="en-US" sz="1350" b="1">
                <a:solidFill>
                  <a:srgbClr val="EFB45F"/>
                </a:solidFill>
                <a:latin typeface="Arial"/>
                <a:ea typeface="Arial"/>
                <a:cs typeface="Arial"/>
              </a:rPr>
              <a:t xml:space="preserve">12 / 14    SOURCE SLIDE 12</a:t>
            </a:r>
            <a:endParaRPr lang="en-US" sz="1350"/>
          </a:p>
        </p:txBody>
      </p:sp>
      <p:sp>
        <p:nvSpPr>
          <p:cNvPr id="3" name="Text 3"/>
          <p:cNvSpPr txBox="1"/>
          <p:nvPr/>
        </p:nvSpPr>
        <p:spPr>
          <a:xfrm>
            <a:off x="685800" y="1057275"/>
            <a:ext cx="12344400" cy="1381125"/>
          </a:xfrm>
          <a:prstGeom prst="rect">
            <a:avLst/>
          </a:prstGeom>
          <a:noFill/>
          <a:ln>
            <a:noFill/>
          </a:ln>
        </p:spPr>
        <p:txBody>
          <a:bodyPr wrap="none" lIns="0" tIns="0" rIns="0" bIns="0" anchor="t">
            <a:noAutofit/>
          </a:bodyPr>
          <a:lstStyle/>
          <a:p>
            <a:pPr marL="0" indent="0">
              <a:lnSpc>
                <a:spcPts val="4680"/>
              </a:lnSpc>
              <a:spcAft>
                <a:spcPts val="0"/>
              </a:spcAft>
              <a:buNone/>
            </a:pPr>
            <a:r>
              <a:rPr lang="en-US" sz="3900" b="1">
                <a:solidFill>
                  <a:srgbClr val="F5F1E9"/>
                </a:solidFill>
                <a:latin typeface="Arial"/>
                <a:ea typeface="Arial"/>
                <a:cs typeface="Arial"/>
              </a:rPr>
              <a:t xml:space="preserve">Widen the door</a:t>
            </a:r>
            <a:endParaRPr lang="en-US" sz="3900"/>
          </a:p>
        </p:txBody>
      </p:sp>
      <p:sp>
        <p:nvSpPr>
          <p:cNvPr id="4" name="Text 4"/>
          <p:cNvSpPr txBox="1"/>
          <p:nvPr/>
        </p:nvSpPr>
        <p:spPr>
          <a:xfrm>
            <a:off x="685800" y="2771775"/>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01</a:t>
            </a:r>
            <a:endParaRPr lang="en-US" sz="1875"/>
          </a:p>
        </p:txBody>
      </p:sp>
      <p:sp>
        <p:nvSpPr>
          <p:cNvPr id="5" name="Text 5"/>
          <p:cNvSpPr txBox="1"/>
          <p:nvPr/>
        </p:nvSpPr>
        <p:spPr>
          <a:xfrm>
            <a:off x="2000250" y="2771775"/>
            <a:ext cx="11029950" cy="539115"/>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"I'm not carrying a brick of clay in my bag."</a:t>
            </a:r>
            <a:endParaRPr lang="en-US" sz="3150"/>
          </a:p>
        </p:txBody>
      </p:sp>
      <p:sp>
        <p:nvSpPr>
          <p:cNvPr id="6" name="Text 6"/>
          <p:cNvSpPr txBox="1"/>
          <p:nvPr/>
        </p:nvSpPr>
        <p:spPr>
          <a:xfrm>
            <a:off x="685800" y="3558540"/>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02</a:t>
            </a:r>
            <a:endParaRPr lang="en-US" sz="1875"/>
          </a:p>
        </p:txBody>
      </p:sp>
      <p:sp>
        <p:nvSpPr>
          <p:cNvPr id="7" name="Text 7"/>
          <p:cNvSpPr txBox="1"/>
          <p:nvPr/>
        </p:nvSpPr>
        <p:spPr>
          <a:xfrm>
            <a:off x="2000250" y="3558540"/>
            <a:ext cx="11029950" cy="539115"/>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"I'm no good with a pencil, but I like that look."</a:t>
            </a:r>
            <a:endParaRPr lang="en-US" sz="3150"/>
          </a:p>
        </p:txBody>
      </p:sp>
      <p:sp>
        <p:nvSpPr>
          <p:cNvPr id="8" name="Text 8"/>
          <p:cNvSpPr txBox="1"/>
          <p:nvPr/>
        </p:nvSpPr>
        <p:spPr>
          <a:xfrm>
            <a:off x="685800" y="4345305"/>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03</a:t>
            </a:r>
            <a:endParaRPr lang="en-US" sz="1875"/>
          </a:p>
        </p:txBody>
      </p:sp>
      <p:sp>
        <p:nvSpPr>
          <p:cNvPr id="9" name="Text 9"/>
          <p:cNvSpPr txBox="1"/>
          <p:nvPr/>
        </p:nvSpPr>
        <p:spPr>
          <a:xfrm>
            <a:off x="2000250" y="4345305"/>
            <a:ext cx="11029950" cy="1059180"/>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Sketch → animate → 3D → game asset. Out of ideas?</a:t>
            </a:r>
            <a:endParaRPr lang="en-US" sz="3150"/>
          </a:p>
          <a:p>
            <a:pPr marL="0" indent="0">
              <a:lnSpc>
                <a:spcPts val="4095"/>
              </a:lnSpc>
              <a:spcAft>
                <a:spcPts val="0"/>
              </a:spcAft>
              <a:buNone/>
            </a:pPr>
            <a:r>
              <a:rPr lang="en-US" sz="3150" b="0">
                <a:solidFill>
                  <a:srgbClr val="F5F1E9"/>
                </a:solidFill>
                <a:latin typeface="Arial"/>
                <a:ea typeface="Arial"/>
                <a:cs typeface="Arial"/>
              </a:rPr>
              <a:t xml:space="preserve">Ask.</a:t>
            </a:r>
            <a:endParaRPr lang="en-US" sz="3150"/>
          </a:p>
        </p:txBody>
      </p:sp>
      <p:sp>
        <p:nvSpPr>
          <p:cNvPr id="10" name="Text 10"/>
          <p:cNvSpPr txBox="1"/>
          <p:nvPr/>
        </p:nvSpPr>
        <p:spPr>
          <a:xfrm>
            <a:off x="457200" y="8286750"/>
            <a:ext cx="124777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Outsmart Your Lying, Cheating Students</a:t>
            </a:r>
            <a:endParaRPr lang="en-US" sz="975"/>
          </a:p>
        </p:txBody>
      </p:sp>
      <p:sp>
        <p:nvSpPr>
          <p:cNvPr id="11" name="Text 11"/>
          <p:cNvSpPr txBox="1"/>
          <p:nvPr/>
        </p:nvSpPr>
        <p:spPr>
          <a:xfrm>
            <a:off x="13049250" y="82867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12</a:t>
            </a:r>
            <a:endParaRPr lang="en-US" sz="975"/>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161D26"/>
        </a:solidFill>
        <a:effectLst/>
      </p:bgPr>
    </p:bg>
    <p:spTree>
      <p:nvGrpSpPr>
        <p:cNvPr id="1" name=""/>
        <p:cNvGrpSpPr/>
        <p:nvPr/>
      </p:nvGrpSpPr>
      <p:grpSpPr>
        <a:xfrm>
          <a:off x="0" y="0"/>
          <a:ext cx="0" cy="0"/>
          <a:chOff x="0" y="0"/>
          <a:chExt cx="0" cy="0"/>
        </a:xfrm>
      </p:grpSpPr>
      <p:sp>
        <p:nvSpPr>
          <p:cNvPr id="2" name="Text 2"/>
          <p:cNvSpPr txBox="1"/>
          <p:nvPr/>
        </p:nvSpPr>
        <p:spPr>
          <a:xfrm>
            <a:off x="685800" y="381000"/>
            <a:ext cx="12344400" cy="457200"/>
          </a:xfrm>
          <a:prstGeom prst="rect">
            <a:avLst/>
          </a:prstGeom>
          <a:noFill/>
          <a:ln>
            <a:noFill/>
          </a:ln>
        </p:spPr>
        <p:txBody>
          <a:bodyPr wrap="none" lIns="0" tIns="0" rIns="0" bIns="0" anchor="t">
            <a:noAutofit/>
          </a:bodyPr>
          <a:lstStyle/>
          <a:p>
            <a:pPr marL="0" indent="0">
              <a:lnSpc>
                <a:spcPts val="1755"/>
              </a:lnSpc>
              <a:spcAft>
                <a:spcPts val="0"/>
              </a:spcAft>
              <a:buNone/>
            </a:pPr>
            <a:r>
              <a:rPr lang="en-US" sz="1350" b="1">
                <a:solidFill>
                  <a:srgbClr val="EFB45F"/>
                </a:solidFill>
                <a:latin typeface="Arial"/>
                <a:ea typeface="Arial"/>
                <a:cs typeface="Arial"/>
              </a:rPr>
              <a:t xml:space="preserve">13 / 14    SOURCE SLIDE 13</a:t>
            </a:r>
            <a:endParaRPr lang="en-US" sz="1350"/>
          </a:p>
        </p:txBody>
      </p:sp>
      <p:sp>
        <p:nvSpPr>
          <p:cNvPr id="3" name="Text 3"/>
          <p:cNvSpPr txBox="1"/>
          <p:nvPr/>
        </p:nvSpPr>
        <p:spPr>
          <a:xfrm>
            <a:off x="685800" y="1057275"/>
            <a:ext cx="12344400" cy="1381125"/>
          </a:xfrm>
          <a:prstGeom prst="rect">
            <a:avLst/>
          </a:prstGeom>
          <a:noFill/>
          <a:ln>
            <a:noFill/>
          </a:ln>
        </p:spPr>
        <p:txBody>
          <a:bodyPr wrap="none" lIns="0" tIns="0" rIns="0" bIns="0" anchor="t">
            <a:noAutofit/>
          </a:bodyPr>
          <a:lstStyle/>
          <a:p>
            <a:pPr marL="0" indent="0">
              <a:lnSpc>
                <a:spcPts val="4680"/>
              </a:lnSpc>
              <a:spcAft>
                <a:spcPts val="0"/>
              </a:spcAft>
              <a:buNone/>
            </a:pPr>
            <a:r>
              <a:rPr lang="en-US" sz="3900" b="1">
                <a:solidFill>
                  <a:srgbClr val="F5F1E9"/>
                </a:solidFill>
                <a:latin typeface="Arial"/>
                <a:ea typeface="Arial"/>
                <a:cs typeface="Arial"/>
              </a:rPr>
              <a:t xml:space="preserve">Redesign one checkpoint this week</a:t>
            </a:r>
            <a:endParaRPr lang="en-US" sz="3900"/>
          </a:p>
        </p:txBody>
      </p:sp>
      <p:sp>
        <p:nvSpPr>
          <p:cNvPr id="4" name="Text 4"/>
          <p:cNvSpPr txBox="1"/>
          <p:nvPr/>
        </p:nvSpPr>
        <p:spPr>
          <a:xfrm>
            <a:off x="685800" y="2771775"/>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01</a:t>
            </a:r>
            <a:endParaRPr lang="en-US" sz="1875"/>
          </a:p>
        </p:txBody>
      </p:sp>
      <p:sp>
        <p:nvSpPr>
          <p:cNvPr id="5" name="Text 5"/>
          <p:cNvSpPr txBox="1"/>
          <p:nvPr/>
        </p:nvSpPr>
        <p:spPr>
          <a:xfrm>
            <a:off x="2000250" y="2771775"/>
            <a:ext cx="11029950" cy="1059180"/>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Capability → task → the smudge → follow-up →</a:t>
            </a:r>
            <a:endParaRPr lang="en-US" sz="3150"/>
          </a:p>
          <a:p>
            <a:pPr marL="0" indent="0">
              <a:lnSpc>
                <a:spcPts val="4095"/>
              </a:lnSpc>
              <a:spcAft>
                <a:spcPts val="0"/>
              </a:spcAft>
              <a:buNone/>
            </a:pPr>
            <a:r>
              <a:rPr lang="en-US" sz="3150" b="0">
                <a:solidFill>
                  <a:srgbClr val="F5F1E9"/>
                </a:solidFill>
                <a:latin typeface="Arial"/>
                <a:ea typeface="Arial"/>
                <a:cs typeface="Arial"/>
              </a:rPr>
              <a:t xml:space="preserve">permitted help → rubric</a:t>
            </a:r>
            <a:endParaRPr lang="en-US" sz="3150"/>
          </a:p>
        </p:txBody>
      </p:sp>
      <p:sp>
        <p:nvSpPr>
          <p:cNvPr id="6" name="Text 6"/>
          <p:cNvSpPr txBox="1"/>
          <p:nvPr/>
        </p:nvSpPr>
        <p:spPr>
          <a:xfrm>
            <a:off x="685800" y="4078605"/>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02</a:t>
            </a:r>
            <a:endParaRPr lang="en-US" sz="1875"/>
          </a:p>
        </p:txBody>
      </p:sp>
      <p:sp>
        <p:nvSpPr>
          <p:cNvPr id="7" name="Text 7"/>
          <p:cNvSpPr txBox="1"/>
          <p:nvPr/>
        </p:nvSpPr>
        <p:spPr>
          <a:xfrm>
            <a:off x="2000250" y="4078605"/>
            <a:ext cx="11029950" cy="539115"/>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Minutes to review a class set</a:t>
            </a:r>
            <a:endParaRPr lang="en-US" sz="3150"/>
          </a:p>
        </p:txBody>
      </p:sp>
      <p:sp>
        <p:nvSpPr>
          <p:cNvPr id="8" name="Text 8"/>
          <p:cNvSpPr txBox="1"/>
          <p:nvPr/>
        </p:nvSpPr>
        <p:spPr>
          <a:xfrm>
            <a:off x="685800" y="4865370"/>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03</a:t>
            </a:r>
            <a:endParaRPr lang="en-US" sz="1875"/>
          </a:p>
        </p:txBody>
      </p:sp>
      <p:sp>
        <p:nvSpPr>
          <p:cNvPr id="9" name="Text 9"/>
          <p:cNvSpPr txBox="1"/>
          <p:nvPr/>
        </p:nvSpPr>
        <p:spPr>
          <a:xfrm>
            <a:off x="2000250" y="4865370"/>
            <a:ext cx="11029950" cy="539115"/>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Neighbor challenges one hidden assumption</a:t>
            </a:r>
            <a:endParaRPr lang="en-US" sz="3150"/>
          </a:p>
        </p:txBody>
      </p:sp>
      <p:sp>
        <p:nvSpPr>
          <p:cNvPr id="10" name="Text 10"/>
          <p:cNvSpPr txBox="1"/>
          <p:nvPr/>
        </p:nvSpPr>
        <p:spPr>
          <a:xfrm>
            <a:off x="457200" y="8286750"/>
            <a:ext cx="124777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Outsmart Your Lying, Cheating Students</a:t>
            </a:r>
            <a:endParaRPr lang="en-US" sz="975"/>
          </a:p>
        </p:txBody>
      </p:sp>
      <p:sp>
        <p:nvSpPr>
          <p:cNvPr id="11" name="Text 11"/>
          <p:cNvSpPr txBox="1"/>
          <p:nvPr/>
        </p:nvSpPr>
        <p:spPr>
          <a:xfrm>
            <a:off x="13049250" y="82867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13</a:t>
            </a:r>
            <a:endParaRPr lang="en-US" sz="975"/>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161D26"/>
        </a:solidFill>
        <a:effectLst/>
      </p:bgPr>
    </p:bg>
    <p:spTree>
      <p:nvGrpSpPr>
        <p:cNvPr id="1" name=""/>
        <p:cNvGrpSpPr/>
        <p:nvPr/>
      </p:nvGrpSpPr>
      <p:grpSpPr>
        <a:xfrm>
          <a:off x="0" y="0"/>
          <a:ext cx="0" cy="0"/>
          <a:chOff x="0" y="0"/>
          <a:chExt cx="0" cy="0"/>
        </a:xfrm>
      </p:grpSpPr>
      <p:sp>
        <p:nvSpPr>
          <p:cNvPr id="2" name="Text 2"/>
          <p:cNvSpPr txBox="1"/>
          <p:nvPr/>
        </p:nvSpPr>
        <p:spPr>
          <a:xfrm>
            <a:off x="685800" y="381000"/>
            <a:ext cx="12344400" cy="457200"/>
          </a:xfrm>
          <a:prstGeom prst="rect">
            <a:avLst/>
          </a:prstGeom>
          <a:noFill/>
          <a:ln>
            <a:noFill/>
          </a:ln>
        </p:spPr>
        <p:txBody>
          <a:bodyPr wrap="none" lIns="0" tIns="0" rIns="0" bIns="0" anchor="t">
            <a:noAutofit/>
          </a:bodyPr>
          <a:lstStyle/>
          <a:p>
            <a:pPr marL="0" indent="0">
              <a:lnSpc>
                <a:spcPts val="1755"/>
              </a:lnSpc>
              <a:spcAft>
                <a:spcPts val="0"/>
              </a:spcAft>
              <a:buNone/>
            </a:pPr>
            <a:r>
              <a:rPr lang="en-US" sz="1350" b="1">
                <a:solidFill>
                  <a:srgbClr val="EFB45F"/>
                </a:solidFill>
                <a:latin typeface="Arial"/>
                <a:ea typeface="Arial"/>
                <a:cs typeface="Arial"/>
              </a:rPr>
              <a:t xml:space="preserve">14 / 14    SOURCE SLIDE 14</a:t>
            </a:r>
            <a:endParaRPr lang="en-US" sz="1350"/>
          </a:p>
        </p:txBody>
      </p:sp>
      <p:sp>
        <p:nvSpPr>
          <p:cNvPr id="3" name="Text 3"/>
          <p:cNvSpPr txBox="1"/>
          <p:nvPr/>
        </p:nvSpPr>
        <p:spPr>
          <a:xfrm>
            <a:off x="685800" y="1057275"/>
            <a:ext cx="12344400" cy="1381125"/>
          </a:xfrm>
          <a:prstGeom prst="rect">
            <a:avLst/>
          </a:prstGeom>
          <a:noFill/>
          <a:ln>
            <a:noFill/>
          </a:ln>
        </p:spPr>
        <p:txBody>
          <a:bodyPr wrap="none" lIns="0" tIns="0" rIns="0" bIns="0" anchor="t">
            <a:noAutofit/>
          </a:bodyPr>
          <a:lstStyle/>
          <a:p>
            <a:pPr marL="0" indent="0">
              <a:lnSpc>
                <a:spcPts val="4680"/>
              </a:lnSpc>
              <a:spcAft>
                <a:spcPts val="0"/>
              </a:spcAft>
              <a:buNone/>
            </a:pPr>
            <a:r>
              <a:rPr lang="en-US" sz="3900" b="1">
                <a:solidFill>
                  <a:srgbClr val="F5F1E9"/>
                </a:solidFill>
                <a:latin typeface="Arial"/>
                <a:ea typeface="Arial"/>
                <a:cs typeface="Arial"/>
              </a:rPr>
              <a:t xml:space="preserve">A purpose-built machine</a:t>
            </a:r>
            <a:endParaRPr lang="en-US" sz="3900"/>
          </a:p>
        </p:txBody>
      </p:sp>
      <p:sp>
        <p:nvSpPr>
          <p:cNvPr id="4" name="Text 4"/>
          <p:cNvSpPr txBox="1"/>
          <p:nvPr/>
        </p:nvSpPr>
        <p:spPr>
          <a:xfrm>
            <a:off x="685800" y="2771775"/>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01</a:t>
            </a:r>
            <a:endParaRPr lang="en-US" sz="1875"/>
          </a:p>
        </p:txBody>
      </p:sp>
      <p:sp>
        <p:nvSpPr>
          <p:cNvPr id="5" name="Text 5"/>
          <p:cNvSpPr txBox="1"/>
          <p:nvPr/>
        </p:nvSpPr>
        <p:spPr>
          <a:xfrm>
            <a:off x="2000250" y="2771775"/>
            <a:ext cx="11029950" cy="1059180"/>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Explain it. Challenge it. Change it. Apply it.</a:t>
            </a:r>
            <a:endParaRPr lang="en-US" sz="3150"/>
          </a:p>
          <a:p>
            <a:pPr marL="0" indent="0">
              <a:lnSpc>
                <a:spcPts val="4095"/>
              </a:lnSpc>
              <a:spcAft>
                <a:spcPts val="0"/>
              </a:spcAft>
              <a:buNone/>
            </a:pPr>
            <a:r>
              <a:rPr lang="en-US" sz="3150" b="0">
                <a:solidFill>
                  <a:srgbClr val="F5F1E9"/>
                </a:solidFill>
                <a:latin typeface="Arial"/>
                <a:ea typeface="Arial"/>
                <a:cs typeface="Arial"/>
              </a:rPr>
              <a:t xml:space="preserve">Defend it.</a:t>
            </a:r>
            <a:endParaRPr lang="en-US" sz="3150"/>
          </a:p>
        </p:txBody>
      </p:sp>
      <p:sp>
        <p:nvSpPr>
          <p:cNvPr id="6" name="Text 6"/>
          <p:cNvSpPr txBox="1"/>
          <p:nvPr/>
        </p:nvSpPr>
        <p:spPr>
          <a:xfrm>
            <a:off x="685800" y="4078605"/>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02</a:t>
            </a:r>
            <a:endParaRPr lang="en-US" sz="1875"/>
          </a:p>
        </p:txBody>
      </p:sp>
      <p:sp>
        <p:nvSpPr>
          <p:cNvPr id="7" name="Text 7"/>
          <p:cNvSpPr txBox="1"/>
          <p:nvPr/>
        </p:nvSpPr>
        <p:spPr>
          <a:xfrm>
            <a:off x="2000250" y="4078605"/>
            <a:ext cx="11029950" cy="1059180"/>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Too much power to hold casually. Prove the value</a:t>
            </a:r>
            <a:endParaRPr lang="en-US" sz="3150"/>
          </a:p>
          <a:p>
            <a:pPr marL="0" indent="0">
              <a:lnSpc>
                <a:spcPts val="4095"/>
              </a:lnSpc>
              <a:spcAft>
                <a:spcPts val="0"/>
              </a:spcAft>
              <a:buNone/>
            </a:pPr>
            <a:r>
              <a:rPr lang="en-US" sz="3150" b="0">
                <a:solidFill>
                  <a:srgbClr val="F5F1E9"/>
                </a:solidFill>
                <a:latin typeface="Arial"/>
                <a:ea typeface="Arial"/>
                <a:cs typeface="Arial"/>
              </a:rPr>
              <a:t xml:space="preserve">constantly.</a:t>
            </a:r>
            <a:endParaRPr lang="en-US" sz="3150"/>
          </a:p>
        </p:txBody>
      </p:sp>
      <p:sp>
        <p:nvSpPr>
          <p:cNvPr id="8" name="Text 8"/>
          <p:cNvSpPr txBox="1"/>
          <p:nvPr/>
        </p:nvSpPr>
        <p:spPr>
          <a:xfrm>
            <a:off x="457200" y="8286750"/>
            <a:ext cx="124777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Outsmart Your Lying, Cheating Students</a:t>
            </a:r>
            <a:endParaRPr lang="en-US" sz="975"/>
          </a:p>
        </p:txBody>
      </p:sp>
      <p:sp>
        <p:nvSpPr>
          <p:cNvPr id="9" name="Text 9"/>
          <p:cNvSpPr txBox="1"/>
          <p:nvPr/>
        </p:nvSpPr>
        <p:spPr>
          <a:xfrm>
            <a:off x="13049250" y="82867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14</a:t>
            </a:r>
            <a:endParaRPr lang="en-US" sz="975"/>
          </a:p>
        </p:txBody>
      </p:sp>
    </p:spTree>
  </p:cSld>
  <p:clrMapOvr>
    <a:masterClrMapping/>
  </p:clrMapOvr>
</p:sld>
</file>

<file path=ppt/theme/theme1.xml><?xml version="1.0" encoding="utf-8"?>
<a:theme xmlns:a="http://schemas.openxmlformats.org/drawingml/2006/main" name="Dan Levy talks">
  <a:themeElements>
    <a:clrScheme name="Talk palette">
      <a:dk1>
        <a:srgbClr val="202B33"/>
      </a:dk1>
      <a:lt1>
        <a:srgbClr val="FFFFFF"/>
      </a:lt1>
      <a:dk2>
        <a:srgbClr val="48555B"/>
      </a:dk2>
      <a:lt2>
        <a:srgbClr val="FAFAF7"/>
      </a:lt2>
      <a:accent1>
        <a:srgbClr val="EFB45F"/>
      </a:accent1>
      <a:accent2>
        <a:srgbClr val="728482"/>
      </a:accent2>
      <a:accent3>
        <a:srgbClr val="53616F"/>
      </a:accent3>
      <a:accent4>
        <a:srgbClr val="9D7462"/>
      </a:accent4>
      <a:accent5>
        <a:srgbClr val="7D86A0"/>
      </a:accent5>
      <a:accent6>
        <a:srgbClr val="9E996B"/>
      </a:accent6>
      <a:hlink>
        <a:srgbClr val="246957"/>
      </a:hlink>
      <a:folHlink>
        <a:srgbClr val="925700"/>
      </a:folHlink>
    </a:clrScheme>
    <a:fontScheme name="Arial">
      <a:majorFont>
        <a:latin typeface="Arial"/>
        <a:ea typeface=""/>
        <a:cs typeface=""/>
      </a:majorFont>
      <a:minorFont>
        <a:latin typeface="Arial"/>
        <a:ea typeface=""/>
        <a:cs typeface=""/>
      </a:minorFont>
    </a:fontScheme>
    <a:fmtScheme name="Plain">
      <a:fillStyleLst>
        <a:solidFill>
          <a:schemeClr val="phClr"/>
        </a:solidFill>
        <a:solidFill>
          <a:schemeClr val="phClr"/>
        </a:solidFill>
        <a:solidFill>
          <a:schemeClr val="phClr"/>
        </a:solidFill>
      </a:fillStyleLst>
      <a:lnStyleLst>
        <a:ln w="9525">
          <a:solidFill>
            <a:schemeClr val="phClr"/>
          </a:solidFill>
          <a:prstDash val="solid"/>
        </a:ln>
        <a:ln w="9525">
          <a:solidFill>
            <a:schemeClr val="phClr"/>
          </a:solidFill>
          <a:prstDash val="solid"/>
        </a:ln>
        <a:ln w="9525">
          <a:solidFill>
            <a:schemeClr val="phClr"/>
          </a:solidFill>
          <a:prstDash val="solid"/>
        </a:ln>
      </a:lnStyleLst>
      <a:effectStyleLst>
        <a:effectStyle>
          <a:effectLst/>
        </a:effectStyle>
        <a:effectStyle>
          <a:effectLst/>
        </a:effectStyle>
        <a:effectStyle>
          <a:effectLst/>
        </a:effectStyle>
      </a:effectStyleLst>
      <a:bgFillStyleLst>
        <a:solidFill>
          <a:schemeClr val="phClr"/>
        </a:solidFill>
        <a:solidFill>
          <a:schemeClr val="phClr"/>
        </a:solidFill>
        <a:solidFill>
          <a:schemeClr val="phClr"/>
        </a:solidFill>
      </a:bgFillStyleLst>
    </a:fmtScheme>
  </a:themeElements>
</a:theme>
</file>

<file path=docProps/app.xml><?xml version="1.0" encoding="utf-8"?>
<Properties xmlns="http://schemas.openxmlformats.org/officeDocument/2006/extended-properties">
  <Application>Talk package exporter</Application>
  <Slides>14</Slides>
  <Notes>14</Notes>
</Properties>
</file>

<file path=docProps/core.xml><?xml version="1.0" encoding="utf-8"?>
<cp:coreProperties xmlns:cp="http://schemas.openxmlformats.org/package/2006/metadata/core-properties" xmlns:dc="http://purl.org/dc/elements/1.1/" xmlns:dcterms="http://purl.org/dc/terms/" xmlns:xsi="http://www.w3.org/2001/XMLSchema-instance">
  <dc:title>Outsmart Your Lying, Cheating Students</dc:title>
  <dc:creator>Dan Levy</dc:creator>
  <dc:description>screen edition generated from current reviewed talk materials</dc:description>
  <dcterms:created xsi:type="dcterms:W3CDTF">2026-09-07T01:22:59Z</dcterms:created>
</cp:coreProperties>
</file>