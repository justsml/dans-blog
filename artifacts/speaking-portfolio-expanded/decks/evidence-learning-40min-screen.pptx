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cat is out of the bag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vintage calculator wristwatch resting on an open math worksheet, the watch face glowing faintly, a pencil laid across the page, dark slate background, amber accent on the watch face,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Horse out of the barn. Cat out of the bag.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Math class survived the Casio watch.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historical parallels have been beaten to death, so one and done: the calculator panic. Specifically the Casio calculator watch. Math class was dead. The kid sitting next to the Casio owner didn't even need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Confession: I may have used one or two on an assessment. But we're not here for that. What I did was wholesome. These kids are phoning it in. Not even trying. Infuriating, right?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calculator-clutching ancestors had to write a real trajectory into the curriculum. So do we. Everything today is authored fixtures, a rubric I'm proposing, and one exercise that shows evidence being collected. Here's the plan: what we stop doing, what we protect, what we teach, and three ways to actually outsmart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submission that made you realize the grade and the understanding had come apart.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Let the confession land before the pivot. The laugh is the title doing its job; do not explain the joke.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doom loop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02:30 to 05:00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figure at a locked gate holding a clipboard, behind the gate a small open window with a phone propped in it and a rope ladder hanging down, dark slate background, amber accent on the phone,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Proctoring fails. The pop quiz proves what you already knew.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Getting away with it is the reward.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Students are the original adversarial actors.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It can feel like you've lost. The proctoring tools fail readily. What still works is the cold call or the pop quiz, and all it proves is that the student can't hit the first rung of Bloom's taxonomy. Can't recall it. Can't spell it. That crushes you, and it cements the loop: the student learns they can cheat through, and the reward is getting away with it. Even when caught, there's no stigma for using something as common as a phone.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Pummeling them with gotcha quizzes proves what you already knew: Johnny ain't learning too good. Block the chatbot on the network and they share a VPN from a phone. Life finds a way. Students are the original adversarial actors.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detector is the same trap in software. Liang and colleagues found the detectors they tested flagged non-native English writers at alarming rates. And even if a detector were perfect, it answers the wrong question. Who typed the sentence is not whether the kid can do the thing. And if your assessment depends on knowing who typed a paragraph, the detector has become part of your curriculum.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Liang et al. (2023), [GPT detectors are biased against non-native English writers](https://doi.org/10.1016/j.patter.2023.100779), Patterns.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Pencil first. Then the tool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05:00 to 07:00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whiteboard with a hand-drawn diagram on the left half and a laptop propped on the right half, a marker resting in the tray between them, dark slate background, amber accent on the marker,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Pencil, paper, whiteboard, peers: in the curriculum, with the reason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Then, same document: "and we are going to teach you the tool"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trajectory down. Where does handwriting live, and why: the spatial and motor work a pencil activates, the argument you have out loud with a peer, the cohort you find by talking through a problem. Build the environment where those foundations still happen with no model in the room.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in the same document, tell students you're going to teach them the tool. On purpose. Independent competence and competent tool use both belong in a course. They need different evidence, and every checkpoint should say which one it's measuring.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tension is older than the panic and it has a name. Koedinger and Aleven called it the assistance dilemma in 2007: give too much help and the learner never has to generate anything, give too little and they stall out. Nobody has solved it. Say that out loud, because a vendor whose tutor has the help level exactly right is selling you a solved version of an open problem.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Koedinger and Aleven (2007), [Exploring the Assistance Dilemma in Experiments with Cognitive Tutors](https://doi.org/10.1007/s10648-007-9049-0), Educational Psychology Review 19(3), 239 to 264.</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polished answer with a hole in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07:00 to 09:00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perfectly ironed shirt on a hanger with a large hole in the back only visible in a mirror behind it, dark slate background, amber accent on the mirror frame,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20% rise and a 20% fall cancel."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prose is clean. The denominator is wrong.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Here's the fixture for the rest of the talk. A shop raises a $100 price by 20%, then discounts the new price by 20%. The student writes: equal and opposite, so the final price is $100. Clean sentence. Confident. Wrong 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capability we're after is narrow enough for the room to inspect: explain why a percentage acts on a base, and how the base changes across a sequence. Now imagine the correct number with this faulty explanation hiding behind it. What would a final-answer assessment have caught?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the room what the final answer alone would have told you. One answer, then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move one: make verification feel like cheating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09:00 to 12:00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phone photographing a worksheet dense with small arithmetic problems, one digit on the sheet smudged, a magnifying glass lying beside the phone, dark slate background, amber accent on the smudge,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"Take a picture of these hundred problems and make the model do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1 that looks like a 7. A smudge that turns an 8 into a 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"You didn't check the results? Johnny, you're not gonna make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highest-leverage assignment I know lets students feel like they're cheating. Photograph the sheet, feed it to the model, submit. The trap is in the sheet: a stroke that reads as either digit, a smudge. The wrong answers come back and the lesson teaches itself. You were supposed to check.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one experience beats every ban, filter and lockdown. Hand the prompt out like a worksheet: "paste these instructions as your first message." Expect a recorded screen or an exported session. Older students get to experiment as the objective itself: the writing challenge, the rhyming challenge, whatever riddles the English teachers love. The constraint that keeps it honest is personalization. Narrate it from summer camp. Reference this week's unit. Meet a criterion the model can't know.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Privacy rides along for free. If you share Lake Tahoe, maybe not the photo of your grandparents' place on the water that any model can geolocate. Nobody is teaching students how these systems actually work. This assignment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Thirty seconds: what would the smudge be in your subject? Take two.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Ration the help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12:00 to 14:00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staircase of five shallow steps with a small figure on the second step, a hand offering a single step-sized block from the side, a speech bubble shaped like a key above the first step, dark slate background, amber accent on the offered block,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"Which price does the discount use?" Learner: "The original $100."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Clarify → conceptual hint → missing step → part of an example → full explanation → fresh reconstruction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scripted turns. The diagnostic question finds where the base got lost. The tutor neither praises the error nor dumps the solution. Attempt-first can't punish a kid who can't begin; clarifying a term or offering a parallel example may be the right first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the ladder. Clarification: the second change acts on the new price. Conceptual hint: find the current base. Missing step: the intermediate $120. Partial example: multiply a different amount by 0.8. Full explanation, then a fresh reconstruction later. Write down which rung you gave, because supported and independent performance are different evidence. Never as a moral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Demo: four minutes inside a five-minute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14:00 to 19:00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three price tags in a row reading as shapes only, the middle one larger, an arrow looping from the third back to the first, dark slate background, amber accent on the looping arrow,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$100 → $120 → $96. Why does the second base change?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Now: $80 → +25% → −20%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scripted tutor turns — from the kit or read off the card — then go live. Reveal the wrong argument. Let the room find the base. Reveal $120 only after the diagnostic question. Ask for $96 and one sentence explaining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change the numbers: $80, up 25%, down 20%. It comes back to $80, because 1.25 times 0.8 is 1. That breaks the shortcut the room just formed, "opposite changes never cancel," and that's the point. A transfer item with the same invariant and different numbers is where you find out whether they learned the rule or memorized the example.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Runbook section 5 has the five scripted turns and the same table in print. If the room is quiet, present the prepared learner response; never pressure an individual into a public assessment. Two-minute compression: skip the kit, run only the $100 sequence, state the $80 item.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Score the reasoning. Write it 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19:00 to 22:30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three-row scorecard with small filled and empty circles beside a filing card with four short lines and a pencil eraser at the corner, a heavy metal stamp lying unused on its side, dark slate background, amber accent on the eraser,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Base identified 0–2 · Calculation justified 0–2 · Transfer explained 0–2 · Help in its own column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Record: concept · what they said · what help they got · next check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Never "weak at reasoning." Never "likely cheated."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Zero: the wrong base persists. One: the right number, no explanation. Two: the learner explains the current amount. Help goes in its own column so a human can read it, and asking a question costs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record is four lines. Concept: changing percentage base. Observed: used the original amount for the second change. Support: conceptual hint. Next check: a new item after practice. Keep what the learner said separate from what a model inferred. Follow-ups come from a blueprint, not chatbot curiosity: "does reversing the multipliers change the result?" probes structure; a harder question is not a fair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and colleagues found supported performance and later unaided performance can diverge, and the safeguards that matter come from teachers. So record the conditions, and include an independent check when independence is the objective. A mismatch needs a human to interpret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that finding is not news, which is the useful part. Soderstrom and Bjork reviewed fifty years of it in 2015: how well someone performs while being helped and how much they actually learned come apart routinely, and the conditions that flatter practice frequently damage retention. A tutor is a machine for removing difficulty. Some of that difficulty was the part where they learned. None of this convicts anyone; your integrity process stays where it is. This is the last time I'll say that.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Bastani et al. (2025), [Generative AI without guardrails can harm learning](https://doi.org/10.1073/pnas.2422633122), PNAS. The [correction](https://doi.org/10.1073/pnas.2518204122) (August 2025) fixes an author affiliation; no result 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Soderstrom and Bjork (2015), [Learning versus performance: an integrative review](https://doi.org/10.1177/1745691615569000), Perspectives on Psychological Science 10(2), 176 to 199.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move two: make them say it out loud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22:30 to 25:30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two sound waveforms side by side, the first smooth and rounded, the second jagged with small breaks where lines wrap, a small padlock icon beneath both, dark slate background, amber accent on the padlock,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Recall errors and reading errors are different animals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Small groups, speaking: the incentives reset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Voice is biometric. Offline. Zero retention. Age-appropriate. Written alternative.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Answering from memory and reading a model's output aloud produce different mistakes. The reader falls behind as the text wraps and jumps. They mispronounce a word they'd never have chosen. Spoken language carries enough tells to sort likely from unlikely.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Small groups, speaking, in class: that resets the table. It adds social pressure against cheating and hands you knobs on an incentive structure that today is a magical cheating genie. Not foolproof. A student can build an agent told to seem dumb at first and then learn. Fine. We're changing incentives, not buying certainty.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care, and it's real. A student's voice identifies them and can be cloned. Fingerprinting voices is plausible technology; that's a reason for caution, not a feature. Newer offline models claim to detect frustration and distress in speech, and offline is what lets them meet zero-retention, no-sharing district rules on modest hardware. Any student-facing voice tool gets maximum privacy, a written alternative, age-appropriate use only, and a retention rule written before the first recording. A replay is context, never proof.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move three: read all 300 transcripts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25:30 to 28:00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classroom clock face divided into four unequal wedges, three wedges plain and one wedge patterned with tiny chat bubbles, dark slate background, amber accent on the patterned wedge,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Teacher talk · student talk · think time · AI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Guided by you, or alone with the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"Show me five students who took a path worth showing the room."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already count who's talking, how much silence there is, whose engagement it is. Add one factor: AI time. How much of it did you guide, and how much was a student alone with the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the view you have never had. Every transcript from a class of 30 or a course of 300, and a qualitative pass run by the model. Show me the five students who opened a line of inquiry I didn't teach. Show me the one who reached the answer by a path worth putting on the board tomorrow. The same pass surfaces the kid who typed exactly the right terms, or pasted a big block from somewhere. Before you conclude anything: a big block also looks like voice-to-text. Look first.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know what you are up against when you read the model's summary instead of the transcript. Skitka and colleagues measured it in 1999: people given a highly but imperfectly reliable aid did worse than people with no aid at all on the trials where the aid was wrong, because it is right often enough that you stop checking. The summary is a place to start looking, never a place to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Skitka, Mosier and Burdick (1999), [Does automation bias decision-making?](https://doi.org/10.1006/ijhc.1999.0252), International Journal of Human-Computer Studies 51(5), 991 to 1006.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transcript that showed you a path to the answer you would not have taught.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Write the objective to the 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28:00 to 31:00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whiteboard with three short handwritten lines and a small robot icon drawn in the corner as the addressee, a phone held up photographing the board, dark slate background, amber accent on the robot icon,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"You're my tutor. Don't give me answers. I'm here with three classmates."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Photograph the whiteboard; the objective is the system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Push the practice run first. Then reward the kid who asks for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Seen in the wild: students telling a voice assistant not to give them answers, then arguing about Lincoln with it for twenty minutes. So give it the objective. Have them photograph the whiteboard. My prediction is that we end up writing objectives on the board addressed to the agent: "Tutor bot, help my students with..." It holds the rigor you set, explores the stretch goals, fills the remedial gaps, and tells you, the aides and the parents what it saw. Write it in whatever objective process you already use; Lemov's 4Ms work fine.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other half is discipline. At first, the agent pushes: want a practice run, flashcards, a pop quiz? Then it rewards the student who asks before the test unprompted, and it names the connection distracted students miss: "five flashcards an hour before produced a 98; your last three tests had no prep." Made-up numbers, real mechanism. As someone with ADHD, an assistant that reorders my day and says "you bombed the section quizzes after that reading, take a twenty-minute walk" is not a luxury. It's applied cognitive science with a channel toward wellbeing.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student who told the tutor not to give answers.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Widen the door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31:00 to 33:30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lump of clay wrapped in cloth on a school desk beside a tablet showing a rough charcoal sketch on graph paper, a small bird perched on the desk edge, dark slate background, amber accent on the bird,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"I'm not carrying a brick of clay in my bag."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"I'm no good with a pencil, but I like that look."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Sketch → animate → 3D → game asset. Out of ideas? Ask.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 was told I was terrible at art. In my case it turned out to be true. For a lot of kids it was disbelief, or supplies beyond standard issue. A friend of mine found out after school that they were a talented sculptor. Won awards. They once told me they never touched the wet clay in class. No car at home. Not carrying a brick of clay on the bus. That was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Those barriers reflect our socioeconomic structure and sit unexamined in the system. A model widens who gets to participate. The kid who can't draw the charcoal graph-paper look can make it, then animate the birds at the lunch tables, then make it 3D, then a game asset. Ratchet up, lock in, stretch. When they run out of ideas, the model that already knows your objective suggests the next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Redesign one checkpoint this week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33:30 to 37:30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worksheet with three rows of blank boxes, one box filled in with a pencil, a second pencil entering from the opposite side of the page, dark slate background, amber accent on the second pencil,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Capability → task → the smudge → follow-up → permitted help → rubric</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Minutes to review a class set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Neighbor challenges one hidden assumption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Pairs, three minutes. Write the capability, the task, the smudge that makes verification feel like cheating, one purposeful follow-up, the help you'll permit, and the interpretation you could defend to a parent. Then estimate the minutes to review a class set, because a richer assessment nobody has time to read is a worse assessment. Let the model draft the follow-ups and summarize with links to the excerpt; grading, accusations and anything sensitive stay with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your neighbor challenges one hidden assumption: does this also measure fluency, paid-tool access, or comfort speaking under pressure? TEQSA's guidance backs contextual, multiple approaches. This worksheet is our version of it. Output: a sketch you can review, then a small pilot.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TEQSA (2023), [Assessment reform for the age of artificial intelligence](https://www.teqsa.gov.au/guides-resources/resources/corporate-publications/assessment-reform-age-artificial-intelligence).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Three minutes writing, one minute of challenge. Call time on the challenge, not the writing.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purpose-built machine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37:30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chessboard tilted so the pieces slide off, replaced by an open notebook with five short handwritten lines and a small precise instrument resting on the page, dark slate background, amber accent on the instrument,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Explain it. Challenge it. Change it. Apply it. Defend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Too much power to hold casually. Prove the value constantly.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Stop trying to prove who typed the sentence. Ask whether the student can explain it, challenge it, change it, apply it, and defend it. That means teaching changes: how we put agents in the room, how we model using them, how we design group work around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kid next to the Casio owner didn't need a watch. The kid with no car never touched the clay. The same tool that lets Johnny phone it in is the one that can hand a sculptor the clay. Which one happens is a design decision, and it's 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 great deal of data and a great deal of power. Too much to hold casually. The value has to be proven, constantly, for educators and students, or the data should not exist. No ambling through conversations dispensing answers. A purpose-built machine. There are technical ways to build one; come find me after.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Land on "come find me after."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Outsmart Your Lying, Cheating Students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cat is out of the bag</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Horse out of the barn. Cat out of the bag.</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Math class survived the Casio watch.</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14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doom loop</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Proctoring fails. The pop quiz proves what you</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already knew.</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Getting away with it is the reward.</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Students are the original adversarial actors.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14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Pencil first. Then the tool</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Pencil, paper, whiteboard, peers: in the curriculum,</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with the reason</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Then, same document: "and we are going to teach you</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the tool"</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14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polished answer with a hole in it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20% rise and a 20% fall cancel."</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prose is clean. The denominator is wrong.</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14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Outsmart move one: make verification feel like</a:t>
            </a:r>
            <a:endParaRPr lang="en-US" sz="3900"/>
          </a:p>
          <a:p>
            <a:pPr marL="0" indent="0">
              <a:lnSpc>
                <a:spcPts val="4680"/>
              </a:lnSpc>
              <a:spcAft>
                <a:spcPts val="0"/>
              </a:spcAft>
              <a:buNone/>
            </a:pPr>
            <a:r>
              <a:rPr lang="en-US" sz="3900" b="1">
                <a:solidFill>
                  <a:srgbClr val="F5F1E9"/>
                </a:solidFill>
                <a:latin typeface="Arial"/>
                <a:ea typeface="Arial"/>
                <a:cs typeface="Arial"/>
              </a:rPr>
              <a:t xml:space="preserve">cheating</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"Take a picture of these hundred problems and make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the model do them."</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1 that looks like a 7. A smudge that turns an 8</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into a 9.</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"You didn't check the results? Johnny, you're not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gonna make it."</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14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Ration the help</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"Which price does the discount use?" Learner: "The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original $100."</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Clarify → conceptual hint → missing step → part of</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an example → full explanation → fresh reconstruction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14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Demo: four minutes inside a five-minute slide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$100 → $120 → $96. Why does the second base change?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Now: $80 → +25% → −20%</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14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Score the reasoning. Write it down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Base identified 0–2 · Calculation justified 0–2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Transfer explained 0–2 · Help in its own column</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Record: concept · what they said · what help they</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got · next check</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Never "weak at reasoning." Never "likely cheated."</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14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Outsmart move two: make them say it out loud</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Recall errors and reading errors are different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animals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Small groups, speaking: the incentives reset</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Voice is biometric. Offline. Zero retention.</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Age-appropriate. Written alternative.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10 / 14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Outsmart move three: read all 300 transcripts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Teacher talk · student talk · think time · AI time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Guided by you, or alone with the model?</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"Show me five students who took a path worth showing</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the room."</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11 / 14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Write the objective to the agent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"You're my tutor. Don't give me answers. I'm here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with three classmates."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Photograph the whiteboard; the objective is the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system prompt</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Push the practice run first. Then reward the kid who</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asks for it.</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12 / 14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Widen the door</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"I'm not carrying a brick of clay in my bag."</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"I'm no good with a pencil, but I like that look."</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Sketch → animate → 3D → game asset. Out of ideas?</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Ask.</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13 / 14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Redesign one checkpoint this week</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Capability → task → the smudge → follow-up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permitted help → rubric</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Minutes to review a class set</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Neighbor challenges one hidden assumption</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14 / 14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 purpose-built machine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Explain it. Challenge it. Change it. Apply it.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Defend it.</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Too much power to hold casually. Prove the value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constantly.</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14</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14</Slides>
  <Notes>14</Notes>
</Properties>
</file>

<file path=docProps/core.xml><?xml version="1.0" encoding="utf-8"?>
<cp:coreProperties xmlns:cp="http://schemas.openxmlformats.org/package/2006/metadata/core-properties" xmlns:dc="http://purl.org/dc/elements/1.1/" xmlns:dcterms="http://purl.org/dc/terms/" xmlns:xsi="http://www.w3.org/2001/XMLSchema-instance">
  <dc:title>Outsmart Your Lying, Cheating Students</dc:title>
  <dc:creator>Dan Levy</dc:creator>
  <dc:description>screen edition generated from current reviewed talk materials</dc:description>
  <dcterms:created xsi:type="dcterms:W3CDTF">2026-09-07T02:16:43Z</dcterms:created>
</cp:coreProperties>
</file>