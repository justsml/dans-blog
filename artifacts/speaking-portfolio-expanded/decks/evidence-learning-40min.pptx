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ff9ac8901d4dfe" /><Relationship Type="http://schemas.openxmlformats.org/officeDocument/2006/relationships/extended-properties" Target="/docProps/app.xml" Id="R6267d69e2b504099" /><Relationship Type="http://schemas.openxmlformats.org/officeDocument/2006/relationships/officeDocument" Target="/ppt/presentation.xml" Id="Rb2a2d01018d14c6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24d717a26d34691"/>
  </p:sldMasterIdLst>
  <p:notesMasterIdLst>
    <p:notesMasterId xmlns:r="http://schemas.openxmlformats.org/officeDocument/2006/relationships" r:id="Rb33c44e830634abc"/>
  </p:notesMasterIdLst>
  <p:sldIdLst>
    <p:sldId xmlns:r="http://schemas.openxmlformats.org/officeDocument/2006/relationships" id="256" r:id="R09ab6457cf6d42b7"/>
    <p:sldId xmlns:r="http://schemas.openxmlformats.org/officeDocument/2006/relationships" id="257" r:id="R46fb061942bc48cd"/>
    <p:sldId xmlns:r="http://schemas.openxmlformats.org/officeDocument/2006/relationships" id="258" r:id="Rf5f0ab9f58fa407c"/>
    <p:sldId xmlns:r="http://schemas.openxmlformats.org/officeDocument/2006/relationships" id="259" r:id="R49b8fb6d4b954fb3"/>
    <p:sldId xmlns:r="http://schemas.openxmlformats.org/officeDocument/2006/relationships" id="260" r:id="R697959156f3c4569"/>
    <p:sldId xmlns:r="http://schemas.openxmlformats.org/officeDocument/2006/relationships" id="261" r:id="R63a6f35dccdf4da0"/>
    <p:sldId xmlns:r="http://schemas.openxmlformats.org/officeDocument/2006/relationships" id="262" r:id="R6e867312497f462e"/>
    <p:sldId xmlns:r="http://schemas.openxmlformats.org/officeDocument/2006/relationships" id="263" r:id="R8125fb2f74ec4076"/>
    <p:sldId xmlns:r="http://schemas.openxmlformats.org/officeDocument/2006/relationships" id="264" r:id="Ra3583dbe775c4751"/>
    <p:sldId xmlns:r="http://schemas.openxmlformats.org/officeDocument/2006/relationships" id="265" r:id="Rbf4d23922c154f6f"/>
    <p:sldId xmlns:r="http://schemas.openxmlformats.org/officeDocument/2006/relationships" id="266" r:id="Rcd4b68d12ecf4dc1"/>
    <p:sldId xmlns:r="http://schemas.openxmlformats.org/officeDocument/2006/relationships" id="267" r:id="R710b4cb1b4184edc"/>
    <p:sldId xmlns:r="http://schemas.openxmlformats.org/officeDocument/2006/relationships" id="268" r:id="R907d6b70585f4d19"/>
    <p:sldId xmlns:r="http://schemas.openxmlformats.org/officeDocument/2006/relationships" id="269" r:id="R1727dd154eac467d"/>
    <p:sldId xmlns:r="http://schemas.openxmlformats.org/officeDocument/2006/relationships" id="270" r:id="Rd5a80e87a1404e89"/>
    <p:sldId xmlns:r="http://schemas.openxmlformats.org/officeDocument/2006/relationships" id="271" r:id="R163e845c355c4326"/>
    <p:sldId xmlns:r="http://schemas.openxmlformats.org/officeDocument/2006/relationships" id="272" r:id="R7620f49623684bfa"/>
    <p:sldId xmlns:r="http://schemas.openxmlformats.org/officeDocument/2006/relationships" id="273" r:id="R1febe88c30724553"/>
  </p:sldIdLst>
  <p:sldSz cx="12192000" cy="6858000"/>
  <p:notesSz cx="6858000" cy="9144000"/>
  <p:embeddedFontLst>
    <p:embeddedFont>
      <p:font typeface="OpenAI Sans"/>
      <p:regular xmlns:r="http://schemas.openxmlformats.org/officeDocument/2006/relationships" r:id="R444b7e0314a149ea"/>
      <p:bold xmlns:r="http://schemas.openxmlformats.org/officeDocument/2006/relationships" r:id="R26b2f949166c443f"/>
      <p:italic xmlns:r="http://schemas.openxmlformats.org/officeDocument/2006/relationships" r:id="Rac664de626c74a74"/>
      <p:boldItalic xmlns:r="http://schemas.openxmlformats.org/officeDocument/2006/relationships" r:id="R7052433928254c1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9fb10e2d704465a" /><Relationship Type="http://schemas.openxmlformats.org/officeDocument/2006/relationships/slideMaster" Target="/ppt/slideMasters/slideMaster1.xml" Id="Rd24d717a26d34691" /><Relationship Type="http://schemas.openxmlformats.org/officeDocument/2006/relationships/notesMaster" Target="/ppt/notesMasters/notesMaster1.xml" Id="Rb33c44e830634abc" /><Relationship Type="http://schemas.openxmlformats.org/officeDocument/2006/relationships/presProps" Target="/ppt/presProps.xml" Id="R9c48611ac5c64cc7" /><Relationship Type="http://schemas.openxmlformats.org/officeDocument/2006/relationships/viewProps" Target="/ppt/viewProps.xml" Id="Rceffdd4c4cd941fa" /><Relationship Type="http://schemas.openxmlformats.org/officeDocument/2006/relationships/tableStyles" Target="/ppt/tableStyles.xml" Id="R7f43ad9464df46ea" /><Relationship Type="http://schemas.openxmlformats.org/officeDocument/2006/relationships/font" Target="/ppt/fonts/font.dat" Id="R444b7e0314a149ea" /><Relationship Type="http://schemas.openxmlformats.org/officeDocument/2006/relationships/font" Target="/ppt/fonts/font2.dat" Id="R26b2f949166c443f" /><Relationship Type="http://schemas.openxmlformats.org/officeDocument/2006/relationships/font" Target="/ppt/fonts/font3.dat" Id="Rac664de626c74a74" /><Relationship Type="http://schemas.openxmlformats.org/officeDocument/2006/relationships/font" Target="/ppt/fonts/font4.dat" Id="R7052433928254c19" /><Relationship Type="http://schemas.openxmlformats.org/officeDocument/2006/relationships/slide" Target="/ppt/slides/slide1.xml" Id="R09ab6457cf6d42b7" /><Relationship Type="http://schemas.openxmlformats.org/officeDocument/2006/relationships/slide" Target="/ppt/slides/slide2.xml" Id="R46fb061942bc48cd" /><Relationship Type="http://schemas.openxmlformats.org/officeDocument/2006/relationships/slide" Target="/ppt/slides/slide3.xml" Id="Rf5f0ab9f58fa407c" /><Relationship Type="http://schemas.openxmlformats.org/officeDocument/2006/relationships/slide" Target="/ppt/slides/slide4.xml" Id="R49b8fb6d4b954fb3" /><Relationship Type="http://schemas.openxmlformats.org/officeDocument/2006/relationships/slide" Target="/ppt/slides/slide5.xml" Id="R697959156f3c4569" /><Relationship Type="http://schemas.openxmlformats.org/officeDocument/2006/relationships/slide" Target="/ppt/slides/slide6.xml" Id="R63a6f35dccdf4da0" /><Relationship Type="http://schemas.openxmlformats.org/officeDocument/2006/relationships/slide" Target="/ppt/slides/slide7.xml" Id="R6e867312497f462e" /><Relationship Type="http://schemas.openxmlformats.org/officeDocument/2006/relationships/slide" Target="/ppt/slides/slide8.xml" Id="R8125fb2f74ec4076" /><Relationship Type="http://schemas.openxmlformats.org/officeDocument/2006/relationships/slide" Target="/ppt/slides/slide9.xml" Id="Ra3583dbe775c4751" /><Relationship Type="http://schemas.openxmlformats.org/officeDocument/2006/relationships/slide" Target="/ppt/slides/slide10.xml" Id="Rbf4d23922c154f6f" /><Relationship Type="http://schemas.openxmlformats.org/officeDocument/2006/relationships/slide" Target="/ppt/slides/slide11.xml" Id="Rcd4b68d12ecf4dc1" /><Relationship Type="http://schemas.openxmlformats.org/officeDocument/2006/relationships/slide" Target="/ppt/slides/slide12.xml" Id="R710b4cb1b4184edc" /><Relationship Type="http://schemas.openxmlformats.org/officeDocument/2006/relationships/slide" Target="/ppt/slides/slide13.xml" Id="R907d6b70585f4d19" /><Relationship Type="http://schemas.openxmlformats.org/officeDocument/2006/relationships/slide" Target="/ppt/slides/slide14.xml" Id="R1727dd154eac467d" /><Relationship Type="http://schemas.openxmlformats.org/officeDocument/2006/relationships/slide" Target="/ppt/slides/slide15.xml" Id="Rd5a80e87a1404e89" /><Relationship Type="http://schemas.openxmlformats.org/officeDocument/2006/relationships/slide" Target="/ppt/slides/slide16.xml" Id="R163e845c355c4326" /><Relationship Type="http://schemas.openxmlformats.org/officeDocument/2006/relationships/slide" Target="/ppt/slides/slide17.xml" Id="R7620f49623684bfa" /><Relationship Type="http://schemas.openxmlformats.org/officeDocument/2006/relationships/slide" Target="/ppt/slides/slide18.xml" Id="R1febe88c307245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b2eed81b9b45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19eee36b09439e" /><Relationship Type="http://schemas.openxmlformats.org/officeDocument/2006/relationships/notesMaster" Target="/ppt/notesMasters/notesMaster1.xml" Id="Refbb6de8b3974b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513f3185e745f5" /><Relationship Type="http://schemas.openxmlformats.org/officeDocument/2006/relationships/notesMaster" Target="/ppt/notesMasters/notesMaster1.xml" Id="Rc1c1cc893abc46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1e8c00c2b54c3f" /><Relationship Type="http://schemas.openxmlformats.org/officeDocument/2006/relationships/notesMaster" Target="/ppt/notesMasters/notesMaster1.xml" Id="R57da48afc22b4a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4b6bad878941a2" /><Relationship Type="http://schemas.openxmlformats.org/officeDocument/2006/relationships/notesMaster" Target="/ppt/notesMasters/notesMaster1.xml" Id="R64799c07a70941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7990d90fdd4e0e" /><Relationship Type="http://schemas.openxmlformats.org/officeDocument/2006/relationships/notesMaster" Target="/ppt/notesMasters/notesMaster1.xml" Id="R2f3f3c7f62f94a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5151fc9e164292" /><Relationship Type="http://schemas.openxmlformats.org/officeDocument/2006/relationships/notesMaster" Target="/ppt/notesMasters/notesMaster1.xml" Id="R5e3d768565ac43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6bbbe1cb5a44354" /><Relationship Type="http://schemas.openxmlformats.org/officeDocument/2006/relationships/notesMaster" Target="/ppt/notesMasters/notesMaster1.xml" Id="R9fe1d9ca621b4d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ed16a8ca0d4d05" /><Relationship Type="http://schemas.openxmlformats.org/officeDocument/2006/relationships/notesMaster" Target="/ppt/notesMasters/notesMaster1.xml" Id="Rdc2058da6e7149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5243b614cd4e58" /><Relationship Type="http://schemas.openxmlformats.org/officeDocument/2006/relationships/notesMaster" Target="/ppt/notesMasters/notesMaster1.xml" Id="R397807d8106044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127b20d592463d" /><Relationship Type="http://schemas.openxmlformats.org/officeDocument/2006/relationships/notesMaster" Target="/ppt/notesMasters/notesMaster1.xml" Id="R94b04d811bce49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31766d5d814969" /><Relationship Type="http://schemas.openxmlformats.org/officeDocument/2006/relationships/notesMaster" Target="/ppt/notesMasters/notesMaster1.xml" Id="R5df59c520eae4c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94eea933ae4d05" /><Relationship Type="http://schemas.openxmlformats.org/officeDocument/2006/relationships/notesMaster" Target="/ppt/notesMasters/notesMaster1.xml" Id="R3842bf0918c647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b9382c76224788" /><Relationship Type="http://schemas.openxmlformats.org/officeDocument/2006/relationships/notesMaster" Target="/ppt/notesMasters/notesMaster1.xml" Id="Rd912ef0eb99f409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57ba474b104082" /><Relationship Type="http://schemas.openxmlformats.org/officeDocument/2006/relationships/notesMaster" Target="/ppt/notesMasters/notesMaster1.xml" Id="R5fdad8abda564f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0ef167886348aa" /><Relationship Type="http://schemas.openxmlformats.org/officeDocument/2006/relationships/notesMaster" Target="/ppt/notesMasters/notesMaster1.xml" Id="R9e4fb12f7c3f43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4f52f854ba4834" /><Relationship Type="http://schemas.openxmlformats.org/officeDocument/2006/relationships/notesMaster" Target="/ppt/notesMasters/notesMaster1.xml" Id="R70208bbf5c964f3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1a4f97c4a1456c" /><Relationship Type="http://schemas.openxmlformats.org/officeDocument/2006/relationships/notesMaster" Target="/ppt/notesMasters/notesMaster1.xml" Id="R3d695b46963d45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8174af673eb4a2a" /><Relationship Type="http://schemas.openxmlformats.org/officeDocument/2006/relationships/notesMaster" Target="/ppt/notesMasters/notesMaster1.xml" Id="R81becb5aeddb40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endParaRPr/>
          </a:p>
          <a:p xmlns:a="http://schemas.openxmlformats.org/drawingml/2006/main">
            <a:r>
              <a:t/>
            </a:r>
            <a:endParaRPr/>
          </a:p>
          <a:p xmlns:a="http://schemas.openxmlformats.org/drawingml/2006/main">
            <a:r>
              <a:t>Deliver the title, then immediately make the target clear: the provocation is aimed at an assessment design problem, not a claim that students are inherently dishonest. A teacher, a student, and a detector can all work hard while the institution still lacks evidence of learning. Today we redesign one small assessment so the next question is what the learner understands. The event friendly title is Stop Trying to Catch Students Using AI. Keep both options available to organizers. Promise a usable task, a hint sequence, a compact evidence record, and a rubric. Do not promise cheating proof assessment. That would recreate the same sales pitch this talk is trying to move beyond.</a:t>
            </a:r>
            <a:endParaRPr/>
          </a:p>
          <a:p xmlns:a="http://schemas.openxmlformats.org/drawingml/2006/main">
            <a:r>
              <a:t/>
            </a:r>
            <a:endParaRPr/>
          </a:p>
          <a:p xmlns:a="http://schemas.openxmlformats.org/drawingml/2006/main">
            <a:r>
              <a:t>Sources and further reading (verified 2026-09-04):</a:t>
            </a:r>
            <a:endParaRPr/>
          </a:p>
          <a:p xmlns:a="http://schemas.openxmlformats.org/drawingml/2006/main">
            <a:r>
              <a:t/>
            </a:r>
            <a:endParaRPr/>
          </a:p>
          <a:p xmlns:a="http://schemas.openxmlformats.org/drawingml/2006/main">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Describe a hypothetical cycle rather than attributing it to a real school. A policy prohibits AI, a student submits a polished answer, and software reports a likelihood of machine involvement. Even if the institution could settle authorship, a second question remains: can the learner perform the intended intellectual task? Authorship and learning are related in some assessments but are not interchangeable measurements. Preserve appropriate academic integrity processes; do not imply that dishonesty no longer matters. The design failure is making a classifier the central source of confidence about competence. We will replace that dependency with explicit opportunities to explain, repair, and apply an idea, then have a person interpret consequential evidence in context.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2023 Liang study found problems with fairness and robustness in its tested detector setting. Cite that narrow finding; avoid saying every current or future detector has the same error rate. Our recommendation goes beyond measurement: never outsource disciplinary accusation to a probabilistic detector. That is a proposed institutional boundary, not a finding from a laboratory experiment. A score can invite questions only within an appropriate human process; it cannot replace evidence, context, or a chance to respond. Also resist the opposite mistake of treating a clean detector score as proof of learning. Both shortcuts leave the original educational inference unsupported. We need an assessment whose success does not depend on solving text authorship first.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https://doi.org/10.1016/j.patter.2023.100779</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Choose an objective narrow enough that participants can inspect the evidence themselves. Our learner must explain why percentages act on a base and how that base changes across a sequence. This is more specific than understands percentages, and different from can generate a correct answer with tools. Both independent competence and competent tool use may belong in a course, but they require different evidence. State which one this checkpoint assesses. The example is deliberately simple so the audience can focus on assessment design rather than subject expertise. For their own courses, participants should substitute a disciplinary capability while keeping the same structure: identify the reasoning move, create a visible opportunity to perform it, and decide how assistance affects the interpretation.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this fixture exactly: A shop raises a one hundred dollar price by twenty percent, then reduces the new price by twenty percent. Because the changes are equal and opposite, the final price is one hundred dollars. Label it as deliberately authored for the demonstration; no real student or model produced this record. Ask the audience what a conventional final answer assessment would capture. The error is visible here, but imagine a correct final number with the same faulty explanation hidden behind it. That version exposes the bigger issue. A grade attached only to the final artifact may miss the learner's mental model. Our redesigned task asks for the explanation that the polished answer leaves out.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Demonstrate the first two turns without calling a live model. The learner says the discount uses the original one hundred dollars. The tutor asks for the price after the increase. That is a diagnostic move: it reveals the place where the base was lost. The tutor should neither praise the incorrect reasoning nor dump a complete worked solution immediately. However, do not turn attempt first into a punishment for a student who cannot begin. Clarifying the terms or showing a parallel example may be the appropriate next move. The tutor's job is to supply useful support while preserving an opportunity for the learner to think. Shared instructions express that intent; they do not guarantee that any model will follow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Walk through assistance levels using the same misconception. Clarification establishes that the second change acts on the new price. A conceptual hint asks the student to identify the current base. A missing step hint requests the intermediate one hundred twenty. A partial example demonstrates multiplying a different amount by zero point eight. If the student remains stuck, a full explanation may be appropriate, followed by a fresh reconstruction or later transfer task. Do not record help as moral failure. Record it because independent and supported performance mean different things. The useful design choice is the smallest support that helps this learner proceed, not an inflexible ladder that forces everyone through identical turns or withholds necessary explanation.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accompanying scripted exercise. First reveal the incorrect argument, then allow time for participants to locate the mistaken base. Reveal one hundred twenty only after the diagnostic question. Ask for the discounted result and a sentence explaining it. Next change the starting price to eighty dollars, increase it by twenty five percent, and decrease the result by twenty percent. The final eighty challenges an oversimplified rule that opposite percentage changes never cancel. Participants should explain that the multipliers now multiply to one. This four minute sequence demonstrates evidence collection; it does not establish a learning effect. If the room is quiet, present the prepared learner response rather than pressuring an individual into an impromptu public assessment.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Offer a proposed rubric, not a validated instrument. For base identification, zero means the wrong base persists, one means the right amount appears without explanation, and two means the learner explains the current amount. For calculation, look for a correct operation and a defensible account of it. For transfer, ask why the second example returns to its starting value while the first does not. Record assistance separately from the capability score so educators can interpret what support was present. Do not automatically deduct a point for asking a question. Before consequential use, calibrate the rubric on sample work, inspect disagreements, and decide whether it matches the learning objective rather than merely rewarding the vocabulary of the example.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Build a minimal fictional record: concept equals changing percentage base; observed explanation equals second percentage used original amount; support equals conceptual hint; next check equals new item after practice. Avoid converting that one interaction into learner is weak at reasoning or likely cheated. Separate what the learner said from what a model inferred. A transcript excerpt may support an observation, while a confidence score remains a system estimate. Keep revision possible when the teacher or student identifies an error. The phrase education finally gets a stateful interface names a design opportunity; it does not erase decades of learning records and tutoring systems. The proposal is to make state useful for the next teaching decision without letting stale judgments harden into identity.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replayable discussion can show which question preceded a correction and how much support was supplied. That may help an educator interpret a confusing artifact without reading every interaction. Voice is one interface, not a requirement or a guarantee of authenticity. Use written or otherwise accessible alternatives when they serve the same objective, and define recording and retention choices before collecting data. A replay can still be incomplete, rehearsed, mis-transcribed, or generated. Its value is contextual evidence, not certainty about who did the thinking. For our example, a short annotated calculation plus the follow-up answer might be enough. Do not build a surveillance archive when a smaller evidence record supports the next teaching decision.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Adaptive questioning should follow an assessment blueprint rather than an unconstrained chatbot's curiosity. Decide which concept each question probes and what an adequate answer would reveal. For the percentage fixture, asking whether reversing the two multipliers changes the result probes multiplicative structure, while asking for a story about a discount may probe language more than mathematics. Choose deliberately. Varying questions can make a rehearsed explanation less sufficient, but variation also changes difficulty. Do not interpret a harder follow-up as a fair comparison unless the design supports it. A teacher should be able to inspect the question, response, assistance, and reason for the next question. That makes disagreement reviewable without pretending an adaptive conversation is cheating proof.</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Unique context can improve relevance and reveal choices a generic answer might miss. Imagine a class collecting actual shop price changes, then comparing them with our idealized fixture. Students could explain which prices include taxes, whether promotions apply to the current amount, and what assumptions their model makes. AI may still help them analyze that data, and an agent could potentially produce a plausible explanation. That does not make the assignment worthless. The question is whether the designed checkpoints let the learner demonstrate the intended reasoning. Avoid promising AI resistant tasks merely because a dataset is local or a prompt is unusual. Use context to create meaningful decisions, then collect evidence about those decisions at an appropriate point.</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Return to the distinction between a learning aid and an assessment result. The mathematics trial discussed in the evidence brief found that immediate supported performance and later unaided performance could diverge. Our design response is to record the conditions under which an answer was produced and include an independent check when that is the objective. This does not justify treating every mismatch as misconduct. Anxiety, misunderstanding, task difficulty, or ordinary forgetting could also explain it. Give the learner another appropriate opportunity and use a human to interpret consequential ambiguity. The tutor can suggest practice based on an observed error. It should not convert a difference between two performances into an accusation or an irrevocable judgment about the student.</a:t>
            </a:r>
          </a:p>
          <a:p xmlns:a="http://schemas.openxmlformats.org/drawingml/2006/main">
            <a:r>
              <a:t/>
            </a:r>
          </a:p>
          <a:p xmlns:a="http://schemas.openxmlformats.org/drawingml/2006/main">
            <a:r>
              <a:t>Sources and further reading (verified 2026-09-04):</a:t>
            </a:r>
          </a:p>
          <a:p xmlns:a="http://schemas.openxmlformats.org/drawingml/2006/main">
            <a:r>
              <a:t>https://doi.org/10.1073/pnas.2422633122</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Assign automation bounded work. A tutor can draft questions against a teacher supplied blueprint, extract the exact sentence that suggests a misconception, and prepare a short summary for review. Require each summary claim to link to its supporting excerpt. If the evidence is absent, the system should say so instead of filling the gap with a plausible diagnosis. Sample outputs for educator review and track errors in both directions: missed misunderstandings and invented ones. Consequential grading, accusations, and sensitive support decisions remain human owned in this proposed design. The point is to reduce the cost of seeing relevant evidence, not to hide decisions inside a longer transcript or create an automatic discipline pipeline.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richer assessment that no instructor has time to review will fail operationally. Estimate the minutes needed to design prompts, calibrate a rubric, inspect samples, and handle exceptions. If every routine interaction creates a notification, the interface has merely moved the workload. Define which observations require action and which can wait for a scheduled review. In the percentage example, repeated incorrect bases across independent checks might prompt targeted support; a single corrected arithmetic slip need not trigger an urgent alert. Measure whether the new evidence changes teaching decisions enough to justify its cost. This is an operational proposal for a pilot, not a claim that automated oral assessment is already inexpensive or reliable at every institutional scale.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the remaining workshop time to redesign a real checkpoint. Ask participants to write the target capability, the initial task, one purposeful follow-up, the permitted assistance, and the interpretation they could defend from the result. Then have a neighbor challenge a hidden assumption: does the task also measure language fluency, access to a paid tool, or comfort speaking under pressure? TEQSA's discussion emphasizes contextual assessment and multiple approaches; the worksheet is our own practical implementation proposal. Choose one adjustment before leaving the room. The output is a reviewable assessment sketch, not a complete institutional policy. A small pilot with student feedback and educator calibration is the next step before the task affects consequential decisions.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https://www.teqsa.gov.au/guides-resources/resources/corporate-publications/assessment-reform-age-artificial-intelligence</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Close with the authored sequence: Stop trying to prove who typed the sentence. Start asking whether the student can explain it, challenge it, change it, apply it, and defend it. Then clarify that no single defense settles every educational or integrity question. We are improving the evidence used for a particular learning judgment. The original title earns its provocation only if the conclusion treats students as learners rather than opponents. The practical takeaway is not another detector setting or a longer surveillance log. It is one changed task, one meaningful follow-up, a clear account of allowed support, and a human who can explain the decision. Invite the audience to test that design against their own discipline before scaling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fbacc500d145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61c303257d42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456270355e46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65e1c00bd04f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c20504bd754e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6bdc73d629460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833e88204db422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128a13bebc8445f"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2b3a9c3a964e39" /><Relationship Type="http://schemas.openxmlformats.org/officeDocument/2006/relationships/slideLayout" Target="/ppt/slideLayouts/slideLayout1.xml" Id="R3abb5588bce9460c" /><Relationship Type="http://schemas.openxmlformats.org/officeDocument/2006/relationships/slideLayout" Target="/ppt/slideLayouts/slideLayout2.xml" Id="Rc3901b06560f484f" /><Relationship Type="http://schemas.openxmlformats.org/officeDocument/2006/relationships/slideLayout" Target="/ppt/slideLayouts/slideLayout3.xml" Id="R7e914194e78448b4" /><Relationship Type="http://schemas.openxmlformats.org/officeDocument/2006/relationships/slideLayout" Target="/ppt/slideLayouts/slideLayout4.xml" Id="Rd60e59a971994823" /><Relationship Type="http://schemas.openxmlformats.org/officeDocument/2006/relationships/slideLayout" Target="/ppt/slideLayouts/slideLayout5.xml" Id="R237541d17ee84a66" /><Relationship Type="http://schemas.openxmlformats.org/officeDocument/2006/relationships/slideLayout" Target="/ppt/slideLayouts/slideLayout6.xml" Id="R1d2c0a7ab274430c" /><Relationship Type="http://schemas.openxmlformats.org/officeDocument/2006/relationships/slideLayout" Target="/ppt/slideLayouts/slideLayout7.xml" Id="Rd57216f81f22493b" /><Relationship Type="http://schemas.openxmlformats.org/officeDocument/2006/relationships/slideLayout" Target="/ppt/slideLayouts/slideLayout8.xml" Id="R20f58a645257484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3abb5588bce9460c"/>
    <p:sldLayoutId xmlns:r="http://schemas.openxmlformats.org/officeDocument/2006/relationships" id="2147483650" r:id="Rc3901b06560f484f"/>
    <p:sldLayoutId xmlns:r="http://schemas.openxmlformats.org/officeDocument/2006/relationships" id="2147483651" r:id="R7e914194e78448b4"/>
    <p:sldLayoutId xmlns:r="http://schemas.openxmlformats.org/officeDocument/2006/relationships" id="2147483652" r:id="Rd60e59a971994823"/>
    <p:sldLayoutId xmlns:r="http://schemas.openxmlformats.org/officeDocument/2006/relationships" id="2147483653" r:id="R237541d17ee84a66"/>
    <p:sldLayoutId xmlns:r="http://schemas.openxmlformats.org/officeDocument/2006/relationships" id="2147483654" r:id="R1d2c0a7ab274430c"/>
    <p:sldLayoutId xmlns:r="http://schemas.openxmlformats.org/officeDocument/2006/relationships" id="2147483655" r:id="Rd57216f81f22493b"/>
    <p:sldLayoutId xmlns:r="http://schemas.openxmlformats.org/officeDocument/2006/relationships" id="2147483656" r:id="R20f58a645257484a"/>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65083b7172495e" /><Relationship Type="http://schemas.openxmlformats.org/officeDocument/2006/relationships/image" Target="/ppt/media/image.png" Id="R849c9f2aba7d4af7" /><Relationship Type="http://schemas.openxmlformats.org/officeDocument/2006/relationships/notesSlide" Target="/ppt/notesSlides/notesSlide1.xml" Id="Rb79f483468fd4e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fd0ee4adb63455b" /><Relationship Type="http://schemas.openxmlformats.org/officeDocument/2006/relationships/notesSlide" Target="/ppt/notesSlides/notesSlide2.xml" Id="Rd42c7f00f0b847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c8de5ebc1a48c4" /><Relationship Type="http://schemas.openxmlformats.org/officeDocument/2006/relationships/notesSlide" Target="/ppt/notesSlides/notesSlide3.xml" Id="R38095031501441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92e1a1068a4712" /><Relationship Type="http://schemas.openxmlformats.org/officeDocument/2006/relationships/notesSlide" Target="/ppt/notesSlides/notesSlide4.xml" Id="R2409d87e4f4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046b75b8554ce9" /><Relationship Type="http://schemas.openxmlformats.org/officeDocument/2006/relationships/notesSlide" Target="/ppt/notesSlides/notesSlide5.xml" Id="R99f9095f095b47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f82ab3d5344d2a" /><Relationship Type="http://schemas.openxmlformats.org/officeDocument/2006/relationships/notesSlide" Target="/ppt/notesSlides/notesSlide6.xml" Id="Rdd0d83103dcb45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34a47bcd4d4054" /><Relationship Type="http://schemas.openxmlformats.org/officeDocument/2006/relationships/notesSlide" Target="/ppt/notesSlides/notesSlide7.xml" Id="Rc2f576ac1b3047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aff332e2520437a" /><Relationship Type="http://schemas.openxmlformats.org/officeDocument/2006/relationships/notesSlide" Target="/ppt/notesSlides/notesSlide8.xml" Id="Rddffa0f3be3141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4950246644740aa" /><Relationship Type="http://schemas.openxmlformats.org/officeDocument/2006/relationships/notesSlide" Target="/ppt/notesSlides/notesSlide9.xml" Id="R23220598af354f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9236b3be524cf2" /><Relationship Type="http://schemas.openxmlformats.org/officeDocument/2006/relationships/notesSlide" Target="/ppt/notesSlides/notesSlide10.xml" Id="R057191c97b3b41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7bd14dcf217437c" /><Relationship Type="http://schemas.openxmlformats.org/officeDocument/2006/relationships/notesSlide" Target="/ppt/notesSlides/notesSlide11.xml" Id="Rb3a355d45f9b43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70cf6646634eb5" /><Relationship Type="http://schemas.openxmlformats.org/officeDocument/2006/relationships/notesSlide" Target="/ppt/notesSlides/notesSlide12.xml" Id="R96443a8fd3f14c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ab0d66c986948bf" /><Relationship Type="http://schemas.openxmlformats.org/officeDocument/2006/relationships/notesSlide" Target="/ppt/notesSlides/notesSlide13.xml" Id="Rb8d6094d00e746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febcd1c56e14a3b" /><Relationship Type="http://schemas.openxmlformats.org/officeDocument/2006/relationships/notesSlide" Target="/ppt/notesSlides/notesSlide14.xml" Id="R8ad928abd19844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0df7f0120684fe1" /><Relationship Type="http://schemas.openxmlformats.org/officeDocument/2006/relationships/notesSlide" Target="/ppt/notesSlides/notesSlide15.xml" Id="R13fe930f94e24d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55defd01f864e57" /><Relationship Type="http://schemas.openxmlformats.org/officeDocument/2006/relationships/notesSlide" Target="/ppt/notesSlides/notesSlide16.xml" Id="Ra468aa7ad00e44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557f1a3e1db410b" /><Relationship Type="http://schemas.openxmlformats.org/officeDocument/2006/relationships/notesSlide" Target="/ppt/notesSlides/notesSlide17.xml" Id="R894ec2855f8b47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f12c057d37840d3" /><Relationship Type="http://schemas.openxmlformats.org/officeDocument/2006/relationships/notesSlide" Target="/ppt/notesSlides/notesSlide18.xml" Id="Rc3e4e32be4ac49f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Outsmart Your</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Cheating Students</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Stop asking who typed the sentence.</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Collect evidence of understanding.</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40-minute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849c9f2aba7d4af7"/>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arms race asks the wrong question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Student produces text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System predicts authorship</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Teacher still needs learning evidence</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Detector evidence has boundaries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Tested tool ≠ every future detector</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Writing style ≠ authorship proof</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Authorship ≠ understanding</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Define the capability before the task</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Explain sequential percentage changes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Identify the denominator</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Repair an incorrect argument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Apply the rule to a new case</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One polished answer, missing understanding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20% rise and 20% fall cancel.”</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prose is clean.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denominator is wrong.</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Ask for an attempt before a solution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“Which price does the discount use?”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Learner: “The original $100.”</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Tutor: “What is the price after rise?”</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Escalate help deliberately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Clarify → conceptual hint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Locate the missing step</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Show part of an example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Then check reconstruction</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Run the four minute reconstruction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$100 → $120 → $96</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Why does the second base change?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Now: $80 → +25% → −20%</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Score the reasoning you requested</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Base identified: 0–2</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Calculation justified: 0–2</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Transfer explained: 0–2</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Assistance recorded separately</a:t>
            </a:r>
          </a:p>
        </p:txBody>
      </p:sp>
    </p:spTree>
    <p:extLst>
      <p:ext uri="{BB962C8B-B14F-4D97-AF65-F5344CB8AC3E}">
        <p14:creationId xmlns:p14="http://schemas.microsoft.com/office/powerpoint/2010/main" val="3601454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Store observations, not a permanent label</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Concept and task</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Observed explanation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Support provided</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Next check and review date</a:t>
            </a:r>
          </a:p>
        </p:txBody>
      </p:sp>
    </p:spTree>
    <p:extLst>
      <p:ext uri="{BB962C8B-B14F-4D97-AF65-F5344CB8AC3E}">
        <p14:creationId xmlns:p14="http://schemas.microsoft.com/office/powerpoint/2010/main" val="3601454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Replay can support review</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Question → attempt → hint → revision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Select the relevant excerpt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Allow correction and alternatives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Do not mistake replay for proof</a:t>
            </a:r>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Follow-up questions need a purpose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Why this denominator?</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What if the order changes?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Which claim would fail?</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would change your mind?</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Local context helps; it is not a shield</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Use a class experiment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Ask about a surprising observation</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Change one constraint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Expect tools to remain useful</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Grade learning, not the assistance log</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Supported success is useful evidence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Independent success is different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mismatch needs interpretation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Neither proves misconduct</a:t>
            </a:r>
          </a:p>
        </p:txBody>
      </p:sp>
    </p:spTree>
    <p:extLst>
      <p:ext uri="{BB962C8B-B14F-4D97-AF65-F5344CB8AC3E}">
        <p14:creationId xmlns:p14="http://schemas.microsoft.com/office/powerpoint/2010/main" val="3601454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A83FA91-883A-0168-8075-96CEB9DCA3C2}" type="slidenum">
              <a:rPr sz="1000">
                <a:solidFill>
                  <a:srgbClr val="FFFFFF"/>
                </a:solidFill>
                <a:latin typeface="Helvetica Neue"/>
                <a:ea typeface="Helvetica Neue"/>
                <a:cs typeface="Helvetica Neue"/>
              </a:rPr>
              <a:t>15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AI can help collect evidence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Draft candidate follow-up questions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Summarize with links to excerpts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Flag uncertainty for review</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Keep decisions accountable</a:t>
            </a:r>
          </a:p>
        </p:txBody>
      </p:sp>
    </p:spTree>
    <p:extLst>
      <p:ext uri="{BB962C8B-B14F-4D97-AF65-F5344CB8AC3E}">
        <p14:creationId xmlns:p14="http://schemas.microsoft.com/office/powerpoint/2010/main" val="36014548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C9C7607-4BA3-B4DC-A00F-2E67A9FCFF7E}" type="slidenum">
              <a:rPr sz="1000">
                <a:solidFill>
                  <a:srgbClr val="FFFFFF"/>
                </a:solidFill>
                <a:latin typeface="Helvetica Neue"/>
                <a:ea typeface="Helvetica Neue"/>
                <a:cs typeface="Helvetica Neue"/>
              </a:rPr>
              <a:t>16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Design the staff workload too</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Review by educational consequence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Sample routine summaries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Route ambiguity to a person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 time as well as quality</a:t>
            </a:r>
          </a:p>
        </p:txBody>
      </p:sp>
    </p:spTree>
    <p:extLst>
      <p:ext uri="{BB962C8B-B14F-4D97-AF65-F5344CB8AC3E}">
        <p14:creationId xmlns:p14="http://schemas.microsoft.com/office/powerpoint/2010/main" val="3601454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90F7333B-44AC-F7E9-D49D-FE92F45E0477}" type="slidenum">
              <a:rPr sz="1000">
                <a:solidFill>
                  <a:srgbClr val="FFFFFF"/>
                </a:solidFill>
                <a:latin typeface="Helvetica Neue"/>
                <a:ea typeface="Helvetica Neue"/>
                <a:cs typeface="Helvetica Neue"/>
              </a:rPr>
              <a:t>17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Redesign one checkpoint this week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Objective → task → evidence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Permitted help → follow-up → rubric</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Access → retention → human review</a:t>
            </a:r>
          </a:p>
        </p:txBody>
      </p:sp>
    </p:spTree>
    <p:extLst>
      <p:ext uri="{BB962C8B-B14F-4D97-AF65-F5344CB8AC3E}">
        <p14:creationId xmlns:p14="http://schemas.microsoft.com/office/powerpoint/2010/main" val="366718214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1C6C81E-38B9-7560-621D-5A151A79DF9B}" type="slidenum">
              <a:rPr sz="1000">
                <a:solidFill>
                  <a:srgbClr val="FFFFFF"/>
                </a:solidFill>
                <a:latin typeface="Helvetica Neue"/>
                <a:ea typeface="Helvetica Neue"/>
                <a:cs typeface="Helvetica Neue"/>
              </a:rPr>
              <a:t>18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Change the game they are playing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Explain it. Challenge it.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Change it. Apply it. Defend 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Collect evidence of understanding.</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2026-09-05T04:38:34.2810000Z</dcterms:created>
  <dcterms:modified xsi:type="dcterms:W3CDTF">2026-09-05T04:38:34.2810000Z</dcterms:modified>
</coreProperties>
</file>