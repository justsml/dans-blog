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40 minutes. Timings include the exercises and delivery pauses, without Q&amp;A. Sources checked 6 September 2026. Story prompts belong in speaker notes and require Dan’s own records before delivery.</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 89.7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 · 88.9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 · 84.3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Every new model arrives wearing a tuxedo of benchmarks. Here are three scores. Pick the model you would try first.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scope statement: the model names and workload numbers in this fixture are invented. The arithmetic and cited research are checkable. We are choosing a support system, not measuring general intelligence.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won the displayed competition. Before buying the result, ask what competition it was. Which tasks, whose answers, what scorer, and how much uncertainty? The decimal point has done a lot of persuasion without answering any of those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one show of hands. Do not ask the room to vote again on the next slide.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our cancellation workload reverses the fictional leaderboard. The scoring question changed.</a:t>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01:00 to 02:00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Reward a proxy and behavior changes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Credit Strathern for the familiar Goodhart wording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Goodhart described statistical regularities breaking under pressure from their use in control. Campbell described the pressure that social decision-making puts on indicators and on the processes they measure. The familiar sentence about a measure becoming a target comes through Marilyn Strathern.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practical question is the same. What behavior improves the number without improving the thing we care about? A support assistant can shorten handling time by closing the conversation before it solves the problem. A judge can reward confident prose while the backend state stays wrong.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that loophole down before optimizing. Then add a case that exploits it. If your evaluator applauds the exploit, you found work worth doing.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Campbell (1979), [Assessing the impact of planned social change](https://doi.org/10.1016/0149-7189%2879%2990048-X). Strathern (1997), [Improving ratings](https://gwern.net/doc/statistics/decision/1997-strathern.pdf), European Review 5(3), 305–321. Formulations above are paraphrases.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02:00 to 03:00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suite needs an eval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green run is an inference, not a warranty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eval suite is a psychometric instrument somebody checked into Git. It produces scores from tasks and judgments, then we use those scores to make decisions. Where is its validation?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Try a response that sounds excellent but leaves the account active. Try a correct cancellation with awkward wording. Try an unauthorized cancellation with a perfect explanation. The instrument should distinguish those for the reasons you intended.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Nobody needs another dashboard to discover that the grader rewards tone. We need a counterexample and the nerve to keep it after it ruins the chart.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green eval run followed by a production failure. Bring the case, the score, the observed state, and the assumption the scorer missed.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03:00 to 04:30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is the score a score of?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Construct validity: evidence for the interpretation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Cronbach and Meehl gave us construct validity. What property does this test actually measure, and what evidence supports that interpretation? Messick puts interpretation and use at the center of validation. A score used to shortlist a model and the same score used to authorize refunds are different claims.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Raji and colleagues make the problem explicit for broad AI benchmarks. A collection of tasks does not automatically justify a claim about everything the model can do.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cancellation, separate constraints from preferences. The correct account and authorized state change are constraints. Tone is a preference after those pass. Averaging them together lets an unauthorized action buy its way out with a nice paragraph.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Cronbach and Meehl (1955), [Construct validity in psychological tests](https://psychclassics.yorku.ca/Cronbach/construct.htm). Messick (1990), [Validity of Test Interpretation and Use](https://www.ets.org/research/policy_research_reports/publications/report/1990/ihmy.html). Raji et al. (2021), [AI and the Everything in the Whole Wide World Benchmark](https://datasets-benchmarks-proceedings.neurips.cc/paper/2021/hash/084b6fbb10729ed4da8c3d3f5a3ae7c9-Abstract-round2.html).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04:30 to 06:00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Right account. Applicable policy. Authorized action.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Verify state. Include the refusal path.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customer asks to cancel. Identify the account through an authenticated context. Resolve the applicable policy. Check authority. Execute the allowed operation and read the resulting state. The response must match what happened.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vary one thing at a time. Wrong tenant. Expired session. Cancellation already completed. A tool times out after accepting the request. An account type that requires another approval. Each case names the expected state and what the assistant should tell the customer.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trace becomes a test when it answers a specific question. A transcript without an acceptance criterion is only a souvenir. Keep enough context to reproduce the failure, and strip the customer's secrets before it enters the corpus.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through timeout-after-acceptance using the contracts handout. Ask which backend read distinguishes a failed cancellation from a lost response.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06:00 to 08:00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94, 82, 91, 97, 89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78, 79, 81, 82, 80 · pass at ≥ 80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Majority disagreement: 2 / 5 = 40%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judge scores ninety-four, then eighty-two, then ninety-one, then ninety-seven, then eighty-nine. Same case, different answers. Noise wearing a lab 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narrower spread can still change a decision. Use seventy-eight, seventy-nine, eighty-one, eighty-two, eighty. Pass at eighty or above. That gives fail, fail, pass, pass, pass. Two of five verdicts disagree with the majority. Forty percent. There is one change between adjacent runs; do not confuse that with majority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 Auto-Tune Your LLM Judge I call majority disagreement the decision flip rate. Keep the definition beside the result. An always-pass judge has zero flips. A stable liar is still a liar, so check correctness against independent labels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Dan Levy, [Auto-Tune Your LLM Judge](https://danlevy.net/auto-tune-your-llm-judge/), supplied article. The sequence is reused as a teaching fixture, not a fresh measurement.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who reruns a fixed case. Reveal the five verdicts and do the 2/5 calculation aloud. Use the saved sequence; do not claim a live model run.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08:00 to 11:00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Zero failures in 20 independent representative trials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95% upper bound: 3 / 20 ≈ 15%; exact 13.9%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Twenty for twenty feels finished. Here is what it buys under independent, identically distributed sampling from the population you care about.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With no failures, the chance of that observation at failure probability p is one minus p, raised to twenty. Set it to five percent. Solve for p. The exact one-sided ninety-five-percent upper bound is about thirteen point nine percent. Hanley and Lippman-Hand's rule of three gives the quick approximation: three divided by twenty, fifteen percent. About one in seven is the scale we still have not excluded.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uncomfortable part. Twenty cases hand-picked from your favorite incidents are not a random sample. The confidence statement does not transfer to that set. They can catch known mechanisms. They cannot certify the population failure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Card and colleagues examined statistical power in NLP comparisons. Small tests also miss real differences. More decimal places do not create more observations.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James A. Hanley and Abby Lippman-Hand (1983), [If Nothing Goes Wrong, Is Everything All Right? Interpreting Zero Numerators](https://www.medicine.mcgill.ca/epidemiology/hanley/c607/ch08/zero_numerator.pdf), JAMA 249(13), 1743–1745. Card et al. (2020), [With Little Power Comes Great Responsibility](https://aclanthology.org/2020.emnlp-main.745/).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Spend one minute on (1 − p)^20 = 0.05. Ask what sample selection would make the bound inapplicable. Run arithmetic.ts if a calculator helps.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08:00 to 11:00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Zero failures in 20 independent representative trials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95% upper bound: 3 / 20 ≈ 15%; exact 13.9%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Twenty for twenty feels finished. Here is what it buys under independent, identically distributed sampling from the population you care about.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With no failures, the chance of that observation at failure probability p is one minus p, raised to twenty. Set it to five percent. Solve for p. The exact one-sided ninety-five-percent upper bound is about thirteen point nine percent. Hanley and Lippman-Hand's rule of three gives the quick approximation: three divided by twenty, fifteen percent. About one in seven is the scale we still have not excluded.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uncomfortable part. Twenty cases hand-picked from your favorite incidents are not a random sample. The confidence statement does not transfer to that set. They can catch known mechanisms. They cannot certify the population failure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Card and colleagues examined statistical power in NLP comparisons. Small tests also miss real differences. More decimal places do not create more observations.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James A. Hanley and Abby Lippman-Hand (1983), [If Nothing Goes Wrong, Is Everything All Right? Interpreting Zero Numerators](https://www.medicine.mcgill.ca/epidemiology/hanley/c607/ch08/zero_numerator.pdf), JAMA 249(13), 1743–1745. Card et al. (2020), [With Little Power Comes Great Responsibility](https://aclanthology.org/2020.emnlp-main.745/).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Spend one minute on (1 − p)^20 = 0.05. Ask what sample selection would make the bound inapplicable. Run arithmetic.ts if a calculator helps.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11:00 to 13:30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90 expert passes. Ten expert failures.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Always-pass judge: 90% agreement, κ = 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a hundred cases. Experts pass ninety and fail ten. Our judge passes everything. Ninety-percent agreement. Congratulations, we have calibrated a button.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Cohen's kappa compares observed agreement with agreement expected from the marginal label rates. Here both are point nine, so kappa is zero. But kappa also changes with prevalence. Do not replace blind faith in raw agreement with blind faith in a kappa threshold. Keep the confusion matrix and inspect the disagreements.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Blind model identity. Swap A/B answer order. Position bias and self-preference have published evidence behind them. Repeat these checks on the judge you actually use. When experts disagree, inspect the rubric and case before blaming the model for failing to find a truth you never agreed 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Cohen (1960), [A Coefficient of Agreement for Nominal Scales](https://journals.sagepub.com/doi/abs/10.1177/001316446002000104). Feinstein and Cicchetti (1990), [High agreement but low kappa](https://pubmed.ncbi.nlm.nih.gov/2348207/). [Position bias study](https://arxiv.org/abs/2406.07791); [Self-Preference Bias in LLM-as-a-Judge](https://arxiv.org/abs/2410.21819).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90/10 confusion matrix. Compute (0.9 − 0.9)/(1 − 0.9). Allow 45 seconds to inspect the ten missed failures.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separate held-out evidence, report slices and counts, version the scorer, and set the rejection rule before viewing the candidate.</a:t>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13:30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Validity · reliability · 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Power · contamination · Goodhart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with twenty cases tomorrow. Attach the acceptance criterion, the source, and the reason each case belongs. Then attach the honest limitation: twenty green cases do not establish broad reliability.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Validity asks what inference the score supports. Reliability asks whether the measurement is repeatable enough for its use. Agreement asks where graders differ. Power asks whether the experiment can detect the difference we care about. Contamination asks what the system has already seen. Goodhart asks what optimizing the score will break.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suite is an instrument. Test the instrument. Then use it to make a decision.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Campbell (1979), [Assessing the impact of planned social change](https://doi.org/10.1016/0149-7189%2879%2990048-X). Strathern (1997), [Improving ratings](https://gwern.net/doc/statistics/decision/1997-strathern.pdf), European Review 5(3), 305–321. Formulations above are paraphrases.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Cronbach and Meehl (1955), [Construct validity in psychological tests](https://psychclassics.yorku.ca/Cronbach/construct.htm). Messick (1990), [Validity of Test Interpretation and Use](https://www.ets.org/research/policy_research_reports/publications/report/1990/ihmy.html). Raji et al. (2021), [AI and the Everything in the Whole Wide World Benchmark](https://datasets-benchmarks-proceedings.neurips.cc/paper/2021/hash/084b6fbb10729ed4da8c3d3f5a3ae7c9-Abstract-round2.html).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Dan Levy, [Auto-Tune Your LLM Judge](https://danlevy.net/auto-tune-your-llm-judge/), supplied article. The sequence is reused as a teaching fixture, not a fresh measurement.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James A. Hanley and Abby Lippman-Hand (1983), [If Nothing Goes Wrong, Is Everything All Right? Interpreting Zero Numerators](https://www.medicine.mcgill.ca/epidemiology/hanley/c607/ch08/zero_numerator.pdf), JAMA 249(13), 1743–1745. Card et al. (2020), [With Little Power Comes Great Responsibility](https://aclanthology.org/2020.emnlp-main.745/).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Cohen (1960), [A Coefficient of Agreement for Nominal Scales](https://journals.sagepub.com/doi/abs/10.1177/001316446002000104). Feinstein and Cicchetti (1990), [High agreement but low kappa](https://pubmed.ncbi.nlm.nih.gov/2348207/). [Position bias study](https://arxiv.org/abs/2406.07791); [Self-Preference Bias in LLM-as-a-Judge](https://arxiv.org/abs/2410.21819).</a:t>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Campbell (1979), [Assessing the impact of planned social change](https://doi.org/10.1016/0149-7189%2879%2990048-X). Strathern (1997), [Improving ratings](https://gwern.net/doc/statistics/decision/1997-strathern.pdf), European Review 5(3), 305–321. Formulations above are paraphrases.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Cronbach and Meehl (1955), [Construct validity in psychological tests](https://psychclassics.yorku.ca/Cronbach/construct.htm). Messick (1990), [Validity of Test Interpretation and Use](https://www.ets.org/research/policy_research_reports/publications/report/1990/ihmy.html). Raji et al. (2021), [AI and the Everything in the Whole Wide World Benchmark](https://datasets-benchmarks-proceedings.neurips.cc/paper/2021/hash/084b6fbb10729ed4da8c3d3f5a3ae7c9-Abstract-round2.html).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Dan Levy, [Auto-Tune Your LLM Judge](https://danlevy.net/auto-tune-your-llm-judge/), supplied article. The sequence is reused as a teaching fixture, not a fresh measurement.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James A. Hanley and Abby Lippman-Hand (1983), [If Nothing Goes Wrong, Is Everything All Right? Interpreting Zero Numerators](https://www.medicine.mcgill.ca/epidemiology/hanley/c607/ch08/zero_numerator.pdf), JAMA 249(13), 1743–1745. Card et al. (2020), [With Little Power Comes Great Responsibility](https://aclanthology.org/2020.emnlp-main.745/).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Cohen (1960), [A Coefficient of Agreement for Nominal Scales](https://journals.sagepub.com/doi/abs/10.1177/001316446002000104). Feinstein and Cicchetti (1990), [High agreement but low kappa](https://pubmed.ncbi.nlm.nih.gov/2348207/). [Position bias study](https://arxiv.org/abs/2406.07791); [Self-Preference Bias in LLM-as-a-Judge](https://arxiv.org/abs/2410.21819).</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 Id="rIdImage1" Type="http://schemas.openxmlformats.org/officeDocument/2006/relationships/image" Target="../media/slide8-1.png"/><Relationship Id="rIdSvg1" Type="http://schemas.openxmlformats.org/officeDocument/2006/relationships/image" Target="../media/slide8-1.svg"/></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Stop Looking at My Benchmarks… Get</a:t>
            </a:r>
            <a:endParaRPr lang="en-US" sz="3750"/>
          </a:p>
          <a:p>
            <a:pPr marL="0" indent="0">
              <a:lnSpc>
                <a:spcPts val="4500"/>
              </a:lnSpc>
              <a:spcAft>
                <a:spcPts val="0"/>
              </a:spcAft>
              <a:buNone/>
            </a:pPr>
            <a:r>
              <a:rPr lang="en-US" sz="3750" b="1">
                <a:solidFill>
                  <a:srgbClr val="202B33"/>
                </a:solidFill>
                <a:latin typeface="Arial"/>
                <a:ea typeface="Arial"/>
                <a:cs typeface="Arial"/>
              </a:rPr>
              <a:t xml:space="preserve">Your Own!</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15-minute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9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09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 leaderboard, and the question it isn't answering</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 89.7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 · 88.9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 · 84.3</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 new model arrives wearing a tuxedo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benchmarks. Here are three scores. Pick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you would try first.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scope statement: the model names and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workload numbers in this fixture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invented. The arithmetic and cited research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checkable. We are choosing a support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system, not measuring general intelligence.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won the displayed competition.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buying the result, ask what competition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was. Which tasks, whose answers,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scorer, and how much uncertainty?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decimal point has done a lot of persuasion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answering any of those questions.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09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Goodhart, Campbell, and the target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Reward a proxy and behavior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Credit Strathern for the familiar Goodhart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wording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Goodhart described statistical regularities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breaking under pressure from their use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control. Campbell described the pressure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social decision-making puts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indicators and on the processes they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 The familiar sentence about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 becoming a target comes through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Marilyn Strathern.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practical question is the same.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behavior improves the number without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improving the thing we care about?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support assistant can shorten handling time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by closing the conversation before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solves the problem. A judge can reward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confident prose while the backend state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stays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Write that loophole down before optimizing.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add a case that exploits it. If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evaluator applauds the exploit, you found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 worth doing.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09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Your eval suite is a measuring instrument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suite needs an 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green run is an inference, not a warranty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 eval suite is a psychometric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instrument somebody checked into Git.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produces scores from tasks and judgments,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we use those scores to make decisions.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Where is its validation?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Try a response that sounds excellent but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leaves the account active. Try a correct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cancellation with awkward wording. Try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unauthorized cancellation with a perfect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explanation. The instrument should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distinguish those for the reasons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intended.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needs another dashboard to discover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the grader rewards tone. We need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counterexample and the nerve to keep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after it ruins the chart.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09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One number is a comforting fiction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What is the score a score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Construct validity: evidence for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interpretation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Cronbach and Meehl gave us construct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validity. What property does this test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actually measure, and what evidence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supports that interpretation? Messick puts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interpretation and use at the center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validation. A score used to shortlist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and the same score used to authorize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refunds are different claims.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Raji and colleagues make the problem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explicit for broad AI benchmarks.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collection of tasks does not automatically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justify a claim about everything the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do.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cancellation, separate constraints from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preferences. The correct account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authorized state change are constraints.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Tone is a preference after those pass.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Averaging them together lets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unauthorized action buy its way out with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nice paragraph.</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09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"Cancel my account."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Right account. Applicable policy.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Authorized action.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Verify state. Include the refusal path.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customer asks to cancel. Identify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account through an authenticated context.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Resolve the applicable policy. Check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authority. Execute the allowed operation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read the resulting state. The response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must match what happened.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vary one thing at a time. Wrong tenant.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Expired session. Cancellation already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completed. A tool times out after accepting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request. An account type that requires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another approval. Each case names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expected state and what the assistant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should tell the customer.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trace becomes a test when it answers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specific question. A transcript without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acceptance criterion is only a souvenir.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enough context to reproduce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failure, and strip the customer's secrets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it enters the corpus.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09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Run it five times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94, 82, 91, 97, 89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78, 79, 81, 82, 80 · pass at ≥ 80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Majority disagreement: 2 / 5 = 40%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 judge scores ninety-four, then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eighty-two, then ninety-one, then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ninety-seven, then eighty-nine. Same case,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different answers. Noise wearing a lab</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narrower spread can still change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decision. Use seventy-eight, seventy-nine,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eighty-one, eighty-two, eighty. Pass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eighty or above. That gives fail, fail,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pass, pass, pass. Two of five verdicts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disagree with the majority. Forty percent.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There is one change between adjacent runs;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not confuse that with majority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Auto-Tune Your LLM Judge I call majority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disagreement the decision flip rate. Keep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definition beside the result.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always-pass judge has zero flips. A stable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liar is still a liar, so check correctness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against independent labels too.</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09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Twenty green cases. About one in seven.</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5d9d88671737e342604a8bb2f8a50f9753e84270f97998346745671bda4153b9" descr="Twenty green cases. About one in seven."/>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Zero failures in 20 independent representative trials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95% upper bound: 3 / 20 ≈ 15%; exact 13.9%</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Twenty for twenty feels finished. Here is what 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buys under independent, identically distributed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sampling from the population you care about.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With no failures, the chance of that observation 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failure probability p is one minus p, raised to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twenty. Set it to five percent. Solve for p.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exact one-sided ninety-five-percent upper bound is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about thirteen point nine percent. Hanley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Lippman-Hand's rule of three gives the quick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approximation: three divided by twenty, fifteen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percent. About one in seven is the scale we still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have not excluded.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Now the uncomfortable part. Twenty cases hand-picked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from your favorite incidents are not a random sample.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confidence statement does not transfer to that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set. They can catch known mechanisms. They cannot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certify the population failure rate.</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09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Twenty green cases. About one in seven.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Card and colleagues examined statistical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power in NLP comparisons. Small tests also</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miss real differences. More decimal places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not create more observations.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09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Your grader is an instrument too</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90 expert passes. Ten expert failures.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Always-pass judge: 90% agreement, κ = 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Take a hundred cases. Experts pass ninety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fail ten. Our judge passes everything.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Ninety-percent agreement. Congratulations,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have calibrated a button.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Cohen's kappa compares observed 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agreement expected from the marginal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label rates. Here both are point nine, so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kappa is zero. But kappa also changes with</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prevalence. Do not replace blind faith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raw agreement with blind faith in a kappa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threshold. Keep the confusion matrix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inspect the disagreements.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Blind model identity. Swap A/B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order. Position bias and self-preference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have published evidence behind them. Repeat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these checks on the judge you actually 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When experts disagree, inspect the rubric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case before blaming the model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failing to find a truth you never agreed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09    SOURCE SLIDE 15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What does good mean here?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Validity · reliability · 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Power · contamination · Goodhart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 with twenty cases tomorrow. Attach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acceptance criterion, the source,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reason each case belongs. Then attach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honest limitation: twenty green cases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not establish broad reliability.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Validity asks what inference the score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supports. Reliability asks whether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measurement is repeatable enough for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use. Agreement asks where graders differ.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Power asks whether the experiment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detect the difference we care about.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Contamination asks what the system has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already seen. Goodhart asks what optimizing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score will break.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suite is an instrument. Test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instrument. Then use it to make a decision.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Campbell (1979), Assessing the impact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planned social change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https://doi.org/10.1016/0149-7189%2879%2990048-X).</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Strathern (1997), [Improving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ratings](https://gwern.net/doc/statistics/decision/1997-strathern.pdf),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European Review 5(3, 305–321. Formulations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above are paraphrases.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Cronbach and Meehl (1955), Construct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validity in psychological tests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https://psychclassics.yorku.ca/Cronbach/construct.htm).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Messick (1990), [Validity of Test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Interpretation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Use](https://www.ets.org/research/policy_research_reports/publications/report/1990/ihmy.html).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Raji et al. (2021), [AI and the Everything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the Whole Wide World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Benchmark](https://datasets-benchmarks-proceedings.neurips.cc/paper/2021/hash/084b6fbb10729ed4da8c3d3f5a3ae7c9-Abstract-round2.html.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Dan Levy, Auto-Tune Your LLM Judge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https://danlevy.net/auto-tune-your-llm-judge/,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supplied article. The sequence is reused 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teaching fixture, not a fresh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James A. Hanley and Abby Lippman-Hand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(1983), If Nothing Goes Wrong,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Everything All Right? Interpreting Zero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Numerators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https://www.medicine.mcgill.ca/epidemiology/hanley/c607/ch08/zero_numerator.pdf),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JAMA 249(13), 1743–1745. Card et 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(2020), [With Little Power Comes Great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Responsibility](https://aclanthology.org/2020.emnlp-main.745/.</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Cohen (1960), A Coefficient of 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Nominal Scales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https://journals.sagepub.com/doi/abs/10.1177/001316446002000104).</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Feinstein and Cicchetti (1990), [High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agreement but low</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kappa](https://pubmed.ncbi.nlm.nih.gov/2348207/).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[Position bias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study](https://arxiv.org/abs/2406.07791);</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[Self-Preference Bias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LLM-as-a-Judge](https://arxiv.org/abs/2410.21819.</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13</Slides>
  <Notes>13</Notes>
</Properties>
</file>

<file path=docProps/core.xml><?xml version="1.0" encoding="utf-8"?>
<cp:coreProperties xmlns:cp="http://schemas.openxmlformats.org/package/2006/metadata/core-properties" xmlns:dc="http://purl.org/dc/elements/1.1/" xmlns:dcterms="http://purl.org/dc/terms/" xmlns:xsi="http://www.w3.org/2001/XMLSchema-instance">
  <dc:title>Stop Looking at My Benchmarks… Get Your Own!</dc:title>
  <dc:creator>Dan Levy</dc:creator>
  <dc:description>handout edition generated from current reviewed talk materials</dc:description>
  <dcterms:created xsi:type="dcterms:W3CDTF">2026-09-06T09:11:11Z</dcterms:created>
</cp:coreProperties>
</file>