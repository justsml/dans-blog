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a226b1138574eff" /><Relationship Type="http://schemas.openxmlformats.org/officeDocument/2006/relationships/extended-properties" Target="/docProps/app.xml" Id="Rb5f49dcd962145c3" /><Relationship Type="http://schemas.openxmlformats.org/officeDocument/2006/relationships/officeDocument" Target="/ppt/presentation.xml" Id="Rda047d3230554b59"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f4dfcfd93c042e2"/>
  </p:sldMasterIdLst>
  <p:notesMasterIdLst>
    <p:notesMasterId xmlns:r="http://schemas.openxmlformats.org/officeDocument/2006/relationships" r:id="R63bf6b89cf8749cc"/>
  </p:notesMasterIdLst>
  <p:sldIdLst>
    <p:sldId xmlns:r="http://schemas.openxmlformats.org/officeDocument/2006/relationships" id="256" r:id="Rf3e12140ca0544cd"/>
    <p:sldId xmlns:r="http://schemas.openxmlformats.org/officeDocument/2006/relationships" id="257" r:id="R9b4ca77d48344747"/>
    <p:sldId xmlns:r="http://schemas.openxmlformats.org/officeDocument/2006/relationships" id="258" r:id="Rdd1a584f69344199"/>
    <p:sldId xmlns:r="http://schemas.openxmlformats.org/officeDocument/2006/relationships" id="259" r:id="Rc1e15d5a1321486e"/>
    <p:sldId xmlns:r="http://schemas.openxmlformats.org/officeDocument/2006/relationships" id="260" r:id="R6e1babc4459d48f3"/>
    <p:sldId xmlns:r="http://schemas.openxmlformats.org/officeDocument/2006/relationships" id="261" r:id="Ra2abf846c2b34ad2"/>
    <p:sldId xmlns:r="http://schemas.openxmlformats.org/officeDocument/2006/relationships" id="262" r:id="R36c0e83cb0094155"/>
    <p:sldId xmlns:r="http://schemas.openxmlformats.org/officeDocument/2006/relationships" id="263" r:id="R0bbc1d3d9b604f66"/>
    <p:sldId xmlns:r="http://schemas.openxmlformats.org/officeDocument/2006/relationships" id="264" r:id="Rf6380d97962b4bdd"/>
    <p:sldId xmlns:r="http://schemas.openxmlformats.org/officeDocument/2006/relationships" id="265" r:id="R7abd85fb3bfb44ee"/>
    <p:sldId xmlns:r="http://schemas.openxmlformats.org/officeDocument/2006/relationships" id="266" r:id="Re2c9a8edf8594797"/>
    <p:sldId xmlns:r="http://schemas.openxmlformats.org/officeDocument/2006/relationships" id="267" r:id="R9a7957e4dccc407c"/>
    <p:sldId xmlns:r="http://schemas.openxmlformats.org/officeDocument/2006/relationships" id="268" r:id="R44552e39bd974cd0"/>
    <p:sldId xmlns:r="http://schemas.openxmlformats.org/officeDocument/2006/relationships" id="269" r:id="R57b44ae0a33d479f"/>
    <p:sldId xmlns:r="http://schemas.openxmlformats.org/officeDocument/2006/relationships" id="270" r:id="R8a5ee6ef7c824a63"/>
    <p:sldId xmlns:r="http://schemas.openxmlformats.org/officeDocument/2006/relationships" id="271" r:id="Rcec2ec38cfff4b2b"/>
    <p:sldId xmlns:r="http://schemas.openxmlformats.org/officeDocument/2006/relationships" id="272" r:id="Rfaa2c7fc5d68489e"/>
    <p:sldId xmlns:r="http://schemas.openxmlformats.org/officeDocument/2006/relationships" id="273" r:id="R093a4c0a5a6c4bd6"/>
  </p:sldIdLst>
  <p:sldSz cx="12192000" cy="6858000"/>
  <p:notesSz cx="6858000" cy="9144000"/>
  <p:embeddedFontLst>
    <p:embeddedFont>
      <p:font typeface="OpenAI Sans"/>
      <p:regular xmlns:r="http://schemas.openxmlformats.org/officeDocument/2006/relationships" r:id="R3179e23806234320"/>
      <p:bold xmlns:r="http://schemas.openxmlformats.org/officeDocument/2006/relationships" r:id="R6431cf5ae2e04b8d"/>
      <p:italic xmlns:r="http://schemas.openxmlformats.org/officeDocument/2006/relationships" r:id="R6dfabdd09c524b3e"/>
      <p:boldItalic xmlns:r="http://schemas.openxmlformats.org/officeDocument/2006/relationships" r:id="Rc1e057891483416a"/>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291edbc035b42cc" /><Relationship Type="http://schemas.openxmlformats.org/officeDocument/2006/relationships/slideMaster" Target="/ppt/slideMasters/slideMaster1.xml" Id="Rff4dfcfd93c042e2" /><Relationship Type="http://schemas.openxmlformats.org/officeDocument/2006/relationships/notesMaster" Target="/ppt/notesMasters/notesMaster1.xml" Id="R63bf6b89cf8749cc" /><Relationship Type="http://schemas.openxmlformats.org/officeDocument/2006/relationships/presProps" Target="/ppt/presProps.xml" Id="R0cbc449030004d7a" /><Relationship Type="http://schemas.openxmlformats.org/officeDocument/2006/relationships/viewProps" Target="/ppt/viewProps.xml" Id="Ra214484e29e846a5" /><Relationship Type="http://schemas.openxmlformats.org/officeDocument/2006/relationships/tableStyles" Target="/ppt/tableStyles.xml" Id="Rd1d94be06a8541ed" /><Relationship Type="http://schemas.openxmlformats.org/officeDocument/2006/relationships/font" Target="/ppt/fonts/font.dat" Id="R3179e23806234320" /><Relationship Type="http://schemas.openxmlformats.org/officeDocument/2006/relationships/font" Target="/ppt/fonts/font2.dat" Id="R6431cf5ae2e04b8d" /><Relationship Type="http://schemas.openxmlformats.org/officeDocument/2006/relationships/font" Target="/ppt/fonts/font3.dat" Id="R6dfabdd09c524b3e" /><Relationship Type="http://schemas.openxmlformats.org/officeDocument/2006/relationships/font" Target="/ppt/fonts/font4.dat" Id="Rc1e057891483416a" /><Relationship Type="http://schemas.openxmlformats.org/officeDocument/2006/relationships/slide" Target="/ppt/slides/slide1.xml" Id="Rf3e12140ca0544cd" /><Relationship Type="http://schemas.openxmlformats.org/officeDocument/2006/relationships/slide" Target="/ppt/slides/slide2.xml" Id="R9b4ca77d48344747" /><Relationship Type="http://schemas.openxmlformats.org/officeDocument/2006/relationships/slide" Target="/ppt/slides/slide3.xml" Id="Rdd1a584f69344199" /><Relationship Type="http://schemas.openxmlformats.org/officeDocument/2006/relationships/slide" Target="/ppt/slides/slide4.xml" Id="Rc1e15d5a1321486e" /><Relationship Type="http://schemas.openxmlformats.org/officeDocument/2006/relationships/slide" Target="/ppt/slides/slide5.xml" Id="R6e1babc4459d48f3" /><Relationship Type="http://schemas.openxmlformats.org/officeDocument/2006/relationships/slide" Target="/ppt/slides/slide6.xml" Id="Ra2abf846c2b34ad2" /><Relationship Type="http://schemas.openxmlformats.org/officeDocument/2006/relationships/slide" Target="/ppt/slides/slide7.xml" Id="R36c0e83cb0094155" /><Relationship Type="http://schemas.openxmlformats.org/officeDocument/2006/relationships/slide" Target="/ppt/slides/slide8.xml" Id="R0bbc1d3d9b604f66" /><Relationship Type="http://schemas.openxmlformats.org/officeDocument/2006/relationships/slide" Target="/ppt/slides/slide9.xml" Id="Rf6380d97962b4bdd" /><Relationship Type="http://schemas.openxmlformats.org/officeDocument/2006/relationships/slide" Target="/ppt/slides/slide10.xml" Id="R7abd85fb3bfb44ee" /><Relationship Type="http://schemas.openxmlformats.org/officeDocument/2006/relationships/slide" Target="/ppt/slides/slide11.xml" Id="Re2c9a8edf8594797" /><Relationship Type="http://schemas.openxmlformats.org/officeDocument/2006/relationships/slide" Target="/ppt/slides/slide12.xml" Id="R9a7957e4dccc407c" /><Relationship Type="http://schemas.openxmlformats.org/officeDocument/2006/relationships/slide" Target="/ppt/slides/slide13.xml" Id="R44552e39bd974cd0" /><Relationship Type="http://schemas.openxmlformats.org/officeDocument/2006/relationships/slide" Target="/ppt/slides/slide14.xml" Id="R57b44ae0a33d479f" /><Relationship Type="http://schemas.openxmlformats.org/officeDocument/2006/relationships/slide" Target="/ppt/slides/slide15.xml" Id="R8a5ee6ef7c824a63" /><Relationship Type="http://schemas.openxmlformats.org/officeDocument/2006/relationships/slide" Target="/ppt/slides/slide16.xml" Id="Rcec2ec38cfff4b2b" /><Relationship Type="http://schemas.openxmlformats.org/officeDocument/2006/relationships/slide" Target="/ppt/slides/slide17.xml" Id="Rfaa2c7fc5d68489e" /><Relationship Type="http://schemas.openxmlformats.org/officeDocument/2006/relationships/slide" Target="/ppt/slides/slide18.xml" Id="R093a4c0a5a6c4b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5dadd563c34e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6c5cc4c67347ba" /><Relationship Type="http://schemas.openxmlformats.org/officeDocument/2006/relationships/notesMaster" Target="/ppt/notesMasters/notesMaster1.xml" Id="Rd60fbab4678948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3d411a3b0d4383" /><Relationship Type="http://schemas.openxmlformats.org/officeDocument/2006/relationships/notesMaster" Target="/ppt/notesMasters/notesMaster1.xml" Id="R25f5231df7e546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a46bce017d4af9" /><Relationship Type="http://schemas.openxmlformats.org/officeDocument/2006/relationships/notesMaster" Target="/ppt/notesMasters/notesMaster1.xml" Id="R02b5fe3e12ae47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ca59d23438435c" /><Relationship Type="http://schemas.openxmlformats.org/officeDocument/2006/relationships/notesMaster" Target="/ppt/notesMasters/notesMaster1.xml" Id="Rf0fa51e9744d47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0e6790fe1646ae" /><Relationship Type="http://schemas.openxmlformats.org/officeDocument/2006/relationships/notesMaster" Target="/ppt/notesMasters/notesMaster1.xml" Id="R06aa70465c404e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c25611131442b4" /><Relationship Type="http://schemas.openxmlformats.org/officeDocument/2006/relationships/notesMaster" Target="/ppt/notesMasters/notesMaster1.xml" Id="R3f2b378ef19247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ca34368e3b40458b" /><Relationship Type="http://schemas.openxmlformats.org/officeDocument/2006/relationships/notesMaster" Target="/ppt/notesMasters/notesMaster1.xml" Id="R43addab5774b4d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0320daeb614cc6" /><Relationship Type="http://schemas.openxmlformats.org/officeDocument/2006/relationships/notesMaster" Target="/ppt/notesMasters/notesMaster1.xml" Id="R27d417fd29b742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4b45c7bf40d14b91" /><Relationship Type="http://schemas.openxmlformats.org/officeDocument/2006/relationships/notesMaster" Target="/ppt/notesMasters/notesMaster1.xml" Id="Rcb4158f0638043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4ead2e4d854412" /><Relationship Type="http://schemas.openxmlformats.org/officeDocument/2006/relationships/notesMaster" Target="/ppt/notesMasters/notesMaster1.xml" Id="R495acb3c3df041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2bff235d457445e" /><Relationship Type="http://schemas.openxmlformats.org/officeDocument/2006/relationships/notesMaster" Target="/ppt/notesMasters/notesMaster1.xml" Id="Rb6355e8f13e44aa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9ef049e85004b78" /><Relationship Type="http://schemas.openxmlformats.org/officeDocument/2006/relationships/notesMaster" Target="/ppt/notesMasters/notesMaster1.xml" Id="R79b83f57671f418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d491d0049714a17" /><Relationship Type="http://schemas.openxmlformats.org/officeDocument/2006/relationships/notesMaster" Target="/ppt/notesMasters/notesMaster1.xml" Id="R7d5f286ea4f143c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12b7b797c724062" /><Relationship Type="http://schemas.openxmlformats.org/officeDocument/2006/relationships/notesMaster" Target="/ppt/notesMasters/notesMaster1.xml" Id="Rbeb573671a65489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3eb06ffff6b49ca" /><Relationship Type="http://schemas.openxmlformats.org/officeDocument/2006/relationships/notesMaster" Target="/ppt/notesMasters/notesMaster1.xml" Id="R2a2b38754bf941a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baa5edabdb24aa5" /><Relationship Type="http://schemas.openxmlformats.org/officeDocument/2006/relationships/notesMaster" Target="/ppt/notesMasters/notesMaster1.xml" Id="Rb502ca84785b431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cfe27bd4c354a0a" /><Relationship Type="http://schemas.openxmlformats.org/officeDocument/2006/relationships/notesMaster" Target="/ppt/notesMasters/notesMaster1.xml" Id="Re0392110d8d44fc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8d65a232a8e43e0" /><Relationship Type="http://schemas.openxmlformats.org/officeDocument/2006/relationships/notesMaster" Target="/ppt/notesMasters/notesMaster1.xml" Id="R2148feb1eacd4b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endParaRPr/>
          </a:p>
          <a:p xmlns:a="http://schemas.openxmlformats.org/drawingml/2006/main">
            <a:r>
              <a:t/>
            </a:r>
            <a:endParaRPr/>
          </a:p>
          <a:p xmlns:a="http://schemas.openxmlformats.org/drawingml/2006/main">
            <a:r>
              <a:t>Open with the two promises an educator hears: every student gets a private genius, or every assignment becomes worthless. Neither promise tells us what to do on Monday. This talk starts with a planning assumption: AI access will remain available enough that curriculum cannot depend entirely on preventing it. That is not a forecast about every school, household, or exam. Ask the room to hold one actual assignment in mind. By the end, they should be able to name its intended capability, decide where assistance belongs, and choose evidence that would show whether learning happened. The assignment is our unit of change; a vendor contract is not.</a:t>
            </a:r>
            <a:endParaRPr/>
          </a:p>
          <a:p xmlns:a="http://schemas.openxmlformats.org/drawingml/2006/main">
            <a:r>
              <a:t/>
            </a:r>
            <a:endParaRPr/>
          </a:p>
          <a:p xmlns:a="http://schemas.openxmlformats.org/drawingml/2006/main">
            <a:r>
              <a:t>Sources and further reading (verified 2026-09-04):</a:t>
            </a:r>
            <a:endParaRPr/>
          </a:p>
          <a:p xmlns:a="http://schemas.openxmlformats.org/drawingml/2006/main">
            <a:r>
              <a:t/>
            </a:r>
            <a:endParaRPr/>
          </a:p>
          <a:p xmlns:a="http://schemas.openxmlformats.org/drawingml/2006/main">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Skepticism should create better questions rather than a permanent refusal to decide. If a vendor says its tutor improves learning, ask what students did without assistance afterward. If a colleague says a tool destroys thinking, ask which task, which learners, and which form of help. Both claims need a comparison. Give the audience permission to like a useful feature and still reject the sales pitch around it. The practical move is to write a claim in a form that could fail: students using this particular hint sequence will explain proportional change on a new problem next week. Now we have something to investigate instead of another argument about AI in general.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Show a beautifully formatted paragraph and ask what it proves. It proves that a paragraph exists. It may also be evidence of writing skill, but that inference depends on how it was made and what else we know. We already make this distinction with calculators, editors, peers, and templates. These are analogies, not evidence that every new technology follows the same adoption curve. Our example learning objective is specific: distinguish percentage change from percentage points and explain the denominator. A polished paragraph reporting a price change can miss that objective entirely. Keep the useful artifact; add a task that makes the intended reasoning observable. Do not confuse extra paperwork with stronger evidence.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Introduce these as decisions about a learner doing a particular task at a particular stage. They are not permanent lists of things computers should do and things humans must always do alone. Formatting a bibliography may be delegated in a history seminar but preserved when students are learning a citation system. A grammar suggestion might augment revision while undermining an assessment of unaided grammar. The same activity moves between columns when the objective changes. Ask each participant to put one verb from their assignment into a column and finish the sentence because students need to learn what. If that reason is missing, the tool policy is probably doing the curriculum's job badly.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Use a fictional shop with a price of one hundred dollars. It raises the price by twenty percent and later discounts the new price by twenty percent. The learning objective is explaining sequential percentage changes. A student can delegate turning scratch work into a neat table if layout is irrelevant. They can ask for a hint while practicing, provided the hint leaves the denominator question for them. During an agreed independent check, preserve the student's explanation of why the second percentage uses a different base. This is not an argument against calculators. A calculator can return ninety six while the student still believes the two changes cancel. Decide what assistance means only after naming the capability.</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p>
          <a:p xmlns:a="http://schemas.openxmlformats.org/drawingml/2006/main">
            <a:r>
              <a:t>Run the four minute exercise in the accompanying demo. Label the quoted answer as an intentionally written fixture, not a recorded model failure. Give participants thirty seconds to find the fault, then ask for the second calculation's starting value. The correct sequence is one hundred, one hundred twenty, ninety six. Ask someone to explain why multiplying by one point two and then zero point eight does not return one. A participant may know the answer already; do not treat a correct response as proof that the exercise caused learning. The point is to compare evidence supplied by a final number, a correction, and an explanation. Keep the arithmetic visible so nobody needs to trust the presenter.</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second fixture starts at eighty dollars, rises twenty five percent to one hundred, then falls twenty percent to eighty. This time the changes do cancel in dollars even though the percentages differ. Ask participants to reconcile that with the first example. The invariant is that each percentage acts on its current base. We changed the numbers while preserving the concept. A learner who memorized that increases and decreases never cancel now has to revise that shortcut. In a course, use a different transfer item after a delay, with the permitted tools stated in advance. One fast answer from an audience volunteer remains a demonstration of an assessment design, not a measurement of durable mastery.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Separate the score achieved during help from the capability available afterward. Bastani and colleagues' high school mathematics trial found improved assisted practice with GPT tools, but worse subsequent unaided performance in the unrestricted interface condition; teacher informed safeguards mitigated that harm. This is a result from a particular intervention and setting, not proof that all AI assistance damages learning. The paper has a published correction, linked in the evidence notes; avoid reusing headline percentages without checking the corrected article. For our shop example, record both the supported correction and a later independent explanation. A product dashboard that counts completed exercises can tell you the system is busy while leaving the educational question unanswered.</a:t>
            </a:r>
          </a:p>
          <a:p xmlns:a="http://schemas.openxmlformats.org/drawingml/2006/main">
            <a:r>
              <a:t/>
            </a:r>
          </a:p>
          <a:p xmlns:a="http://schemas.openxmlformats.org/drawingml/2006/main">
            <a:r>
              <a:t>Sources and further reading (verified 2026-09-04):</a:t>
            </a:r>
          </a:p>
          <a:p xmlns:a="http://schemas.openxmlformats.org/drawingml/2006/main">
            <a:r>
              <a:t>https://doi.org/10.1073/pnas.2422633122</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A contrasting physics trial by Kestin and colleagues reported stronger immediate learning outcomes for its carefully designed AI tutoring condition than the active learning comparison used in that course. Keep the treatment attached to the finding: engineered scaffolding, specific lessons, and a university population. It does not establish that a generic chat window beats teachers across subjects, ages, or long term outcomes. The two studies should make the audience curious about instructional design, not eager to declare a winner. Ask what the tutor actually makes the learner do. Does it request an attempt, expose an assumption, and check a new example? Those are decisions a school can specify and test before buying a larger deployment.</a:t>
            </a:r>
          </a:p>
          <a:p xmlns:a="http://schemas.openxmlformats.org/drawingml/2006/main">
            <a:r>
              <a:t/>
            </a:r>
          </a:p>
          <a:p xmlns:a="http://schemas.openxmlformats.org/drawingml/2006/main">
            <a:r>
              <a:t>Sources and further reading (verified 2026-09-04):</a:t>
            </a:r>
          </a:p>
          <a:p xmlns:a="http://schemas.openxmlformats.org/drawingml/2006/main">
            <a:r>
              <a:t>https://www.nature.com/articles/s41598-025-97652-6</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Propose a small local evaluation set before a pilot. Include a confident wrong answer, a correct answer with faulty reasoning, a learner asking for the final solution, and a student whose wording the tutor misunderstands. In the percentage example, the tutor must not affirm that equal percentage changes cancel. It should ask what number the discount applies to, then inspect the next attempt. Have educators score those teaching moves against agreed examples. Count factual errors separately from unhelpful pacing or tone. These are proposed evaluation criteria rather than a validated measurement instrument. Their value comes from making a purchasing claim inspectable. A model's general benchmark score cannot certify your lesson design or your learners' experience.</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Return to the deliberately flawed answer. It looks ordinary and confident; its error is in a relationship, not a fabricated citation. Students need more than advice to verify sources. They need to notice which claim requires checking, choose a relevant check, and explain what would change their mind. For this arithmetic task, a concrete counterexample beats asking a second model for reassurance. In a history task, checking a document and its context might matter more. Multiple models agreeing is not independent evidence of truth when they can share assumptions. Treat AI as a sparring partner whose output supplies material for inquiry. Teach the move that resolves uncertainty, not a ritual of requesting more confident text.</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Liang and colleagues found false positives affecting nonnative English writing and sensitivity to rewriting in the detectors and datasets they studied in 2023. That is evidence about tested tools under tested conditions, not a timeless accuracy estimate for every detector. Even a useful authorship signal would not tell us whether the learner can explain percentages. The talk's design recommendation is to avoid making disciplinary accusation an automated consequence of a score. Keep uncertainty visible, use institutional procedures, and investigate evidence with a human. Do not perform a stage detector stunt on a student's work. A dramatic misclassification would be a poor experiment and a distraction from the capability we are trying to assess.</a:t>
            </a:r>
          </a:p>
          <a:p xmlns:a="http://schemas.openxmlformats.org/drawingml/2006/main">
            <a:r>
              <a:t/>
            </a:r>
          </a:p>
          <a:p xmlns:a="http://schemas.openxmlformats.org/drawingml/2006/main">
            <a:r>
              <a:t>Sources and further reading (verified 2026-09-04):</a:t>
            </a:r>
          </a:p>
          <a:p xmlns:a="http://schemas.openxmlformats.org/drawingml/2006/main">
            <a:r>
              <a:t>https://doi.org/10.1016/j.patter.2023.100779</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Better evidence does not mean recording every keystroke. Start with one added question that materially improves the inference you can make. In our example, ask which amount the discount applies to and why. If the answer reveals a misconception, offer feedback and another attempt before interpreting it as an assessment result. The exact format should fit the objective and learner: a spoken explanation, annotated calculation, or structured written response may serve similar purposes. Preserve a meaningful independent check where independence is part of the outcome. This is a proposed classroom design, not a claim that these four activities eliminate misconduct. Collect enough evidence to support a decision, not enough data to reconstruct a student's entire life.</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Our own design requirements begin before a student sees the task. If assisted practice is permitted, provide comparable access or a usable alternative. If oral explanation is chosen, make room for disability related accommodations and language needs rather than grading speaking ease by accident. Explain what will be retained, who can see it, and how a learner can correct a transcription error. Do not assume a recording is necessary just because a platform can make one. For the shop example, written annotations may offer sufficient evidence without audio. These choices affect what the assessment actually measures. A tool policy that creates unequal access can distort the result before anyone writes the first answer.</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Use the signature line: AI can scale instruction much more easily than it can scale wisdom. Present it as a framing claim, not a quantified comparison. In the example, a tutor might supply another exercise quickly. A teacher may notice that the student can reason correctly aloud but freezes when confronted with money notation, or that a language misunderstanding is being scored as a mathematics error. The human contribution is identifying what the evidence means in context. That does not require humans to approve every hint. Reserve attention for interpretation, significant grading decisions, and support that depends on knowing the learner. Define how students reach that person; a human escalation promise needs an actual route.</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p>
          <a:p xmlns:a="http://schemas.openxmlformats.org/drawingml/2006/main">
            <a:r>
              <a:t>Ask the audience to redesign one existing assignment instead of buying an institution wide transformation. Before the pilot, write the objective and a simple rubric for the new evidence. Keep a baseline example of the current task, estimate staff time, and agree what improvement would justify continuing. Invite students to describe confusing instructions and burdens that the designer missed. Review a small sample with two educators to find disagreements in the rubric before grading everyone. TEQSA's assessment reform discussion supports multiple contextual approaches rather than a single universal fix. Our proposed pilot translates that general direction into a manageable local experiment; it is not an official compliance recipe or a demonstrated institutional outcome.</a:t>
            </a:r>
          </a:p>
          <a:p xmlns:a="http://schemas.openxmlformats.org/drawingml/2006/main">
            <a:r>
              <a:t/>
            </a:r>
          </a:p>
          <a:p xmlns:a="http://schemas.openxmlformats.org/drawingml/2006/main">
            <a:r>
              <a:t>Sources and further reading (verified 2026-09-04):</a:t>
            </a:r>
          </a:p>
          <a:p xmlns:a="http://schemas.openxmlformats.org/drawingml/2006/main">
            <a:r>
              <a:t>https://www.teqsa.gov.au/guides-resources/resources/corporate-publications/assessment-reform-age-artificial-intelligence</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Give education leaders a question they can take into the next product demonstration. Ask the vendor to walk through one learner misconception and show the teaching response, not merely a fluent correct answer. Request the evaluation conditions and the outcome measured after assistance stops. Ask what happens when the tutor is wrong, how educators inspect examples, and what work falls back onto staff. A pilot can reveal that a useful tool saves preparation time without improving independent learning; that may still be a legitimate purchase if stated honestly. Keep those benefits separate. The strongest skeptical position is to pay for an outcome you can explain, with limitations you understand and an exit you can use.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Close by returning to the assignment participants chose in the opening. Ask them to finish three sentences: the learner should be able to do this; assistance is useful here; I will know the learner can do it when this happens. Leave a brief pause for writing or discussion. Then use the authored closing: The goal isn't education where students don't use AI. It's education where using AI doesn't eliminate the reason they're there. This is an invitation to redesign with evidence, not a declaration that every existing assessment is obsolete. The practical next step is small: change one prompt, add one meaningful check, and inspect what the new evidence actually lets you conclude.</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deefe34b94476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89edff9701d4ca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cfe7e1714354d5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d0dec74d5c34cb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fb12a942ae34ff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d3c41c8510b428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cd94d313b1b41b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dcf27ccf7614ef4"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52600d6cde46b5" /><Relationship Type="http://schemas.openxmlformats.org/officeDocument/2006/relationships/slideLayout" Target="/ppt/slideLayouts/slideLayout1.xml" Id="Rb41835b5191f415a" /><Relationship Type="http://schemas.openxmlformats.org/officeDocument/2006/relationships/slideLayout" Target="/ppt/slideLayouts/slideLayout2.xml" Id="R54edb40b99644214" /><Relationship Type="http://schemas.openxmlformats.org/officeDocument/2006/relationships/slideLayout" Target="/ppt/slideLayouts/slideLayout3.xml" Id="Rad718488a06d4ecc" /><Relationship Type="http://schemas.openxmlformats.org/officeDocument/2006/relationships/slideLayout" Target="/ppt/slideLayouts/slideLayout4.xml" Id="Ra58c5ef4fcdb4cce" /><Relationship Type="http://schemas.openxmlformats.org/officeDocument/2006/relationships/slideLayout" Target="/ppt/slideLayouts/slideLayout5.xml" Id="R73145cb8845c43cd" /><Relationship Type="http://schemas.openxmlformats.org/officeDocument/2006/relationships/slideLayout" Target="/ppt/slideLayouts/slideLayout6.xml" Id="Rf7cead892f0441e8" /><Relationship Type="http://schemas.openxmlformats.org/officeDocument/2006/relationships/slideLayout" Target="/ppt/slideLayouts/slideLayout7.xml" Id="R27af8bb6e72547c1" /><Relationship Type="http://schemas.openxmlformats.org/officeDocument/2006/relationships/slideLayout" Target="/ppt/slideLayouts/slideLayout8.xml" Id="R2f50328197e74cf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b41835b5191f415a"/>
    <p:sldLayoutId xmlns:r="http://schemas.openxmlformats.org/officeDocument/2006/relationships" id="2147483650" r:id="R54edb40b99644214"/>
    <p:sldLayoutId xmlns:r="http://schemas.openxmlformats.org/officeDocument/2006/relationships" id="2147483651" r:id="Rad718488a06d4ecc"/>
    <p:sldLayoutId xmlns:r="http://schemas.openxmlformats.org/officeDocument/2006/relationships" id="2147483652" r:id="Ra58c5ef4fcdb4cce"/>
    <p:sldLayoutId xmlns:r="http://schemas.openxmlformats.org/officeDocument/2006/relationships" id="2147483653" r:id="R73145cb8845c43cd"/>
    <p:sldLayoutId xmlns:r="http://schemas.openxmlformats.org/officeDocument/2006/relationships" id="2147483654" r:id="Rf7cead892f0441e8"/>
    <p:sldLayoutId xmlns:r="http://schemas.openxmlformats.org/officeDocument/2006/relationships" id="2147483655" r:id="R27af8bb6e72547c1"/>
    <p:sldLayoutId xmlns:r="http://schemas.openxmlformats.org/officeDocument/2006/relationships" id="2147483656" r:id="R2f50328197e74cf0"/>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5eb02cde00e4334" /><Relationship Type="http://schemas.openxmlformats.org/officeDocument/2006/relationships/image" Target="/ppt/media/image.png" Id="Rd0e3f5a76b714964" /><Relationship Type="http://schemas.openxmlformats.org/officeDocument/2006/relationships/notesSlide" Target="/ppt/notesSlides/notesSlide1.xml" Id="R00094c94143745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b98f1401f784f2d" /><Relationship Type="http://schemas.openxmlformats.org/officeDocument/2006/relationships/notesSlide" Target="/ppt/notesSlides/notesSlide2.xml" Id="R4a5603008f9c4b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b0f10eae1654002" /><Relationship Type="http://schemas.openxmlformats.org/officeDocument/2006/relationships/notesSlide" Target="/ppt/notesSlides/notesSlide3.xml" Id="R3fa5612967bc47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feb999afac048ed" /><Relationship Type="http://schemas.openxmlformats.org/officeDocument/2006/relationships/notesSlide" Target="/ppt/notesSlides/notesSlide4.xml" Id="Re6afb6fef7694d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6932d53ff084081" /><Relationship Type="http://schemas.openxmlformats.org/officeDocument/2006/relationships/notesSlide" Target="/ppt/notesSlides/notesSlide5.xml" Id="Re5586df089dc4aa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9f8f88a3aee4ab9" /><Relationship Type="http://schemas.openxmlformats.org/officeDocument/2006/relationships/notesSlide" Target="/ppt/notesSlides/notesSlide6.xml" Id="Rddc49ffe015c4c3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f96d73f092243da" /><Relationship Type="http://schemas.openxmlformats.org/officeDocument/2006/relationships/notesSlide" Target="/ppt/notesSlides/notesSlide7.xml" Id="R6ba900fa9a4d406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224c75ad7344040" /><Relationship Type="http://schemas.openxmlformats.org/officeDocument/2006/relationships/notesSlide" Target="/ppt/notesSlides/notesSlide8.xml" Id="R8c8a9a83227a435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8f98ead3f534f07" /><Relationship Type="http://schemas.openxmlformats.org/officeDocument/2006/relationships/notesSlide" Target="/ppt/notesSlides/notesSlide9.xml" Id="Rc46d8f0ddd404b7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1a92fb34245433d" /><Relationship Type="http://schemas.openxmlformats.org/officeDocument/2006/relationships/notesSlide" Target="/ppt/notesSlides/notesSlide10.xml" Id="R36765ae85598492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d269525c9d345bf" /><Relationship Type="http://schemas.openxmlformats.org/officeDocument/2006/relationships/notesSlide" Target="/ppt/notesSlides/notesSlide11.xml" Id="Rf48b480650ee422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715be82e74745f3" /><Relationship Type="http://schemas.openxmlformats.org/officeDocument/2006/relationships/notesSlide" Target="/ppt/notesSlides/notesSlide12.xml" Id="Rc4c3e59d8395416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b53fbb622d84218" /><Relationship Type="http://schemas.openxmlformats.org/officeDocument/2006/relationships/notesSlide" Target="/ppt/notesSlides/notesSlide13.xml" Id="Red9ac16d43b94a2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ed85fdc606b483d" /><Relationship Type="http://schemas.openxmlformats.org/officeDocument/2006/relationships/notesSlide" Target="/ppt/notesSlides/notesSlide14.xml" Id="Race3c62dbec94cb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ba86f3321b04d41" /><Relationship Type="http://schemas.openxmlformats.org/officeDocument/2006/relationships/notesSlide" Target="/ppt/notesSlides/notesSlide15.xml" Id="Rafc51cbc14a947f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e13bd9f9ba246c0" /><Relationship Type="http://schemas.openxmlformats.org/officeDocument/2006/relationships/notesSlide" Target="/ppt/notesSlides/notesSlide16.xml" Id="R3abb8495e6c7411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0e366f8937e4dd7" /><Relationship Type="http://schemas.openxmlformats.org/officeDocument/2006/relationships/notesSlide" Target="/ppt/notesSlides/notesSlide17.xml" Id="R9173cb8e3abe499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57821abfae04a4e" /><Relationship Type="http://schemas.openxmlformats.org/officeDocument/2006/relationships/notesSlide" Target="/ppt/notesSlides/notesSlide18.xml" Id="Rf3de4660dae2428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anchor="ctr">
            <a:noAutofit/>
          </a:bodyPr>
          <a:lstStyle xmlns:a="http://schemas.openxmlformats.org/drawingml/2006/main"/>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A Skeptic's Guide</a:t>
            </a:r>
          </a:p>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to AI in Education</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33" y="5264722"/>
            <a:ext cx="6910483" cy="1080246"/>
          </a:xfrm>
        </p:spPr>
        <p:txBody>
          <a:bodyPr xmlns:a="http://schemas.openxmlformats.org/drawingml/2006/main" anchor="b">
            <a:noAutofit/>
          </a:bodyPr>
          <a:lstStyle xmlns:a="http://schemas.openxmlformats.org/drawingml/2006/main"/>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Assume access. Demand evidence. Preserve learning.</a:t>
            </a:r>
          </a:p>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Dan Levy</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40-minute talk</a:t>
            </a: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d0e3f5a76b714964"/>
          <a:srcRect xmlns:a="http://schemas.openxmlformats.org/drawingml/2006/main" l="8269" t="0" r="8269" b="0"/>
          <a:stretch xmlns:a="http://schemas.openxmlformats.org/drawingml/2006/main"/>
        </p:blipFill>
        <p:spPr>
          <a:xfrm xmlns:a="http://schemas.openxmlformats.org/drawingml/2006/main">
            <a:off x="7899094" y="0"/>
            <a:ext cx="4292906" cy="6858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2598689-54C9-18A7-3A19-ED76AA08988F}" type="slidenum">
              <a:rPr sz="1000">
                <a:solidFill>
                  <a:srgbClr val="FFFFFF"/>
                </a:solidFill>
                <a:latin typeface="Helvetica Neue"/>
                <a:ea typeface="Helvetica Neue"/>
                <a:cs typeface="Helvetica Neue"/>
              </a:rPr>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Skepticism is a method</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What is the claim?</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What would count as evidence?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Who benefits if we believe it?</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02359C0-8A7A-196E-DD58-8E6569619F09}" type="slidenum">
              <a:rPr sz="1000">
                <a:solidFill>
                  <a:srgbClr val="FFFFFF"/>
                </a:solidFill>
                <a:latin typeface="Helvetica Neue"/>
                <a:ea typeface="Helvetica Neue"/>
                <a:cs typeface="Helvetica Neue"/>
              </a:rPr>
              <a:t>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proxy is not the capability</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Artifact: a polished paragraph</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Capability: a defensible argument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Evidence: explain and revise a claim</a:t>
            </a:r>
          </a:p>
        </p:txBody>
      </p:sp>
    </p:spTree>
    <p:extLst>
      <p:ext uri="{BB962C8B-B14F-4D97-AF65-F5344CB8AC3E}">
        <p14:creationId xmlns:p14="http://schemas.microsoft.com/office/powerpoint/2010/main" val="36671821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FD6AB9A-5F9E-5F59-51AB-3C8734130965}" type="slidenum">
              <a:rPr sz="1000">
                <a:solidFill>
                  <a:srgbClr val="FFFFFF"/>
                </a:solidFill>
                <a:latin typeface="Helvetica Neue"/>
                <a:ea typeface="Helvetica Neue"/>
                <a:cs typeface="Helvetica Neue"/>
              </a:rPr>
              <a:t>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Delegate / Augment / Preserve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Delegate effort outside the objective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Augment practice toward the objective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Preserve evidence of the objective</a:t>
            </a:r>
          </a:p>
        </p:txBody>
      </p:sp>
    </p:spTree>
    <p:extLst>
      <p:ext uri="{BB962C8B-B14F-4D97-AF65-F5344CB8AC3E}">
        <p14:creationId xmlns:p14="http://schemas.microsoft.com/office/powerpoint/2010/main" val="36671821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E5B3003-2C54-13C6-9832-7637201064DE}" type="slidenum">
              <a:rPr sz="1000">
                <a:solidFill>
                  <a:srgbClr val="FFFFFF"/>
                </a:solidFill>
                <a:latin typeface="Helvetica Neue"/>
                <a:ea typeface="Helvetica Neue"/>
                <a:cs typeface="Helvetica Neue"/>
              </a:rPr>
              <a:t>5</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One task, three legitimate decisions</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Price rises 20%, then falls 20%</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Delegate: format the explanation</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Augment: ask for a hint</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Preserve: explain the new base</a:t>
            </a:r>
          </a:p>
        </p:txBody>
      </p:sp>
    </p:spTree>
    <p:extLst>
      <p:ext uri="{BB962C8B-B14F-4D97-AF65-F5344CB8AC3E}">
        <p14:creationId xmlns:p14="http://schemas.microsoft.com/office/powerpoint/2010/main" val="36014548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8C630A04-5A25-9E0C-9436-126091DB86B3}" type="slidenum">
              <a:rPr sz="1000">
                <a:solidFill>
                  <a:srgbClr val="FFFFFF"/>
                </a:solidFill>
                <a:latin typeface="Helvetica Neue"/>
                <a:ea typeface="Helvetica Neue"/>
                <a:cs typeface="Helvetica Neue"/>
              </a:rPr>
              <a:t>6</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Try the assessment, not the detector</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“Up 20%, down 20%: no change.”</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Find the mistake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Repair the calculation</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Explain the denominator</a:t>
            </a:r>
          </a:p>
        </p:txBody>
      </p:sp>
    </p:spTree>
    <p:extLst>
      <p:ext uri="{BB962C8B-B14F-4D97-AF65-F5344CB8AC3E}">
        <p14:creationId xmlns:p14="http://schemas.microsoft.com/office/powerpoint/2010/main" val="36014548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3D7D1C8-AE23-AA48-DF65-C742588DBE47}" type="slidenum">
              <a:rPr sz="1000">
                <a:solidFill>
                  <a:srgbClr val="FFFFFF"/>
                </a:solidFill>
                <a:latin typeface="Helvetica Neue"/>
                <a:ea typeface="Helvetica Neue"/>
                <a:cs typeface="Helvetica Neue"/>
              </a:rPr>
              <a:t>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Now change the problem</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Start at $80</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Rise 25%, then fall 20%</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What changes? What stays true?</a:t>
            </a:r>
          </a:p>
        </p:txBody>
      </p:sp>
    </p:spTree>
    <p:extLst>
      <p:ext uri="{BB962C8B-B14F-4D97-AF65-F5344CB8AC3E}">
        <p14:creationId xmlns:p14="http://schemas.microsoft.com/office/powerpoint/2010/main" val="36671821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BA58DA2A-B818-18A9-29C1-B697728D5BCE}" type="slidenum">
              <a:rPr sz="1000">
                <a:solidFill>
                  <a:srgbClr val="FFFFFF"/>
                </a:solidFill>
                <a:latin typeface="Helvetica Neue"/>
                <a:ea typeface="Helvetica Neue"/>
                <a:cs typeface="Helvetica Neue"/>
              </a:rPr>
              <a:t>8</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Tutor performance is not learner performance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Assisted practice</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Independent performance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Retention and transfer</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These are different outcomes</a:t>
            </a:r>
          </a:p>
        </p:txBody>
      </p:sp>
    </p:spTree>
    <p:extLst>
      <p:ext uri="{BB962C8B-B14F-4D97-AF65-F5344CB8AC3E}">
        <p14:creationId xmlns:p14="http://schemas.microsoft.com/office/powerpoint/2010/main" val="3601454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88657AE-30A1-5A7A-6A7F-315D84436430}" type="slidenum">
              <a:rPr sz="1000">
                <a:solidFill>
                  <a:srgbClr val="FFFFFF"/>
                </a:solidFill>
                <a:latin typeface="Helvetica Neue"/>
                <a:ea typeface="Helvetica Neue"/>
                <a:cs typeface="Helvetica Neue"/>
              </a:rPr>
              <a:t>9</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Benefits depend on the tutor design</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Which learners?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Which teaching moves?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Which comparison?</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How long after the lesson?</a:t>
            </a:r>
          </a:p>
        </p:txBody>
      </p:sp>
    </p:spTree>
    <p:extLst>
      <p:ext uri="{BB962C8B-B14F-4D97-AF65-F5344CB8AC3E}">
        <p14:creationId xmlns:p14="http://schemas.microsoft.com/office/powerpoint/2010/main" val="3601454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B7BEEEC-A170-5376-2B6E-CB54687B0CB1}" type="slidenum">
              <a:rPr sz="1000">
                <a:solidFill>
                  <a:srgbClr val="FFFFFF"/>
                </a:solidFill>
                <a:latin typeface="Helvetica Neue"/>
                <a:ea typeface="Helvetica Neue"/>
                <a:cs typeface="Helvetica Neue"/>
              </a:rPr>
              <a:t>10</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Evaluate the tutor on your work</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Correct the learner without shaming</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Give the smallest useful hint</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Check the next independent attempt</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Escalate when the task needs a person</a:t>
            </a:r>
          </a:p>
        </p:txBody>
      </p:sp>
    </p:spTree>
    <p:extLst>
      <p:ext uri="{BB962C8B-B14F-4D97-AF65-F5344CB8AC3E}">
        <p14:creationId xmlns:p14="http://schemas.microsoft.com/office/powerpoint/2010/main" val="36014548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0394428-F1DC-E5F6-DB0C-7DE31F3D8A23}" type="slidenum">
              <a:rPr sz="1000">
                <a:solidFill>
                  <a:srgbClr val="FFFFFF"/>
                </a:solidFill>
                <a:latin typeface="Helvetica Neue"/>
                <a:ea typeface="Helvetica Neue"/>
                <a:cs typeface="Helvetica Neue"/>
              </a:rPr>
              <a:t>11</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AI literacy is disciplined doubt</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Trace a claim</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Check the source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Find the assumption</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Try to break the answer</a:t>
            </a:r>
          </a:p>
        </p:txBody>
      </p:sp>
    </p:spTree>
    <p:extLst>
      <p:ext uri="{BB962C8B-B14F-4D97-AF65-F5344CB8AC3E}">
        <p14:creationId xmlns:p14="http://schemas.microsoft.com/office/powerpoint/2010/main" val="36014548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4DB16885-0D3F-A391-B669-3211DB3B26E8}" type="slidenum">
              <a:rPr sz="1000">
                <a:solidFill>
                  <a:srgbClr val="FFFFFF"/>
                </a:solidFill>
                <a:latin typeface="Helvetica Neue"/>
                <a:ea typeface="Helvetica Neue"/>
                <a:cs typeface="Helvetica Neue"/>
              </a:rPr>
              <a:t>12</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detector score cannot settle the learning question</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Authorship inference</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Learning evidence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Misconduct decision</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Keep these questions distinct</a:t>
            </a:r>
          </a:p>
        </p:txBody>
      </p:sp>
    </p:spTree>
    <p:extLst>
      <p:ext uri="{BB962C8B-B14F-4D97-AF65-F5344CB8AC3E}">
        <p14:creationId xmlns:p14="http://schemas.microsoft.com/office/powerpoint/2010/main" val="36014548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DD23107-4986-8758-3A93-3D74F35908CC}" type="slidenum">
              <a:rPr sz="1000">
                <a:solidFill>
                  <a:srgbClr val="FFFFFF"/>
                </a:solidFill>
                <a:latin typeface="Helvetica Neue"/>
                <a:ea typeface="Helvetica Neue"/>
                <a:cs typeface="Helvetica Neue"/>
              </a:rPr>
              <a:t>13</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Make the evidence proportional</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A short explanation</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A changed constraint</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correction with a reason</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later independent check</a:t>
            </a:r>
          </a:p>
        </p:txBody>
      </p:sp>
    </p:spTree>
    <p:extLst>
      <p:ext uri="{BB962C8B-B14F-4D97-AF65-F5344CB8AC3E}">
        <p14:creationId xmlns:p14="http://schemas.microsoft.com/office/powerpoint/2010/main" val="36014548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27921A4-25C4-3DB4-06B1-32693CEE2241}" type="slidenum">
              <a:rPr sz="1000">
                <a:solidFill>
                  <a:srgbClr val="FFFFFF"/>
                </a:solidFill>
                <a:latin typeface="Helvetica Neue"/>
                <a:ea typeface="Helvetica Neue"/>
                <a:cs typeface="Helvetica Neue"/>
              </a:rPr>
              <a:t>14</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Access is part of the design</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Comparable tools and alternatives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Accessible ways to explain</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Clear permission before the task</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No surprise surveillance</a:t>
            </a:r>
          </a:p>
        </p:txBody>
      </p:sp>
    </p:spTree>
    <p:extLst>
      <p:ext uri="{BB962C8B-B14F-4D97-AF65-F5344CB8AC3E}">
        <p14:creationId xmlns:p14="http://schemas.microsoft.com/office/powerpoint/2010/main" val="36014548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A83FA91-883A-0168-8075-96CEB9DCA3C2}" type="slidenum">
              <a:rPr sz="1000">
                <a:solidFill>
                  <a:srgbClr val="FFFFFF"/>
                </a:solidFill>
                <a:latin typeface="Helvetica Neue"/>
                <a:ea typeface="Helvetica Neue"/>
                <a:cs typeface="Helvetica Neue"/>
              </a:rPr>
              <a:t>15</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Humans belong at consequential decisions</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Diagnose the misconception</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Interpret ambiguous evidence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Offer accountable feedback</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Own consequential decisions</a:t>
            </a:r>
          </a:p>
        </p:txBody>
      </p:sp>
    </p:spTree>
    <p:extLst>
      <p:ext uri="{BB962C8B-B14F-4D97-AF65-F5344CB8AC3E}">
        <p14:creationId xmlns:p14="http://schemas.microsoft.com/office/powerpoint/2010/main" val="36014548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C9C7607-4BA3-B4DC-A00F-2E67A9FCFF7E}" type="slidenum">
              <a:rPr sz="1000">
                <a:solidFill>
                  <a:srgbClr val="FFFFFF"/>
                </a:solidFill>
                <a:latin typeface="Helvetica Neue"/>
                <a:ea typeface="Helvetica Neue"/>
                <a:cs typeface="Helvetica Neue"/>
              </a:rPr>
              <a:t>16</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Pilot one assignment</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Name the capability</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Specify permitted assistance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Compare evidence before and after</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Decide whether to keep the change</a:t>
            </a:r>
          </a:p>
        </p:txBody>
      </p:sp>
    </p:spTree>
    <p:extLst>
      <p:ext uri="{BB962C8B-B14F-4D97-AF65-F5344CB8AC3E}">
        <p14:creationId xmlns:p14="http://schemas.microsoft.com/office/powerpoint/2010/main" val="36014548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90F7333B-44AC-F7E9-D49D-FE92F45E0477}" type="slidenum">
              <a:rPr sz="1000">
                <a:solidFill>
                  <a:srgbClr val="FFFFFF"/>
                </a:solidFill>
                <a:latin typeface="Helvetica Neue"/>
                <a:ea typeface="Helvetica Neue"/>
                <a:cs typeface="Helvetica Neue"/>
              </a:rPr>
              <a:t>17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Ask a better procurement question</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What learning improved?</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Compared with what?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For whom? At what staff cost?</a:t>
            </a:r>
          </a:p>
        </p:txBody>
      </p:sp>
    </p:spTree>
    <p:extLst>
      <p:ext uri="{BB962C8B-B14F-4D97-AF65-F5344CB8AC3E}">
        <p14:creationId xmlns:p14="http://schemas.microsoft.com/office/powerpoint/2010/main" val="366718214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B1C6C81E-38B9-7560-621D-5A151A79DF9B}" type="slidenum">
              <a:rPr sz="1000">
                <a:solidFill>
                  <a:srgbClr val="FFFFFF"/>
                </a:solidFill>
                <a:latin typeface="Helvetica Neue"/>
                <a:ea typeface="Helvetica Neue"/>
                <a:cs typeface="Helvetica Neue"/>
              </a:rPr>
              <a:t>18</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Keep the reason students are here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Name the human capability</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Choose assistance deliberately</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Collect evidence of understanding</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Evaluate the teaching, not the hype</a:t>
            </a:r>
          </a:p>
        </p:txBody>
      </p:sp>
    </p:spTree>
    <p:extLst>
      <p:ext uri="{BB962C8B-B14F-4D97-AF65-F5344CB8AC3E}">
        <p14:creationId xmlns:p14="http://schemas.microsoft.com/office/powerpoint/2010/main" val="360145486"/>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2026-09-05T04:35:13.6750000Z</dcterms:created>
  <dcterms:modified xsi:type="dcterms:W3CDTF">2026-09-05T04:35:13.6750000Z</dcterms:modified>
</coreProperties>
</file>