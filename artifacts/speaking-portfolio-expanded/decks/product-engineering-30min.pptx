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6fc61ef71f43de" /><Relationship Type="http://schemas.openxmlformats.org/officeDocument/2006/relationships/extended-properties" Target="/docProps/app.xml" Id="R7d961f2ae75d4cdb" /><Relationship Type="http://schemas.openxmlformats.org/officeDocument/2006/relationships/officeDocument" Target="/ppt/presentation.xml" Id="R95ea48f6ad2f474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f9627306fb34c9c"/>
  </p:sldMasterIdLst>
  <p:notesMasterIdLst>
    <p:notesMasterId xmlns:r="http://schemas.openxmlformats.org/officeDocument/2006/relationships" r:id="Rab557f15e98d48b7"/>
  </p:notesMasterIdLst>
  <p:sldIdLst>
    <p:sldId xmlns:r="http://schemas.openxmlformats.org/officeDocument/2006/relationships" id="256" r:id="R0813604f34c74fa2"/>
    <p:sldId xmlns:r="http://schemas.openxmlformats.org/officeDocument/2006/relationships" id="257" r:id="Re51a8a97bf3342a3"/>
    <p:sldId xmlns:r="http://schemas.openxmlformats.org/officeDocument/2006/relationships" id="258" r:id="R8695386213d94263"/>
    <p:sldId xmlns:r="http://schemas.openxmlformats.org/officeDocument/2006/relationships" id="259" r:id="R02ce212d5893411b"/>
    <p:sldId xmlns:r="http://schemas.openxmlformats.org/officeDocument/2006/relationships" id="260" r:id="Rc204d6a8300c4220"/>
    <p:sldId xmlns:r="http://schemas.openxmlformats.org/officeDocument/2006/relationships" id="261" r:id="R873f94a87a5e41de"/>
    <p:sldId xmlns:r="http://schemas.openxmlformats.org/officeDocument/2006/relationships" id="262" r:id="R87f74b1b4e364802"/>
    <p:sldId xmlns:r="http://schemas.openxmlformats.org/officeDocument/2006/relationships" id="263" r:id="R1a2db1eb6b25459e"/>
    <p:sldId xmlns:r="http://schemas.openxmlformats.org/officeDocument/2006/relationships" id="264" r:id="R6badee2ba8df45c0"/>
    <p:sldId xmlns:r="http://schemas.openxmlformats.org/officeDocument/2006/relationships" id="265" r:id="R658b304242fd4fe0"/>
    <p:sldId xmlns:r="http://schemas.openxmlformats.org/officeDocument/2006/relationships" id="266" r:id="R2bd0ee2aca404a76"/>
    <p:sldId xmlns:r="http://schemas.openxmlformats.org/officeDocument/2006/relationships" id="267" r:id="Rf866e3cf87e1418a"/>
    <p:sldId xmlns:r="http://schemas.openxmlformats.org/officeDocument/2006/relationships" id="268" r:id="R91385179a1794a95"/>
    <p:sldId xmlns:r="http://schemas.openxmlformats.org/officeDocument/2006/relationships" id="269" r:id="R6ad42fa34fb248fd"/>
  </p:sldIdLst>
  <p:sldSz cx="12192000" cy="6858000"/>
  <p:notesSz cx="6858000" cy="9144000"/>
  <p:embeddedFontLst>
    <p:embeddedFont>
      <p:font typeface="OpenAI Sans"/>
      <p:regular xmlns:r="http://schemas.openxmlformats.org/officeDocument/2006/relationships" r:id="R4ad339cf4bc848f8"/>
      <p:bold xmlns:r="http://schemas.openxmlformats.org/officeDocument/2006/relationships" r:id="R89561f33639948f7"/>
      <p:italic xmlns:r="http://schemas.openxmlformats.org/officeDocument/2006/relationships" r:id="Rf1458958164b4bc0"/>
      <p:boldItalic xmlns:r="http://schemas.openxmlformats.org/officeDocument/2006/relationships" r:id="Rec9236291aa9463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0e1e5cf57754c5b" /><Relationship Type="http://schemas.openxmlformats.org/officeDocument/2006/relationships/slideMaster" Target="/ppt/slideMasters/slideMaster1.xml" Id="R4f9627306fb34c9c" /><Relationship Type="http://schemas.openxmlformats.org/officeDocument/2006/relationships/notesMaster" Target="/ppt/notesMasters/notesMaster1.xml" Id="Rab557f15e98d48b7" /><Relationship Type="http://schemas.openxmlformats.org/officeDocument/2006/relationships/presProps" Target="/ppt/presProps.xml" Id="R44699f63ab034d63" /><Relationship Type="http://schemas.openxmlformats.org/officeDocument/2006/relationships/viewProps" Target="/ppt/viewProps.xml" Id="R7f94191189b3451f" /><Relationship Type="http://schemas.openxmlformats.org/officeDocument/2006/relationships/tableStyles" Target="/ppt/tableStyles.xml" Id="R7ea9b502c29f492f" /><Relationship Type="http://schemas.openxmlformats.org/officeDocument/2006/relationships/font" Target="/ppt/fonts/font.dat" Id="R4ad339cf4bc848f8" /><Relationship Type="http://schemas.openxmlformats.org/officeDocument/2006/relationships/font" Target="/ppt/fonts/font2.dat" Id="R89561f33639948f7" /><Relationship Type="http://schemas.openxmlformats.org/officeDocument/2006/relationships/font" Target="/ppt/fonts/font3.dat" Id="Rf1458958164b4bc0" /><Relationship Type="http://schemas.openxmlformats.org/officeDocument/2006/relationships/font" Target="/ppt/fonts/font4.dat" Id="Rec9236291aa9463c" /><Relationship Type="http://schemas.openxmlformats.org/officeDocument/2006/relationships/slide" Target="/ppt/slides/slide1.xml" Id="R0813604f34c74fa2" /><Relationship Type="http://schemas.openxmlformats.org/officeDocument/2006/relationships/slide" Target="/ppt/slides/slide2.xml" Id="Re51a8a97bf3342a3" /><Relationship Type="http://schemas.openxmlformats.org/officeDocument/2006/relationships/slide" Target="/ppt/slides/slide3.xml" Id="R8695386213d94263" /><Relationship Type="http://schemas.openxmlformats.org/officeDocument/2006/relationships/slide" Target="/ppt/slides/slide4.xml" Id="R02ce212d5893411b" /><Relationship Type="http://schemas.openxmlformats.org/officeDocument/2006/relationships/slide" Target="/ppt/slides/slide5.xml" Id="Rc204d6a8300c4220" /><Relationship Type="http://schemas.openxmlformats.org/officeDocument/2006/relationships/slide" Target="/ppt/slides/slide6.xml" Id="R873f94a87a5e41de" /><Relationship Type="http://schemas.openxmlformats.org/officeDocument/2006/relationships/slide" Target="/ppt/slides/slide7.xml" Id="R87f74b1b4e364802" /><Relationship Type="http://schemas.openxmlformats.org/officeDocument/2006/relationships/slide" Target="/ppt/slides/slide8.xml" Id="R1a2db1eb6b25459e" /><Relationship Type="http://schemas.openxmlformats.org/officeDocument/2006/relationships/slide" Target="/ppt/slides/slide9.xml" Id="R6badee2ba8df45c0" /><Relationship Type="http://schemas.openxmlformats.org/officeDocument/2006/relationships/slide" Target="/ppt/slides/slide10.xml" Id="R658b304242fd4fe0" /><Relationship Type="http://schemas.openxmlformats.org/officeDocument/2006/relationships/slide" Target="/ppt/slides/slide11.xml" Id="R2bd0ee2aca404a76" /><Relationship Type="http://schemas.openxmlformats.org/officeDocument/2006/relationships/slide" Target="/ppt/slides/slide12.xml" Id="Rf866e3cf87e1418a" /><Relationship Type="http://schemas.openxmlformats.org/officeDocument/2006/relationships/slide" Target="/ppt/slides/slide13.xml" Id="R91385179a1794a95" /><Relationship Type="http://schemas.openxmlformats.org/officeDocument/2006/relationships/slide" Target="/ppt/slides/slide14.xml" Id="R6ad42fa34fb248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d81f8e21ea4c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c66304d9b64988" /><Relationship Type="http://schemas.openxmlformats.org/officeDocument/2006/relationships/notesMaster" Target="/ppt/notesMasters/notesMaster1.xml" Id="R50fd4f87a91548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735a09e99349dc" /><Relationship Type="http://schemas.openxmlformats.org/officeDocument/2006/relationships/notesMaster" Target="/ppt/notesMasters/notesMaster1.xml" Id="Rb1a890f6d9cb42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72562728124341" /><Relationship Type="http://schemas.openxmlformats.org/officeDocument/2006/relationships/notesMaster" Target="/ppt/notesMasters/notesMaster1.xml" Id="Re967e329fcab42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385130377e4e94" /><Relationship Type="http://schemas.openxmlformats.org/officeDocument/2006/relationships/notesMaster" Target="/ppt/notesMasters/notesMaster1.xml" Id="Re8071654362746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1562b1428243fc" /><Relationship Type="http://schemas.openxmlformats.org/officeDocument/2006/relationships/notesMaster" Target="/ppt/notesMasters/notesMaster1.xml" Id="R9d31870be95e4c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d3ced00b0d45bc" /><Relationship Type="http://schemas.openxmlformats.org/officeDocument/2006/relationships/notesMaster" Target="/ppt/notesMasters/notesMaster1.xml" Id="Re88e43a29f684a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b007fcc86c44560" /><Relationship Type="http://schemas.openxmlformats.org/officeDocument/2006/relationships/notesMaster" Target="/ppt/notesMasters/notesMaster1.xml" Id="Rb11641e4d46743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69adf2e8a943d4" /><Relationship Type="http://schemas.openxmlformats.org/officeDocument/2006/relationships/notesMaster" Target="/ppt/notesMasters/notesMaster1.xml" Id="R8be95a7fe60542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fb27d7c5ea4e8a" /><Relationship Type="http://schemas.openxmlformats.org/officeDocument/2006/relationships/notesMaster" Target="/ppt/notesMasters/notesMaster1.xml" Id="R3a4fc020b3864d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8c94f02d284be2" /><Relationship Type="http://schemas.openxmlformats.org/officeDocument/2006/relationships/notesMaster" Target="/ppt/notesMasters/notesMaster1.xml" Id="Re16a5ad76e6040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bc87b09bc24ced" /><Relationship Type="http://schemas.openxmlformats.org/officeDocument/2006/relationships/notesMaster" Target="/ppt/notesMasters/notesMaster1.xml" Id="Re198c63f30df441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48397ff1f542bf" /><Relationship Type="http://schemas.openxmlformats.org/officeDocument/2006/relationships/notesMaster" Target="/ppt/notesMasters/notesMaster1.xml" Id="R484604f6b965490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697019a4354b77" /><Relationship Type="http://schemas.openxmlformats.org/officeDocument/2006/relationships/notesMaster" Target="/ppt/notesMasters/notesMaster1.xml" Id="R9c1dc6aea62646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b37c770e8945a6" /><Relationship Type="http://schemas.openxmlformats.org/officeDocument/2006/relationships/notesMaster" Target="/ppt/notesMasters/notesMaster1.xml" Id="R7a1893a78d4d4e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endParaRPr/>
          </a:p>
          <a:p xmlns:a="http://schemas.openxmlformats.org/drawingml/2006/main">
            <a:r>
              <a:t/>
            </a:r>
            <a:endParaRPr/>
          </a:p>
          <a:p xmlns:a="http://schemas.openxmlformats.org/drawingml/2006/main">
            <a:r>
              <a:t>Open at the point where a weekly product meeting stalls. In this fictional scene, support thinks onboarding is confusing, analytics sees an activation drop, and sales wants more invitations. Everybody has a signal; nobody shares an explanation. Ask how long it takes this organization to move from a signal to a defensible decision. This version treats that delay as a system design problem. The objective is faster learning with visible controls, rather than simply generating more experiments or replacing the people who own product direction.</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Draw the loop and ask where a typical organization waits. Customer evidence may sit in support software while product decisions live in meetings and experiment results disappear into dashboards. Those gaps are candidates for automation because they impede learning, not because every manual activity is waste. Use the onboarding case to identify one missing connection: repeated integration visits were observed, but no one connected them to the invitation sequence. Treat this as a hypothesis to investigate rather than an analytical conclusion.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Give three explanations equal airtime. The same drop in activation could reflect confusing onboarding, weak team value, or a changed acquisition mix. A synthesis agent should preserve those alternatives with source links instead of producing a tidy consensus. Ask what evidence would distinguish them. For example, inspect behavior within stable acquisition cohorts and interview users who stopped at different points. This is the value of the research step: create testable uncertainty, keep provenance, and prevent the first persuasive narrative from becoming the roadmap.</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Translate the broad complaint into a narrow experiment proposal. Specify who sees the change, what first useful action means, and which supporting evidence made this plausible. Include a counter-hypothesis: perhaps the issue is the missing integration itself, which copy cannot repair. Microsoft experimentation guidance emphasizes clear hypotheses and complementary metric categories. Use that as support for disciplined experiment design, not as evidence that this particular onboarding idea works. The audience should be able to explain what result would cause the team to abandon the idea.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https://www.microsoft.com/en-us/research/articles/patterns-of-trustworthy-experimentation-pre-experiment-stage/</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Treat an experiment proposal as a contract between the implementer, analyst, and accountable owner. It specifies the population, randomization unit, planned duration or sequential method, primary metric, guardrails, and rollback. Set thresholds before looking at treatment results. Product-specific constraints such as no fabricated urgency sit alongside operational metrics. The contract also states which decisions an agent may make and which require human review. This reduces ambiguous handoffs without assuming that a schema alone guarantees a trustworthy experiment or a worthwhile product change.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Use an ordinary control-system analogy: making corrections more often is unhelpful when the sensor measures the wrong thing. A system rewarded for invitations may add pressure that creates low-quality signups and extra support. More frequent optimization can reinforce that mistake. Avoid promising a single metric for trust; instead name observable guardrails, prohibited patterns, qualitative review, and longer-term outcomes. The central systems lesson is that increased response speed makes the choice of objective and the reliability of feedback more consequential.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the four-minute product demonstration. Reveal activation first and invite a show of hands, then show support rates and the false-urgency flag. Apply the five-percent support ceiling and the rule against fabricated urgency. Pressure copy is blocked; the clearer first-step candidate is eligible for human review. Explicitly state that these invented aggregates demonstrate policy enforcement, not significance, a causal estimate, or a production result. The twist is that the policy was defined before the scorecard, so the system cannot move the goalposts to protect its favorite candidate.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Distinguish blocking conditions from positive evidence. An experiment that violates a hard constraint should not advance. One that avoids violations may still be underpowered, strategically irrelevant, or poorly understood. The decision owner records whether to ship, continue observing under the existing plan, investigate data quality, or reject the treatment. An agent can assemble that evidence packet and flag missing fields. The improvement is a better decision process, not an automatic green light whenever a score exceeds an arbitrary threshold.</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why a fast product loop cannot make every outcome arrive faster. A new user can activate today while retention requires later observation, and support contacts may follow delayed confusion. The system must represent pending evidence instead of turning an incomplete window into a zero. Keep the experiment plan stable unless a predefined safety stop triggers. Ask the audience which of its current success metrics is available sooner than the harm it might cause. That mismatch should influence rollout speed and the human review schedule.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Describe a fictional logging change that records successful onboarding more reliably in the treatment arm. The dashboard may report an uplift even though the customer experience has not improved. Microsoft researchers document this class of telemetry and denominator problems. The implication is concrete: validate assignment and event semantics before interpreting outcomes, and investigate sample ratio mismatch rather than dismissing it as a dashboard detail. Passing a ratio check is necessary in this design but does not establish that every other source of bias has been removed.</a:t>
            </a:r>
          </a:p>
          <a:p xmlns:a="http://schemas.openxmlformats.org/drawingml/2006/main">
            <a:r>
              <a:t/>
            </a:r>
          </a:p>
          <a:p xmlns:a="http://schemas.openxmlformats.org/drawingml/2006/main">
            <a:r>
              <a:t>Sources and further reading (verified 2026-09-04):</a:t>
            </a:r>
          </a:p>
          <a:p xmlns:a="http://schemas.openxmlformats.org/drawingml/2006/main">
            <a:r>
              <a:t>https://www.microsoft.com/en-us/research/articles/patterns-of-trustworthy-experimentation-post-experiment-stage/</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Move beyond the experiment to the follow-up loop. A stalled account might benefit from contextual help, but repeatedly nudging a user can turn assistance into noise. Give an agent access to relevant product events and customer preferences, with a bounded set of proposed interventions. Put external communication behind the organization's chosen review process and log the reason for any approved message. A successful activation metric does not justify violating preferences. The system's objective includes whether the intervention supports the customer's task, not simply whether it attracts a click.</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Show how an abstract product value becomes operational. The principle is to earn the next action. The allowed example explains what a user can accomplish; the forbidden example invents urgency. A small set of contrasting examples helps reviewers and evaluators apply the principle consistently. Keep a human owner for disputed cases and periodically compare automated judgments with that person's decisions. A numerical taste score is an aid, not authority. This makes product values inspectable while leaving room for context and deliberate changes in strategy.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Finish the feedback loop with a durable decision record. Capture the experiment, the population, the scorecard, what was surprising, what the owner decided, and what would justify revisiting it. Link the shipped implementation or rejected candidate so future agents can inspect what actually changed. Avoid universal lessons such as pressure never works from one narrow test. Store scope and uncertainty. The next research agent should retrieve this case when it proposes a similar intervention, saving the organization from relitigating the same incomplete story.</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Return to the opening meeting. Support, analytics, and sales now have a shared evidence packet, explicit hypotheses, and an owner who can make a bounded decision. They may still disagree; the system has made the disagreement productive and traceable. Ask the audience to map one product loop, identify its slowest evidence transfer, and write one nonnegotiable constraint. Close by separating learning speed from experiment count. A product organization improves when it makes better supported decisions sooner, while retaining responsibility for the experience it creates.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70d62b90ac4e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90c440b47847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cd69c65d6347a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99526f67ffa40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fc4e57e9b241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4c2ce96ca6425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bdb4bf924b54a9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1828fb4c53c47b4"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0ec5715310468a" /><Relationship Type="http://schemas.openxmlformats.org/officeDocument/2006/relationships/slideLayout" Target="/ppt/slideLayouts/slideLayout1.xml" Id="R9ea31443b75e4529" /><Relationship Type="http://schemas.openxmlformats.org/officeDocument/2006/relationships/slideLayout" Target="/ppt/slideLayouts/slideLayout2.xml" Id="Rd3d3678762864dad" /><Relationship Type="http://schemas.openxmlformats.org/officeDocument/2006/relationships/slideLayout" Target="/ppt/slideLayouts/slideLayout3.xml" Id="Rcd49c668768f44f0" /><Relationship Type="http://schemas.openxmlformats.org/officeDocument/2006/relationships/slideLayout" Target="/ppt/slideLayouts/slideLayout4.xml" Id="R513367e382b64424" /><Relationship Type="http://schemas.openxmlformats.org/officeDocument/2006/relationships/slideLayout" Target="/ppt/slideLayouts/slideLayout5.xml" Id="Rb9df54d953f54124" /><Relationship Type="http://schemas.openxmlformats.org/officeDocument/2006/relationships/slideLayout" Target="/ppt/slideLayouts/slideLayout6.xml" Id="Rc09549d9be4e4e97" /><Relationship Type="http://schemas.openxmlformats.org/officeDocument/2006/relationships/slideLayout" Target="/ppt/slideLayouts/slideLayout7.xml" Id="Red6f700cbad14479" /><Relationship Type="http://schemas.openxmlformats.org/officeDocument/2006/relationships/slideLayout" Target="/ppt/slideLayouts/slideLayout8.xml" Id="R6278e98fd3f9429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9ea31443b75e4529"/>
    <p:sldLayoutId xmlns:r="http://schemas.openxmlformats.org/officeDocument/2006/relationships" id="2147483650" r:id="Rd3d3678762864dad"/>
    <p:sldLayoutId xmlns:r="http://schemas.openxmlformats.org/officeDocument/2006/relationships" id="2147483651" r:id="Rcd49c668768f44f0"/>
    <p:sldLayoutId xmlns:r="http://schemas.openxmlformats.org/officeDocument/2006/relationships" id="2147483652" r:id="R513367e382b64424"/>
    <p:sldLayoutId xmlns:r="http://schemas.openxmlformats.org/officeDocument/2006/relationships" id="2147483653" r:id="Rb9df54d953f54124"/>
    <p:sldLayoutId xmlns:r="http://schemas.openxmlformats.org/officeDocument/2006/relationships" id="2147483654" r:id="Rc09549d9be4e4e97"/>
    <p:sldLayoutId xmlns:r="http://schemas.openxmlformats.org/officeDocument/2006/relationships" id="2147483655" r:id="Red6f700cbad14479"/>
    <p:sldLayoutId xmlns:r="http://schemas.openxmlformats.org/officeDocument/2006/relationships" id="2147483656" r:id="R6278e98fd3f9429d"/>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3db48b8d9442e6" /><Relationship Type="http://schemas.openxmlformats.org/officeDocument/2006/relationships/image" Target="/ppt/media/image.png" Id="R697778ae582340e3" /><Relationship Type="http://schemas.openxmlformats.org/officeDocument/2006/relationships/notesSlide" Target="/ppt/notesSlides/notesSlide1.xml" Id="R69e4b7d7122d4e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15684f8d1f34d3a" /><Relationship Type="http://schemas.openxmlformats.org/officeDocument/2006/relationships/notesSlide" Target="/ppt/notesSlides/notesSlide2.xml" Id="R0d63b3096a7040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3bf94176194119" /><Relationship Type="http://schemas.openxmlformats.org/officeDocument/2006/relationships/notesSlide" Target="/ppt/notesSlides/notesSlide3.xml" Id="R4f49b5fcdb3b4d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e0afa16b394872" /><Relationship Type="http://schemas.openxmlformats.org/officeDocument/2006/relationships/notesSlide" Target="/ppt/notesSlides/notesSlide4.xml" Id="R636b39da94144f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d814fb93e914614" /><Relationship Type="http://schemas.openxmlformats.org/officeDocument/2006/relationships/notesSlide" Target="/ppt/notesSlides/notesSlide5.xml" Id="R9dc38133d54748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154cd3d82549b2" /><Relationship Type="http://schemas.openxmlformats.org/officeDocument/2006/relationships/notesSlide" Target="/ppt/notesSlides/notesSlide6.xml" Id="R39ddd03946cd45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64118a069e1438a" /><Relationship Type="http://schemas.openxmlformats.org/officeDocument/2006/relationships/notesSlide" Target="/ppt/notesSlides/notesSlide7.xml" Id="R9b5b5faebb9145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19e969ed2a84446" /><Relationship Type="http://schemas.openxmlformats.org/officeDocument/2006/relationships/notesSlide" Target="/ppt/notesSlides/notesSlide8.xml" Id="Raebbb0ad92f741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639ee917a0482f" /><Relationship Type="http://schemas.openxmlformats.org/officeDocument/2006/relationships/notesSlide" Target="/ppt/notesSlides/notesSlide9.xml" Id="R83a3545e2f8c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db142ab1be4d94" /><Relationship Type="http://schemas.openxmlformats.org/officeDocument/2006/relationships/notesSlide" Target="/ppt/notesSlides/notesSlide10.xml" Id="R7ba9405f00e84b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f3ea6cd488428f" /><Relationship Type="http://schemas.openxmlformats.org/officeDocument/2006/relationships/notesSlide" Target="/ppt/notesSlides/notesSlide11.xml" Id="R6a7077b3235348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2f32f9099245de" /><Relationship Type="http://schemas.openxmlformats.org/officeDocument/2006/relationships/notesSlide" Target="/ppt/notesSlides/notesSlide12.xml" Id="R9075339819e94c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000abde1de54a9b" /><Relationship Type="http://schemas.openxmlformats.org/officeDocument/2006/relationships/notesSlide" Target="/ppt/notesSlides/notesSlide13.xml" Id="R0eb39d78d54247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29a977df5914a7f" /><Relationship Type="http://schemas.openxmlformats.org/officeDocument/2006/relationships/notesSlide" Target="/ppt/notesSlides/notesSlide14.xml" Id="R179ff326033f4d7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The Future of</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Product Engineering</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Programmable learning. Human taste and direction.</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30-minute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697778ae582340e3"/>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Map the missing feedback</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Signal → interpretation → action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Action → behavior → evidence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Evidence → decision → memory</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Do not compress away disagreement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Support says: confusing sequence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Sales says: missing team value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Analytics says: cohort changed</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All three can be plausible</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Make the hypothesis falsifiable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If we clarify the first useful step</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more new users will complete it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without extra support demand</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experiment is a contract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Hypothesis and primary metric</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Guardrails and exposure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Stopping rule and rollback</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Named decision owner</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Fast loops can amplify the wrong objective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Clicks are easy to count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Trust is easier to spend than rebuild</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Local success can create system cost</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Let the audience pick the winner</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Synthetic point estimates. Support ceiling: 5%. False urgency prohibited.</a:t>
            </a:r>
          </a:p>
        </p:txBody>
      </p:sp>
      <p:graphicFrame>
        <p:nvGraphicFramePr>
          <p:cNvPr id="539" name=""/>
          <p:cNvGraphicFramePr/>
          <p:nvPr/>
        </p:nvGraphicFramePr>
        <p:xfrm>
          <a:off xmlns:a="http://schemas.openxmlformats.org/drawingml/2006/main" x="400050" y="2476500"/>
          <a:ext xmlns:a="http://schemas.openxmlformats.org/drawingml/2006/main" cx="11391900" cy="2952750"/>
        </p:xfrm>
        <a:graphic xmlns:a="http://schemas.openxmlformats.org/drawingml/2006/main">
          <a:graphicData uri="http://schemas.openxmlformats.org/drawingml/2006/table">
            <a:tbl>
              <a:tblPr/>
              <a:tblGrid>
                <a:gridCol w="2847975"/>
                <a:gridCol w="2847975"/>
                <a:gridCol w="2847975"/>
                <a:gridCol w="2847975"/>
              </a:tblGrid>
              <a:tr h="738188">
                <a:tc>
                  <a:txBody>
                    <a:bodyPr/>
                    <a:lstStyle/>
                    <a:p>
                      <a:r>
                        <a:rPr sz="1950">
                          <a:solidFill>
                            <a:srgbClr val="FFFFFF"/>
                          </a:solidFill>
                          <a:latin typeface="Helvetica Neue"/>
                          <a:ea typeface="Helvetica Neue"/>
                          <a:cs typeface="Helvetica Neue"/>
                        </a:rPr>
                        <a:t>Candidate</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Activation</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Support</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Urgency</a:t>
                      </a:r>
                    </a:p>
                  </a:txBody>
                  <a:tcPr marL="91440" marR="91440" marT="45720" marB="45720">
                    <a:solidFill>
                      <a:srgbClr val="242424"/>
                    </a:solidFill>
                  </a:tcPr>
                </a:tc>
              </a:tr>
              <a:tr h="738188">
                <a:tc>
                  <a:txBody>
                    <a:bodyPr/>
                    <a:lstStyle/>
                    <a:p>
                      <a:r>
                        <a:rPr sz="1950">
                          <a:solidFill>
                            <a:srgbClr val="FFFFFF"/>
                          </a:solidFill>
                          <a:latin typeface="Helvetica Neue"/>
                          <a:ea typeface="Helvetica Neue"/>
                          <a:cs typeface="Helvetica Neue"/>
                        </a:rPr>
                        <a:t>Control</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3%</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None</a:t>
                      </a:r>
                    </a:p>
                  </a:txBody>
                  <a:tcPr marL="91440" marR="91440" marT="45720" marB="45720">
                    <a:solidFill>
                      <a:srgbClr val="000000"/>
                    </a:solidFill>
                  </a:tcPr>
                </a:tc>
              </a:tr>
              <a:tr h="738188">
                <a:tc>
                  <a:txBody>
                    <a:bodyPr/>
                    <a:lstStyle/>
                    <a:p>
                      <a:r>
                        <a:rPr sz="1950">
                          <a:solidFill>
                            <a:srgbClr val="FFFFFF"/>
                          </a:solidFill>
                          <a:latin typeface="Helvetica Neue"/>
                          <a:ea typeface="Helvetica Neue"/>
                          <a:cs typeface="Helvetica Neue"/>
                        </a:rPr>
                        <a:t>Pressure copy</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48%</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9%</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False</a:t>
                      </a:r>
                    </a:p>
                  </a:txBody>
                  <a:tcPr marL="91440" marR="91440" marT="45720" marB="45720">
                    <a:solidFill>
                      <a:srgbClr val="000000"/>
                    </a:solidFill>
                  </a:tcPr>
                </a:tc>
              </a:tr>
              <a:tr h="738188">
                <a:tc>
                  <a:txBody>
                    <a:bodyPr/>
                    <a:lstStyle/>
                    <a:p>
                      <a:r>
                        <a:rPr sz="1950">
                          <a:solidFill>
                            <a:srgbClr val="FFFFFF"/>
                          </a:solidFill>
                          <a:latin typeface="Helvetica Neue"/>
                          <a:ea typeface="Helvetica Neue"/>
                          <a:cs typeface="Helvetica Neue"/>
                        </a:rPr>
                        <a:t>Clear first step</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45%</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None</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Passing gates is not a shipping decision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Eligible for review</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Evidence can still be insufficient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Owner weighs tradeoffs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Decision records why</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Feedback has a delay</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Activation appears early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Retention arrives later</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Support can lag exposure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Respect the observation window</a:t>
            </a:r>
          </a:p>
        </p:txBody>
      </p:sp>
    </p:spTree>
    <p:extLst>
      <p:ext uri="{BB962C8B-B14F-4D97-AF65-F5344CB8AC3E}">
        <p14:creationId xmlns:p14="http://schemas.microsoft.com/office/powerpoint/2010/main" val="3601454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B7BEEEC-A170-5376-2B6E-CB54687B0CB1}" type="slidenum">
              <a:rPr sz="1000">
                <a:solidFill>
                  <a:srgbClr val="FFFFFF"/>
                </a:solidFill>
                <a:latin typeface="Helvetica Neue"/>
                <a:ea typeface="Helvetica Neue"/>
                <a:cs typeface="Helvetica Neue"/>
              </a:rPr>
              <a:t>10</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Instrumentation is part of the treatment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Verify assignment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Verify event meaning</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Check sample ratios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Inspect denominators</a:t>
            </a:r>
          </a:p>
        </p:txBody>
      </p:sp>
    </p:spTree>
    <p:extLst>
      <p:ext uri="{BB962C8B-B14F-4D97-AF65-F5344CB8AC3E}">
        <p14:creationId xmlns:p14="http://schemas.microsoft.com/office/powerpoint/2010/main" val="3601454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0394428-F1DC-E5F6-DB0C-7DE31F3D8A23}" type="slidenum">
              <a:rPr sz="1000">
                <a:solidFill>
                  <a:srgbClr val="FFFFFF"/>
                </a:solidFill>
                <a:latin typeface="Helvetica Neue"/>
                <a:ea typeface="Helvetica Neue"/>
                <a:cs typeface="Helvetica Neue"/>
              </a:rPr>
              <a:t>11</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Activation and reactivation need bounds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Useful help at the right moment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Frequency caps and preferences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Respect opt-outs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Review external communication</a:t>
            </a:r>
          </a:p>
        </p:txBody>
      </p:sp>
    </p:spTree>
    <p:extLst>
      <p:ext uri="{BB962C8B-B14F-4D97-AF65-F5344CB8AC3E}">
        <p14:creationId xmlns:p14="http://schemas.microsoft.com/office/powerpoint/2010/main" val="36014548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4DB16885-0D3F-A391-B669-3211DB3B26E8}" type="slidenum">
              <a:rPr sz="1000">
                <a:solidFill>
                  <a:srgbClr val="FFFFFF"/>
                </a:solidFill>
                <a:latin typeface="Helvetica Neue"/>
                <a:ea typeface="Helvetica Neue"/>
                <a:cs typeface="Helvetica Neue"/>
              </a:rPr>
              <a:t>12</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Taste needs examples and owners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Principle: earn the next action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Allowed: explain the useful step</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Forbidden: invent a deadline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Review disputed cases</a:t>
            </a:r>
          </a:p>
        </p:txBody>
      </p:sp>
    </p:spTree>
    <p:extLst>
      <p:ext uri="{BB962C8B-B14F-4D97-AF65-F5344CB8AC3E}">
        <p14:creationId xmlns:p14="http://schemas.microsoft.com/office/powerpoint/2010/main" val="3601454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DD23107-4986-8758-3A93-3D74F35908CC}" type="slidenum">
              <a:rPr sz="1000">
                <a:solidFill>
                  <a:srgbClr val="FFFFFF"/>
                </a:solidFill>
                <a:latin typeface="Helvetica Neue"/>
                <a:ea typeface="Helvetica Neue"/>
                <a:cs typeface="Helvetica Neue"/>
              </a:rPr>
              <a:t>13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Remember the decision, not just the metric</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Hypothesis and segment</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Evidence and uncertainty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Human decision and rationale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Expiry or revisit trigger</a:t>
            </a:r>
          </a:p>
        </p:txBody>
      </p:sp>
    </p:spTree>
    <p:extLst>
      <p:ext uri="{BB962C8B-B14F-4D97-AF65-F5344CB8AC3E}">
        <p14:creationId xmlns:p14="http://schemas.microsoft.com/office/powerpoint/2010/main" val="36014548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27921A4-25C4-3DB4-06B1-32693CEE2241}" type="slidenum">
              <a:rPr sz="1000">
                <a:solidFill>
                  <a:srgbClr val="FFFFFF"/>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Shorten the loop. Keep the steering wheel.</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Machines prepare evidence and options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Rules constrain execution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Humans own the product promise</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2026-09-05T04:35:43.4000000Z</dcterms:created>
  <dcterms:modified xsi:type="dcterms:W3CDTF">2026-09-05T04:35:43.4000000Z</dcterms:modified>
</coreProperties>
</file>