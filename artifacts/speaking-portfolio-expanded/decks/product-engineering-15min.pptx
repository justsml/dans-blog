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fbb5aa20054dd3" /><Relationship Type="http://schemas.openxmlformats.org/officeDocument/2006/relationships/extended-properties" Target="/docProps/app.xml" Id="Rc63b1abc5c894454" /><Relationship Type="http://schemas.openxmlformats.org/officeDocument/2006/relationships/officeDocument" Target="/ppt/presentation.xml" Id="R4d35958a28634782"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6bb10e305824ca3"/>
  </p:sldMasterIdLst>
  <p:notesMasterIdLst>
    <p:notesMasterId xmlns:r="http://schemas.openxmlformats.org/officeDocument/2006/relationships" r:id="Rfbe60afb4a8449f1"/>
  </p:notesMasterIdLst>
  <p:sldIdLst>
    <p:sldId xmlns:r="http://schemas.openxmlformats.org/officeDocument/2006/relationships" id="256" r:id="R1b96e569bb40443a"/>
    <p:sldId xmlns:r="http://schemas.openxmlformats.org/officeDocument/2006/relationships" id="257" r:id="R3253310b32ca4d71"/>
    <p:sldId xmlns:r="http://schemas.openxmlformats.org/officeDocument/2006/relationships" id="258" r:id="Rd2854367203b4152"/>
    <p:sldId xmlns:r="http://schemas.openxmlformats.org/officeDocument/2006/relationships" id="259" r:id="R449714be52f24f14"/>
    <p:sldId xmlns:r="http://schemas.openxmlformats.org/officeDocument/2006/relationships" id="260" r:id="Rcb23dd10cb664532"/>
    <p:sldId xmlns:r="http://schemas.openxmlformats.org/officeDocument/2006/relationships" id="261" r:id="R7e2c369a21b6456e"/>
    <p:sldId xmlns:r="http://schemas.openxmlformats.org/officeDocument/2006/relationships" id="262" r:id="R2881fa4f131446cb"/>
    <p:sldId xmlns:r="http://schemas.openxmlformats.org/officeDocument/2006/relationships" id="263" r:id="Ra65936d073f74e45"/>
    <p:sldId xmlns:r="http://schemas.openxmlformats.org/officeDocument/2006/relationships" id="264" r:id="R7a67471e4acc45e4"/>
  </p:sldIdLst>
  <p:sldSz cx="12192000" cy="6858000"/>
  <p:notesSz cx="6858000" cy="9144000"/>
  <p:embeddedFontLst>
    <p:embeddedFont>
      <p:font typeface="OpenAI Sans"/>
      <p:regular xmlns:r="http://schemas.openxmlformats.org/officeDocument/2006/relationships" r:id="Rf434ad4370464684"/>
      <p:bold xmlns:r="http://schemas.openxmlformats.org/officeDocument/2006/relationships" r:id="R0caa7ef8e14a4b22"/>
      <p:italic xmlns:r="http://schemas.openxmlformats.org/officeDocument/2006/relationships" r:id="Rd1c44ce9624542e2"/>
      <p:boldItalic xmlns:r="http://schemas.openxmlformats.org/officeDocument/2006/relationships" r:id="R1594bb67d4dc4f10"/>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6c49ce2d021493a" /><Relationship Type="http://schemas.openxmlformats.org/officeDocument/2006/relationships/slideMaster" Target="/ppt/slideMasters/slideMaster1.xml" Id="Re6bb10e305824ca3" /><Relationship Type="http://schemas.openxmlformats.org/officeDocument/2006/relationships/notesMaster" Target="/ppt/notesMasters/notesMaster1.xml" Id="Rfbe60afb4a8449f1" /><Relationship Type="http://schemas.openxmlformats.org/officeDocument/2006/relationships/presProps" Target="/ppt/presProps.xml" Id="R9322206bf6434e3e" /><Relationship Type="http://schemas.openxmlformats.org/officeDocument/2006/relationships/viewProps" Target="/ppt/viewProps.xml" Id="R3dbd211c765247be" /><Relationship Type="http://schemas.openxmlformats.org/officeDocument/2006/relationships/tableStyles" Target="/ppt/tableStyles.xml" Id="Rf1df7d2ba3294bef" /><Relationship Type="http://schemas.openxmlformats.org/officeDocument/2006/relationships/font" Target="/ppt/fonts/font.dat" Id="Rf434ad4370464684" /><Relationship Type="http://schemas.openxmlformats.org/officeDocument/2006/relationships/font" Target="/ppt/fonts/font2.dat" Id="R0caa7ef8e14a4b22" /><Relationship Type="http://schemas.openxmlformats.org/officeDocument/2006/relationships/font" Target="/ppt/fonts/font3.dat" Id="Rd1c44ce9624542e2" /><Relationship Type="http://schemas.openxmlformats.org/officeDocument/2006/relationships/font" Target="/ppt/fonts/font4.dat" Id="R1594bb67d4dc4f10" /><Relationship Type="http://schemas.openxmlformats.org/officeDocument/2006/relationships/slide" Target="/ppt/slides/slide1.xml" Id="R1b96e569bb40443a" /><Relationship Type="http://schemas.openxmlformats.org/officeDocument/2006/relationships/slide" Target="/ppt/slides/slide2.xml" Id="R3253310b32ca4d71" /><Relationship Type="http://schemas.openxmlformats.org/officeDocument/2006/relationships/slide" Target="/ppt/slides/slide3.xml" Id="Rd2854367203b4152" /><Relationship Type="http://schemas.openxmlformats.org/officeDocument/2006/relationships/slide" Target="/ppt/slides/slide4.xml" Id="R449714be52f24f14" /><Relationship Type="http://schemas.openxmlformats.org/officeDocument/2006/relationships/slide" Target="/ppt/slides/slide5.xml" Id="Rcb23dd10cb664532" /><Relationship Type="http://schemas.openxmlformats.org/officeDocument/2006/relationships/slide" Target="/ppt/slides/slide6.xml" Id="R7e2c369a21b6456e" /><Relationship Type="http://schemas.openxmlformats.org/officeDocument/2006/relationships/slide" Target="/ppt/slides/slide7.xml" Id="R2881fa4f131446cb" /><Relationship Type="http://schemas.openxmlformats.org/officeDocument/2006/relationships/slide" Target="/ppt/slides/slide8.xml" Id="Ra65936d073f74e45" /><Relationship Type="http://schemas.openxmlformats.org/officeDocument/2006/relationships/slide" Target="/ppt/slides/slide9.xml" Id="R7a67471e4acc45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1e9855603f43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eda9549c0f4dbf" /><Relationship Type="http://schemas.openxmlformats.org/officeDocument/2006/relationships/notesMaster" Target="/ppt/notesMasters/notesMaster1.xml" Id="Re8b4de72924947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199492ebd74ae3" /><Relationship Type="http://schemas.openxmlformats.org/officeDocument/2006/relationships/notesMaster" Target="/ppt/notesMasters/notesMaster1.xml" Id="Rc895968786a244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89f9910ffb48e9" /><Relationship Type="http://schemas.openxmlformats.org/officeDocument/2006/relationships/notesMaster" Target="/ppt/notesMasters/notesMaster1.xml" Id="Raaa49796b0084d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740cd59e2f42c1" /><Relationship Type="http://schemas.openxmlformats.org/officeDocument/2006/relationships/notesMaster" Target="/ppt/notesMasters/notesMaster1.xml" Id="Rf7020373089147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65408c33fb4bb3" /><Relationship Type="http://schemas.openxmlformats.org/officeDocument/2006/relationships/notesMaster" Target="/ppt/notesMasters/notesMaster1.xml" Id="R60a6815fdff84e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486db934ac47d1" /><Relationship Type="http://schemas.openxmlformats.org/officeDocument/2006/relationships/notesMaster" Target="/ppt/notesMasters/notesMaster1.xml" Id="R63f1c5a33dc348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0c58fdaad144d5" /><Relationship Type="http://schemas.openxmlformats.org/officeDocument/2006/relationships/notesMaster" Target="/ppt/notesMasters/notesMaster1.xml" Id="R0d2a6e41381b45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0ae03f7a824bad" /><Relationship Type="http://schemas.openxmlformats.org/officeDocument/2006/relationships/notesMaster" Target="/ppt/notesMasters/notesMaster1.xml" Id="R85ecce4c567243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a4874b2bae4f11" /><Relationship Type="http://schemas.openxmlformats.org/officeDocument/2006/relationships/notesMaster" Target="/ppt/notesMasters/notesMaster1.xml" Id="R30c38d0b8fb94f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endParaRPr/>
          </a:p>
          <a:p xmlns:a="http://schemas.openxmlformats.org/drawingml/2006/main">
            <a:r>
              <a:t/>
            </a:r>
            <a:endParaRPr/>
          </a:p>
          <a:p xmlns:a="http://schemas.openxmlformats.org/drawingml/2006/main">
            <a:r>
              <a:t>Open with a deliberately small product question: should onboarding ask a new user to invite teammates before they have seen any value? An AI can generate either screen quickly. The harder problem is deciding which screen deserves to exist and what evidence would change that decision. Promise a fifteen-minute argument about learning, taste, and ownership. This is a proposed operating model, not a claim that an autonomous product department is already solved. Keep returning to this onboarding choice as the concrete thread.</a:t>
            </a:r>
            <a:endParaRPr/>
          </a:p>
          <a:p xmlns:a="http://schemas.openxmlformats.org/drawingml/2006/main">
            <a:r>
              <a:t/>
            </a:r>
            <a:endParaRPr/>
          </a:p>
          <a:p xmlns:a="http://schemas.openxmlformats.org/drawingml/2006/main">
            <a:r>
              <a:t>Sources and further reading (verified 2026-09-04):</a:t>
            </a:r>
            <a:endParaRPr/>
          </a:p>
          <a:p xmlns:a="http://schemas.openxmlformats.org/drawingml/2006/main">
            <a:r>
              <a:t/>
            </a:r>
            <a:endParaRPr/>
          </a:p>
          <a:p xmlns:a="http://schemas.openxmlformats.org/drawingml/2006/main">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Ask the audience to imagine receiving thirty polished onboarding variants before lunch. The backlog has not disappeared; it has moved into choosing, testing, and understanding consequences. A plausible interface can still solve the wrong problem. Shift attention from the speed of producing a component to the time between a customer signal and a decision supported by evidence. That is the larger opportunity in product engineering. Avoid claiming that code is universally cheap: integration, operation, and accessibility still require real engineering work.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Walk the loop using the onboarding story. Users visit integrations before invitations. A research step proposes that the order is confusing. A prototype tests a clearer first action. Instrumentation records a completed useful task, not just a click. A review considers support burden and user complaints. The result becomes a searchable decision for the next iteration. An agent can assist at several steps, but the arrows are responsibilities and evidence transfers, not proof that every step should execute without human involvement.</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1.5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Show three cards in your narration: a fictional support complaint, a cluster of similar complaints, and a proposed onboarding change. Keep their status distinct. One complaint does not estimate prevalence; a cluster can overrepresent vocal customers; a model's confident explanation does not establish cause. Require each synthesized claim to link to its evidence and preserve disconfirming cases. The practical benefit is inspectability: a product engineer can challenge the interpretation without reconstructing the entire conversation history or trusting an agent's summary on faith.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Timing: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 the compact version of the offline product demo. Ask whether an activation increase from forty to forty-eight percent sounds like a win. Then reveal the support rate rising from three to nine percent and the false urgency in the treatment. The fixture is synthetic and demonstrates a decision gate, not a live experiment or statistically established uplift. Give the audience a moment to change its answer. The system has optimized a visible metric while violating both an operational threshold and the product's promise.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further reading (verified 2026-09-04):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Talk concept supplied by the presenter. Synthetic scenarios are illustrations, not measured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Show the product rules before revealing the decision. A support ceiling and a ban on fabricated urgency were chosen by humans in this fictional scenario; they are not universal standards. Some checks can be deterministic, such as whether an exit exists in the flow. Others need calibrated review, such as whether copy pressures a vulnerable user. A passed automated check grants eligibility for review, not permission to ship. Taste can become more explicit without pretending that every aspect of a good product fits a numeric score.</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Reveal the alternative treatment: a clearer first step, forty-five percent activation, and four percent support in the synthetic fixture. It passes the configured gates, but that does not prove it is the better product. A real experiment still needs trustworthy assignment, adequate observation, and a decision owner. The distinction is useful: automated evaluation can narrow the review queue without laundering an experiment into a business decision. Ask whether the team can explain why this candidate is eligible and why the other is blocked.</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r>
              <a:t/>
            </a:r>
          </a:p>
          <a:p xmlns:a="http://schemas.openxmlformats.org/drawingml/2006/main">
            <a:r>
              <a:t>Place human ownership at the points where the organization makes commitments. A team can automate evidence gathering, draft hypotheses, and prepare reversible changes. It should explicitly name the people accountable for strategic direction, sensitive personalization, pricing, and release decisions. Those boundaries can change with risk and demonstrated reliability; they should not vanish because a system can technically perform an action. This is a design for shorter learning loops, not a story about removing people from every step or replacing judgment with dashboards.</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minutes.</a:t>
            </a:r>
          </a:p>
          <a:p xmlns:a="http://schemas.openxmlformats.org/drawingml/2006/main">
            <a:r>
              <a:t/>
            </a:r>
          </a:p>
          <a:p xmlns:a="http://schemas.openxmlformats.org/drawingml/2006/main">
            <a:r>
              <a:t>Return to the opening question about inviting teammates. The strongest artifact is now a decision with its evidence, limits, and owner, not merely a generated screen. Ask the audience to choose one existing handoff where useful evidence gets lost and make that handoff inspectable this week. Close with the user's signature idea: the future product engineer does not just automate building the product; they automate how the company learns what product to build. Pause after the final line and leave the loop on screen.</a:t>
            </a:r>
          </a:p>
          <a:p xmlns:a="http://schemas.openxmlformats.org/drawingml/2006/main">
            <a:r>
              <a:t/>
            </a:r>
          </a:p>
          <a:p xmlns:a="http://schemas.openxmlformats.org/drawingml/2006/main">
            <a:r>
              <a:t>Sources and further reading (verified 2026-09-04):</a:t>
            </a:r>
          </a:p>
          <a:p xmlns:a="http://schemas.openxmlformats.org/drawingml/2006/main">
            <a:r>
              <a:t/>
            </a:r>
          </a:p>
          <a:p xmlns:a="http://schemas.openxmlformats.org/drawingml/2006/main">
            <a:r>
              <a:t>Talk concept supplied by the presenter. Synthetic scenarios are illustrations, not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ac6aa24470446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e6738da96a40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bd3e773f38474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e90d87cf6c42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69b1662cbc243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071f28ed6e4a3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ce6771e03124e9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46a2895f0e5497a"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d1207d3b184d27" /><Relationship Type="http://schemas.openxmlformats.org/officeDocument/2006/relationships/slideLayout" Target="/ppt/slideLayouts/slideLayout1.xml" Id="R8c8812adcfd3410d" /><Relationship Type="http://schemas.openxmlformats.org/officeDocument/2006/relationships/slideLayout" Target="/ppt/slideLayouts/slideLayout2.xml" Id="R35f5de548ca54bf7" /><Relationship Type="http://schemas.openxmlformats.org/officeDocument/2006/relationships/slideLayout" Target="/ppt/slideLayouts/slideLayout3.xml" Id="Rb969ac9c94e94c1b" /><Relationship Type="http://schemas.openxmlformats.org/officeDocument/2006/relationships/slideLayout" Target="/ppt/slideLayouts/slideLayout4.xml" Id="Re5dd87754216472f" /><Relationship Type="http://schemas.openxmlformats.org/officeDocument/2006/relationships/slideLayout" Target="/ppt/slideLayouts/slideLayout5.xml" Id="R0cecf1c528ea4932" /><Relationship Type="http://schemas.openxmlformats.org/officeDocument/2006/relationships/slideLayout" Target="/ppt/slideLayouts/slideLayout6.xml" Id="Rd84a3d3f3418436b" /><Relationship Type="http://schemas.openxmlformats.org/officeDocument/2006/relationships/slideLayout" Target="/ppt/slideLayouts/slideLayout7.xml" Id="R82d13031fbf349d3" /><Relationship Type="http://schemas.openxmlformats.org/officeDocument/2006/relationships/slideLayout" Target="/ppt/slideLayouts/slideLayout8.xml" Id="Rdd0cd9a1ccd24ab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8c8812adcfd3410d"/>
    <p:sldLayoutId xmlns:r="http://schemas.openxmlformats.org/officeDocument/2006/relationships" id="2147483650" r:id="R35f5de548ca54bf7"/>
    <p:sldLayoutId xmlns:r="http://schemas.openxmlformats.org/officeDocument/2006/relationships" id="2147483651" r:id="Rb969ac9c94e94c1b"/>
    <p:sldLayoutId xmlns:r="http://schemas.openxmlformats.org/officeDocument/2006/relationships" id="2147483652" r:id="Re5dd87754216472f"/>
    <p:sldLayoutId xmlns:r="http://schemas.openxmlformats.org/officeDocument/2006/relationships" id="2147483653" r:id="R0cecf1c528ea4932"/>
    <p:sldLayoutId xmlns:r="http://schemas.openxmlformats.org/officeDocument/2006/relationships" id="2147483654" r:id="Rd84a3d3f3418436b"/>
    <p:sldLayoutId xmlns:r="http://schemas.openxmlformats.org/officeDocument/2006/relationships" id="2147483655" r:id="R82d13031fbf349d3"/>
    <p:sldLayoutId xmlns:r="http://schemas.openxmlformats.org/officeDocument/2006/relationships" id="2147483656" r:id="Rdd0cd9a1ccd24ab9"/>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9d4f1f62db48e2" /><Relationship Type="http://schemas.openxmlformats.org/officeDocument/2006/relationships/image" Target="/ppt/media/image.png" Id="R3493fbff516748cb" /><Relationship Type="http://schemas.openxmlformats.org/officeDocument/2006/relationships/notesSlide" Target="/ppt/notesSlides/notesSlide1.xml" Id="R55d23586666e48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36f80d3afa4638" /><Relationship Type="http://schemas.openxmlformats.org/officeDocument/2006/relationships/notesSlide" Target="/ppt/notesSlides/notesSlide2.xml" Id="R72229117823443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1ad3c4354994274" /><Relationship Type="http://schemas.openxmlformats.org/officeDocument/2006/relationships/notesSlide" Target="/ppt/notesSlides/notesSlide3.xml" Id="Rb557ccfc40b047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8bce67c0725478b" /><Relationship Type="http://schemas.openxmlformats.org/officeDocument/2006/relationships/notesSlide" Target="/ppt/notesSlides/notesSlide4.xml" Id="R73ece2759f2544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54ed4a4b52f4e5d" /><Relationship Type="http://schemas.openxmlformats.org/officeDocument/2006/relationships/notesSlide" Target="/ppt/notesSlides/notesSlide5.xml" Id="Rbc920fa8b5e349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43eb230d6b478d" /><Relationship Type="http://schemas.openxmlformats.org/officeDocument/2006/relationships/notesSlide" Target="/ppt/notesSlides/notesSlide6.xml" Id="R7d3185de04624e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59685c749047f5" /><Relationship Type="http://schemas.openxmlformats.org/officeDocument/2006/relationships/notesSlide" Target="/ppt/notesSlides/notesSlide7.xml" Id="R8b9b07e423324d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820bfb6075b4b3f" /><Relationship Type="http://schemas.openxmlformats.org/officeDocument/2006/relationships/notesSlide" Target="/ppt/notesSlides/notesSlide8.xml" Id="Refb19e7ca38b46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122749863c46aa" /><Relationship Type="http://schemas.openxmlformats.org/officeDocument/2006/relationships/notesSlide" Target="/ppt/notesSlides/notesSlide9.xml" Id="Re4103c3e5bc34bc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C47CD47D-0812-5F5E-8AA0-B4316F994F47}"/>
              </a:ext>
            </a:extLst>
          </p:cNvPr>
          <p:cNvSpPr>
            <a:spLocks xmlns:a="http://schemas.openxmlformats.org/drawingml/2006/main" noGrp="1"/>
          </p:cNvSpPr>
          <p:nvPr>
            <p:ph type="ctrTitle" idx="0"/>
          </p:nvPr>
        </p:nvSpPr>
        <p:spPr>
          <a:xfrm xmlns:a="http://schemas.openxmlformats.org/drawingml/2006/main">
            <a:off x="415733" y="1907316"/>
            <a:ext cx="7174888" cy="2491490"/>
          </a:xfrm>
        </p:spPr>
        <p:txBody>
          <a:bodyPr xmlns:a="http://schemas.openxmlformats.org/drawingml/2006/main" anchor="ctr">
            <a:noAutofit/>
          </a:bodyPr>
          <a:lstStyle xmlns:a="http://schemas.openxmlformats.org/drawingml/2006/main"/>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The Future of</a:t>
            </a:r>
          </a:p>
          <a:p xmlns:a="http://schemas.openxmlformats.org/drawingml/2006/main">
            <a:pPr>
              <a:defRPr sz="6200">
                <a:solidFill>
                  <a:srgbClr val="FFFFFF"/>
                </a:solidFill>
                <a:latin typeface="Helvetica Neue"/>
                <a:ea typeface="Helvetica Neue"/>
                <a:cs typeface="Helvetica Neue"/>
              </a:defRPr>
            </a:pPr>
            <a:r>
              <a:rPr sz="6200">
                <a:solidFill>
                  <a:srgbClr val="FFFFFF"/>
                </a:solidFill>
                <a:latin typeface="Helvetica Neue"/>
                <a:ea typeface="Helvetica Neue"/>
                <a:cs typeface="Helvetica Neue"/>
              </a:rPr>
              <a:t>Product Engineering</a:t>
            </a:r>
          </a:p>
        </p:txBody>
      </p:sp>
      <p:sp>
        <p:nvSpPr>
          <p:cNvPr id="5" name="Subtitle 4">
            <a:extLst xmlns:a="http://schemas.openxmlformats.org/drawingml/2006/main">
              <a:ext uri="{FF2B5EF4-FFF2-40B4-BE49-F238E27FC236}">
                <a16:creationId xmlns:a16="http://schemas.microsoft.com/office/drawing/2014/main" id="{283B85AD-626B-46B7-0C36-31F5BABDE10D}"/>
              </a:ext>
            </a:extLst>
          </p:cNvPr>
          <p:cNvSpPr>
            <a:spLocks xmlns:a="http://schemas.openxmlformats.org/drawingml/2006/main" noGrp="1"/>
          </p:cNvSpPr>
          <p:nvPr>
            <p:ph type="subTitle" idx="1"/>
          </p:nvPr>
        </p:nvSpPr>
        <p:spPr>
          <a:xfrm xmlns:a="http://schemas.openxmlformats.org/drawingml/2006/main">
            <a:off x="415733" y="5264722"/>
            <a:ext cx="6910483" cy="1080246"/>
          </a:xfrm>
        </p:spPr>
        <p:txBody>
          <a:bodyPr xmlns:a="http://schemas.openxmlformats.org/drawingml/2006/main" anchor="b">
            <a:noAutofit/>
          </a:bodyPr>
          <a:lstStyle xmlns:a="http://schemas.openxmlformats.org/drawingml/2006/main"/>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Programmable learning. Human taste and direction.</a:t>
            </a:r>
          </a:p>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Dan Levy</a:t>
            </a:r>
          </a:p>
        </p:txBody>
      </p:sp>
      <p:sp>
        <p:nvSpPr>
          <p:cNvPr id="6" name="Subtitle 4">
            <a:extLst xmlns:a="http://schemas.openxmlformats.org/drawingml/2006/main">
              <a:ext uri="{FF2B5EF4-FFF2-40B4-BE49-F238E27FC236}">
                <a16:creationId xmlns:a16="http://schemas.microsoft.com/office/drawing/2014/main" id="{543BAB87-2ABE-9D84-8400-3B5ABA08B3C2}"/>
              </a:ext>
            </a:extLst>
          </p:cNvPr>
          <p:cNvSpPr>
            <a:spLocks xmlns:a="http://schemas.openxmlformats.org/drawingml/2006/main" noGrp="1"/>
          </p:cNvSpPr>
          <p:nvPr/>
        </p:nvSpPr>
        <p:spPr>
          <a:xfrm xmlns:a="http://schemas.openxmlformats.org/drawingml/2006/main">
            <a:off x="415734" y="392241"/>
            <a:ext cx="57023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15-minute talk</a:t>
            </a:r>
          </a:p>
        </p:txBody>
      </p:sp>
      <p:pic>
        <p:nvPicPr>
          <p:cNvPr id="11" name="Picture 6"/>
          <p:cNvPicPr>
            <a:picLocks xmlns:a="http://schemas.openxmlformats.org/drawingml/2006/main" noChangeAspect="1"/>
          </p:cNvPicPr>
          <p:nvPr/>
        </p:nvPicPr>
        <p:blipFill>
          <a:blip xmlns:r="http://schemas.openxmlformats.org/officeDocument/2006/relationships" xmlns:a="http://schemas.openxmlformats.org/drawingml/2006/main" r:embed="R3493fbff516748cb"/>
          <a:srcRect xmlns:a="http://schemas.openxmlformats.org/drawingml/2006/main" l="8269" t="0" r="8269" b="0"/>
          <a:stretch xmlns:a="http://schemas.openxmlformats.org/drawingml/2006/main"/>
        </p:blipFill>
        <p:spPr>
          <a:xfrm xmlns:a="http://schemas.openxmlformats.org/drawingml/2006/main">
            <a:off x="7899094" y="0"/>
            <a:ext cx="4292906" cy="6858000"/>
          </a:xfrm>
          <a:prstGeom xmlns:a="http://schemas.openxmlformats.org/drawingml/2006/main" prst="rect">
            <a:avLst/>
          </a:prstGeom>
        </p:spPr>
      </p:pic>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2598689-54C9-18A7-3A19-ED76AA08988F}" type="slidenum">
              <a:rPr sz="1000">
                <a:solidFill>
                  <a:srgbClr val="FFFFFF"/>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Code generation is the easy part to notice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component can appear in seconds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product question remains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What should exist?</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202359C0-8A7A-196E-DD58-8E6569619F09}" type="slidenum">
              <a:rPr sz="1000">
                <a:solidFill>
                  <a:srgbClr val="FFFFFF"/>
                </a:solidFill>
                <a:latin typeface="Helvetica Neue"/>
                <a:ea typeface="Helvetica Neue"/>
                <a:cs typeface="Helvetica Neue"/>
              </a:rPr>
              <a:t>3</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The learning loop becomes programmable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Observe → understand</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Hypothesize → experiment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Measure → judge</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Learn → observe</a:t>
            </a:r>
          </a:p>
        </p:txBody>
      </p:sp>
    </p:spTree>
    <p:extLst>
      <p:ext uri="{BB962C8B-B14F-4D97-AF65-F5344CB8AC3E}">
        <p14:creationId xmlns:p14="http://schemas.microsoft.com/office/powerpoint/2010/main" val="36014548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FD6AB9A-5F9E-5F59-51AB-3C8734130965}" type="slidenum">
              <a:rPr sz="1000">
                <a:solidFill>
                  <a:srgbClr val="FFFFFF"/>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Research needs receipts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support message is evidence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cluster is an interpretation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hypothesis is a proposal</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EE5B3003-2C54-13C6-9832-7637201064DE}" type="slidenum">
              <a:rPr sz="1000">
                <a:solidFill>
                  <a:srgbClr val="FFFFFF"/>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win can be a worse product</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a:solidFill>
                  <a:srgbClr val="FFFFFF"/>
                </a:solidFill>
                <a:latin typeface="Helvetica Neue"/>
                <a:ea typeface="Helvetica Neue"/>
                <a:cs typeface="Helvetica Neue"/>
              </a:defRPr>
            </a:pPr>
            <a:r>
              <a:rPr sz="1800">
                <a:solidFill>
                  <a:srgbClr val="FFFFFF"/>
                </a:solidFill>
                <a:latin typeface="Helvetica Neue"/>
                <a:ea typeface="Helvetica Neue"/>
                <a:cs typeface="Helvetica Neue"/>
              </a:rPr>
              <a:t>Synthetic point estimates. Support ceiling: 5%. False urgency prohibited.</a:t>
            </a:r>
          </a:p>
        </p:txBody>
      </p:sp>
      <p:graphicFrame>
        <p:nvGraphicFramePr>
          <p:cNvPr id="539" name=""/>
          <p:cNvGraphicFramePr/>
          <p:nvPr/>
        </p:nvGraphicFramePr>
        <p:xfrm>
          <a:off xmlns:a="http://schemas.openxmlformats.org/drawingml/2006/main" x="400050" y="2476500"/>
          <a:ext xmlns:a="http://schemas.openxmlformats.org/drawingml/2006/main" cx="11391900" cy="2952750"/>
        </p:xfrm>
        <a:graphic xmlns:a="http://schemas.openxmlformats.org/drawingml/2006/main">
          <a:graphicData uri="http://schemas.openxmlformats.org/drawingml/2006/table">
            <a:tbl>
              <a:tblPr/>
              <a:tblGrid>
                <a:gridCol w="2847975"/>
                <a:gridCol w="2847975"/>
                <a:gridCol w="2847975"/>
                <a:gridCol w="2847975"/>
              </a:tblGrid>
              <a:tr h="738188">
                <a:tc>
                  <a:txBody>
                    <a:bodyPr/>
                    <a:lstStyle/>
                    <a:p>
                      <a:r>
                        <a:rPr sz="1950">
                          <a:solidFill>
                            <a:srgbClr val="FFFFFF"/>
                          </a:solidFill>
                          <a:latin typeface="Helvetica Neue"/>
                          <a:ea typeface="Helvetica Neue"/>
                          <a:cs typeface="Helvetica Neue"/>
                        </a:rPr>
                        <a:t>Candidate</a:t>
                      </a:r>
                    </a:p>
                  </a:txBody>
                  <a:tcPr marL="91440" marR="91440" marT="45720" marB="45720">
                    <a:solidFill>
                      <a:srgbClr val="242424"/>
                    </a:solidFill>
                  </a:tcPr>
                </a:tc>
                <a:tc>
                  <a:txBody>
                    <a:bodyPr/>
                    <a:lstStyle/>
                    <a:p>
                      <a:r>
                        <a:rPr sz="1950">
                          <a:solidFill>
                            <a:srgbClr val="FFFFFF"/>
                          </a:solidFill>
                          <a:latin typeface="Helvetica Neue"/>
                          <a:ea typeface="Helvetica Neue"/>
                          <a:cs typeface="Helvetica Neue"/>
                        </a:rPr>
                        <a:t>Activation</a:t>
                      </a:r>
                    </a:p>
                  </a:txBody>
                  <a:tcPr marL="91440" marR="91440" marT="45720" marB="45720">
                    <a:solidFill>
                      <a:srgbClr val="242424"/>
                    </a:solidFill>
                  </a:tcPr>
                </a:tc>
                <a:tc>
                  <a:txBody>
                    <a:bodyPr/>
                    <a:lstStyle/>
                    <a:p>
                      <a:r>
                        <a:rPr sz="1950">
                          <a:solidFill>
                            <a:srgbClr val="FFFFFF"/>
                          </a:solidFill>
                          <a:latin typeface="Helvetica Neue"/>
                          <a:ea typeface="Helvetica Neue"/>
                          <a:cs typeface="Helvetica Neue"/>
                        </a:rPr>
                        <a:t>Support</a:t>
                      </a:r>
                    </a:p>
                  </a:txBody>
                  <a:tcPr marL="91440" marR="91440" marT="45720" marB="45720">
                    <a:solidFill>
                      <a:srgbClr val="242424"/>
                    </a:solidFill>
                  </a:tcPr>
                </a:tc>
                <a:tc>
                  <a:txBody>
                    <a:bodyPr/>
                    <a:lstStyle/>
                    <a:p>
                      <a:r>
                        <a:rPr sz="1950">
                          <a:solidFill>
                            <a:srgbClr val="FFFFFF"/>
                          </a:solidFill>
                          <a:latin typeface="Helvetica Neue"/>
                          <a:ea typeface="Helvetica Neue"/>
                          <a:cs typeface="Helvetica Neue"/>
                        </a:rPr>
                        <a:t>Urgency</a:t>
                      </a:r>
                    </a:p>
                  </a:txBody>
                  <a:tcPr marL="91440" marR="91440" marT="45720" marB="45720">
                    <a:solidFill>
                      <a:srgbClr val="242424"/>
                    </a:solidFill>
                  </a:tcPr>
                </a:tc>
              </a:tr>
              <a:tr h="738188">
                <a:tc>
                  <a:txBody>
                    <a:bodyPr/>
                    <a:lstStyle/>
                    <a:p>
                      <a:r>
                        <a:rPr sz="1950">
                          <a:solidFill>
                            <a:srgbClr val="FFFFFF"/>
                          </a:solidFill>
                          <a:latin typeface="Helvetica Neue"/>
                          <a:ea typeface="Helvetica Neue"/>
                          <a:cs typeface="Helvetica Neue"/>
                        </a:rPr>
                        <a:t>Control</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40%</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3%</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None</a:t>
                      </a:r>
                    </a:p>
                  </a:txBody>
                  <a:tcPr marL="91440" marR="91440" marT="45720" marB="45720">
                    <a:solidFill>
                      <a:srgbClr val="000000"/>
                    </a:solidFill>
                  </a:tcPr>
                </a:tc>
              </a:tr>
              <a:tr h="738188">
                <a:tc>
                  <a:txBody>
                    <a:bodyPr/>
                    <a:lstStyle/>
                    <a:p>
                      <a:r>
                        <a:rPr sz="1950">
                          <a:solidFill>
                            <a:srgbClr val="FFFFFF"/>
                          </a:solidFill>
                          <a:latin typeface="Helvetica Neue"/>
                          <a:ea typeface="Helvetica Neue"/>
                          <a:cs typeface="Helvetica Neue"/>
                        </a:rPr>
                        <a:t>Pressure copy</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48%</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9%</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False</a:t>
                      </a:r>
                    </a:p>
                  </a:txBody>
                  <a:tcPr marL="91440" marR="91440" marT="45720" marB="45720">
                    <a:solidFill>
                      <a:srgbClr val="000000"/>
                    </a:solidFill>
                  </a:tcPr>
                </a:tc>
              </a:tr>
              <a:tr h="738188">
                <a:tc>
                  <a:txBody>
                    <a:bodyPr/>
                    <a:lstStyle/>
                    <a:p>
                      <a:r>
                        <a:rPr sz="1950">
                          <a:solidFill>
                            <a:srgbClr val="FFFFFF"/>
                          </a:solidFill>
                          <a:latin typeface="Helvetica Neue"/>
                          <a:ea typeface="Helvetica Neue"/>
                          <a:cs typeface="Helvetica Neue"/>
                        </a:rPr>
                        <a:t>Clear first step</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45%</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4%</a:t>
                      </a:r>
                    </a:p>
                  </a:txBody>
                  <a:tcPr marL="91440" marR="91440" marT="45720" marB="45720">
                    <a:solidFill>
                      <a:srgbClr val="000000"/>
                    </a:solidFill>
                  </a:tcPr>
                </a:tc>
                <a:tc>
                  <a:txBody>
                    <a:bodyPr/>
                    <a:lstStyle/>
                    <a:p>
                      <a:r>
                        <a:rPr sz="1950">
                          <a:solidFill>
                            <a:srgbClr val="FFFFFF"/>
                          </a:solidFill>
                          <a:latin typeface="Helvetica Neue"/>
                          <a:ea typeface="Helvetica Neue"/>
                          <a:cs typeface="Helvetica Neue"/>
                        </a:rPr>
                        <a:t>None</a:t>
                      </a:r>
                    </a:p>
                  </a:txBody>
                  <a:tcPr marL="91440" marR="91440" marT="45720" marB="45720">
                    <a:solidFill>
                      <a:srgbClr val="000000"/>
                    </a:solidFill>
                  </a:tcPr>
                </a:tc>
              </a:tr>
            </a:tbl>
          </a:graphicData>
        </a:graphic>
      </p:graphicFrame>
    </p:spTree>
    <p:extLst>
      <p:ext uri="{BB962C8B-B14F-4D97-AF65-F5344CB8AC3E}">
        <p14:creationId xmlns:p14="http://schemas.microsoft.com/office/powerpoint/2010/main" val="32985487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8C630A04-5A25-9E0C-9436-126091DB86B3}" type="slidenum">
              <a:rPr sz="1000">
                <a:solidFill>
                  <a:srgbClr val="FFFFFF"/>
                </a:solidFill>
                <a:latin typeface="Helvetica Neue"/>
                <a:ea typeface="Helvetica Neue"/>
                <a:cs typeface="Helvetica Neue"/>
              </a:rPr>
              <a:t>6</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Taste becomes a constraint on optimization</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Support rate at most 5%</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No fabricated urgency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No hidden exit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Human judgment still required</a:t>
            </a:r>
          </a:p>
        </p:txBody>
      </p:sp>
    </p:spTree>
    <p:extLst>
      <p:ext uri="{BB962C8B-B14F-4D97-AF65-F5344CB8AC3E}">
        <p14:creationId xmlns:p14="http://schemas.microsoft.com/office/powerpoint/2010/main" val="3601454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D3D7D1C8-AE23-AA48-DF65-C742588DBE47}" type="slidenum">
              <a:rPr sz="1000">
                <a:solidFill>
                  <a:srgbClr val="FFFFFF"/>
                </a:solidFill>
                <a:latin typeface="Helvetica Neue"/>
                <a:ea typeface="Helvetica Neue"/>
                <a:cs typeface="Helvetica Neue"/>
              </a:rPr>
              <a:t>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 quieter candidate survives review gates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Clearer first step: 45% activation</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Support: 4%</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No false urgency</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Eligible for human review</a:t>
            </a:r>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BA58DA2A-B818-18A9-29C1-B697728D5BCE}" type="slidenum">
              <a:rPr sz="1000">
                <a:solidFill>
                  <a:srgbClr val="FFFFFF"/>
                </a:solidFill>
                <a:latin typeface="Helvetica Neue"/>
                <a:ea typeface="Helvetica Neue"/>
                <a:cs typeface="Helvetica Neue"/>
              </a:rPr>
              <a:t>8</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Humans own the product promise</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Vision and strategy</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Taste and consequential tradeoffs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Customer communication</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Accountability for release</a:t>
            </a:r>
          </a:p>
        </p:txBody>
      </p:sp>
    </p:spTree>
    <p:extLst>
      <p:ext uri="{BB962C8B-B14F-4D97-AF65-F5344CB8AC3E}">
        <p14:creationId xmlns:p14="http://schemas.microsoft.com/office/powerpoint/2010/main" val="3601454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noAutofit/>
          </a:bodyPr>
          <a:lstStyle xmlns:a="http://schemas.openxmlformats.org/drawingml/2006/main"/>
          <a:p xmlns:a="http://schemas.openxmlformats.org/drawingml/2006/main">
            <a:pPr>
              <a:defRPr sz="1000">
                <a:solidFill>
                  <a:srgbClr val="FFFFFF"/>
                </a:solidFill>
                <a:latin typeface="Helvetica Neue"/>
                <a:ea typeface="Helvetica Neue"/>
                <a:cs typeface="Helvetica Neue"/>
              </a:defRPr>
            </a:pPr>
            <a:fld id="{388657AE-30A1-5A7A-6A7F-315D84436430}" type="slidenum">
              <a:rPr sz="1000">
                <a:solidFill>
                  <a:srgbClr val="FFFFFF"/>
                </a:solidFill>
                <a:latin typeface="Helvetica Neue"/>
                <a:ea typeface="Helvetica Neue"/>
                <a:cs typeface="Helvetica Neue"/>
              </a:rPr>
              <a:t>9</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noAutofit/>
          </a:bodyPr>
          <a:lstStyle xmlns:a="http://schemas.openxmlformats.org/drawingml/2006/main"/>
          <a:p xmlns:a="http://schemas.openxmlformats.org/drawingml/2006/main">
            <a:pPr>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Automate how the company learns</a:t>
            </a:r>
            <a:endParaRP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Keep the evidence</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0"/>
              </a:spcAft>
              <a:buClrTx/>
              <a:buSzTx/>
              <a:buFontTx/>
              <a:buNone/>
              <a:defRPr sz="2400">
                <a:solidFill>
                  <a:srgbClr val="FFFFFF"/>
                </a:solidFill>
                <a:latin typeface="Helvetica Neue"/>
                <a:ea typeface="Helvetica Neue"/>
                <a:cs typeface="Helvetica Neue"/>
              </a:defRPr>
            </a:pPr>
            <a:r>
              <a:rPr sz="2400" b="0" i="0" u="none" cap="none" spc="0">
                <a:ln>
                  <a:noFill/>
                </a:ln>
                <a:solidFill>
                  <a:srgbClr val="FFFFFF"/>
                </a:solidFill>
                <a:latin typeface="Helvetica Neue"/>
                <a:ea typeface="Helvetica Neue"/>
                <a:cs typeface="Helvetica Neue"/>
              </a:rPr>
              <a:t>Encode the boundaries</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Name the decision owner</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0000"/>
              </a:lnSpc>
              <a:spcBef>
                <a:spcPts val="0"/>
              </a:spcBef>
              <a:buFontTx/>
              <a:buNone/>
              <a:defRPr sz="2400">
                <a:solidFill>
                  <a:srgbClr val="FFFFFF"/>
                </a:solidFill>
                <a:latin typeface="Helvetica Neue"/>
                <a:ea typeface="Helvetica Neue"/>
                <a:cs typeface="Helvetica Neue"/>
              </a:defRPr>
            </a:pPr>
            <a:r>
              <a:rPr sz="2400">
                <a:solidFill>
                  <a:srgbClr val="FFFFFF"/>
                </a:solidFill>
                <a:latin typeface="Helvetica Neue"/>
                <a:ea typeface="Helvetica Neue"/>
                <a:cs typeface="Helvetica Neue"/>
              </a:rPr>
              <a:t>Learn what deserves to exist</a:t>
            </a:r>
          </a:p>
        </p:txBody>
      </p:sp>
    </p:spTree>
    <p:extLst>
      <p:ext uri="{BB962C8B-B14F-4D97-AF65-F5344CB8AC3E}">
        <p14:creationId xmlns:p14="http://schemas.microsoft.com/office/powerpoint/2010/main" val="360145486"/>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2026-09-05T04:35:38.9950000Z</dcterms:created>
  <dcterms:modified xsi:type="dcterms:W3CDTF">2026-09-05T04:35:38.9950000Z</dcterms:modified>
</coreProperties>
</file>