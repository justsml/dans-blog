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vendor renamed a field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![HTTP success does not establish that the payload still matches your contract.](../../reveal-talks/assets/adaptive-systems/01-a-successful-response-can-break-ingest.svg)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bar is: diff the schema and page a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imagine the assistant that has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holding every customer record and every dangerous tool is a breach waiting for a typo.](../../reveal-talks/assets/adaptive-systems/03-the-assistant-with-everything.svg)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All customer data</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Tools that email, refund, delete, deploy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thing we are all building toward is an assistant with access to every customer's data and a toolbox that can send email, issue refunds, delete records and ship code. Most of the damage it will ever do will be an accident: a confident mapping, a helpful cleanup, a tool called with the wrong ID.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there are the people who mean it. That renamed field could carry a sentence aimed at the model.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for the next few years is not whether to give the assistant access. It is which strategies let us give it access and manage the risk. My answer, and what I have been building, is: never build the one assistant that has everything. Conjure a small one for each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a tool call you were glad had a dry-run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Repair syntax; prove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documented rename can preserve meaning; an undefined business state needs an owner.](../../reveal-talks/assets/adaptive-systems/04-a-rename-is-not-a-new-meaning.svg)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repair is a versioned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![Promote a tested mapping within its allowed scope; reconcile writes if you roll back.](../../reveal-talks/assets/adaptive-systems/05-a-repair-has-a-version-and-a-scope.svg)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agent does not write its own exam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21:00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Held-out fixtures under separate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Conflicting old and new fields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Watch the denominator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where we try to embarrass the repair before a customer does. The agent that proposed the mapping does not author the only tests that judge it. Regression fixtures and held-out cases live under separate control, and a generated fixture-writer agent adds to them without seeing the proposal.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Schema validation says the output has the right shape. It cannot say an address is deliverable. So release to a narrow slice, compare accepted against quarantined, and watch downstream invariants. A high success count is worthless if the denominator quietly shrank.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Keep the fixtures hidden. They are revealed in the walkthrough.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lost response leaves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![Reconcile the operation identity before another submission; retain unresolved reservations.](../../reveal-talks/assets/adaptive-systems/09-a-lost-response-leaves-an-unknown-outcome.svg)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one ingest, three decisions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![Recovery, quarantine and reconciliation are all legitimate outcomes of the same ingest job.](../../reveal-talks/assets/adaptive-systems/10-three-events-require-three-decisions.svg)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Scale becomes something the app asks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Show engineers what changed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The inputs to the policy decision, the validator result, and the executed action are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In 1983 Lisanne Bainbridge published a paper called Ironies of Automation. The irony is that automating the routine cases does not remove the human, it promotes them to monitoring a system that is almost always right, and people are measurably bad at that job. Skitka and colleagues put numbers on it in 1999: people given a highly but imperfectly reliable aid did worse than people given no aid at all. So keep the report short, ranked, and usually almost empty. A digest nobody can finish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authority only from measured outcomes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next surprise should cost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We never built it. We built a factory for small ones, each with a tailored prompt, a short tool list, a hard budget, and a log of every time it asked for more. That is the strategy I believe in for the next few years: not one agent you have to trust, but many you can afford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Adaptive, agentic apps · Dan Levy</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The vendor renamed a field</a:t>
            </a:r>
            <a:endParaRPr lang="en-US" sz="3900"/>
          </a:p>
        </p:txBody>
      </p:sp>
      <p:pic>
        <p:nvPicPr>
          <p:cNvPr id="4" name="01-a-successful-response-can-break-ingest"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685800" y="2400300"/>
            <a:ext cx="12344400" cy="4819650"/>
          </a:xfrm>
          <a:prstGeom prst="rect">
            <a:avLst/>
          </a:prstGeom>
          <a:ln>
            <a:noFill/>
          </a:ln>
        </p:spPr>
      </p:pic>
      <p:sp>
        <p:nvSpPr>
          <p:cNvPr id="5" name="Text 5"/>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6" name="Text 6"/>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02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The bar is: diff the schema and page a human</a:t>
            </a:r>
            <a:endParaRPr lang="en-US" sz="3900"/>
          </a:p>
        </p:txBody>
      </p:sp>
      <p:sp>
        <p:nvSpPr>
          <p:cNvPr id="4" name="Text 4"/>
          <p:cNvSpPr txBox="1"/>
          <p:nvPr/>
        </p:nvSpPr>
        <p:spPr>
          <a:xfrm>
            <a:off x="685800" y="276225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01</a:t>
            </a:r>
            <a:endParaRPr lang="en-US" sz="1950"/>
          </a:p>
        </p:txBody>
      </p:sp>
      <p:sp>
        <p:nvSpPr>
          <p:cNvPr id="5" name="Text 5"/>
          <p:cNvSpPr txBox="1"/>
          <p:nvPr/>
        </p:nvSpPr>
        <p:spPr>
          <a:xfrm>
            <a:off x="2000250" y="276225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Baseline: alert, wait for a person, replay</a:t>
            </a:r>
            <a:endParaRPr lang="en-US" sz="3150"/>
          </a:p>
        </p:txBody>
      </p:sp>
      <p:sp>
        <p:nvSpPr>
          <p:cNvPr id="6" name="Text 6"/>
          <p:cNvSpPr txBox="1"/>
          <p:nvPr/>
        </p:nvSpPr>
        <p:spPr>
          <a:xfrm>
            <a:off x="685800" y="3568065"/>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02</a:t>
            </a:r>
            <a:endParaRPr lang="en-US" sz="1950"/>
          </a:p>
        </p:txBody>
      </p:sp>
      <p:sp>
        <p:nvSpPr>
          <p:cNvPr id="7" name="Text 7"/>
          <p:cNvSpPr txBox="1"/>
          <p:nvPr/>
        </p:nvSpPr>
        <p:spPr>
          <a:xfrm>
            <a:off x="2000250" y="35680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Agent: investigate, propose, prove, continue</a:t>
            </a:r>
            <a:endParaRPr lang="en-US" sz="3150"/>
          </a:p>
        </p:txBody>
      </p:sp>
      <p:sp>
        <p:nvSpPr>
          <p:cNvPr id="8" name="Text 8"/>
          <p:cNvSpPr txBox="1"/>
          <p:nvPr/>
        </p:nvSpPr>
        <p:spPr>
          <a:xfrm>
            <a:off x="685800" y="437388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03</a:t>
            </a:r>
            <a:endParaRPr lang="en-US" sz="1950"/>
          </a:p>
        </p:txBody>
      </p:sp>
      <p:sp>
        <p:nvSpPr>
          <p:cNvPr id="9" name="Text 9"/>
          <p:cNvSpPr txBox="1"/>
          <p:nvPr/>
        </p:nvSpPr>
        <p:spPr>
          <a:xfrm>
            <a:off x="2000250" y="437388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Win condition: faster recovery, zero new false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repairs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03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Now imagine the assistant that has everything</a:t>
            </a:r>
            <a:endParaRPr lang="en-US" sz="3900"/>
          </a:p>
        </p:txBody>
      </p:sp>
      <p:pic>
        <p:nvPicPr>
          <p:cNvPr id="4" name="03-the-assistant-with-everything" descr="One agent holding every customer record and every dangerous tool is a breach waiting for a typo."/>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685800" y="2400300"/>
            <a:ext cx="12344400" cy="4819650"/>
          </a:xfrm>
          <a:prstGeom prst="rect">
            <a:avLst/>
          </a:prstGeom>
          <a:ln>
            <a:noFill/>
          </a:ln>
        </p:spPr>
      </p:pic>
      <p:sp>
        <p:nvSpPr>
          <p:cNvPr id="5" name="Text 5"/>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6" name="Text 6"/>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04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pic>
        <p:nvPicPr>
          <p:cNvPr id="4" name="04-conjure-the-agent-the-job-needs"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685800" y="2400300"/>
            <a:ext cx="12344400" cy="4819650"/>
          </a:xfrm>
          <a:prstGeom prst="rect">
            <a:avLst/>
          </a:prstGeom>
          <a:ln>
            <a:noFill/>
          </a:ln>
        </p:spPr>
      </p:pic>
      <p:sp>
        <p:nvSpPr>
          <p:cNvPr id="5" name="Text 5"/>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6" name="Text 6"/>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05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Guard the tools that can hurt</a:t>
            </a:r>
            <a:endParaRPr lang="en-US" sz="3900"/>
          </a:p>
        </p:txBody>
      </p:sp>
      <p:pic>
        <p:nvPicPr>
          <p:cNvPr id="4" name="13-keep-access-capabilities-out-of-the-planner"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685800" y="2400300"/>
            <a:ext cx="12344400" cy="4819650"/>
          </a:xfrm>
          <a:prstGeom prst="rect">
            <a:avLst/>
          </a:prstGeom>
          <a:ln>
            <a:noFill/>
          </a:ln>
        </p:spPr>
      </p:pic>
      <p:sp>
        <p:nvSpPr>
          <p:cNvPr id="5" name="Text 5"/>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6" name="Text 6"/>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06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Repair syntax; prove meaning</a:t>
            </a:r>
            <a:endParaRPr lang="en-US" sz="3900"/>
          </a:p>
        </p:txBody>
      </p:sp>
      <p:pic>
        <p:nvPicPr>
          <p:cNvPr id="4" name="04-a-rename-is-not-a-new-meaning"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685800" y="2400300"/>
            <a:ext cx="12344400" cy="4819650"/>
          </a:xfrm>
          <a:prstGeom prst="rect">
            <a:avLst/>
          </a:prstGeom>
          <a:ln>
            <a:noFill/>
          </a:ln>
        </p:spPr>
      </p:pic>
      <p:sp>
        <p:nvSpPr>
          <p:cNvPr id="5" name="Text 5"/>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6" name="Text 6"/>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07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The repair is a versioned artifact</a:t>
            </a:r>
            <a:endParaRPr lang="en-US" sz="3900"/>
          </a:p>
        </p:txBody>
      </p:sp>
      <p:pic>
        <p:nvPicPr>
          <p:cNvPr id="4" name="05-a-repair-has-a-version-and-a-scope"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685800" y="2400300"/>
            <a:ext cx="12344400" cy="4819650"/>
          </a:xfrm>
          <a:prstGeom prst="rect">
            <a:avLst/>
          </a:prstGeom>
          <a:ln>
            <a:noFill/>
          </a:ln>
        </p:spPr>
      </p:pic>
      <p:sp>
        <p:nvSpPr>
          <p:cNvPr id="5" name="Text 5"/>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6" name="Text 6"/>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08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The agent does not write its own exam</a:t>
            </a:r>
            <a:endParaRPr lang="en-US" sz="3900"/>
          </a:p>
        </p:txBody>
      </p:sp>
      <p:sp>
        <p:nvSpPr>
          <p:cNvPr id="4" name="Text 4"/>
          <p:cNvSpPr txBox="1"/>
          <p:nvPr/>
        </p:nvSpPr>
        <p:spPr>
          <a:xfrm>
            <a:off x="685800" y="276225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01</a:t>
            </a:r>
            <a:endParaRPr lang="en-US" sz="1950"/>
          </a:p>
        </p:txBody>
      </p:sp>
      <p:sp>
        <p:nvSpPr>
          <p:cNvPr id="5" name="Text 5"/>
          <p:cNvSpPr txBox="1"/>
          <p:nvPr/>
        </p:nvSpPr>
        <p:spPr>
          <a:xfrm>
            <a:off x="2000250" y="276225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Held-out fixtures under separate control</a:t>
            </a:r>
            <a:endParaRPr lang="en-US" sz="3150"/>
          </a:p>
        </p:txBody>
      </p:sp>
      <p:sp>
        <p:nvSpPr>
          <p:cNvPr id="6" name="Text 6"/>
          <p:cNvSpPr txBox="1"/>
          <p:nvPr/>
        </p:nvSpPr>
        <p:spPr>
          <a:xfrm>
            <a:off x="685800" y="3568065"/>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02</a:t>
            </a:r>
            <a:endParaRPr lang="en-US" sz="1950"/>
          </a:p>
        </p:txBody>
      </p:sp>
      <p:sp>
        <p:nvSpPr>
          <p:cNvPr id="7" name="Text 7"/>
          <p:cNvSpPr txBox="1"/>
          <p:nvPr/>
        </p:nvSpPr>
        <p:spPr>
          <a:xfrm>
            <a:off x="2000250" y="35680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Conflicting old and new fields</a:t>
            </a:r>
            <a:endParaRPr lang="en-US" sz="3150"/>
          </a:p>
        </p:txBody>
      </p:sp>
      <p:sp>
        <p:nvSpPr>
          <p:cNvPr id="8" name="Text 8"/>
          <p:cNvSpPr txBox="1"/>
          <p:nvPr/>
        </p:nvSpPr>
        <p:spPr>
          <a:xfrm>
            <a:off x="685800" y="437388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03</a:t>
            </a:r>
            <a:endParaRPr lang="en-US" sz="1950"/>
          </a:p>
        </p:txBody>
      </p:sp>
      <p:sp>
        <p:nvSpPr>
          <p:cNvPr id="9" name="Text 9"/>
          <p:cNvSpPr txBox="1"/>
          <p:nvPr/>
        </p:nvSpPr>
        <p:spPr>
          <a:xfrm>
            <a:off x="2000250" y="437388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Watch the denominator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09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A lost response leaves a question</a:t>
            </a:r>
            <a:endParaRPr lang="en-US" sz="3900"/>
          </a:p>
        </p:txBody>
      </p:sp>
      <p:pic>
        <p:nvPicPr>
          <p:cNvPr id="4" name="09-a-lost-response-leaves-an-unknown-outcome"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685800" y="2400300"/>
            <a:ext cx="12344400" cy="4819650"/>
          </a:xfrm>
          <a:prstGeom prst="rect">
            <a:avLst/>
          </a:prstGeom>
          <a:ln>
            <a:noFill/>
          </a:ln>
        </p:spPr>
      </p:pic>
      <p:sp>
        <p:nvSpPr>
          <p:cNvPr id="5" name="Text 5"/>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6" name="Text 6"/>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10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pic>
        <p:nvPicPr>
          <p:cNvPr id="4" name="10-three-events-require-three-decisions"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685800" y="2400300"/>
            <a:ext cx="12344400" cy="4819650"/>
          </a:xfrm>
          <a:prstGeom prst="rect">
            <a:avLst/>
          </a:prstGeom>
          <a:ln>
            <a:noFill/>
          </a:ln>
        </p:spPr>
      </p:pic>
      <p:sp>
        <p:nvSpPr>
          <p:cNvPr id="5" name="Text 5"/>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6" name="Text 6"/>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11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Scale becomes something the app asks for</a:t>
            </a:r>
            <a:endParaRPr lang="en-US" sz="3900"/>
          </a:p>
        </p:txBody>
      </p:sp>
      <p:pic>
        <p:nvPicPr>
          <p:cNvPr id="4" name="11-scale-becomes-a-capability"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685800" y="2400300"/>
            <a:ext cx="12344400" cy="4819650"/>
          </a:xfrm>
          <a:prstGeom prst="rect">
            <a:avLst/>
          </a:prstGeom>
          <a:ln>
            <a:noFill/>
          </a:ln>
        </p:spPr>
      </p:pic>
      <p:sp>
        <p:nvSpPr>
          <p:cNvPr id="5" name="Text 5"/>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6" name="Text 6"/>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12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Show engineers what changed today</a:t>
            </a:r>
            <a:endParaRPr lang="en-US" sz="3900"/>
          </a:p>
        </p:txBody>
      </p:sp>
      <p:sp>
        <p:nvSpPr>
          <p:cNvPr id="4" name="Text 4"/>
          <p:cNvSpPr txBox="1"/>
          <p:nvPr/>
        </p:nvSpPr>
        <p:spPr>
          <a:xfrm>
            <a:off x="685800" y="276225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01</a:t>
            </a:r>
            <a:endParaRPr lang="en-US" sz="1950"/>
          </a:p>
        </p:txBody>
      </p:sp>
      <p:sp>
        <p:nvSpPr>
          <p:cNvPr id="5" name="Text 5"/>
          <p:cNvSpPr txBox="1"/>
          <p:nvPr/>
        </p:nvSpPr>
        <p:spPr>
          <a:xfrm>
            <a:off x="2000250" y="276225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Promoted changes and scope</a:t>
            </a:r>
            <a:endParaRPr lang="en-US" sz="3150"/>
          </a:p>
        </p:txBody>
      </p:sp>
      <p:sp>
        <p:nvSpPr>
          <p:cNvPr id="6" name="Text 6"/>
          <p:cNvSpPr txBox="1"/>
          <p:nvPr/>
        </p:nvSpPr>
        <p:spPr>
          <a:xfrm>
            <a:off x="685800" y="3568065"/>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02</a:t>
            </a:r>
            <a:endParaRPr lang="en-US" sz="1950"/>
          </a:p>
        </p:txBody>
      </p:sp>
      <p:sp>
        <p:nvSpPr>
          <p:cNvPr id="7" name="Text 7"/>
          <p:cNvSpPr txBox="1"/>
          <p:nvPr/>
        </p:nvSpPr>
        <p:spPr>
          <a:xfrm>
            <a:off x="2000250" y="35680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Quarantined records and reasons</a:t>
            </a:r>
            <a:endParaRPr lang="en-US" sz="3150"/>
          </a:p>
        </p:txBody>
      </p:sp>
      <p:sp>
        <p:nvSpPr>
          <p:cNvPr id="8" name="Text 8"/>
          <p:cNvSpPr txBox="1"/>
          <p:nvPr/>
        </p:nvSpPr>
        <p:spPr>
          <a:xfrm>
            <a:off x="685800" y="437388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03</a:t>
            </a:r>
            <a:endParaRPr lang="en-US" sz="1950"/>
          </a:p>
        </p:txBody>
      </p:sp>
      <p:sp>
        <p:nvSpPr>
          <p:cNvPr id="9" name="Text 9"/>
          <p:cNvSpPr txBox="1"/>
          <p:nvPr/>
        </p:nvSpPr>
        <p:spPr>
          <a:xfrm>
            <a:off x="2000250" y="437388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Outstanding jobs, reserved spend, denied tool</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requests</a:t>
            </a:r>
            <a:endParaRPr lang="en-US" sz="3150"/>
          </a:p>
        </p:txBody>
      </p:sp>
      <p:sp>
        <p:nvSpPr>
          <p:cNvPr id="10" name="Text 10"/>
          <p:cNvSpPr txBox="1"/>
          <p:nvPr/>
        </p:nvSpPr>
        <p:spPr>
          <a:xfrm>
            <a:off x="685800" y="569976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04</a:t>
            </a:r>
            <a:endParaRPr lang="en-US" sz="1950"/>
          </a:p>
        </p:txBody>
      </p:sp>
      <p:sp>
        <p:nvSpPr>
          <p:cNvPr id="11" name="Text 11"/>
          <p:cNvSpPr txBox="1"/>
          <p:nvPr/>
        </p:nvSpPr>
        <p:spPr>
          <a:xfrm>
            <a:off x="2000250" y="569976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Owner, evidence, next action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13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Widen authority only from measured outcomes</a:t>
            </a:r>
            <a:endParaRPr lang="en-US" sz="3900"/>
          </a:p>
        </p:txBody>
      </p:sp>
      <p:sp>
        <p:nvSpPr>
          <p:cNvPr id="4" name="Text 4"/>
          <p:cNvSpPr txBox="1"/>
          <p:nvPr/>
        </p:nvSpPr>
        <p:spPr>
          <a:xfrm>
            <a:off x="685800" y="276225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01</a:t>
            </a:r>
            <a:endParaRPr lang="en-US" sz="1950"/>
          </a:p>
        </p:txBody>
      </p:sp>
      <p:sp>
        <p:nvSpPr>
          <p:cNvPr id="5" name="Text 5"/>
          <p:cNvSpPr txBox="1"/>
          <p:nvPr/>
        </p:nvSpPr>
        <p:spPr>
          <a:xfrm>
            <a:off x="2000250" y="276225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Shadow: propose, apply nothing</a:t>
            </a:r>
            <a:endParaRPr lang="en-US" sz="3150"/>
          </a:p>
        </p:txBody>
      </p:sp>
      <p:sp>
        <p:nvSpPr>
          <p:cNvPr id="6" name="Text 6"/>
          <p:cNvSpPr txBox="1"/>
          <p:nvPr/>
        </p:nvSpPr>
        <p:spPr>
          <a:xfrm>
            <a:off x="685800" y="3568065"/>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02</a:t>
            </a:r>
            <a:endParaRPr lang="en-US" sz="1950"/>
          </a:p>
        </p:txBody>
      </p:sp>
      <p:sp>
        <p:nvSpPr>
          <p:cNvPr id="7" name="Text 7"/>
          <p:cNvSpPr txBox="1"/>
          <p:nvPr/>
        </p:nvSpPr>
        <p:spPr>
          <a:xfrm>
            <a:off x="2000250" y="35680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Canary: one reversible change class</a:t>
            </a:r>
            <a:endParaRPr lang="en-US" sz="3150"/>
          </a:p>
        </p:txBody>
      </p:sp>
      <p:sp>
        <p:nvSpPr>
          <p:cNvPr id="8" name="Text 8"/>
          <p:cNvSpPr txBox="1"/>
          <p:nvPr/>
        </p:nvSpPr>
        <p:spPr>
          <a:xfrm>
            <a:off x="685800" y="437388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03</a:t>
            </a:r>
            <a:endParaRPr lang="en-US" sz="1950"/>
          </a:p>
        </p:txBody>
      </p:sp>
      <p:sp>
        <p:nvSpPr>
          <p:cNvPr id="9" name="Text 9"/>
          <p:cNvSpPr txBox="1"/>
          <p:nvPr/>
        </p:nvSpPr>
        <p:spPr>
          <a:xfrm>
            <a:off x="2000250" y="437388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Expand: from correct recoveries, false repairs,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cost, interventions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14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6225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01</a:t>
            </a:r>
            <a:endParaRPr lang="en-US" sz="1950"/>
          </a:p>
        </p:txBody>
      </p:sp>
      <p:sp>
        <p:nvSpPr>
          <p:cNvPr id="5" name="Text 5"/>
          <p:cNvSpPr txBox="1"/>
          <p:nvPr/>
        </p:nvSpPr>
        <p:spPr>
          <a:xfrm>
            <a:off x="2000250" y="276225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8813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02</a:t>
            </a:r>
            <a:endParaRPr lang="en-US" sz="1950"/>
          </a:p>
        </p:txBody>
      </p:sp>
      <p:sp>
        <p:nvSpPr>
          <p:cNvPr id="7" name="Text 7"/>
          <p:cNvSpPr txBox="1"/>
          <p:nvPr/>
        </p:nvSpPr>
        <p:spPr>
          <a:xfrm>
            <a:off x="2000250" y="408813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41401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03</a:t>
            </a:r>
            <a:endParaRPr lang="en-US" sz="1950"/>
          </a:p>
        </p:txBody>
      </p:sp>
      <p:sp>
        <p:nvSpPr>
          <p:cNvPr id="9" name="Text 9"/>
          <p:cNvSpPr txBox="1"/>
          <p:nvPr/>
        </p:nvSpPr>
        <p:spPr>
          <a:xfrm>
            <a:off x="2000250" y="541401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73989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04</a:t>
            </a:r>
            <a:endParaRPr lang="en-US" sz="1950"/>
          </a:p>
        </p:txBody>
      </p:sp>
      <p:sp>
        <p:nvSpPr>
          <p:cNvPr id="11" name="Text 11"/>
          <p:cNvSpPr txBox="1"/>
          <p:nvPr/>
        </p:nvSpPr>
        <p:spPr>
          <a:xfrm>
            <a:off x="2000250" y="673989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400050"/>
            <a:ext cx="12344400" cy="333375"/>
          </a:xfrm>
          <a:prstGeom prst="rect">
            <a:avLst/>
          </a:prstGeom>
          <a:noFill/>
          <a:ln>
            <a:noFill/>
          </a:ln>
        </p:spPr>
        <p:txBody>
          <a:bodyPr wrap="none" lIns="0" tIns="0" rIns="0" bIns="0" anchor="t">
            <a:noAutofit/>
          </a:bodyPr>
          <a:lstStyle/>
          <a:p>
            <a:pPr marL="0" indent="0">
              <a:lnSpc>
                <a:spcPts val="1852"/>
              </a:lnSpc>
              <a:spcAft>
                <a:spcPts val="0"/>
              </a:spcAft>
              <a:buNone/>
            </a:pPr>
            <a:r>
              <a:rPr lang="en-US" sz="1425" b="1">
                <a:solidFill>
                  <a:srgbClr val="A4D2C4"/>
                </a:solidFill>
                <a:latin typeface="Arial"/>
                <a:ea typeface="Arial"/>
                <a:cs typeface="Arial"/>
              </a:rPr>
              <a:t xml:space="preserve">15 / 15</a:t>
            </a:r>
            <a:endParaRPr lang="en-US" sz="1425"/>
          </a:p>
        </p:txBody>
      </p:sp>
      <p:sp>
        <p:nvSpPr>
          <p:cNvPr id="3" name="Text 3"/>
          <p:cNvSpPr txBox="1"/>
          <p:nvPr/>
        </p:nvSpPr>
        <p:spPr>
          <a:xfrm>
            <a:off x="685800" y="1000125"/>
            <a:ext cx="12344400" cy="1314450"/>
          </a:xfrm>
          <a:prstGeom prst="rect">
            <a:avLst/>
          </a:prstGeom>
          <a:noFill/>
          <a:ln>
            <a:noFill/>
          </a:ln>
        </p:spPr>
        <p:txBody>
          <a:bodyPr wrap="none" lIns="0" tIns="0" rIns="0" bIns="0" anchor="t">
            <a:noAutofit/>
          </a:bodyPr>
          <a:lstStyle/>
          <a:p>
            <a:pPr marL="0" indent="0">
              <a:lnSpc>
                <a:spcPts val="4725"/>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6225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01</a:t>
            </a:r>
            <a:endParaRPr lang="en-US" sz="1950"/>
          </a:p>
        </p:txBody>
      </p:sp>
      <p:sp>
        <p:nvSpPr>
          <p:cNvPr id="5" name="Text 5"/>
          <p:cNvSpPr txBox="1"/>
          <p:nvPr/>
        </p:nvSpPr>
        <p:spPr>
          <a:xfrm>
            <a:off x="2000250" y="276225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68065"/>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02</a:t>
            </a:r>
            <a:endParaRPr lang="en-US" sz="1950"/>
          </a:p>
        </p:txBody>
      </p:sp>
      <p:sp>
        <p:nvSpPr>
          <p:cNvPr id="7" name="Text 7"/>
          <p:cNvSpPr txBox="1"/>
          <p:nvPr/>
        </p:nvSpPr>
        <p:spPr>
          <a:xfrm>
            <a:off x="2000250" y="35680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73880"/>
            <a:ext cx="904875" cy="47625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A4D2C4"/>
                </a:solidFill>
                <a:latin typeface="Arial"/>
                <a:ea typeface="Arial"/>
                <a:cs typeface="Arial"/>
              </a:rPr>
              <a:t xml:space="preserve">03</a:t>
            </a:r>
            <a:endParaRPr lang="en-US" sz="1950"/>
          </a:p>
        </p:txBody>
      </p:sp>
      <p:sp>
        <p:nvSpPr>
          <p:cNvPr id="9" name="Text 9"/>
          <p:cNvSpPr txBox="1"/>
          <p:nvPr/>
        </p:nvSpPr>
        <p:spPr>
          <a:xfrm>
            <a:off x="2000250" y="437388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2026-09-06T08:39:57Z</dcterms:created>
</cp:coreProperties>
</file>