
<file path=[Content_Types].xml><?xml version="1.0" encoding="utf-8"?>
<Types xmlns="http://schemas.openxmlformats.org/package/2006/content-types">
  <Default Extension="rels" ContentType="application/vnd.openxmlformats-package.relationships+xml"/>
  <Default Extension="xml" ContentType="application/xml"/>
  <Default Extension="png" ContentType="image/png"/>
  <Default Extension="svg" ContentType="image/svg+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theme/theme1.xml" ContentType="application/vnd.openxmlformats-officedocument.theme+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Master"/>
  </p:sldMasterIdLst>
  <p:notesMasterIdLst>
    <p:notesMasterId r:id="rIdNotesMaster"/>
  </p:notesMasterIdLst>
  <p:sldIdLst>
    <p:sldId id="256" r:id="rIdSlide1"/>
    <p:sldId id="257" r:id="rIdSlide2"/>
    <p:sldId id="258" r:id="rIdSlide3"/>
    <p:sldId id="259" r:id="rIdSlide4"/>
    <p:sldId id="260" r:id="rIdSlide5"/>
    <p:sldId id="261" r:id="rIdSlide6"/>
    <p:sldId id="262" r:id="rIdSlide7"/>
  </p:sldIdLst>
  <p:sldSz cx="13716000" cy="8572500" type="custom"/>
  <p:notesSz cx="6858000" cy="9144000"/>
  <p:defaultTextStyle/>
</p:presentation>
</file>

<file path=ppt/_rels/presentation.xml.rels><?xml version="1.0" encoding="UTF-8" standalone="yes"?><Relationships xmlns="http://schemas.openxmlformats.org/package/2006/relationships"><Relationship Id="rIdMaster" Type="http://schemas.openxmlformats.org/officeDocument/2006/relationships/slideMaster" Target="slideMasters/slideMaster1.xml"/><Relationship Id="rIdNotesMaster" Type="http://schemas.openxmlformats.org/officeDocument/2006/relationships/notesMaster" Target="notesMasters/notesMaster1.xml"/><Relationship Id="rIdSlide1" Type="http://schemas.openxmlformats.org/officeDocument/2006/relationships/slide" Target="slides/slide1.xml"/><Relationship Id="rIdSlide2" Type="http://schemas.openxmlformats.org/officeDocument/2006/relationships/slide" Target="slides/slide2.xml"/><Relationship Id="rIdSlide3" Type="http://schemas.openxmlformats.org/officeDocument/2006/relationships/slide" Target="slides/slide3.xml"/><Relationship Id="rIdSlide4" Type="http://schemas.openxmlformats.org/officeDocument/2006/relationships/slide" Target="slides/slide4.xml"/><Relationship Id="rIdSlide5" Type="http://schemas.openxmlformats.org/officeDocument/2006/relationships/slide" Target="slides/slide5.xml"/><Relationship Id="rIdSlide6" Type="http://schemas.openxmlformats.org/officeDocument/2006/relationships/slide" Target="slides/slide6.xml"/><Relationship Id="rIdSlide7" Type="http://schemas.openxmlformats.org/officeDocument/2006/relationships/slide" Target="slides/slide7.xml"/></Relationships>
</file>

<file path=ppt/notesMasters/_rels/notesMaster1.xml.rels><?xml version="1.0" encoding="UTF-8" standalone="yes"?><Relationships xmlns="http://schemas.openxmlformats.org/package/2006/relationships"><Relationship Id="rIdTheme"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accent1="accent1" accent2="accent2" accent3="accent3" accent4="accent4" accent5="accent5" accent6="accent6" bg1="lt1" bg2="lt2" folHlink="folHlink" hlink="hlink" tx1="dk1" tx2="dk2"/>
  <p:notesStyle/>
</p:notesMaster>
</file>

<file path=ppt/notesSlides/_rels/notesSlide1.xml.rels><?xml version="1.0" encoding="UTF-8" standalone="yes"?><Relationships xmlns="http://schemas.openxmlformats.org/package/2006/relationships"><Relationship Id="rIdSlide" Type="http://schemas.openxmlformats.org/officeDocument/2006/relationships/slide" Target="../slides/slide1.xml"/><Relationship Id="rIdMaster" Type="http://schemas.openxmlformats.org/officeDocument/2006/relationships/notesMaster" Target="../notesMasters/notesMaster1.xml"/></Relationships>
</file>

<file path=ppt/notesSlides/_rels/notesSlide2.xml.rels><?xml version="1.0" encoding="UTF-8" standalone="yes"?><Relationships xmlns="http://schemas.openxmlformats.org/package/2006/relationships"><Relationship Id="rIdSlide" Type="http://schemas.openxmlformats.org/officeDocument/2006/relationships/slide" Target="../slides/slide2.xml"/><Relationship Id="rIdMaster" Type="http://schemas.openxmlformats.org/officeDocument/2006/relationships/notesMaster" Target="../notesMasters/notesMaster1.xml"/></Relationships>
</file>

<file path=ppt/notesSlides/_rels/notesSlide3.xml.rels><?xml version="1.0" encoding="UTF-8" standalone="yes"?><Relationships xmlns="http://schemas.openxmlformats.org/package/2006/relationships"><Relationship Id="rIdSlide" Type="http://schemas.openxmlformats.org/officeDocument/2006/relationships/slide" Target="../slides/slide3.xml"/><Relationship Id="rIdMaster" Type="http://schemas.openxmlformats.org/officeDocument/2006/relationships/notesMaster" Target="../notesMasters/notesMaster1.xml"/></Relationships>
</file>

<file path=ppt/notesSlides/_rels/notesSlide4.xml.rels><?xml version="1.0" encoding="UTF-8" standalone="yes"?><Relationships xmlns="http://schemas.openxmlformats.org/package/2006/relationships"><Relationship Id="rIdSlide" Type="http://schemas.openxmlformats.org/officeDocument/2006/relationships/slide" Target="../slides/slide4.xml"/><Relationship Id="rIdMaster" Type="http://schemas.openxmlformats.org/officeDocument/2006/relationships/notesMaster" Target="../notesMasters/notesMaster1.xml"/></Relationships>
</file>

<file path=ppt/notesSlides/_rels/notesSlide5.xml.rels><?xml version="1.0" encoding="UTF-8" standalone="yes"?><Relationships xmlns="http://schemas.openxmlformats.org/package/2006/relationships"><Relationship Id="rIdSlide" Type="http://schemas.openxmlformats.org/officeDocument/2006/relationships/slide" Target="../slides/slide5.xml"/><Relationship Id="rIdMaster" Type="http://schemas.openxmlformats.org/officeDocument/2006/relationships/notesMaster" Target="../notesMasters/notesMaster1.xml"/></Relationships>
</file>

<file path=ppt/notesSlides/_rels/notesSlide6.xml.rels><?xml version="1.0" encoding="UTF-8" standalone="yes"?><Relationships xmlns="http://schemas.openxmlformats.org/package/2006/relationships"><Relationship Id="rIdSlide" Type="http://schemas.openxmlformats.org/officeDocument/2006/relationships/slide" Target="../slides/slide6.xml"/><Relationship Id="rIdMaster" Type="http://schemas.openxmlformats.org/officeDocument/2006/relationships/notesMaster" Target="../notesMasters/notesMaster1.xml"/></Relationships>
</file>

<file path=ppt/notesSlides/_rels/notesSlide7.xml.rels><?xml version="1.0" encoding="UTF-8" standalone="yes"?><Relationships xmlns="http://schemas.openxmlformats.org/package/2006/relationships"><Relationship Id="rIdSlide" Type="http://schemas.openxmlformats.org/officeDocument/2006/relationships/slide" Target="../slides/slide7.xml"/><Relationship Id="rIdMaster"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Dynamic Scaling of Agentic Workloads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 00:00 to 01:30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chat turn, a retry, a cron job, a second tab</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Each legal. Each ten images.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customer bought ten.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customer asks for ten images. Four things happen within a minute, and every one of them is legitimate. The chat turn calls the batch tool. A worker crashed halfway and its replacement retries. A nightly job re-runs anything not marked done. The customer opened a second tab because the first one looked stuck.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Four callers, ten images each. Every local limit passed. The provider is rendering forty. Your dashboard proudly reports four tool calls. We put the limit on the wrong unit of work.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That is the whole talk in one multiplication. The agentic part is what comes next: the same system that hid the fan-out can also ask for its own compute, and we have to decide what that is allowed to mean. Numbers here are fixtures; the vendors later are real.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fan-out you found on a bill before you found it in a dashboard.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Let the room multiply before you show forty. Then ask which component knew the customer's entitlement. Silence is the answer.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Dynamic Scaling of Agentic Workloads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2. 01:30 to 03:30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Horizontal: more boxes, decided by ops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Vertical: bigger box, decided by ops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Self-directed: the job describes its shape and asks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For twenty years scaling was an infra question answered once for everyone. Add replicas or buy a bigger box, then let an autoscaler watch CPU and guess. The workload never got a say.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Agentic workloads do. The orchestrator knows this batch is mostly waiting on a provider, that this one needs a GPU for ninety seconds, that this one is untrusted code and wants a sandbox. It can say so, per job, at the moment the job starts.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Classify an image batch, a route-optimization run, three competing designs and a region move. Note that an LLM can schedule a solver without doing the arithmetic.</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Bridge: count logical items and provider attempts separately; a retry is not a new entitlement.</a:t>
            </a:r>
            <a:endParaRPr lang="en-US" sz="1200"/>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Dynamic Scaling of Agentic Workloads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4. 03:30 to 05:30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Reserve before dispatch</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Share tenant and provider limits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Queue or reject what does not fit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prompt that says only run one expensive tool is guidance. It is not a lock. The chat turn, the retry, the cron job and the second tab arrive at once, and none of them can see the others.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 every external dispatch crosses one shared admission controller. It atomically checks tenant entitlement, budget, provider concurrency, rate and deadline, then reserves. If the request does not fit, it queues or returns an explicit rejection. A process-local semaphore only works when that process owns all the work, and in an agentic system it never does.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Walk two simultaneous callers in contracts.md. Read-balance-then-write loses; atomic reservation admits one.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Bridge: money, concurrency and rate are three different limits; a run can satisfy one and blow the other two.</a:t>
            </a:r>
            <a:endParaRPr lang="en-US" sz="1200"/>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Dynamic Scaling of Agentic Workloads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7. 05:30 to 08:00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Request: shape, size, duration, region, cost cap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Resolve: catalog, tenant budget, lease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Pay per job. No idle fleet. Least privilege for free.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Here is the part that is actually new. The orchestrator asks for compute the way it asks for a tool. Eight sandboxes for six minutes, this region, this cost cap. The scheduler resolves that against a catalog of approved classes and the tenant's budget, and returns a lease with a teardown.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What you get is per-job economics. A customer can buy a faster turnaround. Finance can cap one workflow instead of one environment. Nobody pays for a warm fleet sized for the worst Tuesday of the year. And least privilege stops being a project: an instance that lives six minutes, reaches three domains, and holds one scoped credential is hard to abuse even when the agent inside it is confused.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What you risk is obvious. An agent that can provision is an agent that can spend. The catalog, the lease and the teardown are the answer, and they are enforced outside the model. The agent chooses; it does not grant.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moment an agent-sized request would have replaced a capacity-planning meeting.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Contrast one autoscaler threshold with one job request. Ask which one you could put on an invoice.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Dynamic Scaling of Agentic Workloads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8. 08:00 to 10:30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Sandboxes: Fly.io Sprites, Depot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Serverless compute and GPUs: Modal, Vast.ai</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Durable edge state: Cloudflare Workers, Durable Objects, Workflows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Interruptible capacity: AWS EC2 Spot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pieces exist, and they are shaped for this. Fly.io Sprites are microVMs whose stated creation target is under a second, checkpoint and restore, and take an egress policy from outside so the agent inside cannot loosen it. Depot sandboxes bill by the second for exactly this: run agent-generated code, throw it away.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Modal gives you functions and GPUs that scale to zero; Vast.ai is a marketplace where a spare GPU is cheap and short-lived. Cloudflare Workers with Durable Objects and Workflows hold the coordination state that survives everything else being torn down. EC2 Spot is the old version of the same idea: capacity that can vanish, so the job had better be restartable.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common thread: create in seconds, pay per second, torn down unless someone says otherwise, and the network narrowed from the outside. That is the substrate an agent-directed scheduler needs. What none of them give you is the ledger; that is still yours.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Ask who runs agent code on something with a lifetime under an hour. Then ask who has an egress policy on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Bridge: a job survives the caller when its intent, provider IDs and reservations are persisted before dispatch.</a:t>
            </a:r>
            <a:endParaRPr lang="en-US" sz="1200"/>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Dynamic Scaling of Agentic Workloads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11. 10:30 to 13:30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Two callers, one entitlement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Spot instance reclaimed mid-batch</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One response lost, one email fails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Two callers each want a full batch. The first reserves the entitlement; the second queues with an explicit reason. Dispatch begins on a spot worker. Halfway through, the instance is reclaimed with two minutes' notice: the lease expires, the provider keeps rendering, the reservations stay charged.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new worker reloads the job, checks provider status for every submitted item, and collects what finished. One item's response never arrived; it stays unresolved with its reservation held, and the worker asks the provider rather than resubmitting. All outputs land. The email fails. The delivery worker retries the email against the completed job, and the expensive generation is untouched.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One job, a recoverable lifecycle, honest accounting, and a compute substrate that was allowed to disappear under it. That is the abstraction the batch tool owed us.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trace in demo.md; compress rows 1 and 2 on the short routes. Ask the room for each next transition before revealing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Bridge: two more scaling axes have names. The barrel-of-monkeys maneuver leads with cheap parallel generation on purpose and hands the barrel to the next stage. The Council of Guards is cheap judges from different models, and the number you want back is the disagreement. Gate every candidate; a synthesis is a new candidate.</a:t>
            </a:r>
            <a:endParaRPr lang="en-US" sz="1200"/>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Dynamic Scaling of Agentic Workloads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14. 13:30 to 15:00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One ledger across every caller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Durable state across every restart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lease on every box, a gate on every candidate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Back to the four callers. Forty jobs were legal by four local counters. The missing piece was one shared account of what the application had promised and what it had already started.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inversion is real: the workload can now describe its own shape and ask for its own compute, and the substrate to grant it in seconds already exists. That is a better world than a warm fleet and a guess. It is only safe because the agent chooses from a catalog, spends from a ledger, and runs on boxes that expire.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Inspect one expensive tool in your system. Count the work it can launch underneath itself. Put the limit where that work actually begins.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Close on the multiplication and the shared admission line. Do not add a vendor.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slideLayouts/_rels/slideLayout1.xml.rels><?xml version="1.0" encoding="UTF-8" standalone="yes"?><Relationships xmlns="http://schemas.openxmlformats.org/package/2006/relationships"><Relationship Id="rIdMaster"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Relationships xmlns="http://schemas.openxmlformats.org/package/2006/relationships"><Relationship Id="rIdLayout" Type="http://schemas.openxmlformats.org/officeDocument/2006/relationships/slideLayout" Target="../slideLayouts/slideLayout1.xml"/><Relationship Id="rIdTheme"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accent1="accent1" accent2="accent2" accent3="accent3" accent4="accent4" accent5="accent5" accent6="accent6" bg1="lt1" bg2="lt2" folHlink="folHlink" hlink="hlink" tx1="dk1" tx2="dk2"/>
  <p:sldLayoutIdLst>
    <p:sldLayoutId id="2147483649" r:id="rIdLayout"/>
  </p:sldLayoutIdLst>
  <p:txStyles>
    <p:titleStyle/>
    <p:bodyStyle/>
    <p:otherStyle/>
  </p:txStyles>
</p:sldMaster>
</file>

<file path=ppt/slides/_rels/slide1.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xml"/><Relationship Id="rIdImage1" Type="http://schemas.openxmlformats.org/officeDocument/2006/relationships/image" Target="../media/slide1-1.png"/><Relationship Id="rIdSvg1" Type="http://schemas.openxmlformats.org/officeDocument/2006/relationships/image" Target="../media/slide1-1.svg"/></Relationships>
</file>

<file path=ppt/slides/_rels/slide2.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2.xml"/><Relationship Id="rIdImage1" Type="http://schemas.openxmlformats.org/officeDocument/2006/relationships/image" Target="../media/slide2-1.png"/><Relationship Id="rIdSvg1" Type="http://schemas.openxmlformats.org/officeDocument/2006/relationships/image" Target="../media/slide2-1.svg"/></Relationships>
</file>

<file path=ppt/slides/_rels/slide3.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3.xml"/><Relationship Id="rIdImage1" Type="http://schemas.openxmlformats.org/officeDocument/2006/relationships/image" Target="../media/slide3-1.png"/><Relationship Id="rIdSvg1" Type="http://schemas.openxmlformats.org/officeDocument/2006/relationships/image" Target="../media/slide3-1.svg"/></Relationships>
</file>

<file path=ppt/slides/_rels/slide4.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4.xml"/><Relationship Id="rIdImage1" Type="http://schemas.openxmlformats.org/officeDocument/2006/relationships/image" Target="../media/slide4-1.png"/><Relationship Id="rIdSvg1" Type="http://schemas.openxmlformats.org/officeDocument/2006/relationships/image" Target="../media/slide4-1.svg"/></Relationships>
</file>

<file path=ppt/slides/_rels/slide5.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5.xml"/><Relationship Id="rIdImage1" Type="http://schemas.openxmlformats.org/officeDocument/2006/relationships/image" Target="../media/slide5-1.png"/><Relationship Id="rIdSvg1" Type="http://schemas.openxmlformats.org/officeDocument/2006/relationships/image" Target="../media/slide5-1.svg"/></Relationships>
</file>

<file path=ppt/slides/_rels/slide6.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6.xml"/></Relationships>
</file>

<file path=ppt/slides/_rels/slide7.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Dynamic Scaling of Agentic Workloads · Dan Levy</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Four callers, forty images, one customer</a:t>
            </a:r>
            <a:endParaRPr lang="en-US" sz="3900"/>
          </a:p>
        </p:txBody>
      </p:sp>
      <p:sp>
        <p:nvSpPr>
          <p:cNvPr id="4" name="Image background"/>
          <p:cNvSpPr/>
          <p:nvPr/>
        </p:nvSpPr>
        <p:spPr>
          <a:xfrm>
            <a:off x="944880" y="2647950"/>
            <a:ext cx="11826240" cy="4619625"/>
          </a:xfrm>
          <a:prstGeom prst="rect">
            <a:avLst/>
          </a:prstGeom>
          <a:solidFill>
            <a:srgbClr val="161D26"/>
          </a:solidFill>
          <a:ln>
            <a:noFill/>
          </a:ln>
        </p:spPr>
      </p:sp>
      <p:pic>
        <p:nvPicPr>
          <p:cNvPr id="5" name="f501b6c12ee57de00d0d8ab47b3d7373e10fdbdb35a9cf56315dbb05ff6bf328" descr="Each of four batch-tool calls starts ten jobs: 4 × 10 = 40, before retries."/>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944880" y="2647950"/>
            <a:ext cx="11826240" cy="4619625"/>
          </a:xfrm>
          <a:prstGeom prst="rect">
            <a:avLst/>
          </a:prstGeom>
          <a:ln>
            <a:noFill/>
          </a:ln>
        </p:spPr>
      </p:pic>
      <p:sp>
        <p:nvSpPr>
          <p:cNvPr id="6" name="Text 6"/>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Dynamic Scaling of Agentic Workloads</a:t>
            </a:r>
            <a:endParaRPr lang="en-US" sz="975"/>
          </a:p>
        </p:txBody>
      </p:sp>
      <p:sp>
        <p:nvSpPr>
          <p:cNvPr id="7" name="Text 7"/>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1</a:t>
            </a:r>
            <a:endParaRPr lang="en-US" sz="975"/>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02 / 07    SOURCE SLIDE 2</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Horizontal, vertical, and now self-directed</a:t>
            </a:r>
            <a:endParaRPr lang="en-US" sz="3900"/>
          </a:p>
        </p:txBody>
      </p:sp>
      <p:sp>
        <p:nvSpPr>
          <p:cNvPr id="4" name="Image background"/>
          <p:cNvSpPr/>
          <p:nvPr/>
        </p:nvSpPr>
        <p:spPr>
          <a:xfrm>
            <a:off x="944880" y="2647950"/>
            <a:ext cx="11826240" cy="4619625"/>
          </a:xfrm>
          <a:prstGeom prst="rect">
            <a:avLst/>
          </a:prstGeom>
          <a:solidFill>
            <a:srgbClr val="161D26"/>
          </a:solidFill>
          <a:ln>
            <a:noFill/>
          </a:ln>
        </p:spPr>
      </p:sp>
      <p:pic>
        <p:nvPicPr>
          <p:cNvPr id="5" name="f5bca740713b7dd36a3ccfac9c9e9a9675c63ad025b015c1afe125e81654692e" descr="Ops sized the fleet for everyone; an autoscaler reacts to CPU; an agentic job describes its own shape and asks."/>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944880" y="2647950"/>
            <a:ext cx="11826240" cy="4619625"/>
          </a:xfrm>
          <a:prstGeom prst="rect">
            <a:avLst/>
          </a:prstGeom>
          <a:ln>
            <a:noFill/>
          </a:ln>
        </p:spPr>
      </p:pic>
      <p:sp>
        <p:nvSpPr>
          <p:cNvPr id="6" name="Text 6"/>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Dynamic Scaling of Agentic Workloads</a:t>
            </a:r>
            <a:endParaRPr lang="en-US" sz="975"/>
          </a:p>
        </p:txBody>
      </p:sp>
      <p:sp>
        <p:nvSpPr>
          <p:cNvPr id="7" name="Text 7"/>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2</a:t>
            </a:r>
            <a:endParaRPr lang="en-US" sz="975"/>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03 / 07    SOURCE SLIDE 4</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Put admission below every caller</a:t>
            </a:r>
            <a:endParaRPr lang="en-US" sz="3900"/>
          </a:p>
        </p:txBody>
      </p:sp>
      <p:sp>
        <p:nvSpPr>
          <p:cNvPr id="4" name="Image background"/>
          <p:cNvSpPr/>
          <p:nvPr/>
        </p:nvSpPr>
        <p:spPr>
          <a:xfrm>
            <a:off x="944880" y="2647950"/>
            <a:ext cx="11826240" cy="4619625"/>
          </a:xfrm>
          <a:prstGeom prst="rect">
            <a:avLst/>
          </a:prstGeom>
          <a:solidFill>
            <a:srgbClr val="161D26"/>
          </a:solidFill>
          <a:ln>
            <a:noFill/>
          </a:ln>
        </p:spPr>
      </p:sp>
      <p:pic>
        <p:nvPicPr>
          <p:cNvPr id="5" name="ade204143b64e69af78520893e44a4991a36800e58ae3c6b1bff88cf7111db46" descr="One coordinated reservation protects tenant spend and entitlement across all callers."/>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944880" y="2647950"/>
            <a:ext cx="11826240" cy="4619625"/>
          </a:xfrm>
          <a:prstGeom prst="rect">
            <a:avLst/>
          </a:prstGeom>
          <a:ln>
            <a:noFill/>
          </a:ln>
        </p:spPr>
      </p:pic>
      <p:sp>
        <p:nvSpPr>
          <p:cNvPr id="6" name="Text 6"/>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Dynamic Scaling of Agentic Workloads</a:t>
            </a:r>
            <a:endParaRPr lang="en-US" sz="975"/>
          </a:p>
        </p:txBody>
      </p:sp>
      <p:sp>
        <p:nvSpPr>
          <p:cNvPr id="7" name="Text 7"/>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3</a:t>
            </a:r>
            <a:endParaRPr lang="en-US" sz="975"/>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04 / 07    SOURCE SLIDE 7</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Infra Is a Tool Call</a:t>
            </a:r>
            <a:endParaRPr lang="en-US" sz="3900"/>
          </a:p>
        </p:txBody>
      </p:sp>
      <p:sp>
        <p:nvSpPr>
          <p:cNvPr id="4" name="Image background"/>
          <p:cNvSpPr/>
          <p:nvPr/>
        </p:nvSpPr>
        <p:spPr>
          <a:xfrm>
            <a:off x="944880" y="2647950"/>
            <a:ext cx="11826240" cy="4619625"/>
          </a:xfrm>
          <a:prstGeom prst="rect">
            <a:avLst/>
          </a:prstGeom>
          <a:solidFill>
            <a:srgbClr val="161D26"/>
          </a:solidFill>
          <a:ln>
            <a:noFill/>
          </a:ln>
        </p:spPr>
      </p:sp>
      <p:pic>
        <p:nvPicPr>
          <p:cNvPr id="5" name="473993b159729307dbf46a28dd0767ec3dfa81a479c514a84869a6738e54d9b7" descr="The job requests shape, size, duration and a cost cap; the scheduler resolves it against a catalog and tenant budget and returns a lease."/>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944880" y="2647950"/>
            <a:ext cx="11826240" cy="4619625"/>
          </a:xfrm>
          <a:prstGeom prst="rect">
            <a:avLst/>
          </a:prstGeom>
          <a:ln>
            <a:noFill/>
          </a:ln>
        </p:spPr>
      </p:pic>
      <p:sp>
        <p:nvSpPr>
          <p:cNvPr id="6" name="Text 6"/>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Dynamic Scaling of Agentic Workloads</a:t>
            </a:r>
            <a:endParaRPr lang="en-US" sz="975"/>
          </a:p>
        </p:txBody>
      </p:sp>
      <p:sp>
        <p:nvSpPr>
          <p:cNvPr id="7" name="Text 7"/>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4</a:t>
            </a:r>
            <a:endParaRPr lang="en-US" sz="975"/>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05 / 07    SOURCE SLIDE 8</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Torn Down by Default</a:t>
            </a:r>
            <a:endParaRPr lang="en-US" sz="3900"/>
          </a:p>
        </p:txBody>
      </p:sp>
      <p:sp>
        <p:nvSpPr>
          <p:cNvPr id="4" name="Image background"/>
          <p:cNvSpPr/>
          <p:nvPr/>
        </p:nvSpPr>
        <p:spPr>
          <a:xfrm>
            <a:off x="944880" y="2647950"/>
            <a:ext cx="11826240" cy="4619625"/>
          </a:xfrm>
          <a:prstGeom prst="rect">
            <a:avLst/>
          </a:prstGeom>
          <a:solidFill>
            <a:srgbClr val="161D26"/>
          </a:solidFill>
          <a:ln>
            <a:noFill/>
          </a:ln>
        </p:spPr>
      </p:sp>
      <p:pic>
        <p:nvPicPr>
          <p:cNvPr id="5" name="1daa0143328d8028c247af2b7cfb4a0a77c5d39818a1b12c28efc7e58b692783" descr="Sandboxes, serverless GPUs, durable edge state and spot capacity, all created in seconds and torn down by default."/>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944880" y="2647950"/>
            <a:ext cx="11826240" cy="4619625"/>
          </a:xfrm>
          <a:prstGeom prst="rect">
            <a:avLst/>
          </a:prstGeom>
          <a:ln>
            <a:noFill/>
          </a:ln>
        </p:spPr>
      </p:pic>
      <p:sp>
        <p:nvSpPr>
          <p:cNvPr id="6" name="Text 6"/>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Dynamic Scaling of Agentic Workloads</a:t>
            </a:r>
            <a:endParaRPr lang="en-US" sz="975"/>
          </a:p>
        </p:txBody>
      </p:sp>
      <p:sp>
        <p:nvSpPr>
          <p:cNvPr id="7" name="Text 7"/>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5</a:t>
            </a:r>
            <a:endParaRPr lang="en-US" sz="975"/>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06 / 07    SOURCE SLIDE 11</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Walkthrough: restart the batch</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Two callers, one entitlement</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Spot instance reclaimed mid-batch</a:t>
            </a:r>
            <a:endParaRPr lang="en-US" sz="3150"/>
          </a:p>
        </p:txBody>
      </p:sp>
      <p:sp>
        <p:nvSpPr>
          <p:cNvPr id="8" name="Text 8"/>
          <p:cNvSpPr txBox="1"/>
          <p:nvPr/>
        </p:nvSpPr>
        <p:spPr>
          <a:xfrm>
            <a:off x="685800" y="43453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03</a:t>
            </a:r>
            <a:endParaRPr lang="en-US" sz="1875"/>
          </a:p>
        </p:txBody>
      </p:sp>
      <p:sp>
        <p:nvSpPr>
          <p:cNvPr id="9" name="Text 9"/>
          <p:cNvSpPr txBox="1"/>
          <p:nvPr/>
        </p:nvSpPr>
        <p:spPr>
          <a:xfrm>
            <a:off x="2000250" y="434530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One response lost, one email fails</a:t>
            </a:r>
            <a:endParaRPr lang="en-US" sz="3150"/>
          </a:p>
        </p:txBody>
      </p:sp>
      <p:sp>
        <p:nvSpPr>
          <p:cNvPr id="10" name="Text 10"/>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Dynamic Scaling of Agentic Workloads</a:t>
            </a:r>
            <a:endParaRPr lang="en-US" sz="975"/>
          </a:p>
        </p:txBody>
      </p:sp>
      <p:sp>
        <p:nvSpPr>
          <p:cNvPr id="11" name="Text 11"/>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6</a:t>
            </a:r>
            <a:endParaRPr lang="en-US" sz="975"/>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07 / 07    SOURCE SLIDE 14</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Put the limit where the work begins</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One ledger across every caller</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Durable state across every restart</a:t>
            </a:r>
            <a:endParaRPr lang="en-US" sz="3150"/>
          </a:p>
        </p:txBody>
      </p:sp>
      <p:sp>
        <p:nvSpPr>
          <p:cNvPr id="8" name="Text 8"/>
          <p:cNvSpPr txBox="1"/>
          <p:nvPr/>
        </p:nvSpPr>
        <p:spPr>
          <a:xfrm>
            <a:off x="685800" y="43453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03</a:t>
            </a:r>
            <a:endParaRPr lang="en-US" sz="1875"/>
          </a:p>
        </p:txBody>
      </p:sp>
      <p:sp>
        <p:nvSpPr>
          <p:cNvPr id="9" name="Text 9"/>
          <p:cNvSpPr txBox="1"/>
          <p:nvPr/>
        </p:nvSpPr>
        <p:spPr>
          <a:xfrm>
            <a:off x="2000250" y="434530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A lease on every box, a gate on every candidate</a:t>
            </a:r>
            <a:endParaRPr lang="en-US" sz="3150"/>
          </a:p>
        </p:txBody>
      </p:sp>
      <p:sp>
        <p:nvSpPr>
          <p:cNvPr id="10" name="Text 10"/>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Dynamic Scaling of Agentic Workloads</a:t>
            </a:r>
            <a:endParaRPr lang="en-US" sz="975"/>
          </a:p>
        </p:txBody>
      </p:sp>
      <p:sp>
        <p:nvSpPr>
          <p:cNvPr id="11" name="Text 11"/>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7</a:t>
            </a:r>
            <a:endParaRPr lang="en-US" sz="975"/>
          </a:p>
        </p:txBody>
      </p:sp>
    </p:spTree>
  </p:cSld>
  <p:clrMapOvr>
    <a:masterClrMapping/>
  </p:clrMapOvr>
</p:sld>
</file>

<file path=ppt/theme/theme1.xml><?xml version="1.0" encoding="utf-8"?>
<a:theme xmlns:a="http://schemas.openxmlformats.org/drawingml/2006/main" name="Dan Levy talks">
  <a:themeElements>
    <a:clrScheme name="Talk palette">
      <a:dk1>
        <a:srgbClr val="202B33"/>
      </a:dk1>
      <a:lt1>
        <a:srgbClr val="FFFFFF"/>
      </a:lt1>
      <a:dk2>
        <a:srgbClr val="48555B"/>
      </a:dk2>
      <a:lt2>
        <a:srgbClr val="FAFAF7"/>
      </a:lt2>
      <a:accent1>
        <a:srgbClr val="EFB45F"/>
      </a:accent1>
      <a:accent2>
        <a:srgbClr val="728482"/>
      </a:accent2>
      <a:accent3>
        <a:srgbClr val="53616F"/>
      </a:accent3>
      <a:accent4>
        <a:srgbClr val="9D7462"/>
      </a:accent4>
      <a:accent5>
        <a:srgbClr val="7D86A0"/>
      </a:accent5>
      <a:accent6>
        <a:srgbClr val="9E996B"/>
      </a:accent6>
      <a:hlink>
        <a:srgbClr val="246957"/>
      </a:hlink>
      <a:folHlink>
        <a:srgbClr val="925700"/>
      </a:folHlink>
    </a:clrScheme>
    <a:fontScheme name="Arial">
      <a:majorFont>
        <a:latin typeface="Arial"/>
        <a:ea typeface=""/>
        <a:cs typeface=""/>
      </a:majorFont>
      <a:minorFont>
        <a:latin typeface="Arial"/>
        <a:ea typeface=""/>
        <a:cs typeface=""/>
      </a:minorFont>
    </a:fontScheme>
    <a:fmtScheme name="Plain">
      <a:fillStyleLst>
        <a:solidFill>
          <a:schemeClr val="phClr"/>
        </a:solidFill>
        <a:solidFill>
          <a:schemeClr val="phClr"/>
        </a:solidFill>
        <a:solidFill>
          <a:schemeClr val="phClr"/>
        </a:solidFill>
      </a:fillStyleLst>
      <a:lnStyleLst>
        <a:ln w="9525">
          <a:solidFill>
            <a:schemeClr val="phClr"/>
          </a:solidFill>
          <a:prstDash val="solid"/>
        </a:ln>
        <a:ln w="9525">
          <a:solidFill>
            <a:schemeClr val="phClr"/>
          </a:solidFill>
          <a:prstDash val="solid"/>
        </a:ln>
        <a:ln w="9525">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Properties xmlns="http://schemas.openxmlformats.org/officeDocument/2006/extended-properties">
  <Application>Talk package exporter</Application>
  <Slides>7</Slides>
  <Notes>7</Notes>
</Properties>
</file>

<file path=docProps/core.xml><?xml version="1.0" encoding="utf-8"?>
<cp:coreProperties xmlns:cp="http://schemas.openxmlformats.org/package/2006/metadata/core-properties" xmlns:dc="http://purl.org/dc/elements/1.1/" xmlns:dcterms="http://purl.org/dc/terms/" xmlns:xsi="http://www.w3.org/2001/XMLSchema-instance">
  <dc:title>Dynamic Scaling of Agentic Workloads</dc:title>
  <dc:creator>Dan Levy</dc:creator>
  <dc:description>screen edition generated from current reviewed talk materials</dc:description>
  <dcterms:created xsi:type="dcterms:W3CDTF">2026-09-07T02:16:44Z</dcterms:created>
</cp:coreProperties>
</file>