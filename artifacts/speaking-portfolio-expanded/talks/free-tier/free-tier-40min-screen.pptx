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00:00 to 02:15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small startup office at night lit by one bare bulb, power cable running out the window to a distant power plant, dark slate background, one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startup gets free electricity for a year.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does it build?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startup gets free electricity for a year. What does it build? Sit with that for five seconds, because the answer is not "the same thing, but cheaper." It builds a different company. Now: what survives when the offer ends?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Swap electricity for inference and that is the whole talk. Here is my one disclaimer, and then I am done qualifying: nobody outside a provider knows its margins, I am not going to guess at one, and every dollar figure in my arithmetic is invented. What I do have is a hundred and fifty years of economists working on exactly this problem in coal, parking, highways and car factories, and they gave it names.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what you are getting today. Eight words. Engineers lose this argument in budget meetings because the best we can say is "it feels wasteful," and finance says "the bill looks fine." These eight words are how you say it so it lands.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The first time a bill, a quota, or a rate change broke an assumption in something you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Take the five seconds. Actually take them. The silence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Four boxes, one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02:15 to 04:00 · warm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four separate cardboard boxes in a row, each a different size, one open and empty, dark slate background, amber accent on the open box,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Price paid · Resources consumed · Cost allocated · Value delivered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gap between the last two is why nobody is measuring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boxes. The invoice is the first one. It tells you what you paid and nothing about utilization, depreciation, amortized training, or margin. The second box is what the machine actually burned. The third is how a provider chooses to allocate that internally, which you will never see. The fourth is what the customer got.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gap between what you pay and what you would have been willing to pay has a name: consumer surplus. Yours is enormous right now. That is the pleasant explanation for why nobody in your organization is measuring any of this. When something is dramatically cheaper than it is worth to you, measuring it is not worth the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of these four does your system actually measure, and which does it assume?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Draw the four boxes with your hands. Ask for a show of hands on box two. Count them; it is usually a third of the room.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Why would anyone sell below cost?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04:00 to 06:45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Penetration pricing · Loss leader in a bundle · Predation · It is genuinely cheap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price cannot tell you which. What happens next can.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four respectable explanations for a low price, and an engineer arguing about this in a meeting should be able to name all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Penetration pricing: buy the market now, raise later. Standard, legal, taught in every business school. Loss leader in a bundle: the cheap thing funds the expensive thing next to it, which is what a two-sided market does for a living. Predation: below cost specifically to remove rivals. In US law that is not a vibe, it is a test. Brooke Group, 1993: you need below-cost pricing and a dangerous probability of recoupment. And the fourth explanation, the one that keeps me honest: it is genuinely cheap, and getting cheaper, because the engineering is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useful part. You cannot distinguish these from the price. You can distinguish them from what happens next. Penetration predicts prices rise at renewal, after switching gets hard. Predation predicts a rival disappears and then prices rise. Genuine efficiency predicts prices keep falling without anyone tightening the terms. So watch renewal terms, watch rate limits, watch what happens to the free tier, and stop trying to read a margin off a token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Brooke Group Ltd. v. Brown &amp; Williamson Tobacco Corp., 509 U.S. 209 (1993), on the recoupment requirement in predatory-pricing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Rochet and Tirole (2003), Platform Competition in Two-Sided Markets, Journal of the European Economic Association, on cross-subsidy between sides of a market.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Burn the boats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06:45 to 09:30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$250B incremental Azure services contracted by OpenAI · Microsoft, 28 Oct 2025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More than $100B AWS commitment over ten years · Amazon, 20 Apr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Up to $200K AWS Activate credits · offer checked 5 Sep 2026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everyone quotes. Microsoft announced in October 2025 that OpenAI contracted to purchase an incremental two hundred and fifty billion dollars of Azure services. Amazon announced in April 2026 that Anthropic committed more than a hundred billion over ten years. AWS Activate offers eligible startups up to two hundred thousand in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reads these as evidence about cost. They are evidence about strategy, and Thomas Schelling gave us the word in 1960: a credible commitment. You deliberately destroy your own ability to back out, precisely so everyone else updates. Burn the boats. A ten-year contract you cannot walk away from discloses nothing about your margins. It signals that you intend to still be here, aimed at competitors and at nervous customers.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tells you something about the game underneath. Two well-funded players racing to acquire the same customers, both burning capital, neither able to stop first, is a war of attrition. In that model the price stays low for as long as both sides can pay to keep it there. Note who is not a player in that game. Somebody is buying your free tier, and it is not you. You are not a combatant. You are the terrain.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[Microsoft, 28 Oct 2025](https://blogs.microsoft.com/blog/2025/10/28/the-next-chapter-of-the-microsoft-openai-partnership/) · [Amazon, Apr 2026](https://www.aboutamazon.com/news/company-news/amazon-invests-additional-5-billion-anthropic-ai) · [AWS Activate, accessed 5 Sep 2026](https://aws.amazon.com/startups/credits/).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Schelling (1960), The Strategy of Conflict, Harvard University Press. Nobel 2005.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Recheck all three items the week of the talk. If a number has moved, the frame still works; say the new number. Specifically: Anthropic's IPO prospectus is expected late September 2026 and may disclose contract detail behind the $100B AWS commitment, so that figure or its framing can move. Do not confuse it with the adjacent Microsoft/OpenAI restructuring figures.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Free parking was never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09:30 to 11:45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an enormous empty parking lot at dusk with a tiny storefront at the far edge, painted lines stretching to the horizon, dark slate background, amber accent on the storefront window,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driver sees no meter, so demand looks infinite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cost moves into rents, prices, and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one: externality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Donald Shoup spent a career on the least glamorous subject in urban economics and was right about all of it. Cities required developers to build minimum parking. Nobody paid at the meter, so the cost went somewhere else: into rents, into retail prices, into land that became asphalt. And because drivers saw no price, demand looked infinite, so the minimums grew to match.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your first word: externality. A cost that is real, and paid, but not by the person making the decision. It does not vanish. It relocates, and it usually relocates somewhere you are not looking.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the environment reorganized around it. Buildings spread apart, so density fell. Formats that need a big lot won; the storefront that could not fit one never opened. Every apartment carried a parking space, paid for by tenants who do not drive. Transit lost, because everything was far apart and parking was free at the other end. Every single step was locally reasonable.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Shoup (2005, updated 2011), The High Cost of Free Parking, American Planning Association. Also Shoup (2011), [Free parking or free markets](https://www.accessmagazine.org/spring-2011/free-parking-free-markets/), ACCESS Magazine.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Jevons, coal, and the extra lane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11:45 to 15:00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two lines on a chart crossing, one falling steeply and one rising, drawn as ribbons, dark slate background, amber accent on the rising ribbon,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1865: better engines burned more coal, not 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Add a lane, get traffic. Elasticity near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Spend = price × jobs × calls per job × tokens per call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1865 William Stanley Jevons noticed something that annoyed everyone. Steam engines had gotten dramatically more efficient, and Britain was burning far more coal than before, not less. Efficiency made coal useful for more things, so people used it for more things. That is the Jevons paradox, and it is word two.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transport version is word three, induced demand. Add a lane to a congested highway and you get more traffic. Duranton and Turner measured it across US cities in 2011 and found the elasticity of driving with respect to lane-kilometres is roughly one. Build ten percent more road, get ten percent more driving. The congestion comes back.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your per-token price fell off a cliff and your bill went up. Everyone here has had that conversation with a CFO and lost it. You are not being gouged and you did nothing wrong. Spend is price times jobs times calls per job times tokens per call, and cheapness moved every term on the right. Epoch's data through 2025 shows the price of a fixed capability falling fast and very unevenly by task — which is real, and is also exactly the condition under which total spend rises.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Both things can be fine. A falling price and a growing bill coexist comfortably as long as customer value grows faster. That is the relationship to measure, and almost nobody measures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Jevons (1865), The Coal Question, chapter VII. Duranton and Turner (2011), The Fundamental Law of Road Congestion, American Economic Review 101(6).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Cottier, Snodin, Owen, Adamczewski (Epoch AI, March 2025), [LLM inference prices have fallen rapidly but unequally across tasks](https://epoch.ai/data-insights/llm-inference-price-trends). Check for a newer edition before each delivery.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Now do it to software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15:00 to 17:00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aerial strip mall, but the parking lots are replaced with glowing server racks and the small buildings are tiny code windows, dark slate background, amber accent on the code windows,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Density: a frontier call where a lookup would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Business mix: products viable only at today's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Bundled rent: unlimited usage promised in a contract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Small format: deterministic code loses the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the same chain through your stack. Density: a frontier call where a cache, a regex, or a dictionary lookup would have done, because the call looked free. Longer context, more retries, more competing branches, frontier by default. Business mix: products whose unit economics only work at promotional rates, crowding out products that would have worked at any price. Bundled rent: unlimited-usage promises to customers, baked into a contract, priced against an input you do not control. And the small format: boring deterministic code losing the design review to "just ask the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 call it architectural obesity. It is not that any one of those calls is wrong. Redundancy is worth paying for, big context is worth paying for, three parallel attempts are sometimes exactly right. The failure is that nobody measured what the extra call bought, because at these prices nobody had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Story: A design review where "inference is basically free" ended the discussion.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for one show of hands: who has shipped a frontier call where a lookup would do? Then admit you have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The lots are already built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17:00 to 19:45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concentric ripple rings on dark water from a single coin drop, outermost ring reaching the frame edge, dark slate background, amber accent on the coin,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Repealing the parking minimum does not remove the asphalt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four: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test: try to remove one model call and count the hours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should worry you more than the price. Shoup won. Cities have been repealing parking minimums for a decade. The lots are still there. The businesses that could have opened on that land still did not open. The environment outlived the rule that produced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path dependence, word four: where you can get to depends on how you got here, and reversal costs more than the original decision did. Paul David made it famous with QWERTY in 1985, and I will be straight with you because it matters for how you use this — economists have fought about that example ever since, and Liebowitz and Margolis argued in 1990 that the evidence was thin. The concept survives. The canonical example is contested.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Which is instructive, because path dependence is very easy to assert and very hard to prove, including about your own codebase. So do not assert it. Measure it. Pick one model call in your product and try to remove it. Count the hours. That number is your lock-in, and it is the only version of this argument that will survive contact with your staff engineer.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David (1985), Clio and the Economics of QWERTY, American Economic Review 75(2). Contested by Liebowitz and Margolis (1990), The Fable of the Keys, Journal of Law and Economics 33(1). Arthur (1989), Competing Technologies, Increasing Returns, and Lock-In by Historical Events, The Economic Journal 99(394).</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Whoever chooses is not whoever pays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19:45 to 22:15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five: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architecture is chosen in a design review. The bill arrives 60 days later, somewhere else.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Shoup's fix was never a ban. It was a meter.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Word five, and this one is about your org chart, not your vendor. Moral hazard: when the person making a decision does not bear its cost, they make a different decision. Not a worse person. A different decision.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 engineer picks the architecture in a design review on a Tuesday. Finance sees the consequence in an aggregated line item sixty days later, in a different building, attributed to nothing in particular. Nobody in that loop is behaving badly. The meter is invisible at the moment of choice, so consumption is not a moral failure, it is the equilibrium. This is the same structure as the parking lot, running inside your company.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And notice what Shoup actually recommended, because everyone gets this wrong. He never said ban parking. He said charge the right price and give the money back to the neighborhood. Same here. The fix is not austerity or a policy forbidding the model. It is putting the number in front of the person choosing, at the moment they choose: estimated cost per accepted outcome, in the design doc, next to the latency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Holmstrom (1979), Moral Hazard and Observability, Bell Journal of Economics 10(1), 74 to 91. Nobel 2016.</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Ask who can see a per-feature inference cost without filing a ticket. Very few hands. That is the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Doubling on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22:15 to 24:45 · steady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long division symbol drawn large, a pile of coins above the line and a single green checkmark below it, dark slate background, amber accent on the checkmark,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Cost per accepted outcome = total spend ÷ accepted jobs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75% accepted means you pay 1.33× sticker. 45% means 2.22×.</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 30-point acceptance drop costs exactly what doubling every token price costs.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Before any dollar figure, define the denominator. An accepted outcome meets a rule you wrote down. An impressive answer that a human quietly repairs afterwards is not a success, it is a success plus a hidden salary. Count inference, tools, infrastructure and recovery. A blended token rate is not a unit economics model.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fixture, synthetic and deliberately small: a thousand attempts a month, two cents of inference and one cent of everything else per attempt, seventy-five percent accepted. Thirty dollars, seven hundred and fifty accepted outcomes, four cents each.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part worth remembering. Divide by the acceptance rate and you get a multiplier on your sticker price. Seventy-five percent acceptance means you are paying one and a third times the list price for every result you keep. Forty-five percent means two point two. Run those two numbers together: dropping from seventy-five to forty-five percent acceptance costs you exactly the same as every token in your stack doubling in price overnight. One of those is on the front page. The other one is a Tuesday.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Do the division on stage. Thirty seconds: name your product's accepted outcome in one sentence. If that is hard, the economics conversation just found a product problem.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Turn the dial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24:45 to 28:45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single dial being turned by a hand, the needle sweeping from 1x to 10x, a bar chart behind it rising steeply, dark slate background, amber accent on the needle,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Sensitivity, not prediction.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Multiply by your volume before you feel anything about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Inference price | Monthly cost | Cost / accepted outcome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 | --- | ---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 | $30 | $0.040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2× | $50 | $0.067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5× | $110 | $0.147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10× | $210 | $0.280 |</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Read the one-times row, then the ten-times row. Then move the acceptance rate and watch it beat the price change, which is the thing nobody expects.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Then multiply by your own volume, because the table is meaningless without it. At a thousand attempts a month this entire talk is not worth an engineer's afternoon and you should go build features. At a million attempts a month the same four rows are a hiring plan. The most expensive mistake available in this room is not overspending on inference. It is spending three weeks optimizing a thirty-dollar bill because a conference talk made you anxious.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Runbook section 4. Two-minute compression: the 1× and 10× rows only. Ask for 45 seconds: which assumption would you attack first before funding an optimization project?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You are not shopping, you are contracting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28:45 to 32:00 · peak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a boxing ring with one empty corner stool under a spotlight, dark slate background, amber spotlight accent,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six: asset specificity. Word seven: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An investment worth a lot inside this relationship and little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Your prompts, evals, fine-tunes, and that unlimited-usage clause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This is the slide I would keep if you cut every other one. Oliver Williamson won a Nobel in 2009 for working out what happens when two parties make investments that only pay off inside their relationship. He called it asset specificity, and the trouble it produces is called hold-up.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shape is always the same. You make an investment that is worth a great deal here and very little anywhere else. That surplus, the part that exists only because you are locked in, is a prize, and at renewal your counterparty can reach for it. Nobody has to be a villain. It is simply what the structure permits, and rational parties do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inventory your specific assets. Prompts tuned against one model's quirks. An eval suite that only means anything against one provider's outputs. A fine-tune. A latency budget that assumes one serving stack. And the sharpest one, an unlimited-usage promise you made to your customers, priced against an input you do not control and cannot cap. Every one of those is worth more inside the relationship than outside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stop thinking of this as shopping, where the customer holds the power because they can leave. You are contracting, with a much better capitalized counterparty, and your architecture is the collateral. That reframe is the whole talk, and everything after this is just a way of reducing specificity or pricing the exposure.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Reversible is a line item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32:00 to 35:00 · build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same bar chart with every bar cut in half by a horizontal slice, the removed top halves fading away, dark slate background, amber accent on the cut line,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Word eight: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The option has value. It also has a premium: abstraction tax, eval upkeep, rehearsal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Same project, different answer, depending on which world you are in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Everyone says "keep it reversible" like it is a personality trait. It is not, it is an option in the financial sense, and Dixit and Pindyck wrote the book on valuing flexibility under uncertainty. The right to switch providers gains value as the price gets less certain and your exposure grows. It also has a monthly premium: the abstraction tax, a second eval suite, rehearsal time, and a generic wrapper that hides real differences between models.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do not argue about portability on vibes. Price it. Exposure is the three prices on the next slide times your volume; the premium is the engineering you would spend. Compare the two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Same for optimization. Take a router that halves inference per attempt at the same acceptance rate: in our fixture it saves a cent per attempt at sticker price and ten cents at ten times. At a million attempts a month, ten cents each is a hundred thousand dollars and you should have started yesterday. At a thousand attempts it is a hundred dollars — ten at today's price — and you should never do it. Identical project. The sweep tells you which world you live in, and a router that costs more to run than it saves is not better engineering.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Dixit and Pindyck (1994), Investment Under Uncertainty, Princeton University Press.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Three prices for the next design review</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35:00 to 37:15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three price tags hanging from strings at different heights, the highest one slightly singed at the edge, dark slate background, amber accent on the singed tag,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What we pay today · What we pay without the offer · What we can survive paying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Record gross usage separately from credits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Keep an acceptance suite · Rehearse one replacement · Price the portability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numbers, and if you take nothing else, take these. The effective rate you pay today. The gross rate with no promotional treatment, which is your exposure if the offer ends. And the highest rate at which this product still makes sense, which is the number nobody has ever calculated and everybody should. Sweep downward too, so you can cancel the optimization project when efficiency makes it pointless.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actions, and each one is one of the words. Record gross consumption separately from credits, so price and subsidy stop being the same number on your dashboard. Keep a small representative acceptance suite, because that is the strike test on your option. Rehearse one provider replacement before you need it, latency and recovery included, because that is how you reduce asset specificity from a slide into a fact. And put the estimated cost per accepted outcome in the design doc next to the latency budget, because that is the meter, and the meter is the fix for moral hazard.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45 seconds in pairs on the third price. Most rooms have never computed it and the silence is useful.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37:15 to 40:00 · land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&lt;!-- image: the bare bulb from slide 1 now on a desk beside a small solar panel and a battery, the long cable coiled unused, dark slate background, amber accent on the bulb, flat vector, no text --&gt;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Externality · Induced demand · Jevons paradox · Path dependence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Moral hazard · Credible commitment · Asset specificity · Real option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&gt; Build for more than one price.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electricity. Use the cheap input. It is genuinely great and I am not asking anyone to be miserable about it. Just understand what it encouraged you to build, and keep the expensive decisions reversible while you find 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are your eight words. Externality, because the cost moved rather than vanished. Induced demand and Jevons, because cheaper made you use more, not less. Path dependence, because the lots stay built. Moral hazard, because whoever chooses is not whoever pays. Credible commitment, because those contracts are moves in a game and not disclosures about it. Asset specificity, because your architecture is worth more here than anywhere else. And real option, because reversibility is something you buy, not something you feel.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 low prices are temporary. Some are a preview of genuinely cheaper production. You do not have to know which. You have to measure outcomes and keep the big choices reversible either 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Cheap intelligence changes incentives before it changes organizations.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Stage direction: Say the last line slowly, then stop talking. For questions, jump back to the sweep table if this route kept slide 11.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Buy Me a Free Tier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electricity for a year</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startup gets free electricity for a year.</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does it build? What survives when the offer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ends?</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15    SOURCE SLIDE 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Four boxes, one invoice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Price paid · Resources consumed · Cost allocated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Value delivered</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gap between the last two is why nobody is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measuring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15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Why would anyone sell below cost?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Penetration pricing · Loss leader in a bundle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Predation · It is genuinely cheap</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price cannot tell you which. What happens next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15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Burn the boats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$250B incremental Azure services contracted by</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OpenAI · Microsoft, 28 Oct 2025</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More than $100B AWS commitment over ten years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Amazon, 20 Apr 2026</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Up to $200K AWS Activate credits · offer checked 5</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Sep 2026</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15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Free parking was never free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driver sees no meter, so demand looks infinite</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cost moves into rents, prices, and land</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one: externality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15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Jevons, coal, and the extra lane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1865: better engines burned more coal, not less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Add a lane, get traffic. Elasticity near one.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Spend = price × jobs × calls per job × tokens per</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call</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15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Now do it to software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Density: a frontier call where a lookup would do</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Business mix: products viable only at today's rate</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Bundled rent: unlimited usage promised in a contract</a:t>
            </a:r>
            <a:endParaRPr lang="en-US" sz="3150"/>
          </a:p>
        </p:txBody>
      </p:sp>
      <p:sp>
        <p:nvSpPr>
          <p:cNvPr id="10" name="Text 10"/>
          <p:cNvSpPr txBox="1"/>
          <p:nvPr/>
        </p:nvSpPr>
        <p:spPr>
          <a:xfrm>
            <a:off x="685800" y="51320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04</a:t>
            </a:r>
            <a:endParaRPr lang="en-US" sz="1875"/>
          </a:p>
        </p:txBody>
      </p:sp>
      <p:sp>
        <p:nvSpPr>
          <p:cNvPr id="11" name="Text 11"/>
          <p:cNvSpPr txBox="1"/>
          <p:nvPr/>
        </p:nvSpPr>
        <p:spPr>
          <a:xfrm>
            <a:off x="2000250" y="51320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Small format: deterministic code loses the design</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review</a:t>
            </a:r>
            <a:endParaRPr lang="en-US" sz="3150"/>
          </a:p>
        </p:txBody>
      </p:sp>
      <p:sp>
        <p:nvSpPr>
          <p:cNvPr id="12" name="Text 12"/>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3" name="Text 13"/>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15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The lots are already built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Repealing the parking minimum does not remove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asphalt</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four: path dependence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test: try to remove one model call and count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hours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15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Whoever chooses is not whoever pays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five: moral hazard</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architecture is chosen in a design review. The</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bill arrives 60 days later, somewhere else.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Shoup's fix was never a ban. It was a meter.</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10 / 15    SOURCE SLIDE 10</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Doubling on a Tuesday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Cost per accepted outcome = total spend ÷ accepted</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jobs</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75% accepted means you pay 1.33× sticker. 45% means</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2.22×.</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30-point acceptance drop costs exactly what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doubling every token price costs.</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11 / 15    SOURCE SLIDE 11</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Turn the dial</a:t>
            </a:r>
            <a:endParaRPr lang="en-US" sz="3900"/>
          </a:p>
        </p:txBody>
      </p:sp>
      <p:graphicFrame>
        <p:nvGraphicFramePr>
          <p:cNvPr id="4" name="Editable table"/>
          <p:cNvGraphicFramePr/>
          <p:nvPr/>
        </p:nvGraphicFramePr>
        <p:xfrm>
          <a:off x="685800" y="2752725"/>
          <a:ext cx="12344400" cy="2817019"/>
        </p:xfrm>
        <a:graphic>
          <a:graphicData uri="http://schemas.openxmlformats.org/drawingml/2006/main/table">
            <a:tbl>
              <a:tblPr firstRow="1" bandRow="0"/>
              <a:tblGrid>
                <a:gridCol w="4114800"/>
                <a:gridCol w="4114800"/>
                <a:gridCol w="4114800"/>
              </a:tblGrid>
              <a:tr h="563404">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Inference price</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Monthly cost</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1">
                          <a:solidFill>
                            <a:srgbClr val="EFB45F"/>
                          </a:solidFill>
                          <a:latin typeface="Arial"/>
                          <a:ea typeface="Arial"/>
                          <a:cs typeface="Arial"/>
                        </a:rPr>
                        <a:t xml:space="preserve">Cost / accepted outcome</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$30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$0.040</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$0.067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5×</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$0.147</a:t>
                      </a:r>
                      <a:endParaRPr lang="en-US" sz="2175"/>
                    </a:p>
                  </a:txBody>
                  <a:tcPr marL="95250" marR="95250" marT="95250" marB="95250">
                    <a:lnB w="6350">
                      <a:solidFill>
                        <a:srgbClr val="CBD2CF"/>
                      </a:solidFill>
                    </a:lnB>
                    <a:noFill/>
                  </a:tcPr>
                </a:tc>
              </a:tr>
              <a:tr h="563404">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$210</a:t>
                      </a:r>
                      <a:endParaRPr lang="en-US" sz="2175"/>
                    </a:p>
                  </a:txBody>
                  <a:tcPr marL="95250" marR="95250" marT="95250" marB="95250">
                    <a:lnB w="6350">
                      <a:solidFill>
                        <a:srgbClr val="CBD2CF"/>
                      </a:solidFill>
                    </a:lnB>
                    <a:noFill/>
                  </a:tcPr>
                </a:tc>
                <a:tc>
                  <a:txBody>
                    <a:bodyPr wrap="none" lIns="0" tIns="0" rIns="0" bIns="0"/>
                    <a:lstStyle/>
                    <a:p>
                      <a:pPr marL="0" indent="0">
                        <a:lnSpc>
                          <a:spcPts val="2936"/>
                        </a:lnSpc>
                        <a:spcAft>
                          <a:spcPts val="0"/>
                        </a:spcAft>
                        <a:buNone/>
                      </a:pPr>
                      <a:r>
                        <a:rPr lang="en-US" sz="2175" b="0">
                          <a:solidFill>
                            <a:srgbClr val="F5F1E9"/>
                          </a:solidFill>
                          <a:latin typeface="Arial"/>
                          <a:ea typeface="Arial"/>
                          <a:cs typeface="Arial"/>
                        </a:rPr>
                        <a:t xml:space="preserve">$0.280</a:t>
                      </a:r>
                      <a:endParaRPr lang="en-US" sz="2175"/>
                    </a:p>
                  </a:txBody>
                  <a:tcPr marL="95250" marR="95250" marT="95250" marB="95250">
                    <a:lnB w="6350">
                      <a:solidFill>
                        <a:srgbClr val="CBD2CF"/>
                      </a:solidFill>
                    </a:lnB>
                    <a:noFill/>
                  </a:tcPr>
                </a:tc>
              </a:tr>
            </a:tbl>
          </a:graphicData>
        </a:graphic>
      </p:graphicFrame>
      <p:sp>
        <p:nvSpPr>
          <p:cNvPr id="5" name="Text 5"/>
          <p:cNvSpPr txBox="1"/>
          <p:nvPr/>
        </p:nvSpPr>
        <p:spPr>
          <a:xfrm>
            <a:off x="685800" y="5769769"/>
            <a:ext cx="12344400" cy="1524000"/>
          </a:xfrm>
          <a:prstGeom prst="rect">
            <a:avLst/>
          </a:prstGeom>
          <a:noFill/>
          <a:ln>
            <a:noFill/>
          </a:ln>
        </p:spPr>
        <p:txBody>
          <a:bodyPr wrap="none" lIns="0" tIns="0" rIns="0" bIns="0" anchor="t">
            <a:noAutofit/>
          </a:bodyPr>
          <a:lstStyle/>
          <a:p>
            <a:pPr marL="0" indent="0">
              <a:lnSpc>
                <a:spcPts val="2700"/>
              </a:lnSpc>
              <a:spcAft>
                <a:spcPts val="0"/>
              </a:spcAft>
              <a:buNone/>
            </a:pPr>
            <a:r>
              <a:rPr lang="en-US" sz="2025" b="0">
                <a:solidFill>
                  <a:srgbClr val="EFB45F"/>
                </a:solidFill>
                <a:latin typeface="Arial"/>
                <a:ea typeface="Arial"/>
                <a:cs typeface="Arial"/>
              </a:rPr>
              <a:t xml:space="preserve">Sensitivity, not prediction.</a:t>
            </a:r>
            <a:endParaRPr lang="en-US" sz="2025"/>
          </a:p>
          <a:p>
            <a:pPr marL="0" indent="0">
              <a:lnSpc>
                <a:spcPts val="2700"/>
              </a:lnSpc>
              <a:spcAft>
                <a:spcPts val="0"/>
              </a:spcAft>
              <a:buNone/>
            </a:pPr>
            <a:r>
              <a:rPr lang="en-US" sz="2025" b="0">
                <a:solidFill>
                  <a:srgbClr val="EFB45F"/>
                </a:solidFill>
                <a:latin typeface="Arial"/>
                <a:ea typeface="Arial"/>
                <a:cs typeface="Arial"/>
              </a:rPr>
              <a:t xml:space="preserve">Multiply by your volume before you feel anything about it.</a:t>
            </a:r>
            <a:endParaRPr lang="en-US" sz="2025"/>
          </a:p>
        </p:txBody>
      </p:sp>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12 / 15    SOURCE SLIDE 12</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 are not shopping, you are contracting</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six: asset specificity. Word seven: hold-up.</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An investment worth a lot inside this relationship</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and little outside it</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Your prompts, evals, fine-tunes, and that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unlimited-usage clause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13 / 15    SOURCE SLIDE 13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Reversible is a line item</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Word eight: real option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option has value. It also has a premium:</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abstraction tax, eval upkeep, rehearsal time.</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Same project, different answer, depending on which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world you are in</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14 / 15    SOURCE SLIDE 14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Three prices for the next design review</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we pay today · What we pay without the offer ·</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What we can survive paying</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Record gross usage separately from credits</a:t>
            </a:r>
            <a:endParaRPr lang="en-US" sz="3150"/>
          </a:p>
        </p:txBody>
      </p:sp>
      <p:sp>
        <p:nvSpPr>
          <p:cNvPr id="8" name="Text 8"/>
          <p:cNvSpPr txBox="1"/>
          <p:nvPr/>
        </p:nvSpPr>
        <p:spPr>
          <a:xfrm>
            <a:off x="685800" y="486537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865370"/>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Keep an acceptance suite · Rehearse one replacement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 Price the portability</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15 / 15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Cheap intelligence changes incentives first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Externality · Induced demand · Jevons paradox · Path</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dependence</a:t>
            </a:r>
            <a:endParaRPr lang="en-US" sz="3150"/>
          </a:p>
        </p:txBody>
      </p:sp>
      <p:sp>
        <p:nvSpPr>
          <p:cNvPr id="6" name="Text 6"/>
          <p:cNvSpPr txBox="1"/>
          <p:nvPr/>
        </p:nvSpPr>
        <p:spPr>
          <a:xfrm>
            <a:off x="685800" y="40786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4078605"/>
            <a:ext cx="11029950" cy="1059180"/>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Moral hazard · Credible commitment · Asset</a:t>
            </a:r>
            <a:endParaRPr lang="en-US" sz="3150"/>
          </a:p>
          <a:p>
            <a:pPr marL="0" indent="0">
              <a:lnSpc>
                <a:spcPts val="4095"/>
              </a:lnSpc>
              <a:spcAft>
                <a:spcPts val="0"/>
              </a:spcAft>
              <a:buNone/>
            </a:pPr>
            <a:r>
              <a:rPr lang="en-US" sz="3150" b="0">
                <a:solidFill>
                  <a:srgbClr val="F5F1E9"/>
                </a:solidFill>
                <a:latin typeface="Arial"/>
                <a:ea typeface="Arial"/>
                <a:cs typeface="Arial"/>
              </a:rPr>
              <a:t xml:space="preserve">specificity · Real option</a:t>
            </a:r>
            <a:endParaRPr lang="en-US" sz="3150"/>
          </a:p>
        </p:txBody>
      </p:sp>
      <p:sp>
        <p:nvSpPr>
          <p:cNvPr id="8" name="Text 8"/>
          <p:cNvSpPr txBox="1"/>
          <p:nvPr/>
        </p:nvSpPr>
        <p:spPr>
          <a:xfrm>
            <a:off x="685800" y="538543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538543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Build for more than one price.</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Buy Me a Free Tier</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15</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15</Slides>
  <Notes>15</Notes>
</Properties>
</file>

<file path=docProps/core.xml><?xml version="1.0" encoding="utf-8"?>
<cp:coreProperties xmlns:cp="http://schemas.openxmlformats.org/package/2006/metadata/core-properties" xmlns:dc="http://purl.org/dc/elements/1.1/" xmlns:dcterms="http://purl.org/dc/terms/" xmlns:xsi="http://www.w3.org/2001/XMLSchema-instance">
  <dc:title>Buy Me a Free Tier</dc:title>
  <dc:creator>Dan Levy</dc:creator>
  <dc:description>screen edition generated from current reviewed talk materials</dc:description>
  <dcterms:created xsi:type="dcterms:W3CDTF">2026-09-07T02:31:12Z</dcterms:created>
</cp:coreProperties>
</file>