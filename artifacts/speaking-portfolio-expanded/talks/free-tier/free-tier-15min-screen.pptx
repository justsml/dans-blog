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svg" ContentType="image/svg+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Master"/>
  </p:sldMasterIdLst>
  <p:notesMasterIdLst>
    <p:notesMasterId r:id="rIdNotesMaster"/>
  </p:notesMasterIdLst>
  <p:sldIdLst>
    <p:sldId id="256" r:id="rIdSlide1"/>
    <p:sldId id="257" r:id="rIdSlide2"/>
    <p:sldId id="258" r:id="rIdSlide3"/>
    <p:sldId id="259" r:id="rIdSlide4"/>
    <p:sldId id="260" r:id="rIdSlide5"/>
    <p:sldId id="261" r:id="rIdSlide6"/>
    <p:sldId id="262" r:id="rIdSlide7"/>
  </p:sldIdLst>
  <p:sldSz cx="13716000" cy="8572500" type="custom"/>
  <p:notesSz cx="6858000" cy="9144000"/>
  <p:defaultTextStyle/>
</p:presentation>
</file>

<file path=ppt/_rels/presentation.xml.rels><?xml version="1.0" encoding="UTF-8" standalone="yes"?><Relationships xmlns="http://schemas.openxmlformats.org/package/2006/relationships"><Relationship Id="rIdMaster" Type="http://schemas.openxmlformats.org/officeDocument/2006/relationships/slideMaster" Target="slideMasters/slideMaster1.xml"/><Relationship Id="rIdNotesMaster" Type="http://schemas.openxmlformats.org/officeDocument/2006/relationships/notesMaster" Target="notesMasters/notesMaster1.xml"/><Relationship Id="rIdSlide1" Type="http://schemas.openxmlformats.org/officeDocument/2006/relationships/slide" Target="slides/slide1.xml"/><Relationship Id="rIdSlide2" Type="http://schemas.openxmlformats.org/officeDocument/2006/relationships/slide" Target="slides/slide2.xml"/><Relationship Id="rIdSlide3" Type="http://schemas.openxmlformats.org/officeDocument/2006/relationships/slide" Target="slides/slide3.xml"/><Relationship Id="rIdSlide4" Type="http://schemas.openxmlformats.org/officeDocument/2006/relationships/slide" Target="slides/slide4.xml"/><Relationship Id="rIdSlide5" Type="http://schemas.openxmlformats.org/officeDocument/2006/relationships/slide" Target="slides/slide5.xml"/><Relationship Id="rIdSlide6" Type="http://schemas.openxmlformats.org/officeDocument/2006/relationships/slide" Target="slides/slide6.xml"/><Relationship Id="rIdSlide7" Type="http://schemas.openxmlformats.org/officeDocument/2006/relationships/slide" Target="slides/slide7.xml"/></Relationships>
</file>

<file path=ppt/notesMasters/_rels/notesMaster1.xml.rels><?xml version="1.0" encoding="UTF-8" standalone="yes"?><Relationships xmlns="http://schemas.openxmlformats.org/package/2006/relationships"><Relationship Id="rIdTheme"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notesStyle/>
</p:notesMaster>
</file>

<file path=ppt/notesSlides/_rels/notesSlide1.xml.rels><?xml version="1.0" encoding="UTF-8" standalone="yes"?><Relationships xmlns="http://schemas.openxmlformats.org/package/2006/relationships"><Relationship Id="rIdSlide" Type="http://schemas.openxmlformats.org/officeDocument/2006/relationships/slide" Target="../slides/slide1.xml"/><Relationship Id="rIdMaster" Type="http://schemas.openxmlformats.org/officeDocument/2006/relationships/notesMaster" Target="../notesMasters/notesMaster1.xml"/></Relationships>
</file>

<file path=ppt/notesSlides/_rels/notesSlide2.xml.rels><?xml version="1.0" encoding="UTF-8" standalone="yes"?><Relationships xmlns="http://schemas.openxmlformats.org/package/2006/relationships"><Relationship Id="rIdSlide" Type="http://schemas.openxmlformats.org/officeDocument/2006/relationships/slide" Target="../slides/slide2.xml"/><Relationship Id="rIdMaster" Type="http://schemas.openxmlformats.org/officeDocument/2006/relationships/notesMaster" Target="../notesMasters/notesMaster1.xml"/></Relationships>
</file>

<file path=ppt/notesSlides/_rels/notesSlide3.xml.rels><?xml version="1.0" encoding="UTF-8" standalone="yes"?><Relationships xmlns="http://schemas.openxmlformats.org/package/2006/relationships"><Relationship Id="rIdSlide" Type="http://schemas.openxmlformats.org/officeDocument/2006/relationships/slide" Target="../slides/slide3.xml"/><Relationship Id="rIdMaster" Type="http://schemas.openxmlformats.org/officeDocument/2006/relationships/notesMaster" Target="../notesMasters/notesMaster1.xml"/></Relationships>
</file>

<file path=ppt/notesSlides/_rels/notesSlide4.xml.rels><?xml version="1.0" encoding="UTF-8" standalone="yes"?><Relationships xmlns="http://schemas.openxmlformats.org/package/2006/relationships"><Relationship Id="rIdSlide" Type="http://schemas.openxmlformats.org/officeDocument/2006/relationships/slide" Target="../slides/slide4.xml"/><Relationship Id="rIdMaster" Type="http://schemas.openxmlformats.org/officeDocument/2006/relationships/notesMaster" Target="../notesMasters/notesMaster1.xml"/></Relationships>
</file>

<file path=ppt/notesSlides/_rels/notesSlide5.xml.rels><?xml version="1.0" encoding="UTF-8" standalone="yes"?><Relationships xmlns="http://schemas.openxmlformats.org/package/2006/relationships"><Relationship Id="rIdSlide" Type="http://schemas.openxmlformats.org/officeDocument/2006/relationships/slide" Target="../slides/slide5.xml"/><Relationship Id="rIdMaster" Type="http://schemas.openxmlformats.org/officeDocument/2006/relationships/notesMaster" Target="../notesMasters/notesMaster1.xml"/></Relationships>
</file>

<file path=ppt/notesSlides/_rels/notesSlide6.xml.rels><?xml version="1.0" encoding="UTF-8" standalone="yes"?><Relationships xmlns="http://schemas.openxmlformats.org/package/2006/relationships"><Relationship Id="rIdSlide" Type="http://schemas.openxmlformats.org/officeDocument/2006/relationships/slide" Target="../slides/slide6.xml"/><Relationship Id="rIdMaster" Type="http://schemas.openxmlformats.org/officeDocument/2006/relationships/notesMaster" Target="../notesMasters/notesMaster1.xml"/></Relationships>
</file>

<file path=ppt/notesSlides/_rels/notesSlide7.xml.rels><?xml version="1.0" encoding="UTF-8" standalone="yes"?><Relationships xmlns="http://schemas.openxmlformats.org/package/2006/relationships"><Relationship Id="rIdSlide" Type="http://schemas.openxmlformats.org/officeDocument/2006/relationships/slide" Target="../slides/slide7.xml"/><Relationship Id="rIdMaster"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Buy Me a Free Tier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 00:00 to 02:30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startup gets free electricity for a year.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What does it build? What survives when the offer ends?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startup gets free electricity for a year. What does it build? Sit with that for five seconds, because the answer is not "the same thing, but cheaper." It builds a different company. Now: what survives when the offer ends?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Swap electricity for inference and that is the whole talk. Here is my one disclaimer, and then I am done qualifying: nobody outside a provider knows its margins, I am not going to guess at one, and every dollar figure in my arithmetic is invented. What I do have is a hundred and fifty years of economists working on exactly this problem in coal, parking, highways and car factories, and they gave it names.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That is what you are getting today. Eight words. Engineers lose this argument in budget meetings because the best we can say is "it feels wasteful," and finance says "the bill looks fine." These eight words are how you say it so it lands.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first time a bill, a quota, or a rate change broke an assumption in something you built.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Take the five seconds. Actually take them. The silence is the slide.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four boxes on one invoice - price paid, resources consumed, cost allocated, value delivered - and the gap between the last two is why nobody is measuring.</a:t>
            </a:r>
            <a:endParaRPr 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Buy Me a Free Tier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3. 02:30 to 05:15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Penetration pricing · Loss leader in a bundle · Predation · It is genuinely cheap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price cannot tell you which. What happens next can.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Penetration pricing: buy the market now, raise later. Standard, legal, taught in every business school. Loss leader in a bundle: the cheap thing funds the expensive thing next to it, which is what a two-sided market does for a living. Predation: below cost specifically to remove rivals. In US law that is not a vibe, it is a test. Brooke Group, 1993: you need below-cost pricing and a dangerous probability of recoupment. And the fourth explanation, the one that keeps me honest: it is genuinely cheap, and getting cheaper, because the engineering is real.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Here is the useful part. You cannot distinguish these from the price. You can distinguish them from what happens next. Penetration predicts prices rise at renewal, after switching gets hard. Predation predicts a rival disappears and then prices rise. Genuine efficiency predicts prices keep falling without anyone tightening the terms. So watch renewal terms, watch rate limits, watch what happens to the free tier, and stop trying to read a margin off a token rate.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Brooke Group Ltd. v. Brown &amp; Williamson Tobacco Corp., 509 U.S. 209 (1993), on the recoupment requirement in predatory-pricing claims.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Rochet and Tirole (2003), Platform Competition in Two-Sided Markets, Journal of the European Economic Association, on cross-subsidy between sides of a market.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those commitments are credible commitments in Schelling's sense, moves in a war of attrition. Note who is not a player. Somebody is buying your free tier, and it is not you. You are not a combatant, you are the terrain. And the terrain keeps its asphalt: repealing a parking minimum does not remove a lot, which is path dependence.</a:t>
            </a:r>
            <a:endParaRPr 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Buy Me a Free Tier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6. 05:15 to 07:15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1865: better engines burned more coal, not less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Add a lane, get traffic. Elasticity near one.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Spend = price × jobs × calls per job × tokens per call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In 1865 William Stanley Jevons noticed something that annoyed everyone. Steam engines had gotten dramatically more efficient, and Britain was burning far more coal than before, not less. Efficiency made coal useful for more things, so people used it for more things. That is the Jevons paradox, and it is word two.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transport version is word three, induced demand. Add a lane to a congested highway and you get more traffic. Duranton and Turner measured it across US cities in 2011 and found the elasticity of driving with respect to lane-kilometres is roughly one. Build ten percent more road, get ten percent more driving. The congestion comes back.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Jevons (1865), The Coal Question, chapter VII. Duranton and Turner (2011), The Fundamental Law of Road Congestion, American Economic Review 101(6).</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Cottier, Snodin, Owen, Adamczewski (Epoch AI, March 2025), [LLM inference prices have fallen rapidly but unequally across tasks](https://epoch.ai/data-insights/llm-inference-price-trends). Check for a newer edition before each delivery.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your per-token price fell off a cliff and your bill went up, because spend is price times jobs times calls times tokens and cheapness moved every term on the right.</a:t>
            </a:r>
            <a:endParaRPr 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Buy Me a Free Tier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7. 07:15 to 09:30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Density: a frontier call where a lookup would do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Business mix: products viable only at today's rate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Bundled rent: unlimited usage promised in a contract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Small format: deterministic code loses the design review</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Walk the same chain through your stack. Density: a frontier call where a cache, a regex, or a dictionary lookup would have done, because the call looked free. Longer context, more retries, more competing branches, frontier by default. Business mix: products whose unit economics only work at promotional rates, crowding out products that would have worked at any price. Bundled rent: unlimited-usage promises to customers, baked into a contract, priced against an input you do not control. And the small format: boring deterministic code losing the design review to "just ask the model."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 call it architectural obesity. It is not that any one of those calls is wrong. Redundancy is worth paying for, big context is worth paying for, three parallel attempts are sometimes exactly right. The failure is that nobody measured what the extra call bought, because at these prices nobody had to.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design review where "inference is basically free" ended the discussion.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Ask for one show of hands: who has shipped a frontier call where a lookup would do? Then admit you have too.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the lots stay built, and whoever chooses the architecture is not whoever pays the bill sixty days later.</a:t>
            </a:r>
            <a:endParaRPr 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Buy Me a Free Tier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10. 09:30 to 11:30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Cost per accepted outcome = total spend ÷ accepted jobs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75% accepted means you pay 1.33× sticker. 45% means 2.22×.</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30-point acceptance drop costs exactly what doubling every token price costs.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Before any dollar figure, define the denominator. An accepted outcome meets a rule you wrote down. An impressive answer that a human quietly repairs afterwards is not a success, it is a success plus a hidden salary. Count inference, tools, infrastructure and recovery. A blended token rate is not a unit economics model.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the part worth remembering. Divide by the acceptance rate and you get a multiplier on your sticker price. Seventy-five percent acceptance means you are paying one and a third times the list price for every result you keep. Forty-five percent means two point two. Run those two numbers together: dropping from seventy-five to forty-five percent acceptance costs you exactly the same as every token in your stack doubling in price overnight. One of those is on the front page. The other one is a Tuesday.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Do the division on stage. Thirty seconds: name your product's accepted outcome in one sentence. If that is hard, the economics conversation just found a product problem.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run the sweep at one, two, five and ten times price, then multiply by your own volume before you feel anything about it.</a:t>
            </a:r>
            <a:endParaRPr lang="en-US"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Buy Me a Free Tier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12. 11:30 to 13:15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Word six: asset specificity. Word seven: hold-up.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An investment worth a lot inside this relationship and little outside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Your prompts, evals, fine-tunes, and that unlimited-usage clause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This is the slide I would keep if you cut every other one. Oliver Williamson won a Nobel in 2009 for working out what happens when two parties make investments that only pay off inside their relationship. He called it asset specificity, and the trouble it produces is called hold-up.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 stop thinking of this as shopping, where the customer holds the power because they can leave. You are contracting, with a much better capitalized counterparty, and your architecture is the collateral. That reframe is the whole talk, and everything after this is just a way of reducing specificity or pricing the exposure.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so price reversibility as the option it is, and bring three prices to the design review: today, without the offer, and the most you could survive.</a:t>
            </a:r>
            <a:endParaRPr lang="en-US"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Buy Me a Free Tier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15. 13:15 to 15:00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Externality · Induced demand · Jevons paradox · Path dependence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Moral hazard · Credible commitment · Asset specificity · Real option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Build for more than one price.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Back to the electricity. Use the cheap input. It is genuinely great and I am not asking anyone to be miserable about it. Just understand what it encouraged you to build, and keep the expensive decisions reversible while you find out.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There are your eight words. Externality, because the cost moved rather than vanished. Induced demand and Jevons, because cheaper made you use more, not less. Path dependence, because the lots stay built. Moral hazard, because whoever chooses is not whoever pays. Credible commitment, because those contracts are moves in a game and not disclosures about it. Asset specificity, because your architecture is worth more here than anywhere else. And real option, because reversibility is something you buy, not something you feel.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Cheap intelligence changes incentives before it changes organizations.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Say the last line slowly, then stop talking. For questions, jump back to the sweep table if this route kept slide 11.</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slideLayouts/_rels/slideLayout1.xml.rels><?xml version="1.0" encoding="UTF-8" standalone="yes"?><Relationships xmlns="http://schemas.openxmlformats.org/package/2006/relationships"><Relationship Id="rIdMaster"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Layout" Type="http://schemas.openxmlformats.org/officeDocument/2006/relationships/slideLayout" Target="../slideLayouts/slideLayout1.xml"/><Relationship Id="rIdTheme"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Layout"/>
  </p:sldLayoutIdLst>
  <p:txStyles>
    <p:titleStyle/>
    <p:bodyStyle/>
    <p:otherStyle/>
  </p:txStyles>
</p:sldMaster>
</file>

<file path=ppt/slides/_rels/slide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Buy Me a Free Tier · Dan Levy</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Free electricity for a year</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 startup gets free electricity for a year.</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What does it build? What survives when the offer</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ends?</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Buy Me a Free Tier</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a:t>
            </a:r>
            <a:endParaRPr lang="en-US" sz="975"/>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02 / 07    SOURCE SLIDE 3</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Why would anyone sell below cost?</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Penetration pricing · Loss leader in a bundle ·</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Predation · It is genuinely cheap</a:t>
            </a:r>
            <a:endParaRPr lang="en-US" sz="3150"/>
          </a:p>
        </p:txBody>
      </p:sp>
      <p:sp>
        <p:nvSpPr>
          <p:cNvPr id="6" name="Text 6"/>
          <p:cNvSpPr txBox="1"/>
          <p:nvPr/>
        </p:nvSpPr>
        <p:spPr>
          <a:xfrm>
            <a:off x="685800" y="40786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407860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The price cannot tell you which. What happens next</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can.</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Buy Me a Free Tier</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2</a:t>
            </a:r>
            <a:endParaRPr lang="en-US" sz="975"/>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03 / 07    SOURCE SLIDE 6</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Jevons, coal, and the extra lane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1865: better engines burned more coal, not less</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Add a lane, get traffic. Elasticity near one.</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34530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Spend = price × jobs × calls per job × tokens per</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call</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Buy Me a Free Tier</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3</a:t>
            </a:r>
            <a:endParaRPr lang="en-US" sz="975"/>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04 / 07    SOURCE SLIDE 7</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Now do it to software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Density: a frontier call where a lookup would do</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Business mix: products viable only at today's rate</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3453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Bundled rent: unlimited usage promised in a contract</a:t>
            </a:r>
            <a:endParaRPr lang="en-US" sz="3150"/>
          </a:p>
        </p:txBody>
      </p:sp>
      <p:sp>
        <p:nvSpPr>
          <p:cNvPr id="10" name="Text 10"/>
          <p:cNvSpPr txBox="1"/>
          <p:nvPr/>
        </p:nvSpPr>
        <p:spPr>
          <a:xfrm>
            <a:off x="685800" y="513207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04</a:t>
            </a:r>
            <a:endParaRPr lang="en-US" sz="1875"/>
          </a:p>
        </p:txBody>
      </p:sp>
      <p:sp>
        <p:nvSpPr>
          <p:cNvPr id="11" name="Text 11"/>
          <p:cNvSpPr txBox="1"/>
          <p:nvPr/>
        </p:nvSpPr>
        <p:spPr>
          <a:xfrm>
            <a:off x="2000250" y="5132070"/>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Small format: deterministic code loses the design</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review</a:t>
            </a:r>
            <a:endParaRPr lang="en-US" sz="3150"/>
          </a:p>
        </p:txBody>
      </p:sp>
      <p:sp>
        <p:nvSpPr>
          <p:cNvPr id="12" name="Text 12"/>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Buy Me a Free Tier</a:t>
            </a:r>
            <a:endParaRPr lang="en-US" sz="975"/>
          </a:p>
        </p:txBody>
      </p:sp>
      <p:sp>
        <p:nvSpPr>
          <p:cNvPr id="13" name="Text 13"/>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4</a:t>
            </a:r>
            <a:endParaRPr lang="en-US" sz="975"/>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05 / 07    SOURCE SLIDE 10</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Doubling on a Tuesday</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Cost per accepted outcome = total spend ÷ accepted</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jobs</a:t>
            </a:r>
            <a:endParaRPr lang="en-US" sz="3150"/>
          </a:p>
        </p:txBody>
      </p:sp>
      <p:sp>
        <p:nvSpPr>
          <p:cNvPr id="6" name="Text 6"/>
          <p:cNvSpPr txBox="1"/>
          <p:nvPr/>
        </p:nvSpPr>
        <p:spPr>
          <a:xfrm>
            <a:off x="685800" y="40786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407860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75% accepted means you pay 1.33× sticker. 45% means</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2.22×.</a:t>
            </a:r>
            <a:endParaRPr lang="en-US" sz="3150"/>
          </a:p>
        </p:txBody>
      </p:sp>
      <p:sp>
        <p:nvSpPr>
          <p:cNvPr id="8" name="Text 8"/>
          <p:cNvSpPr txBox="1"/>
          <p:nvPr/>
        </p:nvSpPr>
        <p:spPr>
          <a:xfrm>
            <a:off x="685800" y="538543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538543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 30-point acceptance drop costs exactly what</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doubling every token price costs.</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Buy Me a Free Tier</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5</a:t>
            </a:r>
            <a:endParaRPr lang="en-US" sz="975"/>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06 / 07    SOURCE SLIDE 12</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You are not shopping, you are contracting</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Word six: asset specificity. Word seven: hold-up.</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An investment worth a lot inside this relationship</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and little outside it</a:t>
            </a:r>
            <a:endParaRPr lang="en-US" sz="3150"/>
          </a:p>
        </p:txBody>
      </p:sp>
      <p:sp>
        <p:nvSpPr>
          <p:cNvPr id="8" name="Text 8"/>
          <p:cNvSpPr txBox="1"/>
          <p:nvPr/>
        </p:nvSpPr>
        <p:spPr>
          <a:xfrm>
            <a:off x="685800" y="486537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865370"/>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Your prompts, evals, fine-tunes, and that</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unlimited-usage clause</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Buy Me a Free Tier</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6</a:t>
            </a:r>
            <a:endParaRPr lang="en-US" sz="975"/>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07 / 07    SOURCE SLIDE 15</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Cheap intelligence changes incentives first</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Externality · Induced demand · Jevons paradox · Path</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dependence</a:t>
            </a:r>
            <a:endParaRPr lang="en-US" sz="3150"/>
          </a:p>
        </p:txBody>
      </p:sp>
      <p:sp>
        <p:nvSpPr>
          <p:cNvPr id="6" name="Text 6"/>
          <p:cNvSpPr txBox="1"/>
          <p:nvPr/>
        </p:nvSpPr>
        <p:spPr>
          <a:xfrm>
            <a:off x="685800" y="40786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407860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Moral hazard · Credible commitment · Asset</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specificity · Real option</a:t>
            </a:r>
            <a:endParaRPr lang="en-US" sz="3150"/>
          </a:p>
        </p:txBody>
      </p:sp>
      <p:sp>
        <p:nvSpPr>
          <p:cNvPr id="8" name="Text 8"/>
          <p:cNvSpPr txBox="1"/>
          <p:nvPr/>
        </p:nvSpPr>
        <p:spPr>
          <a:xfrm>
            <a:off x="685800" y="538543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538543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Build for more than one price.</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Buy Me a Free Tier</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7</a:t>
            </a:r>
            <a:endParaRPr lang="en-US" sz="975"/>
          </a:p>
        </p:txBody>
      </p:sp>
    </p:spTree>
  </p:cSld>
  <p:clrMapOvr>
    <a:masterClrMapping/>
  </p:clrMapOvr>
</p:sld>
</file>

<file path=ppt/theme/theme1.xml><?xml version="1.0" encoding="utf-8"?>
<a:theme xmlns:a="http://schemas.openxmlformats.org/drawingml/2006/main" name="Dan Levy talks">
  <a:themeElements>
    <a:clrScheme name="Talk palette">
      <a:dk1>
        <a:srgbClr val="202B33"/>
      </a:dk1>
      <a:lt1>
        <a:srgbClr val="FFFFFF"/>
      </a:lt1>
      <a:dk2>
        <a:srgbClr val="48555B"/>
      </a:dk2>
      <a:lt2>
        <a:srgbClr val="FAFAF7"/>
      </a:lt2>
      <a:accent1>
        <a:srgbClr val="EFB45F"/>
      </a:accent1>
      <a:accent2>
        <a:srgbClr val="728482"/>
      </a:accent2>
      <a:accent3>
        <a:srgbClr val="53616F"/>
      </a:accent3>
      <a:accent4>
        <a:srgbClr val="9D7462"/>
      </a:accent4>
      <a:accent5>
        <a:srgbClr val="7D86A0"/>
      </a:accent5>
      <a:accent6>
        <a:srgbClr val="9E996B"/>
      </a:accent6>
      <a:hlink>
        <a:srgbClr val="246957"/>
      </a:hlink>
      <a:folHlink>
        <a:srgbClr val="925700"/>
      </a:folHlink>
    </a:clrScheme>
    <a:fontScheme name="Arial">
      <a:majorFont>
        <a:latin typeface="Arial"/>
        <a:ea typeface=""/>
        <a:cs typeface=""/>
      </a:majorFont>
      <a:minorFont>
        <a:latin typeface="Arial"/>
        <a:ea typeface=""/>
        <a:cs typeface=""/>
      </a:minorFont>
    </a:fontScheme>
    <a:fmtScheme name="Plain">
      <a:fillStyleLst>
        <a:solidFill>
          <a:schemeClr val="phClr"/>
        </a:solidFill>
        <a:solidFill>
          <a:schemeClr val="phClr"/>
        </a:solidFill>
        <a:solidFill>
          <a:schemeClr val="phClr"/>
        </a:solidFill>
      </a:fillStyleLst>
      <a:lnStyleLst>
        <a:ln w="9525">
          <a:solidFill>
            <a:schemeClr val="phClr"/>
          </a:solidFill>
          <a:prstDash val="solid"/>
        </a:ln>
        <a:ln w="9525">
          <a:solidFill>
            <a:schemeClr val="phClr"/>
          </a:solidFill>
          <a:prstDash val="solid"/>
        </a:ln>
        <a:ln w="9525">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Application>Talk package exporter</Application>
  <Slides>7</Slides>
  <Notes>7</Notes>
</Properties>
</file>

<file path=docProps/core.xml><?xml version="1.0" encoding="utf-8"?>
<cp:coreProperties xmlns:cp="http://schemas.openxmlformats.org/package/2006/metadata/core-properties" xmlns:dc="http://purl.org/dc/elements/1.1/" xmlns:dcterms="http://purl.org/dc/terms/" xmlns:xsi="http://www.w3.org/2001/XMLSchema-instance">
  <dc:title>Buy Me a Free Tier</dc:title>
  <dc:creator>Dan Levy</dc:creator>
  <dc:description>screen edition generated from current reviewed talk materials</dc:description>
  <dcterms:created xsi:type="dcterms:W3CDTF">2026-09-08T03:01:16Z</dcterms:created>
</cp:coreProperties>
</file>