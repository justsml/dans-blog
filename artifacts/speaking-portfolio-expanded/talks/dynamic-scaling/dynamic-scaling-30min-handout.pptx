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 id="265" r:id="rIdSlide10"/>
    <p:sldId id="266" r:id="rIdSlide11"/>
    <p:sldId id="267" r:id="rIdSlide12"/>
    <p:sldId id="268" r:id="rIdSlide13"/>
    <p:sldId id="269" r:id="rIdSlide14"/>
    <p:sldId id="270" r:id="rIdSlide15"/>
    <p:sldId id="271" r:id="rIdSlide16"/>
    <p:sldId id="272" r:id="rIdSlide17"/>
    <p:sldId id="273" r:id="rIdSlide18"/>
  </p:sldIdLst>
  <p:sldSz cx="10058400" cy="77724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 Id="rIdSlide10" Type="http://schemas.openxmlformats.org/officeDocument/2006/relationships/slide" Target="slides/slide10.xml"/><Relationship Id="rIdSlide11" Type="http://schemas.openxmlformats.org/officeDocument/2006/relationships/slide" Target="slides/slide11.xml"/><Relationship Id="rIdSlide12" Type="http://schemas.openxmlformats.org/officeDocument/2006/relationships/slide" Target="slides/slide12.xml"/><Relationship Id="rIdSlide13" Type="http://schemas.openxmlformats.org/officeDocument/2006/relationships/slide" Target="slides/slide13.xml"/><Relationship Id="rIdSlide14" Type="http://schemas.openxmlformats.org/officeDocument/2006/relationships/slide" Target="slides/slide14.xml"/><Relationship Id="rIdSlide15" Type="http://schemas.openxmlformats.org/officeDocument/2006/relationships/slide" Target="slides/slide15.xml"/><Relationship Id="rIdSlide16" Type="http://schemas.openxmlformats.org/officeDocument/2006/relationships/slide" Target="slides/slide16.xml"/><Relationship Id="rIdSlide17" Type="http://schemas.openxmlformats.org/officeDocument/2006/relationships/slide" Target="slides/slide17.xml"/><Relationship Id="rIdSlide18" Type="http://schemas.openxmlformats.org/officeDocument/2006/relationships/slide" Target="slides/slide18.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_rels/notesSlide10.xml.rels><?xml version="1.0" encoding="UTF-8" standalone="yes"?><Relationships xmlns="http://schemas.openxmlformats.org/package/2006/relationships"><Relationship Id="rIdSlide" Type="http://schemas.openxmlformats.org/officeDocument/2006/relationships/slide" Target="../slides/slide10.xml"/><Relationship Id="rIdMaster" Type="http://schemas.openxmlformats.org/officeDocument/2006/relationships/notesMaster" Target="../notesMasters/notesMaster1.xml"/></Relationships>
</file>

<file path=ppt/notesSlides/_rels/notesSlide11.xml.rels><?xml version="1.0" encoding="UTF-8" standalone="yes"?><Relationships xmlns="http://schemas.openxmlformats.org/package/2006/relationships"><Relationship Id="rIdSlide" Type="http://schemas.openxmlformats.org/officeDocument/2006/relationships/slide" Target="../slides/slide11.xml"/><Relationship Id="rIdMaster" Type="http://schemas.openxmlformats.org/officeDocument/2006/relationships/notesMaster" Target="../notesMasters/notesMaster1.xml"/></Relationships>
</file>

<file path=ppt/notesSlides/_rels/notesSlide12.xml.rels><?xml version="1.0" encoding="UTF-8" standalone="yes"?><Relationships xmlns="http://schemas.openxmlformats.org/package/2006/relationships"><Relationship Id="rIdSlide" Type="http://schemas.openxmlformats.org/officeDocument/2006/relationships/slide" Target="../slides/slide12.xml"/><Relationship Id="rIdMaster" Type="http://schemas.openxmlformats.org/officeDocument/2006/relationships/notesMaster" Target="../notesMasters/notesMaster1.xml"/></Relationships>
</file>

<file path=ppt/notesSlides/_rels/notesSlide13.xml.rels><?xml version="1.0" encoding="UTF-8" standalone="yes"?><Relationships xmlns="http://schemas.openxmlformats.org/package/2006/relationships"><Relationship Id="rIdSlide" Type="http://schemas.openxmlformats.org/officeDocument/2006/relationships/slide" Target="../slides/slide13.xml"/><Relationship Id="rIdMaster" Type="http://schemas.openxmlformats.org/officeDocument/2006/relationships/notesMaster" Target="../notesMasters/notesMaster1.xml"/></Relationships>
</file>

<file path=ppt/notesSlides/_rels/notesSlide14.xml.rels><?xml version="1.0" encoding="UTF-8" standalone="yes"?><Relationships xmlns="http://schemas.openxmlformats.org/package/2006/relationships"><Relationship Id="rIdSlide" Type="http://schemas.openxmlformats.org/officeDocument/2006/relationships/slide" Target="../slides/slide14.xml"/><Relationship Id="rIdMaster" Type="http://schemas.openxmlformats.org/officeDocument/2006/relationships/notesMaster" Target="../notesMasters/notesMaster1.xml"/></Relationships>
</file>

<file path=ppt/notesSlides/_rels/notesSlide15.xml.rels><?xml version="1.0" encoding="UTF-8" standalone="yes"?><Relationships xmlns="http://schemas.openxmlformats.org/package/2006/relationships"><Relationship Id="rIdSlide" Type="http://schemas.openxmlformats.org/officeDocument/2006/relationships/slide" Target="../slides/slide15.xml"/><Relationship Id="rIdMaster" Type="http://schemas.openxmlformats.org/officeDocument/2006/relationships/notesMaster" Target="../notesMasters/notesMaster1.xml"/></Relationships>
</file>

<file path=ppt/notesSlides/_rels/notesSlide16.xml.rels><?xml version="1.0" encoding="UTF-8" standalone="yes"?><Relationships xmlns="http://schemas.openxmlformats.org/package/2006/relationships"><Relationship Id="rIdSlide" Type="http://schemas.openxmlformats.org/officeDocument/2006/relationships/slide" Target="../slides/slide16.xml"/><Relationship Id="rIdMaster" Type="http://schemas.openxmlformats.org/officeDocument/2006/relationships/notesMaster" Target="../notesMasters/notesMaster1.xml"/></Relationships>
</file>

<file path=ppt/notesSlides/_rels/notesSlide17.xml.rels><?xml version="1.0" encoding="UTF-8" standalone="yes"?><Relationships xmlns="http://schemas.openxmlformats.org/package/2006/relationships"><Relationship Id="rIdSlide" Type="http://schemas.openxmlformats.org/officeDocument/2006/relationships/slide" Target="../slides/slide17.xml"/><Relationship Id="rIdMaster" Type="http://schemas.openxmlformats.org/officeDocument/2006/relationships/notesMaster" Target="../notesMasters/notesMaster1.xml"/></Relationships>
</file>

<file path=ppt/notesSlides/_rels/notesSlide18.xml.rels><?xml version="1.0" encoding="UTF-8" standalone="yes"?><Relationships xmlns="http://schemas.openxmlformats.org/package/2006/relationships"><Relationship Id="rIdSlide" Type="http://schemas.openxmlformats.org/officeDocument/2006/relationships/slide" Target="../slides/slide18.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Agents now direct their own compute. Put the limits where the work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Rewritten 2026-09-06 from Dan's notes. 40 minutes, 14 slides, four audience moments, no Q&amp;A. Add five minutes for a 45-minute booking. Job counts and prices are fixtures; the vendors on slide 8 are real and were checked on the date above. Say the scope once, on slide 1.</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[Presenter scripts](../packets/dynamic-scaling/script-40min.md) · [Contracts](../packets/dynamic-scaling/contracts.md) · [Walkthrough](../packets/dynamic-scaling/demo.md) · [Evidence](../packets/dynamic-scaling/evidence-bank.md)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Regenerate scripts, adaptations and the browser deck with `bun artifacts/speaking-portfolio-expanded/build-talk.ts dynamic-scaling`.</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chat turn, a retry, a cron job, a second tab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Each legal. Each ten images.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customer bought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for ten images. Four things happen within a minute, and every one of them is legitimate. The chat turn calls the batch tool. A worker crashed halfway and its replacement retries. A nightly job re-runs anything not marked done. The customer opened a second tab because the first one looked stuck.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Four callers, ten images each. Every local limit passed. The provider is rendering forty. Your dashboard proudly reports four tool calls. We put the limit on the wrong unit of work.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That is the whole talk in one multiplication. The agentic part is what comes next: the same system that hid the fan-out can also ask for its own compute, and we have to decide what that is allowed to mean. Numbers here are fixtures; the vendors later are real.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fan-out you found on a bill before you found it in a dashboard.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Let the room multiply before you show forty. Then ask which component knew the customer's entitlement. Silence is the answer.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2. 01:30 to 04:00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Horizontal: more boxes,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Vertical: bigger box, decided by ops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Self-directed: the job describes its shape and asks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twenty years scaling was an infra question answered once for everyone. Add replicas or buy a bigger box, then let an autoscaler watch CPU and guess. The workload never got a say.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Agentic workloads do. The orchestrator knows this batch is mostly waiting on a provider, that this one needs a GPU for ninety seconds, that this one is untrusted code and wants a sandbox. It can say so, per job, at the moment the job starts.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Three decisions stay separate. Tasks: split the work. Attempts: try several complete answers. Placement: choose where it runs. A model can propose all three cheaply now; it does not repeal the dependency graph, and it does not get to repeal the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Classify an image batch, a route-optimization run, three competing designs and a region move. Note that an LLM can schedule a solver without doing the arithmetic.</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04:00 to 05:30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Agent slots ≠ tool batch size ≠ provider attempts ≠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runtime's concurrency limit counts tool calls. A batch tool multiplies each one. A retry layer multiplies again. Forty logical items become eighty provider attempts when every item gets one retry, and the visible count still says four.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Record logical items and external attempts separately. A retry is another attempt at an item, not a new entitlement. And read the batch tool's actual contract: maximum batch size, resource estimate, cancellation behavior, what a partial result looks like.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four callers, ten children, one retry layer. Count to eighty out loud.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05:30 to 08:00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Reserve before dispatch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Share tenant and provider limits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Queue or reject what does not fit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prompt that says only run one expensive tool is guidance. It is not a lock. The chat turn, the retry, the cron job and the second tab arrive at once, and none of them can see the others.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 every external dispatch crosses one shared admission controller. It atomically checks tenant entitlement, budget, provider concurrency, rate and deadline, then reserves. If the request does not fit, it queues or returns an explicit rejection. A process-local semaphore only works when that process owns all the work, and in an agentic system it never does.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two simultaneous callers in contracts.md. Read-balance-then-write loses; atomic reservation admits 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08:00 to 09:30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Concurrency ≠ requests per minute ≠ dollars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Reserved ≠ charged. Cancelled ≠ refunded.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Pessimistic reservations refuse real work; choose your tightness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 can satisfy any one of these and blow the other two. Reserve a defensible maximum per operation, reconcile against the bill when the answer arrives, and keep unresolved provider jobs charged until you know. A worker lease expiring proves the worker died, not that the remote render stopped.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There is a real trade here. Reserve the full retry allowance up front and a second legitimate caller gets queued behind money that may never be spent. Reserve lazily and you can overshoot. Pick a tightness on purpose and write it 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Use the $2 ledger in contracts.md. Show settled plus reserved never passing $2, then ask what the second caller should have seen.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a scheduler can lower pressure after throttling without ever raising the ceiling; that policy is deterministic code, not a prompt.</a:t>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09:30 to 12:00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Request: shape, size, duration, region, cost 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Resolve: catalog, tenant budget, 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Pay per job. No idle fleet. Least privilege for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is actually new. The orchestrator asks for compute the way it asks for a tool. Eight sandboxes for six minutes, this region, this cost cap. The scheduler resolves that against a catalog of approved classes and the tenant's budget, and returns a lease with a teardown.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get is per-job economics. A customer can buy a faster turnaround. Finance can cap one workflow instead of one environment. Nobody pays for a warm fleet sized for the worst Tuesday of the year. And least privilege stops being a project: an instance that lives six minutes, reaches three domains, and holds one scoped credential is hard to abuse even when the agent inside it is confused.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risk is obvious. An agent that can provision is an agent that can spend. The catalog, the lease and the teardown are the answer, and they are enforced outside the model. The agent chooses; it does not grant.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moment an agent-sized request would have replaced a capacity-planning meeting.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Contrast one autoscaler threshold with one job request. Ask which one you could put on an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09:30 to 12:00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Request: shape, size, duration, region, cost cap</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Resolve: catalog, tenant budget, lease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Pay per job. No idle fleet. Least privilege for free.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Here is the part that is actually new. The orchestrator asks for compute the way it asks for a tool. Eight sandboxes for six minutes, this region, this cost cap. The scheduler resolves that against a catalog of approved classes and the tenant's budget, and returns a lease with a teardown.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get is per-job economics. A customer can buy a faster turnaround. Finance can cap one workflow instead of one environment. Nobody pays for a warm fleet sized for the worst Tuesday of the year. And least privilege stops being a project: an instance that lives six minutes, reaches three domains, and holds one scoped credential is hard to abuse even when the agent inside it is confused.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you risk is obvious. An agent that can provision is an agent that can spend. The catalog, the lease and the teardown are the answer, and they are enforced outside the model. The agent chooses; it does not grant.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moment an agent-sized request would have replaced a capacity-planning meeting.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Contrast one autoscaler threshold with one job request. Ask which one you could put on an invoice.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12:00 to 14:30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Sandboxes: Fly.io Sprites, Depot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Serverless compute and GPUs: Modal, Vast.ai</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edge state: Cloudflare Workers, Durable Objects, Workflows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Interruptible capacity: AWS EC2 Spot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pieces exist, and they are shaped for this. Fly.io Sprites are microVMs whose stated creation target is under a second, checkpoint and restore, and take an egress policy from outside so the agent inside cannot loosen it. Depot sandboxes bill by the second for exactly this: run agent-generated code, throw it away.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Modal gives you functions and GPUs that scale to zero; Vast.ai is a marketplace where a spare GPU is cheap and short-lived. Cloudflare Workers with Durable Objects and Workflows hold the coordination state that survives everything else being torn down. EC2 Spot is the old version of the same idea: capacity that can vanish, so the job had better be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common thread: create in seconds, pay per second, torn down unless someone says otherwise, and the network narrowed from the outside. That is the substrate an agent-directed scheduler needs. What none of them give you is the ledger; that is still yours.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runs agent code on something with a lifetime under an hour. Then ask who has an egress policy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match the execution class to the work; waiting on a provider needs a durable step, not a GPU.</a:t>
            </a:r>
            <a:endParaRPr lang="en-US"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12:00 to 14:30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Sandboxes: Fly.io Sprites, Depot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Serverless compute and GPUs: Modal, Vast.ai</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edge state: Cloudflare Workers, Durable Objects, Workflows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Interruptible capacity: AWS EC2 Spot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pieces exist, and they are shaped for this. Fly.io Sprites are microVMs whose stated creation target is under a second, checkpoint and restore, and take an egress policy from outside so the agent inside cannot loosen it. Depot sandboxes bill by the second for exactly this: run agent-generated code, throw it away.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Modal gives you functions and GPUs that scale to zero; Vast.ai is a marketplace where a spare GPU is cheap and short-lived. Cloudflare Workers with Durable Objects and Workflows hold the coordination state that survives everything else being torn down. EC2 Spot is the old version of the same idea: capacity that can vanish, so the job had better be restartable.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common thread: create in seconds, pay per second, torn down unless someone says otherwise, and the network narrowed from the outside. That is the substrate an agent-directed scheduler needs. What none of them give you is the ledger; that is still yours.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runs agent code on something with a lifetime under an hour. Then ask who has an egress policy on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match the execution class to the work; waiting on a provider needs a durable step, not a GPU.</a:t>
            </a:r>
            <a:endParaRPr lang="en-US" sz="12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10. 14:30 to 17:00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queued → submitted → waiting → completed / failed / unresolved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Callbacks: authenticate, deduplicate, valid transitions only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Notification is its own job</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Accept ten prompts, return a stable job ID, persist item IDs, provider IDs, reservations, attempts, output locations and terminal states. The conversation can end. The sandbox can be reclaimed. The job continues.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Callbacks arrive twice and out of order; authenticate, deduplicate, apply only valid transitions. A restart rebuilds pending work from storage, not from replaying the conversation. And when the output is stored, enqueue the notification through an outbox so an email failure never regenerates an image. Naming something durable does not make an in-flight promise survive a lifecycle transition; the recovery protocol is yours to write.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Draw the state machine in contracts.md. Crash after submission and before the provider ID is saved. Discuss unresolved.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11. 17:00 to 20:00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one entitlement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Spot instance reclaimed mid-batch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response lost, one email fails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Two callers each want a full batch. The first reserves the entitlement; the second queues with an explicit reason. Dispatch begins on a spot worker. Halfway through, the instance is reclaimed with two minutes' notice: the lease expires, the provider keeps rendering, the reservations stay charged.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new worker reloads the job, checks provider status for every submitted item, and collects what finished. One item's response never arrived; it stays unresolved with its reservation held, and the worker asks the provider rather than resubmitting. All outputs land. The email fails. The delivery worker retries the email against the completed job, and the expensive generation is untouched.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job, a recoverable lifecycle, honest accounting, and a compute substrate that was allowed to disappear under it. That is the abstraction the batch tool owed 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trace in demo.md; compress rows 1 and 2 on the short routes. Ask the room for each next transition before revealing it.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20:00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Barrel of monkeys: lead with cheap parallel generation,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Council of Guards: judges read a thousand tokens and write fifty; measure the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Gates before preferences; the judge may reject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Somebody is going to cite Knight and Leveson at me, so let me do it first. 1986, twenty-seven programmers, one specification, a million tests, and the independently written versions failed together far more than independence predicts. True, important, and about N-version programming as a correctness strategy. Not this. I am not voting three models toward the truth.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generation side has a name I am not sorry about: the barrel-of-monkeys maneuver. Lead with cheap parallel generation on purpose — monkeys at a hundredth of the frontier's price — and hand the barrel to the next stage. Four reasons. Race: take the first draft that passes the gate. Synthesize: a frontier model reads them all, input tokens being the cheap ones, and writes one coherent output. Rank: more candidates for the judges, so the best whole answer goes downstream. Catch: in law or medicine, where the rules are extensive and specific, the mistake you fear shows up in one output out of ten, and the only way to see it is to have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Speculative optimization in a lab coat? Possibly. Ship it with an env var that sets fan-out to one, and ideally let the system tune that knob itself. Right? Right. That is the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cheap half is judging. A judge reads a thousand tokens and writes fifty, and output is what costs, so five judges from different models on every candidate is affordable. Not the average score. The disagreement. Judges that split, or whose reasons barely overlap, have found territory nobody understands; that candidate does not ship on autopilot. I call this the Council of Guards: it reads everything, writes almost nothing, and costs a fraction of what it guards.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gates before you read the candidates: no duplicate dispatch after restart, no cross-tenant spend, no regeneration on notification retry, no dispatch after deadline. Every candidate fails one, including the careful one; the council is allowed to reject the room. A synthesis is a new candidate. Stop at the review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this looks like the engineering we were raised on. Do not do the work twice. Do not spend compute speculatively. One right answer per ticket. Those were axioms when the expensive thing was the engineer. When the expensive thing is being wrong and a second draft costs cents, doing it three times and reading what disagrees is the frugal move. I am not a shill for Big Token. Cheaper, safer and faster now sometimes come from spending exactly where yesterday's wisdom told you not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Score the three candidates in demo.md. Have the room find each candidate's failed gate before revealing it. Then show the council split per candidate: high agreement on the minimalist's failure, low overlap on the maintainer's, and ask which one deserves the human's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20:00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Barrel of monkeys: lead with cheap parallel generation,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Council of Guards: judges read a thousand tokens and write fifty; measure the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Gates before preferences; the judge may reject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Somebody is going to cite Knight and Leveson at me, so let me do it first. 1986, twenty-seven programmers, one specification, a million tests, and the independently written versions failed together far more than independence predicts. True, important, and about N-version programming as a correctness strategy. Not this. I am not voting three models toward the truth.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generation side has a name I am not sorry about: the barrel-of-monkeys maneuver. Lead with cheap parallel generation on purpose — monkeys at a hundredth of the frontier's price — and hand the barrel to the next stage. Four reasons. Race: take the first draft that passes the gate. Synthesize: a frontier model reads them all, input tokens being the cheap ones, and writes one coherent output. Rank: more candidates for the judges, so the best whole answer goes downstream. Catch: in law or medicine, where the rules are extensive and specific, the mistake you fear shows up in one output out of ten, and the only way to see it is to have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Speculative optimization in a lab coat? Possibly. Ship it with an env var that sets fan-out to one, and ideally let the system tune that knob itself. Right? Right. That is the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cheap half is judging. A judge reads a thousand tokens and writes fifty, and output is what costs, so five judges from different models on every candidate is affordable. Not the average score. The disagreement. Judges that split, or whose reasons barely overlap, have found territory nobody understands; that candidate does not ship on autopilot. I call this the Council of Guards: it reads everything, writes almost nothing, and costs a fraction of what it guards.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gates before you read the candidates: no duplicate dispatch after restart, no cross-tenant spend, no regeneration on notification retry, no dispatch after deadline. Every candidate fails one, including the careful one; the council is allowed to reject the room. A synthesis is a new candidate. Stop at the review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this looks like the engineering we were raised on. Do not do the work twice. Do not spend compute speculatively. One right answer per ticket. Those were axioms when the expensive thing was the engineer. When the expensive thing is being wrong and a second draft costs cents, doing it three times and reading what disagrees is the frugal move. I am not a shill for Big Token. Cheaper, safer and faster now sometimes come from spending exactly where yesterday's wisdom told you not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Score the three candidates in demo.md. Have the room find each candidate's failed gate before revealing it. Then show the council split per candidate: high agreement on the minimalist's failure, low overlap on the maintainer's, and ask which one deserves the human's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12. 20:00 to 25:00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Barrel of monkeys: lead with cheap parallel generation, on purpose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Council of Guards: judges read a thousand tokens and write fifty; measure the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Gates before preferences; the judge may reject everyone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Somebody is going to cite Knight and Leveson at me, so let me do it first. 1986, twenty-seven programmers, one specification, a million tests, and the independently written versions failed together far more than independence predicts. True, important, and about N-version programming as a correctness strategy. Not this. I am not voting three models toward the truth.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generation side has a name I am not sorry about: the barrel-of-monkeys maneuver. Lead with cheap parallel generation on purpose — monkeys at a hundredth of the frontier's price — and hand the barrel to the next stage. Four reasons. Race: take the first draft that passes the gate. Synthesize: a frontier model reads them all, input tokens being the cheap ones, and writes one coherent output. Rank: more candidates for the judges, so the best whole answer goes downstream. Catch: in law or medicine, where the rules are extensive and specific, the mistake you fear shows up in one output out of ten, and the only way to see it is to have ten.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Speculative optimization in a lab coat? Possibly. Ship it with an env var that sets fan-out to one, and ideally let the system tune that knob itself. Right? Right. That is the companion talk.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cheap half is judging. A judge reads a thousand tokens and writes fifty, and output is what costs, so five judges from different models on every candidate is affordable. Not the average score. The disagreement. Judges that split, or whose reasons barely overlap, have found territory nobody understands; that candidate does not ship on autopilot. I call this the Council of Guards: it reads everything, writes almost nothing, and costs a fraction of what it guards.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gates before you read the candidates: no duplicate dispatch after restart, no cross-tenant spend, no regeneration on notification retry, no dispatch after deadline. Every candidate fails one, including the careful one; the council is allowed to reject the room. A synthesis is a new candidate. Stop at the review budget.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None of this looks like the engineering we were raised on. Do not do the work twice. Do not spend compute speculatively. One right answer per ticket. Those were axioms when the expensive thing was the engineer. When the expensive thing is being wrong and a second draft costs cents, doing it three times and reading what disagrees is the frugal move. I am not a shill for Big Token. Cheaper, safer and faster now sometimes come from spending exactly where yesterday's wisdom told you not to.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Score the three candidates in demo.md. Have the room find each candidate's failed gate before revealing it. Then show the council split per candidate: high agreement on the minimalist's failure, low overlap on the maintainer's, and ask which one deserves the human's afternoon.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13. 25:00 to 27:30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Latency: dispatch + queue + slowest branch + merge + verify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Cost: every candidate, every retry, every held reservation, review time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Compare against one competent attempt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Starting three workers does not delete the serial parts. That is Amdahl, 1967, and it is unkind: if a tenth of the job is serial, ten workers get you five and a quarter times, and a hundred workers get you nine. Waiting on every branch can make a finished task slower. Count the whole thing: all candidates, failed work, reserved uncertainty, judging and human review, and compare against one competent attempt on the same task set.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Measure accepted outcomes, not launched workers. Start with one extra attempt or one batch boundary; if it does not buy quality, time or cost, keep the simpler path. We are trying to buy useful work, not maximize the number of things blinking.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Amdahl (1967), Validity of the single processor approach to achieving large scale computing capabilities, AFIPS Conference Proceedings 30, 483 to 485.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Ninety seconds: choose a baseline, a cap and an acceptance gate. Keep latency and total cost as separate numbers.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Dynamic Scaling of Agentic Workloads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14. 27:30 to 30:00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ledger across every caller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Durable state across every restart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lease on every box, a gate on every candidate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Back to the four callers. Forty jobs were legal by four local counters. The missing piece was one shared account of what the application had promised and what it had already started.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inversion is real: the workload can now describe its own shape and ask for its own compute, and the substrate to grant it in seconds already exists. That is a better world than a warm fleet and a guess. It is only safe because the agent chooses from a catalog, spends from a ledger, and runs on boxes that expire.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Inspect one expensive tool in your system. Count the work it can launch underneath itself. Put the limit where that work actually begins.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Close on the multiplication and the shared admission line. Do not add a vendor.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Knight and Leveson (1986), [An Experimental Evaluation of the Assumption of Independence in Multiversion Programming](https://doi.org/10.1109/TSE.1986.6312924), IEEE Transactions on Software Engineering SE-12(1), 96 to 109. Cited to set aside: it is a result about redundancy as a correctness strategy, which this slide does not claim.</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Amdahl (1967), Validity of the single processor approach to achieving large scale computing capabilities, AFIPS Conference Proceedings 30, 483 to 485.</a:t>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 Id="rIdImage1" Type="http://schemas.openxmlformats.org/officeDocument/2006/relationships/image" Target="../media/slide2-1.png"/><Relationship Id="rIdSvg1" Type="http://schemas.openxmlformats.org/officeDocument/2006/relationships/image" Target="../media/slide2-1.svg"/></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 Id="rIdImage1" Type="http://schemas.openxmlformats.org/officeDocument/2006/relationships/image" Target="../media/slide3-1.png"/><Relationship Id="rIdSvg1" Type="http://schemas.openxmlformats.org/officeDocument/2006/relationships/image" Target="../media/slide3-1.svg"/></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 Id="rIdImage1" Type="http://schemas.openxmlformats.org/officeDocument/2006/relationships/image" Target="../media/slide4-1.png"/><Relationship Id="rIdSvg1" Type="http://schemas.openxmlformats.org/officeDocument/2006/relationships/image" Target="../media/slide4-1.svg"/></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 Id="rIdImage1" Type="http://schemas.openxmlformats.org/officeDocument/2006/relationships/image" Target="../media/slide5-1.png"/><Relationship Id="rIdSvg1" Type="http://schemas.openxmlformats.org/officeDocument/2006/relationships/image" Target="../media/slide5-1.svg"/></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 Id="rIdImage1" Type="http://schemas.openxmlformats.org/officeDocument/2006/relationships/image" Target="../media/slide6-1.png"/><Relationship Id="rIdSvg1" Type="http://schemas.openxmlformats.org/officeDocument/2006/relationships/image" Target="../media/slide6-1.svg"/></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 Id="rIdImage1" Type="http://schemas.openxmlformats.org/officeDocument/2006/relationships/image" Target="../media/slide9-1.png"/><Relationship Id="rIdSvg1" Type="http://schemas.openxmlformats.org/officeDocument/2006/relationships/image" Target="../media/slide9-1.svg"/></Relationships>
</file>

<file path=ppt/slides/_rels/slide10.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1.xml"/><Relationship Id="rIdImage1" Type="http://schemas.openxmlformats.org/officeDocument/2006/relationships/image" Target="../media/slide11-1.png"/><Relationship Id="rIdSvg1" Type="http://schemas.openxmlformats.org/officeDocument/2006/relationships/image" Target="../media/slide11-1.svg"/></Relationships>
</file>

<file path=ppt/slides/_rels/slide1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3.xml"/><Relationship Id="rIdImage1" Type="http://schemas.openxmlformats.org/officeDocument/2006/relationships/image" Target="../media/slide13-1.png"/><Relationship Id="rIdSvg1" Type="http://schemas.openxmlformats.org/officeDocument/2006/relationships/image" Target="../media/slide13-1.svg"/></Relationships>
</file>

<file path=ppt/slides/_rels/slide1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514350"/>
            <a:ext cx="9144000" cy="28575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246957"/>
                </a:solidFill>
                <a:latin typeface="Arial"/>
                <a:ea typeface="Arial"/>
                <a:cs typeface="Arial"/>
              </a:rPr>
              <a:t xml:space="preserve">DAN LEVY</a:t>
            </a:r>
            <a:endParaRPr lang="en-US" sz="1350"/>
          </a:p>
        </p:txBody>
      </p:sp>
      <p:sp>
        <p:nvSpPr>
          <p:cNvPr id="3" name="Text 3"/>
          <p:cNvSpPr txBox="1"/>
          <p:nvPr/>
        </p:nvSpPr>
        <p:spPr>
          <a:xfrm>
            <a:off x="457200" y="1428750"/>
            <a:ext cx="9144000" cy="2381250"/>
          </a:xfrm>
          <a:prstGeom prst="rect">
            <a:avLst/>
          </a:prstGeom>
          <a:noFill/>
          <a:ln>
            <a:noFill/>
          </a:ln>
        </p:spPr>
        <p:txBody>
          <a:bodyPr wrap="none" lIns="0" tIns="0" rIns="0" bIns="0" anchor="t">
            <a:noAutofit/>
          </a:bodyPr>
          <a:lstStyle/>
          <a:p>
            <a:pPr marL="0" indent="0">
              <a:lnSpc>
                <a:spcPts val="4500"/>
              </a:lnSpc>
              <a:spcAft>
                <a:spcPts val="0"/>
              </a:spcAft>
              <a:buNone/>
            </a:pPr>
            <a:r>
              <a:rPr lang="en-US" sz="3750" b="1">
                <a:solidFill>
                  <a:srgbClr val="202B33"/>
                </a:solidFill>
                <a:latin typeface="Arial"/>
                <a:ea typeface="Arial"/>
                <a:cs typeface="Arial"/>
              </a:rPr>
              <a:t xml:space="preserve">Dynamic Scaling of Agentic Workloads</a:t>
            </a:r>
            <a:endParaRPr lang="en-US" sz="3750"/>
          </a:p>
        </p:txBody>
      </p:sp>
      <p:sp>
        <p:nvSpPr>
          <p:cNvPr id="4" name="Text 4"/>
          <p:cNvSpPr txBox="1"/>
          <p:nvPr/>
        </p:nvSpPr>
        <p:spPr>
          <a:xfrm>
            <a:off x="457200" y="4476750"/>
            <a:ext cx="9144000" cy="571500"/>
          </a:xfrm>
          <a:prstGeom prst="rect">
            <a:avLst/>
          </a:prstGeom>
          <a:noFill/>
          <a:ln>
            <a:noFill/>
          </a:ln>
        </p:spPr>
        <p:txBody>
          <a:bodyPr wrap="none" lIns="0" tIns="0" rIns="0" bIns="0" anchor="t">
            <a:noAutofit/>
          </a:bodyPr>
          <a:lstStyle/>
          <a:p>
            <a:pPr marL="0" indent="0">
              <a:lnSpc>
                <a:spcPts val="2925"/>
              </a:lnSpc>
              <a:spcAft>
                <a:spcPts val="0"/>
              </a:spcAft>
              <a:buNone/>
            </a:pPr>
            <a:r>
              <a:rPr lang="en-US" sz="2250" b="0">
                <a:solidFill>
                  <a:srgbClr val="246957"/>
                </a:solidFill>
                <a:latin typeface="Arial"/>
                <a:ea typeface="Arial"/>
                <a:cs typeface="Arial"/>
              </a:rPr>
              <a:t xml:space="preserve">30-minute route · Reading edition</a:t>
            </a:r>
            <a:endParaRPr lang="en-US" sz="2250"/>
          </a:p>
        </p:txBody>
      </p:sp>
      <p:sp>
        <p:nvSpPr>
          <p:cNvPr id="5" name="Text 5"/>
          <p:cNvSpPr txBox="1"/>
          <p:nvPr/>
        </p:nvSpPr>
        <p:spPr>
          <a:xfrm>
            <a:off x="457200" y="6496050"/>
            <a:ext cx="9048750" cy="762000"/>
          </a:xfrm>
          <a:prstGeom prst="rect">
            <a:avLst/>
          </a:prstGeom>
          <a:noFill/>
          <a:ln>
            <a:noFill/>
          </a:ln>
        </p:spPr>
        <p:txBody>
          <a:bodyPr wrap="none" lIns="0" tIns="0" rIns="0" bIns="0" anchor="t">
            <a:noAutofit/>
          </a:bodyPr>
          <a:lstStyle/>
          <a:p>
            <a:pPr marL="0" indent="0">
              <a:lnSpc>
                <a:spcPts val="2175"/>
              </a:lnSpc>
              <a:spcAft>
                <a:spcPts val="0"/>
              </a:spcAft>
              <a:buNone/>
            </a:pPr>
            <a:r>
              <a:rPr lang="en-US" sz="1575" b="0">
                <a:solidFill>
                  <a:srgbClr val="202B33"/>
                </a:solidFill>
                <a:latin typeface="Arial"/>
                <a:ea typeface="Arial"/>
                <a:cs typeface="Arial"/>
              </a:rPr>
              <a:t xml:space="preserve">12 source sections</a:t>
            </a:r>
            <a:endParaRPr lang="en-US" sz="1575"/>
          </a:p>
          <a:p>
            <a:pPr marL="0" indent="0">
              <a:lnSpc>
                <a:spcPts val="2175"/>
              </a:lnSpc>
              <a:spcAft>
                <a:spcPts val="0"/>
              </a:spcAft>
              <a:buNone/>
            </a:pPr>
            <a:r>
              <a:rPr lang="en-US" sz="1575" b="0">
                <a:solidFill>
                  <a:srgbClr val="202B33"/>
                </a:solidFill>
                <a:latin typeface="Arial"/>
                <a:ea typeface="Arial"/>
                <a:cs typeface="Arial"/>
              </a:rPr>
              <a:t xml:space="preserve">September 6, 2026</a:t>
            </a:r>
            <a:endParaRPr lang="en-US" sz="1575"/>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01 / 12    SOURCE SLIDE 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Four callers, forty images, one customer</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f501b6c12ee57de00d0d8ab47b3d7373e10fdbdb35a9cf56315dbb05ff6bf328" descr="Each of four batch-tool calls starts ten jobs: 4 × 10 = 40, before retri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 chat turn, a retry, a cron job, a second tab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Each legal. Each ten images.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customer bought ten.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customer asks for ten images. Four things happen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within a minute, and every one of them is legitimate.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chat turn calls the batch tool. A worker crashed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halfway and its replacement retries. A nightly 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re-runs anything not marked done. The customer opened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second tab because the first one looked stuck.</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Four callers, ten images each. Every local limit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passed. The provider is rendering forty. Your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dashboard proudly reports four tool calls. We put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limit on the wrong unit of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is the whole talk in one multiplication.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agentic part is what comes next: the same system that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hid the fan-out can also ask for its own compute,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we have to decide what that is allowed to mean.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Numbers here are fixtures; the vendors later are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real.</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02 / 12    SOURCE SLIDE 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Horizontal, vertical, and now self-directed</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f5bca740713b7dd36a3ccfac9c9e9a9675c63ad025b015c1afe125e81654692e" descr="Ops sized the fleet for everyone; an autoscaler reacts to CPU; an agentic job describes its own shape and ask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Horizontal: more boxes, decided by ops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Vertical: bigger box, decided by ops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Self-directed: the job describes its shape and asks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For twenty years scaling was an infra question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answered once for everyone. Add replicas or buy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bigger box, then let an autoscaler watch CPU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guess. The workload never got a say.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Agentic workloads do. The orchestrator knows this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batch is mostly waiting on a provider, that this 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needs a GPU for ninety seconds, that this one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untrusted code and wants a sandbox. It can say so,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per job, at the moment the job starts.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Three decisions stay separate. Tasks: split the work.</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Attempts: try several complete answers. Placement: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choose where it runs. A model can propose all three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cheaply now; it does not repeal the dependency graph,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it does not get to repeal the budget.</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03 / 12    SOURCE SLIDE 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Count items and attempts, not tool slots</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342ac160b4ec3426a06b9bd5f5f25d8b7d3bcc6391f7dfec72e52bc5a99f3307" descr="One retry per item can turn 40 logical items into 80 provider attempt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Agent slots ≠ tool batch size ≠ provider attempts ≠</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entitlement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runtime's concurrency limit counts tool calls.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batch tool multiplies each one. A retry layer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multiplies again. Forty logical items become eighty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provider attempts when every item gets one retry,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visible count still says four.</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Record logical items and external attempts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separately. A retry is another attempt at an item,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 a new entitlement. And read the batch tool's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actual contract: maximum batch size, resource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estimate, cancellation behavior, what a partial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result looks like.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04 / 12    SOURCE SLIDE 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Put admission below every caller</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ade204143b64e69af78520893e44a4991a36800e58ae3c6b1bff88cf7111db46" descr="One coordinated reservation protects tenant spend and entitlement across all caller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Reserve before dispatch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Share tenant and provider limits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Queue or reject what does not fit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prompt that says only run one expensive tool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guidance. It is not a lock. The chat turn, the retry,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cron job and the second tab arrive at once,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none of them can see the others.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every external dispatch crosses one shared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admission controller. It atomically checks tenant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entitlement, budget, provider concurrency, rate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deadline, then reserves. If the request does not fit,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it queues or returns an explicit rejection.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process-local semaphore only works when that process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owns all the work, and in an agentic system it never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does.</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05 / 12    SOURCE SLIDE 5</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Money, concurrency and rate are three limits</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53c399b4989d541a9290cbf8888665cf190abef617844fd5194169975728c017" descr="Illustrative $2 run cap: settled + reserved ≤ $2. Prices here are invented fixture values."/>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Concurrency ≠ requests per minute ≠ dollars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Reserved ≠ charged. Cancelled ≠ refunded.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Pessimistic reservations refuse real work; choose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your tightness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You can satisfy any one of these and blow the other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two. Reserve a defensible maximum per operation,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reconcile against the bill when the answer arrives,</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and keep unresolved provider jobs charged until you</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know. A worker lease expiring proves the worker died,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 that the remote render stopped.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There is a real trade here. Reserve the full retry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allowance up front and a second legitimate caller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gets queued behind money that may never be spent.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Reserve lazily and you can overshoot. Pick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tightness on purpose and write it down.</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12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Infra Is a Tool Call</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473993b159729307dbf46a28dd0767ec3dfa81a479c514a84869a6738e54d9b7" descr="The job requests shape, size, duration and a cost cap; the scheduler resolves it against a catalog and tenant budget and returns a leas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Request: shape, size, duration, region, cost cap</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Resolve: catalog, tenant budget, lease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Pay per job. No idle fleet. Least privilege for free.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Here is the part that is actually new.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orchestrator asks for compute the way it asks for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tool. Eight sandboxes for six minutes, this region,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this cost cap. The scheduler resolves that against 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catalog of approved classes and the tenant's budget,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and returns a lease with a teardown.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What you get is per-job economics. A customer can buy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 faster turnaround. Finance can cap one workflow</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instead of one environment. Nobody pays for a warm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fleet sized for the worst Tuesday of the year.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least privilege stops being a project: an instance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that lives six minutes, reaches three domains,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holds one scoped credential is hard to abuse even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when the agent inside it is confused.</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06 / 12    SOURCE SLIDE 7</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Infra Is a Tool Call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What you risk is obvious. An agent that can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provision is an agent that can spend.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catalog, the lease and the teardown are the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answer, and they are enforced outside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The agent chooses; it does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grant.</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12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Torn Down by Default</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1daa0143328d8028c247af2b7cfb4a0a77c5d39818a1b12c28efc7e58b692783" descr="Sandboxes, serverless GPUs, durable edge state and spot capacity, all created in seconds and torn down by default."/>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Sandboxes: Fly.io Sprites, Depot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Serverless compute and GPUs: Modal, Vast.ai</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Durable edge state: Cloudflare Workers, Durable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Objects, Workflows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Interruptible capacity: AWS EC2 Spot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pieces exist, and they are shaped for this.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Fly.io Sprites are microVMs whose stated creation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target is under a second, checkpoint and restore,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take an egress policy from outside so the agent</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inside cannot loosen it. Depot sandboxes bill by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second for exactly this: run agent-generated code,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throw it away.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Modal gives you functions and GPUs that scale to</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zero; Vast.ai is a marketplace where a spare GPU is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cheap and short-lived. Cloudflare Workers with</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Durable Objects and Workflows hold the coordination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state that survives everything else being torn down.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EC2 Spot is the old version of the same idea:</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capacity that can vanish, so the job had better be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restartable.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9</a:t>
            </a:r>
            <a:endParaRPr lang="en-US" sz="9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07 / 12    SOURCE SLIDE 8</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Torn Down by Default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common thread: create in seconds, pay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per second, torn down unless someone says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otherwise, and the network narrowed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outside. That is the substrate an</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agent-directed scheduler needs. What none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of them give you is the ledger;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still yours.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10</a:t>
            </a:r>
            <a:endParaRPr lang="en-US" sz="975"/>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08 / 12    SOURCE SLIDE 10</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A durable job survives the caller</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4b79e59a29b883db56a4fde7612f0abc0d63ce413439e88bfde5ed2a9fda887b" descr="Persist intent and provider identity; uncertain acceptance goes to reconciliation, not blind replay."/>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queued → submitted → waiting → completed / failed /</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unresolved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Callbacks: authenticate, deduplicate, valid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transitions only</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Notification is its own job</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Accept ten prompts, return a stable job ID, persist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item IDs, provider IDs, reservations, attempts,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output locations and terminal states. The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conversation can end. The sandbox can be reclaimed.</a:t>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The job continues.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Callbacks arrive twice and out of order;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authenticate, deduplicate, apply only valid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transitions. A restart rebuilds pending work from</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storage, not from replaying the conversation.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when the output is stored, enqueue the notification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through an outbox so an email failure never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regenerates an image. Naming something durable does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not make an in-flight promise survive a lifecycle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transition; the recovery protocol is yours to write.</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11</a:t>
            </a:r>
            <a:endParaRPr lang="en-US" sz="9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09 / 12    SOURCE SLIDE 11</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Walkthrough: restart the batch</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Two callers, one entitlement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Spot instance reclaimed mid-batch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response lost, one email fails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Two callers each want a full batch.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first reserves the entitlement; the second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queues with an explicit reason. Dispatch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begins on a spot worker. Halfway through,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instance is reclaimed with two minutes'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notice: the lease expires, the provider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keeps rendering, the reservations stay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charged.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A new worker reloads the job, checks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provider status for every submitted item,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and collects what finished. One item's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response never arrived; it stays unresolved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with its reservation held, and the worker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asks the provider rather than resubmitting.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All outputs land. The email fails.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delivery worker retries the email against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completed job, and the expensive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generation is untouched.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job, a recoverable lifecycle, honest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accounting, and a compute substrate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was allowed to disappear under it. That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abstraction the batch tool owed us.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12</a:t>
            </a:r>
            <a:endParaRPr lang="en-US" sz="97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12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Monkeys, Then Guards</a:t>
            </a:r>
            <a:endParaRPr lang="en-US" sz="2550"/>
          </a:p>
        </p:txBody>
      </p:sp>
      <p:sp>
        <p:nvSpPr>
          <p:cNvPr id="4" name="Image background"/>
          <p:cNvSpPr/>
          <p:nvPr/>
        </p:nvSpPr>
        <p:spPr>
          <a:xfrm>
            <a:off x="1554480" y="1781175"/>
            <a:ext cx="6949440" cy="2714625"/>
          </a:xfrm>
          <a:prstGeom prst="rect">
            <a:avLst/>
          </a:prstGeom>
          <a:solidFill>
            <a:srgbClr val="161D26"/>
          </a:solidFill>
          <a:ln>
            <a:noFill/>
          </a:ln>
        </p:spPr>
      </p:sp>
      <p:pic>
        <p:nvPicPr>
          <p:cNvPr id="5" name="6df039e19b720a58c5dd5b0a6fd22802e6016f46ca549bd6fe67a83f688c07ac" descr="Cheap parallel generation produces candidates; shared gates reject before preference; cheap multi-model judges report disagreement rather than an average score."/>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1554480" y="1781175"/>
            <a:ext cx="6949440" cy="2714625"/>
          </a:xfrm>
          <a:prstGeom prst="rect">
            <a:avLst/>
          </a:prstGeom>
          <a:ln>
            <a:noFill/>
          </a:ln>
        </p:spPr>
      </p:pic>
      <p:sp>
        <p:nvSpPr>
          <p:cNvPr id="6" name="Text 6"/>
          <p:cNvSpPr txBox="1"/>
          <p:nvPr/>
        </p:nvSpPr>
        <p:spPr>
          <a:xfrm>
            <a:off x="457200" y="4648200"/>
            <a:ext cx="4352925"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Barrel of monkeys: lead with cheap parallel</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generation, on purpose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Council of Guards: judges read a thousand tokens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write fifty; measure the disagreement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a:p>
            <a:pPr marL="0" indent="0">
              <a:lnSpc>
                <a:spcPts val="1575"/>
              </a:lnSpc>
              <a:spcAft>
                <a:spcPts val="0"/>
              </a:spcAft>
              <a:buNone/>
            </a:pPr>
            <a:r>
              <a:rPr lang="en-US" sz="1200" b="0">
                <a:solidFill>
                  <a:srgbClr val="202B33"/>
                </a:solidFill>
                <a:latin typeface="Arial"/>
                <a:ea typeface="Arial"/>
                <a:cs typeface="Arial"/>
              </a:rPr>
              <a:t xml:space="preserve">Gates before preferences; the judge may reject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everyone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
            </a:r>
            <a:endParaRPr lang="en-US" sz="1200"/>
          </a:p>
        </p:txBody>
      </p:sp>
      <p:sp>
        <p:nvSpPr>
          <p:cNvPr id="7" name="Text 7"/>
          <p:cNvSpPr txBox="1"/>
          <p:nvPr/>
        </p:nvSpPr>
        <p:spPr>
          <a:xfrm>
            <a:off x="5238750" y="4648200"/>
            <a:ext cx="4362450" cy="2647950"/>
          </a:xfrm>
          <a:prstGeom prst="rect">
            <a:avLst/>
          </a:prstGeom>
          <a:noFill/>
          <a:ln>
            <a:noFill/>
          </a:ln>
        </p:spPr>
        <p:txBody>
          <a:bodyPr wrap="none" lIns="0" tIns="0" rIns="0" bIns="0" anchor="t">
            <a:noAutofit/>
          </a:bodyPr>
          <a:lstStyle/>
          <a:p>
            <a:pPr marL="0" indent="0">
              <a:lnSpc>
                <a:spcPts val="1575"/>
              </a:lnSpc>
              <a:spcAft>
                <a:spcPts val="0"/>
              </a:spcAft>
              <a:buNone/>
            </a:pPr>
            <a:r>
              <a:rPr lang="en-US" sz="1200" b="0">
                <a:solidFill>
                  <a:srgbClr val="202B33"/>
                </a:solidFill>
                <a:latin typeface="Arial"/>
                <a:ea typeface="Arial"/>
                <a:cs typeface="Arial"/>
              </a:rPr>
              <a:t xml:space="preserve">Somebody is going to cite Knight and Leveson at me,</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so let me do it first. 1986, twenty-seven</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programmers, one specification, a million tests, and</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the independently written versions failed together</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far more than independence predicts. True, important,</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and about N-version programming as a correctness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strategy. Not this. I am not voting three models</a:t>
            </a:r>
            <a:endParaRPr lang="en-US" sz="1200"/>
          </a:p>
          <a:p>
            <a:pPr marL="0" indent="0">
              <a:lnSpc>
                <a:spcPts val="1575"/>
              </a:lnSpc>
              <a:spcAft>
                <a:spcPts val="0"/>
              </a:spcAft>
              <a:buNone/>
            </a:pPr>
            <a:r>
              <a:rPr lang="en-US" sz="1200" b="0">
                <a:solidFill>
                  <a:srgbClr val="202B33"/>
                </a:solidFill>
                <a:latin typeface="Arial"/>
                <a:ea typeface="Arial"/>
                <a:cs typeface="Arial"/>
              </a:rPr>
              <a:t xml:space="preserve">toward the truth.</a:t>
            </a:r>
            <a:endParaRPr lang="en-US" sz="1200"/>
          </a:p>
        </p:txBody>
      </p:sp>
      <p:sp>
        <p:nvSpPr>
          <p:cNvPr id="8" name="Text 8"/>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9" name="Text 9"/>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13</a:t>
            </a:r>
            <a:endParaRPr lang="en-US" sz="97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12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Monkeys, Then Guards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generation side has a name I am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sorry about: the barrel-of-monkeys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maneuver. Lead with cheap parallel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generation on purpose — monkeys at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hundredth of the frontier's price —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hand the barrel to the next stage. Four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reasons. Race: take the first draft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passes the gate. Synthesize: a frontier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model reads them all, input tokens being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cheap ones, and writes one coherent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Rank: more candidates for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judges, so the best whole answer goes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downstream. Catch: in law or medicine,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where the rules are extensive and specific,</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mistake you fear shows up in one output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 of ten, and the only way to see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 have ten.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Speculative optimization in a lab coat?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Possibly. Ship it with an env var that sets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fan-out to one, and ideally let the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tune that knob itself. Right? Right.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the companion talk.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cheap half is judging. A judge reads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thousand tokens and writes fifty,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output is what costs, so five judges from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different models on every candidate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affordable. Not the average score.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disagreement. Judges that split, or whose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reasons barely overlap, have found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territory nobody understands; that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 does not ship on autopilot. I</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call this the Council of Guards: it reads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everything, writes almost nothing,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costs a fraction of what it guards.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14</a:t>
            </a:r>
            <a:endParaRPr lang="en-US" sz="975"/>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10 / 12    SOURCE SLIDE 12</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Monkeys, Then Guards (continued)</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Write the gates before you read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candidates: no duplicate dispatch after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restart, no cross-tenant spend,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regeneration on notification retry, no</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dispatch after deadline. Every candidate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fails one, including the careful one;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council is allowed to reject the room.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synthesis is a new candidate. Stop 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review budget.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None of this looks like the engineering we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were raised on. Do not do the work twice.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Do not spend compute speculatively. One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right answer per ticket. Those were axioms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the expensive thing was the engineer.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When the expensive thing is being wrong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second draft costs cents, doing it three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times and reading what disagrees is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frugal move. I am not a shill for Big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Token. Cheaper, safer and faster now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sometimes come from spending exactly where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yesterday's wisdom told you not to.</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15</a:t>
            </a:r>
            <a:endParaRPr lang="en-US" sz="975"/>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11 / 12    SOURCE SLIDE 13</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Measure the accepted outcome</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Latency: dispatch + queue + slowest branch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merge + verify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Cost: every candidate, every retry,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held reservation, review time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against one competent attempt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Starting three workers does not delete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serial parts. That is Amdahl, 1967, and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unkind: if a tenth of the job is serial,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ten workers get you five and a quarter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times, and a hundred workers get you nine.</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Waiting on every branch can make a finished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task slower. Count the whole thing: all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candidates, failed work, reserved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uncertainty, judging and human review, and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compare against one competent attempt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the same task set.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Measure accepted outcomes, not launched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workers. Start with one extra attempt or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one batch boundary; if it does not buy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quality, time or cost, keep the simpler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path. We are trying to buy useful work, not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maximize the number of things blinking.</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16</a:t>
            </a:r>
            <a:endParaRPr lang="en-US" sz="975"/>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12 / 12    SOURCE SLIDE 14</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Put the limit where the work begins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One ledger across every caller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Durable state across every restart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 lease on every box, a gate on every</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candidate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Back to the four callers. Forty jobs were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legal by four local counters. The missing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piece was one shared account of what the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application had promised and what it had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already started.</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The inversion is real: the workload can now</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describe its own shape and ask for its own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compute, and the substrate to grant it in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seconds already exists. That is a better</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world than a warm fleet and a guess. It is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only safe because the agent chooses from a</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catalog, spends from a ledger, and runs on</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boxes that expire.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Inspect one expensive tool in your system.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Count the work it can launch underneath</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itself. Put the limit where that work</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actually begins.</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17</a:t>
            </a:r>
            <a:endParaRPr lang="en-US" sz="975"/>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AF7"/>
        </a:solidFill>
        <a:effectLst/>
      </p:bgPr>
    </p:bg>
    <p:spTree>
      <p:nvGrpSpPr>
        <p:cNvPr id="1" name=""/>
        <p:cNvGrpSpPr/>
        <p:nvPr/>
      </p:nvGrpSpPr>
      <p:grpSpPr>
        <a:xfrm>
          <a:off x="0" y="0"/>
          <a:ext cx="0" cy="0"/>
          <a:chOff x="0" y="0"/>
          <a:chExt cx="0" cy="0"/>
        </a:xfrm>
      </p:grpSpPr>
      <p:sp>
        <p:nvSpPr>
          <p:cNvPr id="2" name="Text 2"/>
          <p:cNvSpPr txBox="1"/>
          <p:nvPr/>
        </p:nvSpPr>
        <p:spPr>
          <a:xfrm>
            <a:off x="457200" y="266700"/>
            <a:ext cx="9144000" cy="228600"/>
          </a:xfrm>
          <a:prstGeom prst="rect">
            <a:avLst/>
          </a:prstGeom>
          <a:noFill/>
          <a:ln>
            <a:noFill/>
          </a:ln>
        </p:spPr>
        <p:txBody>
          <a:bodyPr wrap="none" lIns="0" tIns="0" rIns="0" bIns="0" anchor="t">
            <a:noAutofit/>
          </a:bodyPr>
          <a:lstStyle/>
          <a:p>
            <a:pPr marL="0" indent="0">
              <a:lnSpc>
                <a:spcPts val="1365"/>
              </a:lnSpc>
              <a:spcAft>
                <a:spcPts val="0"/>
              </a:spcAft>
              <a:buNone/>
            </a:pPr>
            <a:r>
              <a:rPr lang="en-US" sz="1050" b="1">
                <a:solidFill>
                  <a:srgbClr val="246957"/>
                </a:solidFill>
                <a:latin typeface="Arial"/>
                <a:ea typeface="Arial"/>
                <a:cs typeface="Arial"/>
              </a:rPr>
              <a:t xml:space="preserve">SOURCE REFERENCES</a:t>
            </a:r>
            <a:endParaRPr lang="en-US" sz="1050"/>
          </a:p>
        </p:txBody>
      </p:sp>
      <p:sp>
        <p:nvSpPr>
          <p:cNvPr id="3" name="Text 3"/>
          <p:cNvSpPr txBox="1"/>
          <p:nvPr/>
        </p:nvSpPr>
        <p:spPr>
          <a:xfrm>
            <a:off x="457200" y="657225"/>
            <a:ext cx="9144000" cy="1104900"/>
          </a:xfrm>
          <a:prstGeom prst="rect">
            <a:avLst/>
          </a:prstGeom>
          <a:noFill/>
          <a:ln>
            <a:noFill/>
          </a:ln>
        </p:spPr>
        <p:txBody>
          <a:bodyPr wrap="none" lIns="0" tIns="0" rIns="0" bIns="0" anchor="t">
            <a:noAutofit/>
          </a:bodyPr>
          <a:lstStyle/>
          <a:p>
            <a:pPr marL="0" indent="0">
              <a:lnSpc>
                <a:spcPts val="3060"/>
              </a:lnSpc>
              <a:spcAft>
                <a:spcPts val="0"/>
              </a:spcAft>
              <a:buNone/>
            </a:pPr>
            <a:r>
              <a:rPr lang="en-US" sz="2550" b="1">
                <a:solidFill>
                  <a:srgbClr val="202B33"/>
                </a:solidFill>
                <a:latin typeface="Arial"/>
                <a:ea typeface="Arial"/>
                <a:cs typeface="Arial"/>
              </a:rPr>
              <a:t xml:space="preserve">References</a:t>
            </a:r>
            <a:endParaRPr lang="en-US" sz="2550"/>
          </a:p>
        </p:txBody>
      </p:sp>
      <p:sp>
        <p:nvSpPr>
          <p:cNvPr id="4" name="Text 4"/>
          <p:cNvSpPr txBox="1"/>
          <p:nvPr/>
        </p:nvSpPr>
        <p:spPr>
          <a:xfrm>
            <a:off x="457200" y="1971675"/>
            <a:ext cx="4352925"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Knight and Leveson (1986), An Experimental</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Evaluation of the Assumption of</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Independence in Multiversion Programming —</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https://doi.org/10.1109/TSE.1986.6312924),</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IEEE Transactions on Software Engineering</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SE-12(1, 96 to 109. Cited to set aside: it</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is a result about redundancy as a</a:t>
            </a:r>
            <a:endParaRPr lang="en-US" sz="1500"/>
          </a:p>
        </p:txBody>
      </p:sp>
      <p:sp>
        <p:nvSpPr>
          <p:cNvPr id="5" name="Text 5"/>
          <p:cNvSpPr txBox="1"/>
          <p:nvPr/>
        </p:nvSpPr>
        <p:spPr>
          <a:xfrm>
            <a:off x="5238750" y="1971675"/>
            <a:ext cx="4362450" cy="5314950"/>
          </a:xfrm>
          <a:prstGeom prst="rect">
            <a:avLst/>
          </a:prstGeom>
          <a:noFill/>
          <a:ln>
            <a:noFill/>
          </a:ln>
        </p:spPr>
        <p:txBody>
          <a:bodyPr wrap="none" lIns="0" tIns="0" rIns="0" bIns="0" anchor="t">
            <a:noAutofit/>
          </a:bodyPr>
          <a:lstStyle/>
          <a:p>
            <a:pPr marL="0" indent="0">
              <a:lnSpc>
                <a:spcPts val="1950"/>
              </a:lnSpc>
              <a:spcAft>
                <a:spcPts val="0"/>
              </a:spcAft>
              <a:buNone/>
            </a:pPr>
            <a:r>
              <a:rPr lang="en-US" sz="1500" b="0">
                <a:solidFill>
                  <a:srgbClr val="202B33"/>
                </a:solidFill>
                <a:latin typeface="Arial"/>
                <a:ea typeface="Arial"/>
                <a:cs typeface="Arial"/>
              </a:rPr>
              <a:t xml:space="preserve">correctness strategy, which this slide does</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not claim.</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
            </a:r>
            <a:endParaRPr lang="en-US" sz="1500"/>
          </a:p>
          <a:p>
            <a:pPr marL="0" indent="0">
              <a:lnSpc>
                <a:spcPts val="1950"/>
              </a:lnSpc>
              <a:spcAft>
                <a:spcPts val="0"/>
              </a:spcAft>
              <a:buNone/>
            </a:pPr>
            <a:r>
              <a:rPr lang="en-US" sz="1500" b="0">
                <a:solidFill>
                  <a:srgbClr val="202B33"/>
                </a:solidFill>
                <a:latin typeface="Arial"/>
                <a:ea typeface="Arial"/>
                <a:cs typeface="Arial"/>
              </a:rPr>
              <a:t xml:space="preserve">Amdahl (1967), Validity of the single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processor approach to achieving large scale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computing capabilities, AFIPS Conference</a:t>
            </a:r>
            <a:endParaRPr lang="en-US" sz="1500"/>
          </a:p>
          <a:p>
            <a:pPr marL="0" indent="0">
              <a:lnSpc>
                <a:spcPts val="1950"/>
              </a:lnSpc>
              <a:spcAft>
                <a:spcPts val="0"/>
              </a:spcAft>
              <a:buNone/>
            </a:pPr>
            <a:r>
              <a:rPr lang="en-US" sz="1500" b="0">
                <a:solidFill>
                  <a:srgbClr val="202B33"/>
                </a:solidFill>
                <a:latin typeface="Arial"/>
                <a:ea typeface="Arial"/>
                <a:cs typeface="Arial"/>
              </a:rPr>
              <a:t xml:space="preserve">Proceedings 30, 483 to 485.</a:t>
            </a:r>
            <a:endParaRPr lang="en-US" sz="1500"/>
          </a:p>
        </p:txBody>
      </p:sp>
      <p:sp>
        <p:nvSpPr>
          <p:cNvPr id="6" name="Text 6"/>
          <p:cNvSpPr txBox="1"/>
          <p:nvPr/>
        </p:nvSpPr>
        <p:spPr>
          <a:xfrm>
            <a:off x="457200" y="7486650"/>
            <a:ext cx="88201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Dynamic Scaling of Agentic Workloads</a:t>
            </a:r>
            <a:endParaRPr lang="en-US" sz="975"/>
          </a:p>
        </p:txBody>
      </p:sp>
      <p:sp>
        <p:nvSpPr>
          <p:cNvPr id="7" name="Text 7"/>
          <p:cNvSpPr txBox="1"/>
          <p:nvPr/>
        </p:nvSpPr>
        <p:spPr>
          <a:xfrm>
            <a:off x="9391650" y="74866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48555B"/>
                </a:solidFill>
                <a:latin typeface="Arial"/>
                <a:ea typeface="Arial"/>
                <a:cs typeface="Arial"/>
              </a:rPr>
              <a:t xml:space="preserve">18</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246957"/>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18</Slides>
  <Notes>18</Notes>
</Properties>
</file>

<file path=docProps/core.xml><?xml version="1.0" encoding="utf-8"?>
<cp:coreProperties xmlns:cp="http://schemas.openxmlformats.org/package/2006/metadata/core-properties" xmlns:dc="http://purl.org/dc/elements/1.1/" xmlns:dcterms="http://purl.org/dc/terms/" xmlns:xsi="http://www.w3.org/2001/XMLSchema-instance">
  <dc:title>Dynamic Scaling of Agentic Workloads</dc:title>
  <dc:creator>Dan Levy</dc:creator>
  <dc:description>handout edition generated from current reviewed talk materials</dc:description>
  <dcterms:created xsi:type="dcterms:W3CDTF">2026-09-07T02:31:12Z</dcterms:created>
</cp:coreProperties>
</file>