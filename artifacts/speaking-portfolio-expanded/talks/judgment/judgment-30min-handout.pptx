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 id="269" r:id="rIdSlide14"/>
  </p:sldIdLst>
  <p:sldSz cx="10058400" cy="77724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 Id="rIdSlide13" Type="http://schemas.openxmlformats.org/officeDocument/2006/relationships/slide" Target="slides/slide13.xml"/><Relationship Id="rIdSlide14" Type="http://schemas.openxmlformats.org/officeDocument/2006/relationships/slide" Target="slides/slide14.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Slide" Type="http://schemas.openxmlformats.org/officeDocument/2006/relationships/slide" Target="../slides/slide13.xml"/><Relationship Id="rIdMaster" Type="http://schemas.openxmlformats.org/officeDocument/2006/relationships/notesMaster" Target="../notesMasters/notesMaster1.xml"/></Relationships>
</file>

<file path=ppt/notesSlides/_rels/notesSlide14.xml.rels><?xml version="1.0" encoding="UTF-8" standalone="yes"?><Relationships xmlns="http://schemas.openxmlformats.org/package/2006/relationships"><Relationship Id="rIdSlide" Type="http://schemas.openxmlformats.org/officeDocument/2006/relationships/slide" Target="../slides/slide14.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40 minutes. Timings include the exercises and delivery pauses, without Q&amp;A. Sources checked 6 September 2026. Story prompts belong in speaker notes and require Dan’s own records before delivery.</a:t>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Code Is Cheap. Judgment Is Expensive.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 00:00 to 03:00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95% utilized → 19× waiting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Four plausible implementations. One reviewer.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Four good implementations arrive before lunch. The reviewer is still on yesterday's change. Generation got cheaper. Delivery acquired a queue.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If your organization uses AI to build an infinite feature machine, you have tragically missed the potential of the magic AI genie. We can spend the gain on fewer defects and smaller changes. We do not have to spend it all on more code.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scope once: the queue and permission examples are teaching models, not measurements of your team. The nineteen-times wait assumes one server and a variability factor of one. We will do the arithmetic. The argument is that protecting review capacity belongs upstream, where we decide what enters the queue.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change that waited longer for review than it took to write. Bring arrival, first-review, and acceptance timestamps.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Code Is Cheap. Judgment Is Expensive.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2. 03:00 to 05:00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Idea → specification → code → review → release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Not where it takes skill. Where it sits untouched.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Where does your work wait? Not where does it take skill. Where does it sit untouched?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team can have an implementation bottleneck on Monday and a review bottleneck on Friday. Faster generation changes the arrival rate at the next stage. If that stage was already close to capacity, the wait grows even when each review takes exactly as long as before.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Draw a boundary around the review system. Count a change when it is ready for review and stop the clock when it leaves. Separate hands-on service time from waiting for somebody to start. Otherwise we will call a three-day wait a three-day review and optimize the wrong 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Budget 45 seconds for hands on each stage. Take one answer about where work waits and use it for the diagram.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Code Is Cheap. Judgment Is Expensive.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3. 05:00 to 08:00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Wq ≈ ((ca² + cs²) / 2) × ρ / (1 − ρ) × 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 = 1: 80% → 4×; 90% → 9×; 95% → 19×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Kingman's single-server approximation separates three things: variability, utilization, and mean service time. Call the variability term V. Set V to one for this curve. At eighty percent utilization, point eight divided by point two is four. At ninety-five, point nine five divided by point zero five is nineteen.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Fifteen percentage points of utilization bought nearly five times the wait. That is the price of the last bit of headroom. The multiplier is waiting time divided by hands-on review time. It does not include the review itself.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Little's law gives a separate accounting identity for a stable system: average work in progress equals throughput times average time in the system. They tell us what to measure before claiming the reviewer just needs to try harder.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J. F. C. Kingman (1961), [The single server queue in heavy traffic](https://www.cambridge.org/core/journals/mathematical-proceedings-of-the-cambridge-philosophical-society/article/abs/single-server-queue-in-heavy-traffic/81C55BC00A68FE6D5385638AA0B0AF37), 57(4), 902–904. John D. C. Little (1961), [A Proof for the Queuing Formula: L = λW](https://pubsonline.informs.org/doi/abs/10.1287/opre.9.3.383), Operations Research 9(3), 383–387.</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Trace the curve and do both divisions. Ask what happens if variability doubles; show that it multiplies the wait too.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speeding only generation leaves review as the unchanged stage. Improve what arrives there.</a:t>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Code Is Cheap. Judgment Is Expensive.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5. 08:00 to 10:00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Fewer arrivals. Smaller surprises.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Fix the process producing the queue.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Deming's third point says to stop depending on inspection to achieve quality and build quality into the process. That is a useful objection to the default plan for generated code: produce more, then ask somebody to catch everything.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review. Change what it receives. An unasked-for abstraction, an unexplained permission change, and a speculative feature all consume the same person's attention. Rejecting them before generation is cheaper than having a reviewer reverse-engineer why they exist.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Hiring can increase capacity. It is still worth fixing arrivals first. Otherwise the new reviewer inherits the same variance, interruptions, and missing context, with a longer onboarding document.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 Edwards Deming (1986), Out of the Crisis, MIT Center for Advanced Engineering Study; Point 3 of the Fourteen Points. Applied to review by the [Deming Institute](https://deming.org/software-code-reviews-from-a-deming-perspective/).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Code Is Cheap. Judgment Is Expensive.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6. 10:00 to 12:00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Who can do what, in which tenant?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happens when access changes?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must never happen?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Add enterprise permissions. That is the entire request.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Spend sixty seconds with the person next to you. Write the questions you need answered before implementing it. You do not get a second page of requirements; that is the point.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Who can grant a role? Does it apply to one tenant or every tenant? What happens to an existing session after revocation? What does the audit record need to show? There are several plausible implementations, and most disagree about behavior the ticket never specified.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We made code cheap and left the question expensive. Writing down the answer is part of implementation. It just happens before the diff.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Read the request once. Give pairs sixty seconds here, thirty in the 15-minute cut. Collect two answers, then introduce the tenant and revocation questions.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Code Is Cheap. Judgment Is Expensive.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7. 12:00 to 14:00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Actor + tenant + action + resource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Revocation changes the next decision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Denied actions leave state unchanged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For this example, an administrator can grant a role only inside the tenant they administer. A revoked role cannot authorize the next operation. A denied change leaves protected state untouched and records the failed attempt.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Those statements produce cases. An admin in tenant A requests a change in A: allow. The same admin requests a change in B: deny. Revoke the role, repeat the A request: deny. Check the resulting state, not just the status message.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Tie this back to the curve. Clear boundaries reduce the number of interpretations arriving at review. Bounded diffs reduce the amount of code a reviewer has to reconstruct at once. That is the variance term.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the three cases beside the request. Keep the cross-tenant case visible in the handout, not beside the later demo’s initial code.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Code Is Cheap. Judgment Is Expensive.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8. 14:00 to 16:00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Understanding is work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Defect finding · knowledge transfer · alternative designs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Bacchelli and Bird studied modern code review at Microsoft. Finding defects was the main motivation, but the observed benefits included more knowledge transfer, awareness, and alternative solutions than that motivation suggests. Understanding the change was central.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gives the review queue more than one job. A check that proves a local invariant does not teach another engineer how this subsystem behaves. An agent summary does not guarantee that anyone could repair it next week.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junior engineers in the reasoning. Let them write the acceptance case, explain a rejection, and follow a change through its consequences. If all the practice becomes watching green checks, we are removing the work that builds the next reviewer.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Alberto Bacchelli and Christian Bird (2013), [Expectations, Outcomes, and Challenges of Modern Code Review](https://www.cabird.com/pubs/bacchelli2013eoc.pdf), ICSE 2013.</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Spend 45 seconds on how a junior engineer would learn the permission boundary from this change.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Code Is Cheap. Judgment Is Expensive.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9. 16:00 to 20:00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canEdit(user, resourceTenant) = user.roles.includes("admin")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Test: admin user → allowed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PASS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implementation. Here is its test. The user has the admin role. The function allows the edit. The test passes.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resource tenant is right there in the signature. Nothing reads it. And you already heard the cross-tenant case, back on the spec slide. Watch the vote anyway.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Would you approve it? Now run the case where that administrator belongs to tenant A and the resource belongs to tenant B. The test was accurate about the behavior it checked. The behavior was incomplete in exactly the same way as the implementation.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model wrote the test that agrees with the bug. Both of them are very confident.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Bainbridge asks what automation leaves the operator doing. Skitka and colleagues put people in a flight simulator with an automated monitoring aid and counted the trials where the aid was wrong. On those trials people missed events the aid did not flag, and acted on prompts the other instruments contradicted. That is the whole finding, and it is about the trials where the aid was wrong. This fixture is how the same concern shows up in our queue: the green signal gets attention that the missing case did not.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Lisanne Bainbridge (1983), [Ironies of automation](https://www.sciencedirect.com/science/article/pii/0005109883900468), Automatica 19(6), 775–779. Linda J. Skitka, Kathleen L. Mosier and Mark Burdick (1999), [Does automation bias decision-making?](https://doi.org/10.1006/ijhc.1999.0252), International Journal of Human-Computer Studies 51(5), 991–1006. A flight-simulation task with a monitoring aid, not a code-review trial.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Open contracts.md only after the vote. Run `bun artifacts/speaking-portfolio-expanded/packets/judgment/demo.ts` for PASS, then add `--holdout` for the actual failing assertion. Do not assume the room approves; if someone catches it, ask which evidence caught their attention.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Code Is Cheap. Judgment Is Expensive.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10. 20:00 to 22:30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Responsibility must come with control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Who accepts, recovers, and maintains?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Elish calls the human who absorbs blame without enough control a moral crumple zone. Put an engineer at the end of an automated pipeline, give them two minutes to approve a diff, and announce that responsibility stayed human. The org chart looks excellent. We did not remove the bottleneck. We moved it onto one person and gave them a keyboard shortcut for approving things.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Can that person stop arrivals? Can they demand another test? Can they reject the change without missing a throughput target? Do they own the rollback and have time to understand it? Those are controls. Their name in the approval log is a record.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For the permissions change, name who accepts the behavior, who receives the incident, and who maintains the policy next year. Give each the context and authority their job requires. Accountability without those controls is just a convenient place to send the postmortem.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Madeleine Clare Elish (2019), [Moral Crumple Zones: Cautionary Tales in Human-Robot Interaction](https://estsjournal.org/index.php/ests/article/download/260/177/), Engaging Science, Technology, and Society 5, 40–60.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writing the branch is cheap; deciding the permission boundary is still conceptual work.</a:t>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Code Is Cheap. Judgment Is Expensive.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12. 22:30 to 25:00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Arrivals: decline work before generating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Variance: bounded diffs and explicit behavior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Utilization: reserve actual review capacity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Fewer arrivals means deciding which changes should exist, including declining a second implementation after the first already met the need. That is a rule about review load, not about generation: generate ten parallel attempts if you like, as long as a gate collapses them to one candidate before a human reads any of them. Judging the ten is Dynamic Scaling's talk, and its Council of Guards eats nine. This one protects the person who accepts the one that got through.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Smaller variance means reducing surprises at review. Keep one purpose per diff, include the behavioral cases, and separate mechanical changes from policy changes. Small in line count is useful only when it is also small in meaning.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Protect slack by reserving review time and limiting work in progress. If the reviewer is on call, their calendar is not eight hours of service capacity. Measure interruptions before declaring them underutilized. Pilot these changes on one recurring workflow and keep the baseline.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Code Is Cheap. Judgment Is Expensive.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13. 25:00 to 27:00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Ready → first review → accepted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Hands-on review time ÷ available review time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Queue age and escaped defects beside throughput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Start with timestamps. When was the change ready, when did somebody first inspect it, and when was it accepted? Then sample hands-on review time separately. You need both the queue and the service time to explain a delay.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Estimate review utilization against time actually available for review, after meetings and incident duty. Do not infer it from how many green squares somebody has on GitHub. Keep the estimate beside backlog age, rework, and escaped defects.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forty-five seconds. Estimate yours, or write down the missing measurement. The missing field is a better next action than another dashboard of generated lines.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Give 45 seconds. Invite one estimate and ask what counted as available time. Do not prescribe a universal utilization threshold.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Code Is Cheap. Judgment Is Expensive.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14. 27:00 to 30:00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should exist? Does it work?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Is it worth maintaining?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Back to the curve. The reviewer did not get slower. We filled the space that let them absorb uneven work.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Ninety-five percent utilization is not efficiency. It is a nineteen-times wait with good posture. Argue with the model by measuring arrivals, service time, and variability. You cannot argue the queue away by pointing at how quickly the code appeared.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Sometimes the right result is a smaller change. Sometimes it is no change. Cheap code makes both decisions more valuable.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Leave the utilization curve up for questions.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J. F. C. Kingman (1961), [The single server queue in heavy traffic](https://www.cambridge.org/core/journals/mathematical-proceedings-of-the-cambridge-philosophical-society/article/abs/single-server-queue-in-heavy-traffic/81C55BC00A68FE6D5385638AA0B0AF37), 57(4), 902–904. John D. C. Little (1961), [A Proof for the Queuing Formula: L = λW](https://pubsonline.informs.org/doi/abs/10.1287/opre.9.3.383), Operations Research 9(3), 383–387.</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 Edwards Deming (1986), Out of the Crisis, MIT Center for Advanced Engineering Study; Point 3 of the Fourteen Points. Applied to review by the [Deming Institute](https://deming.org/software-code-reviews-from-a-deming-perspective/).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Alberto Bacchelli and Christian Bird (2013), [Expectations, Outcomes, and Challenges of Modern Code Review](https://www.cabird.com/pubs/bacchelli2013eoc.pdf), ICSE 2013.</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Lisanne Bainbridge (1983), [Ironies of automation](https://www.sciencedirect.com/science/article/pii/0005109883900468), Automatica 19(6), 775–779. Linda J. Skitka, Kathleen L. Mosier and Mark Burdick (1999), [Does automation bias decision-making?](https://doi.org/10.1006/ijhc.1999.0252), International Journal of Human-Computer Studies 51(5), 991–1006. A flight-simulation task with a monitoring aid, not a code-review trial.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Madeleine Clare Elish (2019), [Moral Crumple Zones: Cautionary Tales in Human-Robot Interaction](https://estsjournal.org/index.php/ests/article/download/260/177/), Engaging Science, Technology, and Society 5, 40–60.</a:t>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 Id="rIdImage1" Type="http://schemas.openxmlformats.org/officeDocument/2006/relationships/image" Target="../media/slide4-1.png"/><Relationship Id="rIdSvg1" Type="http://schemas.openxmlformats.org/officeDocument/2006/relationships/image" Target="../media/slide4-1.svg"/></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3.xml"/><Relationship Id="rIdImage1" Type="http://schemas.openxmlformats.org/officeDocument/2006/relationships/image" Target="../media/slide13-1.png"/><Relationship Id="rIdSvg1" Type="http://schemas.openxmlformats.org/officeDocument/2006/relationships/image" Target="../media/slide13-1.svg"/></Relationships>
</file>

<file path=ppt/slides/_rels/slide1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514350"/>
            <a:ext cx="9144000" cy="28575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246957"/>
                </a:solidFill>
                <a:latin typeface="Arial"/>
                <a:ea typeface="Arial"/>
                <a:cs typeface="Arial"/>
              </a:rPr>
              <a:t xml:space="preserve">DAN LEVY</a:t>
            </a:r>
            <a:endParaRPr lang="en-US" sz="1350"/>
          </a:p>
        </p:txBody>
      </p:sp>
      <p:sp>
        <p:nvSpPr>
          <p:cNvPr id="3" name="Text 3"/>
          <p:cNvSpPr txBox="1"/>
          <p:nvPr/>
        </p:nvSpPr>
        <p:spPr>
          <a:xfrm>
            <a:off x="457200" y="1428750"/>
            <a:ext cx="9144000" cy="2381250"/>
          </a:xfrm>
          <a:prstGeom prst="rect">
            <a:avLst/>
          </a:prstGeom>
          <a:noFill/>
          <a:ln>
            <a:noFill/>
          </a:ln>
        </p:spPr>
        <p:txBody>
          <a:bodyPr wrap="none" lIns="0" tIns="0" rIns="0" bIns="0" anchor="t">
            <a:noAutofit/>
          </a:bodyPr>
          <a:lstStyle/>
          <a:p>
            <a:pPr marL="0" indent="0">
              <a:lnSpc>
                <a:spcPts val="4500"/>
              </a:lnSpc>
              <a:spcAft>
                <a:spcPts val="0"/>
              </a:spcAft>
              <a:buNone/>
            </a:pPr>
            <a:r>
              <a:rPr lang="en-US" sz="3750" b="1">
                <a:solidFill>
                  <a:srgbClr val="202B33"/>
                </a:solidFill>
                <a:latin typeface="Arial"/>
                <a:ea typeface="Arial"/>
                <a:cs typeface="Arial"/>
              </a:rPr>
              <a:t xml:space="preserve">Code Is Cheap. Judgment Is</a:t>
            </a:r>
            <a:endParaRPr lang="en-US" sz="3750"/>
          </a:p>
          <a:p>
            <a:pPr marL="0" indent="0">
              <a:lnSpc>
                <a:spcPts val="4500"/>
              </a:lnSpc>
              <a:spcAft>
                <a:spcPts val="0"/>
              </a:spcAft>
              <a:buNone/>
            </a:pPr>
            <a:r>
              <a:rPr lang="en-US" sz="3750" b="1">
                <a:solidFill>
                  <a:srgbClr val="202B33"/>
                </a:solidFill>
                <a:latin typeface="Arial"/>
                <a:ea typeface="Arial"/>
                <a:cs typeface="Arial"/>
              </a:rPr>
              <a:t xml:space="preserve">Expensive.</a:t>
            </a:r>
            <a:endParaRPr lang="en-US" sz="3750"/>
          </a:p>
        </p:txBody>
      </p:sp>
      <p:sp>
        <p:nvSpPr>
          <p:cNvPr id="4" name="Text 4"/>
          <p:cNvSpPr txBox="1"/>
          <p:nvPr/>
        </p:nvSpPr>
        <p:spPr>
          <a:xfrm>
            <a:off x="457200" y="4476750"/>
            <a:ext cx="9144000" cy="571500"/>
          </a:xfrm>
          <a:prstGeom prst="rect">
            <a:avLst/>
          </a:prstGeom>
          <a:noFill/>
          <a:ln>
            <a:noFill/>
          </a:ln>
        </p:spPr>
        <p:txBody>
          <a:bodyPr wrap="none" lIns="0" tIns="0" rIns="0" bIns="0" anchor="t">
            <a:noAutofit/>
          </a:bodyPr>
          <a:lstStyle/>
          <a:p>
            <a:pPr marL="0" indent="0">
              <a:lnSpc>
                <a:spcPts val="2925"/>
              </a:lnSpc>
              <a:spcAft>
                <a:spcPts val="0"/>
              </a:spcAft>
              <a:buNone/>
            </a:pPr>
            <a:r>
              <a:rPr lang="en-US" sz="2250" b="0">
                <a:solidFill>
                  <a:srgbClr val="246957"/>
                </a:solidFill>
                <a:latin typeface="Arial"/>
                <a:ea typeface="Arial"/>
                <a:cs typeface="Arial"/>
              </a:rPr>
              <a:t xml:space="preserve">30-minute route · Reading edition</a:t>
            </a:r>
            <a:endParaRPr lang="en-US" sz="2250"/>
          </a:p>
        </p:txBody>
      </p:sp>
      <p:sp>
        <p:nvSpPr>
          <p:cNvPr id="5" name="Text 5"/>
          <p:cNvSpPr txBox="1"/>
          <p:nvPr/>
        </p:nvSpPr>
        <p:spPr>
          <a:xfrm>
            <a:off x="457200" y="6496050"/>
            <a:ext cx="9048750" cy="762000"/>
          </a:xfrm>
          <a:prstGeom prst="rect">
            <a:avLst/>
          </a:prstGeom>
          <a:noFill/>
          <a:ln>
            <a:noFill/>
          </a:ln>
        </p:spPr>
        <p:txBody>
          <a:bodyPr wrap="none" lIns="0" tIns="0" rIns="0" bIns="0" anchor="t">
            <a:noAutofit/>
          </a:bodyPr>
          <a:lstStyle/>
          <a:p>
            <a:pPr marL="0" indent="0">
              <a:lnSpc>
                <a:spcPts val="2175"/>
              </a:lnSpc>
              <a:spcAft>
                <a:spcPts val="0"/>
              </a:spcAft>
              <a:buNone/>
            </a:pPr>
            <a:r>
              <a:rPr lang="en-US" sz="1575" b="0">
                <a:solidFill>
                  <a:srgbClr val="202B33"/>
                </a:solidFill>
                <a:latin typeface="Arial"/>
                <a:ea typeface="Arial"/>
                <a:cs typeface="Arial"/>
              </a:rPr>
              <a:t xml:space="preserve">12 source sections</a:t>
            </a:r>
            <a:endParaRPr lang="en-US" sz="1575"/>
          </a:p>
          <a:p>
            <a:pPr marL="0" indent="0">
              <a:lnSpc>
                <a:spcPts val="2175"/>
              </a:lnSpc>
              <a:spcAft>
                <a:spcPts val="0"/>
              </a:spcAft>
              <a:buNone/>
            </a:pPr>
            <a:r>
              <a:rPr lang="en-US" sz="1575" b="0">
                <a:solidFill>
                  <a:srgbClr val="202B33"/>
                </a:solidFill>
                <a:latin typeface="Arial"/>
                <a:ea typeface="Arial"/>
                <a:cs typeface="Arial"/>
              </a:rPr>
              <a:t xml:space="preserve">September 6, 2026</a:t>
            </a:r>
            <a:endParaRPr lang="en-US" sz="1575"/>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Code Is Cheap. Judgment Is Expensive.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01 / 12    SOURCE SLIDE 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morning four good implementations arrive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95% utilized → 19× waiting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Four plausible implementations. 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reviewer.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Four good implementations arrive before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lunch. The reviewer is still on yesterday's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change. Generation got cheaper. Delivery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acquired a queue.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If your organization uses AI to build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infinite feature machine, you have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tragically missed the potential of the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magic AI genie. We can spend the gain 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fewer defects and smaller changes. We do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have to spend it all on more code.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Here is the scope once: the queue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permission examples are teaching models,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measurements of your team.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nineteen-times wait assumes one server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variability factor of one. We will do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arithmetic. The argument is that protecting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review capacity belongs upstream, where we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decide what enters the queue.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Code Is Cheap. Judgment Is Expensive.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02 / 12    SOURCE SLIDE 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Point at the queue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Idea → specification → code → review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release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where it takes skill. Where it sits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untouched.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Where does your work wait? Not where does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take skill. Where does it sit untouched?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team can have an implementation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bottleneck on Monday and a review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bottleneck on Friday. Faster generation</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changes the arrival rate at the next stage.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If that stage was already close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capacity, the wait grows even when each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review takes exactly as long as before.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Draw a boundary around the review system.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Count a change when it is ready for review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stop the clock when it leaves. Separate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hands-on service time from waiting for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somebody to start. Otherwise we will call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three-day wait a three-day review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optimize the wrong thing.</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Code Is Cheap. Judgment Is Expensive.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03 / 12    SOURCE SLIDE 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A queue does not care how you feel about it</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8de9aa7b0e58010a491d155d2a0aaafbe5d48c9d4da5759fad5af686b3fce993" descr="Kingman: queue wait vs reviewer utilization, variability factor one"/>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Wq ≈ ((ca² + cs²) / 2) × ρ / (1 − ρ) × E[S]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V = 1: 80% → 4×; 90% → 9×; 95% → 19×</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Kingman's single-server approximation separates three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things: variability, utilization, and mean service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time. Call the variability term V. Set V to one for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this curve. At eighty percent utilization, point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eight divided by point two is four. At ninety-five,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point nine five divided by point zero five is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nineteen.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Fifteen percentage points of utilization bought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nearly five times the wait. That is the price of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last bit of headroom. The multiplier is waiting time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divided by hands-on review time. It does not include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review itself.</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Little's law gives a separate accounting identity for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stable system: average work in progress equals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throughput times average time in the system. They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tell us what to measure before claiming the reviewer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just needs to try harder.</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Code Is Cheap. Judgment Is Expensive.</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04 / 12    SOURCE SLIDE 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You cannot inspect quality in</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Fewer arrivals. Smaller surprises.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Fix the process producing the queue.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Deming's third point says to stop depending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 inspection to achieve quality and build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quality into the process. That is a useful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objection to the default plan for generated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code: produce more, then ask somebody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catch everything.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Keep review. Change what it receives. An</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unasked-for abstraction, an unexplained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permission change, and a speculative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feature all consume the same person's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attention. Rejecting them before generation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cheaper than having a reviewer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reverse-engineer why they exist.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Hiring can increase capacity. It is still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worth fixing arrivals first. Otherwise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new reviewer inherits the same variance,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interruptions, and missing context, with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longer onboarding document.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Code Is Cheap. Judgment Is Expensive.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05 / 12    SOURCE SLIDE 6</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"Add enterprise permissions"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Who can do what, in which tenant?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happens when access changes?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must never happen?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Add enterprise permissions. That is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entire request.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Spend sixty seconds with the person next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Write the questions you need answered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before implementing it. You do not get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second page of requirements; that is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point.</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Who can grant a role? Does it apply to 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tenant or every tenant? What happens to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existing session after revocation?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does the audit record need to show? There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are several plausible implementations,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most disagree about behavior the ticket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never specified.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We made code cheap and left the question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expensive. Writing down the answer is part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 implementation. It just happens before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diff.</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Code Is Cheap. Judgment Is Expensive.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06 / 12    SOURCE SLIDE 7</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A spec reduces variance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Actor + tenant + action + resource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Revocation changes the next decision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Denied actions leave state unchanged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For this example, an administrator can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grant a role only inside the tenant they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administer. A revoked role cannot authorize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next operation. A denied change leaves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protected state untouched and records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failed attempt.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Those statements produce cases. An admin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tenant A requests a change in A: allow.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same admin requests a change in B: deny.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Revoke the role, repeat the A request: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deny. Check the resulting state, not just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status message.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Tie this back to the curve. Clear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boundaries reduce the number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interpretations arriving at review. Bounded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diffs reduce the amount of code a reviewer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has to reconstruct at once. That is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variance term. On purpose.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Code Is Cheap. Judgment Is Expensive.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07 / 12    SOURCE SLIDE 8</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What review actually catches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Understanding is work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Defect finding · knowledge transfer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alternative designs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Bacchelli and Bird studied modern code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review at Microsoft. Finding defects was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main motivation, but the observed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benefits included more knowledge transfer,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awareness, and alternative solutions than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motivation suggests. Understanding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change was central.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That gives the review queue more than 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job. A check that proves a local invariant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does not teach another engineer how this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subsystem behaves. An agent summary does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guarantee that anyone could repair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next week.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Keep junior engineers in the reasoning. Let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them write the acceptance case, explain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rejection, and follow a change through its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consequences. If all the practice becomes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watching green checks, we are removing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 that builds the next reviewer.</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Code Is Cheap. Judgment Is Expensive.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08 / 12    SOURCE SLIDE 9</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Demo: the rubber stamp</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canEdit(user, resourceTenant)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user.roles.includes("admin")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Test: admin user → allowed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Here is the implementation. Here is its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test. The user has the admin role.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function allows the edit. The test passes.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resource tenant is right there in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signature. Nothing reads it. And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already heard the cross-tenant case, back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 the spec slide. Watch the vote anyway.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Would you approve it? Now run the case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where that administrator belongs to tenant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and the resource belongs to tenant B.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test was accurate about the behavior it</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checked. The behavior was incomplete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exactly the same way as the implementation.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model wrote the test that agrees with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bug. Both of them are very confident.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Bainbridge asks what automation leaves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operator doing. Skitka and colleagues put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people in a flight simulator with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automated monitoring aid and counted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trials where the aid was wrong. On those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trials people missed events the aid did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flag, and acted on prompts the other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instruments contradicted. That is the whole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finding, and it is about the trials where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aid was wrong. This fixture is how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same concern shows up in our queue: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green signal gets attention that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missing case did not.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Code Is Cheap. Judgment Is Expensive.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09 / 12    SOURCE SLIDE 10</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Do not appoint a crumple zone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Responsibility must come with control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Who accepts, recovers, and maintains?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Elish calls the human who absorbs blame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without enough control a moral crumple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zone. Put an engineer at the end of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automated pipeline, give them two minutes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approve a diff, and announce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responsibility stayed human. The org chart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looks excellent. We did not remove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bottleneck. We moved it onto one person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gave them a keyboard shortcut for approving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things.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Can that person stop arrivals? Can they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demand another test? Can they reject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change without missing a throughput target?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 they own the rollback and have time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understand it? Those are controls. Their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name in the approval log is a record.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For the permissions change, name who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accepts the behavior, who receives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incident, and who maintains the policy next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year. Give each the context and authority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their job requires. Accountability without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those controls is just a convenient place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send the postmortem.</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Code Is Cheap. Judgment Is Expensive.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10 / 12    SOURCE SLIDE 12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Three levers on the queue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Arrivals: decline work before generating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Variance: bounded diffs and explicit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behavior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Utilization: reserve actual review capacity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Fewer arrivals means deciding which changes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should exist, including declining a second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implementation after the first already met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need. That is a rule about review load,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about generation: generate ten parallel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attempts if you like, as long as a gate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collapses them to one candidate before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human reads any of them. Judging the ten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Dynamic Scaling's talk, and its Council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Guards eats nine. This one protects the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person who accepts the one that got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through.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Smaller variance means reducing surprises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at review. Keep one purpose per diff,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include the behavioral cases, and separate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mechanical changes from policy changes.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Small in line count is useful only when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also small in meaning.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Protect slack by reserving review time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limiting work in progress. If the reviewer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on call, their calendar is not eight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hours of service capacity. Measure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interruptions before declaring them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underutilized. Pilot these changes on 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recurring workflow and keep the baseline.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Code Is Cheap. Judgment Is Expensive.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11 / 12    SOURCE SLIDE 13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Measure the wait, not the output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Ready → first review → accepted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Hands-on review time ÷ available review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time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Queue age and escaped defects beside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throughput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Start with timestamps. When was the change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ready, when did somebody first inspect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when was it accepted? Then sample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hands-on review time separately. You need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both the queue and the service time to</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explain a delay.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Estimate review utilization against time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actually available for review, after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meetings and incident duty. Do not infer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from how many green squares somebody has 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GitHub. Keep the estimate beside backlog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age, rework, and escaped defects.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Take forty-five seconds. Estimate yours, 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write down the missing measurement.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missing field is a better next action than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another dashboard of generated lines.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Code Is Cheap. Judgment Is Expensive.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12</a:t>
            </a:r>
            <a:endParaRPr lang="en-US" sz="97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12 / 12    SOURCE SLIDE 14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Knowing when to stop</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8de9aa7b0e58010a491d155d2a0aaafbe5d48c9d4da5759fad5af686b3fce993" descr="Kingman: queue wait vs reviewer utilization, variability factor one"/>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What should exist? Does it work?</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Is it worth maintaining?</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Back to the curve. The reviewer did not get slower.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We filled the space that let them absorb uneven work.</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Ninety-five percent utilization is not efficiency. It</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is a nineteen-times wait with good posture. Argue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with the model by measuring arrivals, service time,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and variability. You cannot argue the queue away by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pointing at how quickly the code appeared.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Sometimes the right result is a smaller change.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Sometimes it is no change. Cheap code makes both</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decisions more valuable.</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Code Is Cheap. Judgment Is Expensive.</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13</a:t>
            </a:r>
            <a:endParaRPr lang="en-US" sz="975"/>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REFERENCES</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References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J. F. C. Kingman (1961), The single server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queue in heavy traffic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https://www.cambridge.org/core/journals/mathematical-proceedings-of-the-cambridge-philosophical-society/article/abs/single-server-queue-in-heavy-traffic/81C55BC00A68FE6D5385638AA0B0AF37),</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57(4), 902–904. John D. C. Little (1961),</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Proof for the Queuing Formula: L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λW](https://pubsonline.informs.org/doi/abs/10.1287/opre.9.3.383),</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Operations Research 9(3, 383–387.</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 Edwards Deming (1986), Out of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Crisis, MIT Center for Advanced Engineering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Study; Point 3 of the Fourteen Points.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Applied to review by the Deming Institute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https://deming.org/software-code-reviews-from-a-deming-perspective/.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Alberto Bacchelli and Christian Bird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(2013), Expectations, Outcomes,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Challenges of Modern Code Review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https://www.cabird.com/pubs/bacchelli2013eoc.pdf,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ICSE 2013.</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Lisanne Bainbridge (1983), Ironies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automation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https://www.sciencedirect.com/science/article/pii/0005109883900468),</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Automatica 19(6), 775–779. Linda J. Skitka,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Kathleen L. Mosier and Mark Burdick (1999),</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[Does automation bias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decision-making?](https://doi.org/10.1006/ijhc.1999.0252),</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International Journal of Human-Computer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Studies 51(5, 991–1006. A flight-simulation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task with a monitoring aid, not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code-review trial.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Madeleine Clare Elish (2019), Moral Crumple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Zones: Cautionary Tales in Human-Robot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Interaction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https://estsjournal.org/index.php/ests/article/download/260/177/,</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Engaging Science, Technology, and Society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5, 40–60.</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Code Is Cheap. Judgment Is Expensive.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14</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246957"/>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14</Slides>
  <Notes>14</Notes>
</Properties>
</file>

<file path=docProps/core.xml><?xml version="1.0" encoding="utf-8"?>
<cp:coreProperties xmlns:cp="http://schemas.openxmlformats.org/package/2006/metadata/core-properties" xmlns:dc="http://purl.org/dc/elements/1.1/" xmlns:dcterms="http://purl.org/dc/terms/" xmlns:xsi="http://www.w3.org/2001/XMLSchema-instance">
  <dc:title>Code Is Cheap. Judgment Is Expensive.</dc:title>
  <dc:creator>Dan Levy</dc:creator>
  <dc:description>handout edition generated from current reviewed talk materials</dc:description>
  <dcterms:created xsi:type="dcterms:W3CDTF">2026-09-07T02:31:12Z</dcterms:created>
</cp:coreProperties>
</file>