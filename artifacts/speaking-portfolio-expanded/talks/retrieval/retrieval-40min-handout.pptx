
<file path=[Content_Types].xml><?xml version="1.0" encoding="utf-8"?>
<Types xmlns="http://schemas.openxmlformats.org/package/2006/content-types">
  <Default Extension="rels" ContentType="application/vnd.openxmlformats-package.relationships+xml"/>
  <Default Extension="xml" ContentType="application/xml"/>
  <Default Extension="png" ContentType="image/png"/>
  <Default Extension="svg" ContentType="image/svg+xml"/>
  <Override PartName="/ppt/presentation.xml" ContentType="application/vnd.openxmlformats-officedocument.presentationml.presentation.main+xml"/>
  <Override PartName="/ppt/slideMasters/slideMaster1.xml" ContentType="application/vnd.openxmlformats-officedocument.presentationml.slideMaster+xml"/>
  <Override PartName="/ppt/slideLayouts/slideLayout1.xml" ContentType="application/vnd.openxmlformats-officedocument.presentationml.slideLayout+xml"/>
  <Override PartName="/ppt/notesMasters/notesMaster1.xml" ContentType="application/vnd.openxmlformats-officedocument.presentationml.notesMaster+xml"/>
  <Override PartName="/ppt/theme/theme1.xml" ContentType="application/vnd.openxmlformats-officedocument.theme+xml"/>
  <Override PartName="/ppt/slides/slide1.xml" ContentType="application/vnd.openxmlformats-officedocument.presentationml.slide+xml"/>
  <Override PartName="/ppt/notesSlides/notesSlide1.xml" ContentType="application/vnd.openxmlformats-officedocument.presentationml.notesSlide+xml"/>
  <Override PartName="/ppt/slides/slide2.xml" ContentType="application/vnd.openxmlformats-officedocument.presentationml.slide+xml"/>
  <Override PartName="/ppt/notesSlides/notesSlide2.xml" ContentType="application/vnd.openxmlformats-officedocument.presentationml.notesSlide+xml"/>
  <Override PartName="/ppt/slides/slide3.xml" ContentType="application/vnd.openxmlformats-officedocument.presentationml.slide+xml"/>
  <Override PartName="/ppt/notesSlides/notesSlide3.xml" ContentType="application/vnd.openxmlformats-officedocument.presentationml.notesSlide+xml"/>
  <Override PartName="/ppt/slides/slide4.xml" ContentType="application/vnd.openxmlformats-officedocument.presentationml.slide+xml"/>
  <Override PartName="/ppt/notesSlides/notesSlide4.xml" ContentType="application/vnd.openxmlformats-officedocument.presentationml.notesSlide+xml"/>
  <Override PartName="/ppt/slides/slide5.xml" ContentType="application/vnd.openxmlformats-officedocument.presentationml.slide+xml"/>
  <Override PartName="/ppt/notesSlides/notesSlide5.xml" ContentType="application/vnd.openxmlformats-officedocument.presentationml.notesSlide+xml"/>
  <Override PartName="/ppt/slides/slide6.xml" ContentType="application/vnd.openxmlformats-officedocument.presentationml.slide+xml"/>
  <Override PartName="/ppt/notesSlides/notesSlide6.xml" ContentType="application/vnd.openxmlformats-officedocument.presentationml.notesSlide+xml"/>
  <Override PartName="/ppt/slides/slide7.xml" ContentType="application/vnd.openxmlformats-officedocument.presentationml.slide+xml"/>
  <Override PartName="/ppt/notesSlides/notesSlide7.xml" ContentType="application/vnd.openxmlformats-officedocument.presentationml.notesSlide+xml"/>
  <Override PartName="/ppt/slides/slide8.xml" ContentType="application/vnd.openxmlformats-officedocument.presentationml.slide+xml"/>
  <Override PartName="/ppt/notesSlides/notesSlide8.xml" ContentType="application/vnd.openxmlformats-officedocument.presentationml.notesSlide+xml"/>
  <Override PartName="/ppt/slides/slide9.xml" ContentType="application/vnd.openxmlformats-officedocument.presentationml.slide+xml"/>
  <Override PartName="/ppt/notesSlides/notesSlide9.xml" ContentType="application/vnd.openxmlformats-officedocument.presentationml.notesSlide+xml"/>
  <Override PartName="/ppt/slides/slide10.xml" ContentType="application/vnd.openxmlformats-officedocument.presentationml.slide+xml"/>
  <Override PartName="/ppt/notesSlides/notesSlide10.xml" ContentType="application/vnd.openxmlformats-officedocument.presentationml.notesSlide+xml"/>
  <Override PartName="/ppt/slides/slide11.xml" ContentType="application/vnd.openxmlformats-officedocument.presentationml.slide+xml"/>
  <Override PartName="/ppt/notesSlides/notesSlide11.xml" ContentType="application/vnd.openxmlformats-officedocument.presentationml.notesSlide+xml"/>
  <Override PartName="/ppt/slides/slide12.xml" ContentType="application/vnd.openxmlformats-officedocument.presentationml.slide+xml"/>
  <Override PartName="/ppt/notesSlides/notesSlide12.xml" ContentType="application/vnd.openxmlformats-officedocument.presentationml.notesSlide+xml"/>
  <Override PartName="/ppt/slides/slide13.xml" ContentType="application/vnd.openxmlformats-officedocument.presentationml.slide+xml"/>
  <Override PartName="/ppt/notesSlides/notesSlide13.xml" ContentType="application/vnd.openxmlformats-officedocument.presentationml.notesSlide+xml"/>
  <Override PartName="/ppt/slides/slide14.xml" ContentType="application/vnd.openxmlformats-officedocument.presentationml.slide+xml"/>
  <Override PartName="/ppt/notesSlides/notesSlide14.xml" ContentType="application/vnd.openxmlformats-officedocument.presentationml.notesSlide+xml"/>
  <Override PartName="/ppt/slides/slide15.xml" ContentType="application/vnd.openxmlformats-officedocument.presentationml.slide+xml"/>
  <Override PartName="/ppt/notesSlides/notesSlide15.xml" ContentType="application/vnd.openxmlformats-officedocument.presentationml.notesSlide+xml"/>
  <Override PartName="/ppt/slides/slide16.xml" ContentType="application/vnd.openxmlformats-officedocument.presentationml.slide+xml"/>
  <Override PartName="/ppt/notesSlides/notesSlide16.xml" ContentType="application/vnd.openxmlformats-officedocument.presentationml.notesSlide+xml"/>
  <Override PartName="/ppt/slides/slide17.xml" ContentType="application/vnd.openxmlformats-officedocument.presentationml.slide+xml"/>
  <Override PartName="/ppt/notesSlides/notesSlide17.xml" ContentType="application/vnd.openxmlformats-officedocument.presentationml.notesSlide+xml"/>
  <Override PartName="/ppt/slides/slide18.xml" ContentType="application/vnd.openxmlformats-officedocument.presentationml.slide+xml"/>
  <Override PartName="/ppt/notesSlides/notesSlide18.xml" ContentType="application/vnd.openxmlformats-officedocument.presentationml.notesSlide+xml"/>
  <Override PartName="/docProps/core.xml" ContentType="application/vnd.openxmlformats-package.core-properties+xml"/>
  <Override PartName="/docProps/app.xml" ContentType="application/vnd.openxmlformats-officedocument.extended-properties+xml"/>
</Types>
</file>

<file path=_rels/.rels><?xml version="1.0" encoding="UTF-8" standalone="yes"?><Relationships xmlns="http://schemas.openxmlformats.org/package/2006/relationships"><Relationship Id="rId1" Type="http://schemas.openxmlformats.org/officeDocument/2006/relationships/officeDocument" Target="ppt/presentation.xml"/><Relationship Id="rId2" Type="http://schemas.openxmlformats.org/package/2006/relationships/metadata/core-properties" Target="docProps/core.xml"/><Relationship Id="rId3" Type="http://schemas.openxmlformats.org/officeDocument/2006/relationships/extended-properties" Target="docProps/app.xml"/></Relationships>
</file>

<file path=ppt/presentation.xml><?xml version="1.0" encoding="utf-8"?>
<p:presentation xmlns:a="http://schemas.openxmlformats.org/drawingml/2006/main" xmlns:r="http://schemas.openxmlformats.org/officeDocument/2006/relationships" xmlns:p="http://schemas.openxmlformats.org/presentationml/2006/main">
  <p:sldMasterIdLst>
    <p:sldMasterId id="2147483648" r:id="rIdMaster"/>
  </p:sldMasterIdLst>
  <p:notesMasterIdLst>
    <p:notesMasterId r:id="rIdNotesMaster"/>
  </p:notesMasterIdLst>
  <p:sldIdLst>
    <p:sldId id="256" r:id="rIdSlide1"/>
    <p:sldId id="257" r:id="rIdSlide2"/>
    <p:sldId id="258" r:id="rIdSlide3"/>
    <p:sldId id="259" r:id="rIdSlide4"/>
    <p:sldId id="260" r:id="rIdSlide5"/>
    <p:sldId id="261" r:id="rIdSlide6"/>
    <p:sldId id="262" r:id="rIdSlide7"/>
    <p:sldId id="263" r:id="rIdSlide8"/>
    <p:sldId id="264" r:id="rIdSlide9"/>
    <p:sldId id="265" r:id="rIdSlide10"/>
    <p:sldId id="266" r:id="rIdSlide11"/>
    <p:sldId id="267" r:id="rIdSlide12"/>
    <p:sldId id="268" r:id="rIdSlide13"/>
    <p:sldId id="269" r:id="rIdSlide14"/>
    <p:sldId id="270" r:id="rIdSlide15"/>
    <p:sldId id="271" r:id="rIdSlide16"/>
    <p:sldId id="272" r:id="rIdSlide17"/>
    <p:sldId id="273" r:id="rIdSlide18"/>
  </p:sldIdLst>
  <p:sldSz cx="10058400" cy="7772400" type="custom"/>
  <p:notesSz cx="6858000" cy="9144000"/>
  <p:defaultTextStyle/>
</p:presentation>
</file>

<file path=ppt/_rels/presentation.xml.rels><?xml version="1.0" encoding="UTF-8" standalone="yes"?><Relationships xmlns="http://schemas.openxmlformats.org/package/2006/relationships"><Relationship Id="rIdMaster" Type="http://schemas.openxmlformats.org/officeDocument/2006/relationships/slideMaster" Target="slideMasters/slideMaster1.xml"/><Relationship Id="rIdNotesMaster" Type="http://schemas.openxmlformats.org/officeDocument/2006/relationships/notesMaster" Target="notesMasters/notesMaster1.xml"/><Relationship Id="rIdSlide1" Type="http://schemas.openxmlformats.org/officeDocument/2006/relationships/slide" Target="slides/slide1.xml"/><Relationship Id="rIdSlide2" Type="http://schemas.openxmlformats.org/officeDocument/2006/relationships/slide" Target="slides/slide2.xml"/><Relationship Id="rIdSlide3" Type="http://schemas.openxmlformats.org/officeDocument/2006/relationships/slide" Target="slides/slide3.xml"/><Relationship Id="rIdSlide4" Type="http://schemas.openxmlformats.org/officeDocument/2006/relationships/slide" Target="slides/slide4.xml"/><Relationship Id="rIdSlide5" Type="http://schemas.openxmlformats.org/officeDocument/2006/relationships/slide" Target="slides/slide5.xml"/><Relationship Id="rIdSlide6" Type="http://schemas.openxmlformats.org/officeDocument/2006/relationships/slide" Target="slides/slide6.xml"/><Relationship Id="rIdSlide7" Type="http://schemas.openxmlformats.org/officeDocument/2006/relationships/slide" Target="slides/slide7.xml"/><Relationship Id="rIdSlide8" Type="http://schemas.openxmlformats.org/officeDocument/2006/relationships/slide" Target="slides/slide8.xml"/><Relationship Id="rIdSlide9" Type="http://schemas.openxmlformats.org/officeDocument/2006/relationships/slide" Target="slides/slide9.xml"/><Relationship Id="rIdSlide10" Type="http://schemas.openxmlformats.org/officeDocument/2006/relationships/slide" Target="slides/slide10.xml"/><Relationship Id="rIdSlide11" Type="http://schemas.openxmlformats.org/officeDocument/2006/relationships/slide" Target="slides/slide11.xml"/><Relationship Id="rIdSlide12" Type="http://schemas.openxmlformats.org/officeDocument/2006/relationships/slide" Target="slides/slide12.xml"/><Relationship Id="rIdSlide13" Type="http://schemas.openxmlformats.org/officeDocument/2006/relationships/slide" Target="slides/slide13.xml"/><Relationship Id="rIdSlide14" Type="http://schemas.openxmlformats.org/officeDocument/2006/relationships/slide" Target="slides/slide14.xml"/><Relationship Id="rIdSlide15" Type="http://schemas.openxmlformats.org/officeDocument/2006/relationships/slide" Target="slides/slide15.xml"/><Relationship Id="rIdSlide16" Type="http://schemas.openxmlformats.org/officeDocument/2006/relationships/slide" Target="slides/slide16.xml"/><Relationship Id="rIdSlide17" Type="http://schemas.openxmlformats.org/officeDocument/2006/relationships/slide" Target="slides/slide17.xml"/><Relationship Id="rIdSlide18" Type="http://schemas.openxmlformats.org/officeDocument/2006/relationships/slide" Target="slides/slide18.xml"/></Relationships>
</file>

<file path=ppt/notesMasters/_rels/notesMaster1.xml.rels><?xml version="1.0" encoding="UTF-8" standalone="yes"?><Relationships xmlns="http://schemas.openxmlformats.org/package/2006/relationships"><Relationship Id="rIdTheme" Type="http://schemas.openxmlformats.org/officeDocument/2006/relationships/theme" Target="../theme/theme1.xml"/></Relationships>
</file>

<file path=ppt/notesMasters/notesMaster1.xml><?xml version="1.0" encoding="utf-8"?>
<p:notesMaster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Tree>
  </p:cSld>
  <p:clrMap accent1="accent1" accent2="accent2" accent3="accent3" accent4="accent4" accent5="accent5" accent6="accent6" bg1="lt1" bg2="lt2" folHlink="folHlink" hlink="hlink" tx1="dk1" tx2="dk2"/>
  <p:notesStyle/>
</p:notesMaster>
</file>

<file path=ppt/notesSlides/_rels/notesSlide1.xml.rels><?xml version="1.0" encoding="UTF-8" standalone="yes"?><Relationships xmlns="http://schemas.openxmlformats.org/package/2006/relationships"><Relationship Id="rIdSlide" Type="http://schemas.openxmlformats.org/officeDocument/2006/relationships/slide" Target="../slides/slide1.xml"/><Relationship Id="rIdMaster" Type="http://schemas.openxmlformats.org/officeDocument/2006/relationships/notesMaster" Target="../notesMasters/notesMaster1.xml"/></Relationships>
</file>

<file path=ppt/notesSlides/_rels/notesSlide2.xml.rels><?xml version="1.0" encoding="UTF-8" standalone="yes"?><Relationships xmlns="http://schemas.openxmlformats.org/package/2006/relationships"><Relationship Id="rIdSlide" Type="http://schemas.openxmlformats.org/officeDocument/2006/relationships/slide" Target="../slides/slide2.xml"/><Relationship Id="rIdMaster" Type="http://schemas.openxmlformats.org/officeDocument/2006/relationships/notesMaster" Target="../notesMasters/notesMaster1.xml"/></Relationships>
</file>

<file path=ppt/notesSlides/_rels/notesSlide3.xml.rels><?xml version="1.0" encoding="UTF-8" standalone="yes"?><Relationships xmlns="http://schemas.openxmlformats.org/package/2006/relationships"><Relationship Id="rIdSlide" Type="http://schemas.openxmlformats.org/officeDocument/2006/relationships/slide" Target="../slides/slide3.xml"/><Relationship Id="rIdMaster" Type="http://schemas.openxmlformats.org/officeDocument/2006/relationships/notesMaster" Target="../notesMasters/notesMaster1.xml"/></Relationships>
</file>

<file path=ppt/notesSlides/_rels/notesSlide4.xml.rels><?xml version="1.0" encoding="UTF-8" standalone="yes"?><Relationships xmlns="http://schemas.openxmlformats.org/package/2006/relationships"><Relationship Id="rIdSlide" Type="http://schemas.openxmlformats.org/officeDocument/2006/relationships/slide" Target="../slides/slide4.xml"/><Relationship Id="rIdMaster" Type="http://schemas.openxmlformats.org/officeDocument/2006/relationships/notesMaster" Target="../notesMasters/notesMaster1.xml"/></Relationships>
</file>

<file path=ppt/notesSlides/_rels/notesSlide5.xml.rels><?xml version="1.0" encoding="UTF-8" standalone="yes"?><Relationships xmlns="http://schemas.openxmlformats.org/package/2006/relationships"><Relationship Id="rIdSlide" Type="http://schemas.openxmlformats.org/officeDocument/2006/relationships/slide" Target="../slides/slide5.xml"/><Relationship Id="rIdMaster" Type="http://schemas.openxmlformats.org/officeDocument/2006/relationships/notesMaster" Target="../notesMasters/notesMaster1.xml"/></Relationships>
</file>

<file path=ppt/notesSlides/_rels/notesSlide6.xml.rels><?xml version="1.0" encoding="UTF-8" standalone="yes"?><Relationships xmlns="http://schemas.openxmlformats.org/package/2006/relationships"><Relationship Id="rIdSlide" Type="http://schemas.openxmlformats.org/officeDocument/2006/relationships/slide" Target="../slides/slide6.xml"/><Relationship Id="rIdMaster" Type="http://schemas.openxmlformats.org/officeDocument/2006/relationships/notesMaster" Target="../notesMasters/notesMaster1.xml"/></Relationships>
</file>

<file path=ppt/notesSlides/_rels/notesSlide7.xml.rels><?xml version="1.0" encoding="UTF-8" standalone="yes"?><Relationships xmlns="http://schemas.openxmlformats.org/package/2006/relationships"><Relationship Id="rIdSlide" Type="http://schemas.openxmlformats.org/officeDocument/2006/relationships/slide" Target="../slides/slide7.xml"/><Relationship Id="rIdMaster" Type="http://schemas.openxmlformats.org/officeDocument/2006/relationships/notesMaster" Target="../notesMasters/notesMaster1.xml"/></Relationships>
</file>

<file path=ppt/notesSlides/_rels/notesSlide8.xml.rels><?xml version="1.0" encoding="UTF-8" standalone="yes"?><Relationships xmlns="http://schemas.openxmlformats.org/package/2006/relationships"><Relationship Id="rIdSlide" Type="http://schemas.openxmlformats.org/officeDocument/2006/relationships/slide" Target="../slides/slide8.xml"/><Relationship Id="rIdMaster" Type="http://schemas.openxmlformats.org/officeDocument/2006/relationships/notesMaster" Target="../notesMasters/notesMaster1.xml"/></Relationships>
</file>

<file path=ppt/notesSlides/_rels/notesSlide9.xml.rels><?xml version="1.0" encoding="UTF-8" standalone="yes"?><Relationships xmlns="http://schemas.openxmlformats.org/package/2006/relationships"><Relationship Id="rIdSlide" Type="http://schemas.openxmlformats.org/officeDocument/2006/relationships/slide" Target="../slides/slide9.xml"/><Relationship Id="rIdMaster" Type="http://schemas.openxmlformats.org/officeDocument/2006/relationships/notesMaster" Target="../notesMasters/notesMaster1.xml"/></Relationships>
</file>

<file path=ppt/notesSlides/_rels/notesSlide10.xml.rels><?xml version="1.0" encoding="UTF-8" standalone="yes"?><Relationships xmlns="http://schemas.openxmlformats.org/package/2006/relationships"><Relationship Id="rIdSlide" Type="http://schemas.openxmlformats.org/officeDocument/2006/relationships/slide" Target="../slides/slide10.xml"/><Relationship Id="rIdMaster" Type="http://schemas.openxmlformats.org/officeDocument/2006/relationships/notesMaster" Target="../notesMasters/notesMaster1.xml"/></Relationships>
</file>

<file path=ppt/notesSlides/_rels/notesSlide11.xml.rels><?xml version="1.0" encoding="UTF-8" standalone="yes"?><Relationships xmlns="http://schemas.openxmlformats.org/package/2006/relationships"><Relationship Id="rIdSlide" Type="http://schemas.openxmlformats.org/officeDocument/2006/relationships/slide" Target="../slides/slide11.xml"/><Relationship Id="rIdMaster" Type="http://schemas.openxmlformats.org/officeDocument/2006/relationships/notesMaster" Target="../notesMasters/notesMaster1.xml"/></Relationships>
</file>

<file path=ppt/notesSlides/_rels/notesSlide12.xml.rels><?xml version="1.0" encoding="UTF-8" standalone="yes"?><Relationships xmlns="http://schemas.openxmlformats.org/package/2006/relationships"><Relationship Id="rIdSlide" Type="http://schemas.openxmlformats.org/officeDocument/2006/relationships/slide" Target="../slides/slide12.xml"/><Relationship Id="rIdMaster" Type="http://schemas.openxmlformats.org/officeDocument/2006/relationships/notesMaster" Target="../notesMasters/notesMaster1.xml"/></Relationships>
</file>

<file path=ppt/notesSlides/_rels/notesSlide13.xml.rels><?xml version="1.0" encoding="UTF-8" standalone="yes"?><Relationships xmlns="http://schemas.openxmlformats.org/package/2006/relationships"><Relationship Id="rIdSlide" Type="http://schemas.openxmlformats.org/officeDocument/2006/relationships/slide" Target="../slides/slide13.xml"/><Relationship Id="rIdMaster" Type="http://schemas.openxmlformats.org/officeDocument/2006/relationships/notesMaster" Target="../notesMasters/notesMaster1.xml"/></Relationships>
</file>

<file path=ppt/notesSlides/_rels/notesSlide14.xml.rels><?xml version="1.0" encoding="UTF-8" standalone="yes"?><Relationships xmlns="http://schemas.openxmlformats.org/package/2006/relationships"><Relationship Id="rIdSlide" Type="http://schemas.openxmlformats.org/officeDocument/2006/relationships/slide" Target="../slides/slide14.xml"/><Relationship Id="rIdMaster" Type="http://schemas.openxmlformats.org/officeDocument/2006/relationships/notesMaster" Target="../notesMasters/notesMaster1.xml"/></Relationships>
</file>

<file path=ppt/notesSlides/_rels/notesSlide15.xml.rels><?xml version="1.0" encoding="UTF-8" standalone="yes"?><Relationships xmlns="http://schemas.openxmlformats.org/package/2006/relationships"><Relationship Id="rIdSlide" Type="http://schemas.openxmlformats.org/officeDocument/2006/relationships/slide" Target="../slides/slide15.xml"/><Relationship Id="rIdMaster" Type="http://schemas.openxmlformats.org/officeDocument/2006/relationships/notesMaster" Target="../notesMasters/notesMaster1.xml"/></Relationships>
</file>

<file path=ppt/notesSlides/_rels/notesSlide16.xml.rels><?xml version="1.0" encoding="UTF-8" standalone="yes"?><Relationships xmlns="http://schemas.openxmlformats.org/package/2006/relationships"><Relationship Id="rIdSlide" Type="http://schemas.openxmlformats.org/officeDocument/2006/relationships/slide" Target="../slides/slide16.xml"/><Relationship Id="rIdMaster" Type="http://schemas.openxmlformats.org/officeDocument/2006/relationships/notesMaster" Target="../notesMasters/notesMaster1.xml"/></Relationships>
</file>

<file path=ppt/notesSlides/_rels/notesSlide17.xml.rels><?xml version="1.0" encoding="UTF-8" standalone="yes"?><Relationships xmlns="http://schemas.openxmlformats.org/package/2006/relationships"><Relationship Id="rIdSlide" Type="http://schemas.openxmlformats.org/officeDocument/2006/relationships/slide" Target="../slides/slide17.xml"/><Relationship Id="rIdMaster" Type="http://schemas.openxmlformats.org/officeDocument/2006/relationships/notesMaster" Target="../notesMasters/notesMaster1.xml"/></Relationships>
</file>

<file path=ppt/notesSlides/_rels/notesSlide18.xml.rels><?xml version="1.0" encoding="UTF-8" standalone="yes"?><Relationships xmlns="http://schemas.openxmlformats.org/package/2006/relationships"><Relationship Id="rIdSlide" Type="http://schemas.openxmlformats.org/officeDocument/2006/relationships/slide" Target="../slides/slide18.xml"/><Relationship Id="rIdMaster" Type="http://schemas.openxmlformats.org/officeDocument/2006/relationships/notesMaster" Target="../notesMasters/notesMaster1.xml"/></Relationships>
</file>

<file path=ppt/notesSlides/notesSlide1.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Presenter notes"/>
          <p:cNvSpPr txBox="1"/>
          <p:nvPr>
            <p:ph type="body" idx="1"/>
          </p:nvPr>
        </p:nvSpPr>
        <p:spPr>
          <a:xfrm>
            <a:off x="457200" y="1428750"/>
            <a:ext cx="5715000" cy="6667500"/>
          </a:xfrm>
        </p:spPr>
        <p:txBody>
          <a:bodyPr/>
          <a:lstStyle/>
          <a:p>
            <a:pPr marL="0" indent="0">
              <a:lnSpc>
                <a:spcPts val="1560"/>
              </a:lnSpc>
              <a:spcAft>
                <a:spcPts val="0"/>
              </a:spcAft>
              <a:buNone/>
            </a:pPr>
            <a:r>
              <a:rPr lang="en-US" sz="1200" b="0">
                <a:solidFill>
                  <a:srgbClr val="202b33"/>
                </a:solidFill>
                <a:latin typeface="Arial"/>
                <a:ea typeface="Arial"/>
                <a:cs typeface="Arial"/>
              </a:rPr>
              <a:t xml:space="preserve">40 minutes. Timings include the exercises and delivery pauses, without Q&amp;A. Sources checked 6 September 2026. Story prompts belong in speaker notes and require Dan’s own records before delivery.</a:t>
            </a:r>
            <a:endParaRPr lang="en-US" sz="1200"/>
          </a:p>
        </p:txBody>
      </p:sp>
    </p:spTree>
  </p:cSld>
  <p:clrMapOvr>
    <a:masterClrMapping/>
  </p:clrMapOvr>
</p:notes>
</file>

<file path=ppt/notesSlides/notesSlide2.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Presenter notes"/>
          <p:cNvSpPr txBox="1"/>
          <p:nvPr>
            <p:ph type="body" idx="1"/>
          </p:nvPr>
        </p:nvSpPr>
        <p:spPr>
          <a:xfrm>
            <a:off x="457200" y="1428750"/>
            <a:ext cx="5715000" cy="6667500"/>
          </a:xfrm>
        </p:spPr>
        <p:txBody>
          <a:bodyPr/>
          <a:lstStyle/>
          <a:p>
            <a:pPr marL="0" indent="0">
              <a:lnSpc>
                <a:spcPts val="1560"/>
              </a:lnSpc>
              <a:spcAft>
                <a:spcPts val="0"/>
              </a:spcAft>
              <a:buNone/>
            </a:pPr>
            <a:r>
              <a:rPr lang="en-US" sz="1200" b="0">
                <a:solidFill>
                  <a:srgbClr val="202b33"/>
                </a:solidFill>
                <a:latin typeface="Arial"/>
                <a:ea typeface="Arial"/>
                <a:cs typeface="Arial"/>
              </a:rPr>
              <a:t xml:space="preserve">The sentence</a:t>
            </a:r>
            <a:endParaRPr lang="en-US" sz="1200"/>
          </a:p>
          <a:p>
            <a:pPr marL="0" indent="0">
              <a:lnSpc>
                <a:spcPts val="1560"/>
              </a:lnSpc>
              <a:spcAft>
                <a:spcPts val="0"/>
              </a:spcAft>
              <a:buNone/>
            </a:pPr>
            <a:r>
              <a:rPr lang="en-US" sz="1200" b="0">
                <a:solidFill>
                  <a:srgbClr val="202b33"/>
                </a:solidFill>
                <a:latin typeface="Arial"/>
                <a:ea typeface="Arial"/>
                <a:cs typeface="Arial"/>
              </a:rPr>
              <a:t xml:space="preserve"/>
            </a:r>
            <a:endParaRPr lang="en-US" sz="1200"/>
          </a:p>
          <a:p>
            <a:pPr marL="0" indent="0">
              <a:lnSpc>
                <a:spcPts val="1560"/>
              </a:lnSpc>
              <a:spcAft>
                <a:spcPts val="0"/>
              </a:spcAft>
              <a:buNone/>
            </a:pPr>
            <a:r>
              <a:rPr lang="en-US" sz="1200" b="0">
                <a:solidFill>
                  <a:srgbClr val="202b33"/>
                </a:solidFill>
                <a:latin typeface="Arial"/>
                <a:ea typeface="Arial"/>
                <a:cs typeface="Arial"/>
              </a:rPr>
              <a:t xml:space="preserve">00:00 to 02:30 · warm</a:t>
            </a:r>
            <a:endParaRPr lang="en-US" sz="1200"/>
          </a:p>
          <a:p>
            <a:pPr marL="0" indent="0">
              <a:lnSpc>
                <a:spcPts val="1560"/>
              </a:lnSpc>
              <a:spcAft>
                <a:spcPts val="0"/>
              </a:spcAft>
              <a:buNone/>
            </a:pPr>
            <a:r>
              <a:rPr lang="en-US" sz="1200" b="0">
                <a:solidFill>
                  <a:srgbClr val="202b33"/>
                </a:solidFill>
                <a:latin typeface="Arial"/>
                <a:ea typeface="Arial"/>
                <a:cs typeface="Arial"/>
              </a:rPr>
              <a:t xml:space="preserve"/>
            </a:r>
            <a:endParaRPr lang="en-US" sz="1200"/>
          </a:p>
          <a:p>
            <a:pPr marL="0" indent="0">
              <a:lnSpc>
                <a:spcPts val="1560"/>
              </a:lnSpc>
              <a:spcAft>
                <a:spcPts val="0"/>
              </a:spcAft>
              <a:buNone/>
            </a:pPr>
            <a:r>
              <a:rPr lang="en-US" sz="1200" b="0">
                <a:solidFill>
                  <a:srgbClr val="202b33"/>
                </a:solidFill>
                <a:latin typeface="Arial"/>
                <a:ea typeface="Arial"/>
                <a:cs typeface="Arial"/>
              </a:rPr>
              <a:t xml:space="preserve">&gt; RAG · embeddings · memory · MCP · judges · traces</a:t>
            </a:r>
            <a:endParaRPr lang="en-US" sz="1200"/>
          </a:p>
          <a:p>
            <a:pPr marL="0" indent="0">
              <a:lnSpc>
                <a:spcPts val="1560"/>
              </a:lnSpc>
              <a:spcAft>
                <a:spcPts val="0"/>
              </a:spcAft>
              <a:buNone/>
            </a:pPr>
            <a:r>
              <a:rPr lang="en-US" sz="1200" b="0">
                <a:solidFill>
                  <a:srgbClr val="202b33"/>
                </a:solidFill>
                <a:latin typeface="Arial"/>
                <a:ea typeface="Arial"/>
                <a:cs typeface="Arial"/>
              </a:rPr>
              <a:t xml:space="preserve">&gt; There is a reading list under that pitch.</a:t>
            </a:r>
            <a:endParaRPr lang="en-US" sz="1200"/>
          </a:p>
          <a:p>
            <a:pPr marL="0" indent="0">
              <a:lnSpc>
                <a:spcPts val="1560"/>
              </a:lnSpc>
              <a:spcAft>
                <a:spcPts val="0"/>
              </a:spcAft>
              <a:buNone/>
            </a:pPr>
            <a:r>
              <a:rPr lang="en-US" sz="1200" b="0">
                <a:solidFill>
                  <a:srgbClr val="202b33"/>
                </a:solidFill>
                <a:latin typeface="Arial"/>
                <a:ea typeface="Arial"/>
                <a:cs typeface="Arial"/>
              </a:rPr>
              <a:t xml:space="preserve"/>
            </a:r>
            <a:endParaRPr lang="en-US" sz="1200"/>
          </a:p>
          <a:p>
            <a:pPr marL="0" indent="0">
              <a:lnSpc>
                <a:spcPts val="1560"/>
              </a:lnSpc>
              <a:spcAft>
                <a:spcPts val="0"/>
              </a:spcAft>
              <a:buNone/>
            </a:pPr>
            <a:r>
              <a:rPr lang="en-US" sz="1200" b="0">
                <a:solidFill>
                  <a:srgbClr val="202b33"/>
                </a:solidFill>
                <a:latin typeface="Arial"/>
                <a:ea typeface="Arial"/>
                <a:cs typeface="Arial"/>
              </a:rPr>
              <a:t xml:space="preserve">Our agent uses RAG over an embedding store, adds memories to context, calls MCP tools, emits structured outputs, gets evaluated by an LLM judge, and traces the whole thing through our agent observability platform.</a:t>
            </a:r>
            <a:endParaRPr lang="en-US" sz="1200"/>
          </a:p>
          <a:p>
            <a:pPr marL="0" indent="0">
              <a:lnSpc>
                <a:spcPts val="1560"/>
              </a:lnSpc>
              <a:spcAft>
                <a:spcPts val="0"/>
              </a:spcAft>
              <a:buNone/>
            </a:pPr>
            <a:r>
              <a:rPr lang="en-US" sz="1200" b="0">
                <a:solidFill>
                  <a:srgbClr val="202b33"/>
                </a:solidFill>
                <a:latin typeface="Arial"/>
                <a:ea typeface="Arial"/>
                <a:cs typeface="Arial"/>
              </a:rPr>
              <a:t xml:space="preserve"/>
            </a:r>
            <a:endParaRPr lang="en-US" sz="1200"/>
          </a:p>
          <a:p>
            <a:pPr marL="0" indent="0">
              <a:lnSpc>
                <a:spcPts val="1560"/>
              </a:lnSpc>
              <a:spcAft>
                <a:spcPts val="0"/>
              </a:spcAft>
              <a:buNone/>
            </a:pPr>
            <a:r>
              <a:rPr lang="en-US" sz="1200" b="0">
                <a:solidFill>
                  <a:srgbClr val="202b33"/>
                </a:solidFill>
                <a:latin typeface="Arial"/>
                <a:ea typeface="Arial"/>
                <a:cs typeface="Arial"/>
              </a:rPr>
              <a:t xml:space="preserve">That sentence used to be the talk. Translate the nouns and everybody feels less behind. But knowing what the nouns mean does not tell us whether the retrieval works. The useful question is what the people who studied it already found out.</a:t>
            </a:r>
            <a:endParaRPr lang="en-US" sz="1200"/>
          </a:p>
          <a:p>
            <a:pPr marL="0" indent="0">
              <a:lnSpc>
                <a:spcPts val="1560"/>
              </a:lnSpc>
              <a:spcAft>
                <a:spcPts val="0"/>
              </a:spcAft>
              <a:buNone/>
            </a:pPr>
            <a:r>
              <a:rPr lang="en-US" sz="1200" b="0">
                <a:solidFill>
                  <a:srgbClr val="202b33"/>
                </a:solidFill>
                <a:latin typeface="Arial"/>
                <a:ea typeface="Arial"/>
                <a:cs typeface="Arial"/>
              </a:rPr>
              <a:t xml:space="preserve"/>
            </a:r>
            <a:endParaRPr lang="en-US" sz="1200"/>
          </a:p>
          <a:p>
            <a:pPr marL="0" indent="0">
              <a:lnSpc>
                <a:spcPts val="1560"/>
              </a:lnSpc>
              <a:spcAft>
                <a:spcPts val="0"/>
              </a:spcAft>
              <a:buNone/>
            </a:pPr>
            <a:r>
              <a:rPr lang="en-US" sz="1200" b="0">
                <a:solidFill>
                  <a:srgbClr val="202b33"/>
                </a:solidFill>
                <a:latin typeface="Arial"/>
                <a:ea typeface="Arial"/>
                <a:cs typeface="Arial"/>
              </a:rPr>
              <a:t xml:space="preserve">We spent years calling it search. Then we called it a vector database and raised a round. The product category changed. The problem of deciding whether the returned material is useful did not wait for the funding announcement.</a:t>
            </a:r>
            <a:endParaRPr lang="en-US" sz="1200"/>
          </a:p>
          <a:p>
            <a:pPr marL="0" indent="0">
              <a:lnSpc>
                <a:spcPts val="1560"/>
              </a:lnSpc>
              <a:spcAft>
                <a:spcPts val="0"/>
              </a:spcAft>
              <a:buNone/>
            </a:pPr>
            <a:r>
              <a:rPr lang="en-US" sz="1200" b="0">
                <a:solidFill>
                  <a:srgbClr val="202b33"/>
                </a:solidFill>
                <a:latin typeface="Arial"/>
                <a:ea typeface="Arial"/>
                <a:cs typeface="Arial"/>
              </a:rPr>
              <a:t xml:space="preserve"/>
            </a:r>
            <a:endParaRPr lang="en-US" sz="1200"/>
          </a:p>
          <a:p>
            <a:pPr marL="0" indent="0">
              <a:lnSpc>
                <a:spcPts val="1560"/>
              </a:lnSpc>
              <a:spcAft>
                <a:spcPts val="0"/>
              </a:spcAft>
              <a:buNone/>
            </a:pPr>
            <a:r>
              <a:rPr lang="en-US" sz="1200" b="0">
                <a:solidFill>
                  <a:srgbClr val="202b33"/>
                </a:solidFill>
                <a:latin typeface="Arial"/>
                <a:ea typeface="Arial"/>
                <a:cs typeface="Arial"/>
              </a:rPr>
              <a:t xml:space="preserve">Stage direction: Read the opening sentence quickly and straight-faced. Pause after it. Keep this hook in every route.</a:t>
            </a:r>
            <a:endParaRPr lang="en-US" sz="1200"/>
          </a:p>
          <a:p>
            <a:pPr marL="0" indent="0">
              <a:lnSpc>
                <a:spcPts val="1560"/>
              </a:lnSpc>
              <a:spcAft>
                <a:spcPts val="0"/>
              </a:spcAft>
              <a:buNone/>
            </a:pPr>
            <a:r>
              <a:rPr lang="en-US" sz="1200" b="0">
                <a:solidFill>
                  <a:srgbClr val="202b33"/>
                </a:solidFill>
                <a:latin typeface="Arial"/>
                <a:ea typeface="Arial"/>
                <a:cs typeface="Arial"/>
              </a:rPr>
              <a:t xml:space="preserve"/>
            </a:r>
            <a:endParaRPr lang="en-US" sz="1200"/>
          </a:p>
          <a:p>
            <a:pPr marL="0" indent="0">
              <a:lnSpc>
                <a:spcPts val="1560"/>
              </a:lnSpc>
              <a:spcAft>
                <a:spcPts val="0"/>
              </a:spcAft>
              <a:buNone/>
            </a:pPr>
            <a:r>
              <a:rPr lang="en-US" sz="1200" b="0">
                <a:solidFill>
                  <a:srgbClr val="202b33"/>
                </a:solidFill>
                <a:latin typeface="Arial"/>
                <a:ea typeface="Arial"/>
                <a:cs typeface="Arial"/>
              </a:rPr>
              <a:t xml:space="preserve"/>
            </a:r>
            <a:endParaRPr lang="en-US" sz="1200"/>
          </a:p>
        </p:txBody>
      </p:sp>
    </p:spTree>
  </p:cSld>
  <p:clrMapOvr>
    <a:masterClrMapping/>
  </p:clrMapOvr>
</p:notes>
</file>

<file path=ppt/notesSlides/notesSlide3.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Presenter notes"/>
          <p:cNvSpPr txBox="1"/>
          <p:nvPr>
            <p:ph type="body" idx="1"/>
          </p:nvPr>
        </p:nvSpPr>
        <p:spPr>
          <a:xfrm>
            <a:off x="457200" y="1428750"/>
            <a:ext cx="5715000" cy="6667500"/>
          </a:xfrm>
        </p:spPr>
        <p:txBody>
          <a:bodyPr/>
          <a:lstStyle/>
          <a:p>
            <a:pPr marL="0" indent="0">
              <a:lnSpc>
                <a:spcPts val="1560"/>
              </a:lnSpc>
              <a:spcAft>
                <a:spcPts val="0"/>
              </a:spcAft>
              <a:buNone/>
            </a:pPr>
            <a:r>
              <a:rPr lang="en-US" sz="1200" b="0">
                <a:solidFill>
                  <a:srgbClr val="202b33"/>
                </a:solidFill>
                <a:latin typeface="Arial"/>
                <a:ea typeface="Arial"/>
                <a:cs typeface="Arial"/>
              </a:rPr>
              <a:t xml:space="preserve">The bet, and the eight words</a:t>
            </a:r>
            <a:endParaRPr lang="en-US" sz="1200"/>
          </a:p>
          <a:p>
            <a:pPr marL="0" indent="0">
              <a:lnSpc>
                <a:spcPts val="1560"/>
              </a:lnSpc>
              <a:spcAft>
                <a:spcPts val="0"/>
              </a:spcAft>
              <a:buNone/>
            </a:pPr>
            <a:r>
              <a:rPr lang="en-US" sz="1200" b="0">
                <a:solidFill>
                  <a:srgbClr val="202b33"/>
                </a:solidFill>
                <a:latin typeface="Arial"/>
                <a:ea typeface="Arial"/>
                <a:cs typeface="Arial"/>
              </a:rPr>
              <a:t xml:space="preserve"/>
            </a:r>
            <a:endParaRPr lang="en-US" sz="1200"/>
          </a:p>
          <a:p>
            <a:pPr marL="0" indent="0">
              <a:lnSpc>
                <a:spcPts val="1560"/>
              </a:lnSpc>
              <a:spcAft>
                <a:spcPts val="0"/>
              </a:spcAft>
              <a:buNone/>
            </a:pPr>
            <a:r>
              <a:rPr lang="en-US" sz="1200" b="0">
                <a:solidFill>
                  <a:srgbClr val="202b33"/>
                </a:solidFill>
                <a:latin typeface="Arial"/>
                <a:ea typeface="Arial"/>
                <a:cs typeface="Arial"/>
              </a:rPr>
              <a:t xml:space="preserve">02:30 to 04:30 · warm</a:t>
            </a:r>
            <a:endParaRPr lang="en-US" sz="1200"/>
          </a:p>
          <a:p>
            <a:pPr marL="0" indent="0">
              <a:lnSpc>
                <a:spcPts val="1560"/>
              </a:lnSpc>
              <a:spcAft>
                <a:spcPts val="0"/>
              </a:spcAft>
              <a:buNone/>
            </a:pPr>
            <a:r>
              <a:rPr lang="en-US" sz="1200" b="0">
                <a:solidFill>
                  <a:srgbClr val="202b33"/>
                </a:solidFill>
                <a:latin typeface="Arial"/>
                <a:ea typeface="Arial"/>
                <a:cs typeface="Arial"/>
              </a:rPr>
              <a:t xml:space="preserve"/>
            </a:r>
            <a:endParaRPr lang="en-US" sz="1200"/>
          </a:p>
          <a:p>
            <a:pPr marL="0" indent="0">
              <a:lnSpc>
                <a:spcPts val="1560"/>
              </a:lnSpc>
              <a:spcAft>
                <a:spcPts val="0"/>
              </a:spcAft>
              <a:buNone/>
            </a:pPr>
            <a:r>
              <a:rPr lang="en-US" sz="1200" b="0">
                <a:solidFill>
                  <a:srgbClr val="202b33"/>
                </a:solidFill>
                <a:latin typeface="Arial"/>
                <a:ea typeface="Arial"/>
                <a:cs typeface="Arial"/>
              </a:rPr>
              <a:t xml:space="preserve">&gt; You are joining an old field late</a:t>
            </a:r>
            <a:endParaRPr lang="en-US" sz="1200"/>
          </a:p>
          <a:p>
            <a:pPr marL="0" indent="0">
              <a:lnSpc>
                <a:spcPts val="1560"/>
              </a:lnSpc>
              <a:spcAft>
                <a:spcPts val="0"/>
              </a:spcAft>
              <a:buNone/>
            </a:pPr>
            <a:r>
              <a:rPr lang="en-US" sz="1200" b="0">
                <a:solidFill>
                  <a:srgbClr val="202b33"/>
                </a:solidFill>
                <a:latin typeface="Arial"/>
                <a:ea typeface="Arial"/>
                <a:cs typeface="Arial"/>
              </a:rPr>
              <a:t xml:space="preserve">&gt; Term specificity → assessor disagreement</a:t>
            </a:r>
            <a:endParaRPr lang="en-US" sz="1200"/>
          </a:p>
          <a:p>
            <a:pPr marL="0" indent="0">
              <a:lnSpc>
                <a:spcPts val="1560"/>
              </a:lnSpc>
              <a:spcAft>
                <a:spcPts val="0"/>
              </a:spcAft>
              <a:buNone/>
            </a:pPr>
            <a:r>
              <a:rPr lang="en-US" sz="1200" b="0">
                <a:solidFill>
                  <a:srgbClr val="202b33"/>
                </a:solidFill>
                <a:latin typeface="Arial"/>
                <a:ea typeface="Arial"/>
                <a:cs typeface="Arial"/>
              </a:rPr>
              <a:t xml:space="preserve"/>
            </a:r>
            <a:endParaRPr lang="en-US" sz="1200"/>
          </a:p>
          <a:p>
            <a:pPr marL="0" indent="0">
              <a:lnSpc>
                <a:spcPts val="1560"/>
              </a:lnSpc>
              <a:spcAft>
                <a:spcPts val="0"/>
              </a:spcAft>
              <a:buNone/>
            </a:pPr>
            <a:r>
              <a:rPr lang="en-US" sz="1200" b="0">
                <a:solidFill>
                  <a:srgbClr val="202b33"/>
                </a:solidFill>
                <a:latin typeface="Arial"/>
                <a:ea typeface="Arial"/>
                <a:cs typeface="Arial"/>
              </a:rPr>
              <a:t xml:space="preserve">This is an engineer's reading of information retrieval, with synthetic exercises and sources attached. The claim is that we skipped useful evaluation work, not that IR researchers solved every problem in RAG.</a:t>
            </a:r>
            <a:endParaRPr lang="en-US" sz="1200"/>
          </a:p>
          <a:p>
            <a:pPr marL="0" indent="0">
              <a:lnSpc>
                <a:spcPts val="1560"/>
              </a:lnSpc>
              <a:spcAft>
                <a:spcPts val="0"/>
              </a:spcAft>
              <a:buNone/>
            </a:pPr>
            <a:r>
              <a:rPr lang="en-US" sz="1200" b="0">
                <a:solidFill>
                  <a:srgbClr val="202b33"/>
                </a:solidFill>
                <a:latin typeface="Arial"/>
                <a:ea typeface="Arial"/>
                <a:cs typeface="Arial"/>
              </a:rPr>
              <a:t xml:space="preserve"/>
            </a:r>
            <a:endParaRPr lang="en-US" sz="1200"/>
          </a:p>
          <a:p>
            <a:pPr marL="0" indent="0">
              <a:lnSpc>
                <a:spcPts val="1560"/>
              </a:lnSpc>
              <a:spcAft>
                <a:spcPts val="0"/>
              </a:spcAft>
              <a:buNone/>
            </a:pPr>
            <a:r>
              <a:rPr lang="en-US" sz="1200" b="0">
                <a:solidFill>
                  <a:srgbClr val="202b33"/>
                </a:solidFill>
                <a:latin typeface="Arial"/>
                <a:ea typeface="Arial"/>
                <a:cs typeface="Arial"/>
              </a:rPr>
              <a:t xml:space="preserve">Eight words will do the work: term specificity, vector space model, vocabulary problem, passage retrieval, relevance judgment, the Cranfield paradigm, pooling, and assessor disagreement.</a:t>
            </a:r>
            <a:endParaRPr lang="en-US" sz="1200"/>
          </a:p>
          <a:p>
            <a:pPr marL="0" indent="0">
              <a:lnSpc>
                <a:spcPts val="1560"/>
              </a:lnSpc>
              <a:spcAft>
                <a:spcPts val="0"/>
              </a:spcAft>
              <a:buNone/>
            </a:pPr>
            <a:r>
              <a:rPr lang="en-US" sz="1200" b="0">
                <a:solidFill>
                  <a:srgbClr val="202b33"/>
                </a:solidFill>
                <a:latin typeface="Arial"/>
                <a:ea typeface="Arial"/>
                <a:cs typeface="Arial"/>
              </a:rPr>
              <a:t xml:space="preserve"/>
            </a:r>
            <a:endParaRPr lang="en-US" sz="1200"/>
          </a:p>
          <a:p>
            <a:pPr marL="0" indent="0">
              <a:lnSpc>
                <a:spcPts val="1560"/>
              </a:lnSpc>
              <a:spcAft>
                <a:spcPts val="0"/>
              </a:spcAft>
              <a:buNone/>
            </a:pPr>
            <a:r>
              <a:rPr lang="en-US" sz="1200" b="0">
                <a:solidFill>
                  <a:srgbClr val="202b33"/>
                </a:solidFill>
                <a:latin typeface="Arial"/>
                <a:ea typeface="Arial"/>
                <a:cs typeface="Arial"/>
              </a:rPr>
              <a:t xml:space="preserve">By the end we will use them to find a hole in a golden dataset. The hole will make a better retriever look worse. Then we will ask whether that happens in a collection built by people who knew to look for it.</a:t>
            </a:r>
            <a:endParaRPr lang="en-US" sz="1200"/>
          </a:p>
          <a:p>
            <a:pPr marL="0" indent="0">
              <a:lnSpc>
                <a:spcPts val="1560"/>
              </a:lnSpc>
              <a:spcAft>
                <a:spcPts val="0"/>
              </a:spcAft>
              <a:buNone/>
            </a:pPr>
            <a:r>
              <a:rPr lang="en-US" sz="1200" b="0">
                <a:solidFill>
                  <a:srgbClr val="202b33"/>
                </a:solidFill>
                <a:latin typeface="Arial"/>
                <a:ea typeface="Arial"/>
                <a:cs typeface="Arial"/>
              </a:rPr>
              <a:t xml:space="preserve"/>
            </a:r>
            <a:endParaRPr lang="en-US" sz="1200"/>
          </a:p>
          <a:p>
            <a:pPr marL="0" indent="0">
              <a:lnSpc>
                <a:spcPts val="1560"/>
              </a:lnSpc>
              <a:spcAft>
                <a:spcPts val="0"/>
              </a:spcAft>
              <a:buNone/>
            </a:pPr>
            <a:r>
              <a:rPr lang="en-US" sz="1200" b="0">
                <a:solidFill>
                  <a:srgbClr val="202b33"/>
                </a:solidFill>
                <a:latin typeface="Arial"/>
                <a:ea typeface="Arial"/>
                <a:cs typeface="Arial"/>
              </a:rPr>
              <a:t xml:space="preserve">Story: The retrieval improvement your eval rejected because it found evidence outside the original expected set. Bring the query, old labels, new document, and rejudgment.</a:t>
            </a:r>
            <a:endParaRPr lang="en-US" sz="1200"/>
          </a:p>
          <a:p>
            <a:pPr marL="0" indent="0">
              <a:lnSpc>
                <a:spcPts val="1560"/>
              </a:lnSpc>
              <a:spcAft>
                <a:spcPts val="0"/>
              </a:spcAft>
              <a:buNone/>
            </a:pPr>
            <a:r>
              <a:rPr lang="en-US" sz="1200" b="0">
                <a:solidFill>
                  <a:srgbClr val="202b33"/>
                </a:solidFill>
                <a:latin typeface="Arial"/>
                <a:ea typeface="Arial"/>
                <a:cs typeface="Arial"/>
              </a:rPr>
              <a:t xml:space="preserve"/>
            </a:r>
            <a:endParaRPr lang="en-US" sz="1200"/>
          </a:p>
          <a:p>
            <a:pPr marL="0" indent="0">
              <a:lnSpc>
                <a:spcPts val="1560"/>
              </a:lnSpc>
              <a:spcAft>
                <a:spcPts val="0"/>
              </a:spcAft>
              <a:buNone/>
            </a:pPr>
            <a:r>
              <a:rPr lang="en-US" sz="1200" b="0">
                <a:solidFill>
                  <a:srgbClr val="202b33"/>
                </a:solidFill>
                <a:latin typeface="Arial"/>
                <a:ea typeface="Arial"/>
                <a:cs typeface="Arial"/>
              </a:rPr>
              <a:t xml:space="preserve"/>
            </a:r>
            <a:endParaRPr lang="en-US" sz="1200"/>
          </a:p>
        </p:txBody>
      </p:sp>
    </p:spTree>
  </p:cSld>
  <p:clrMapOvr>
    <a:masterClrMapping/>
  </p:clrMapOvr>
</p:notes>
</file>

<file path=ppt/notesSlides/notesSlide4.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Presenter notes"/>
          <p:cNvSpPr txBox="1"/>
          <p:nvPr>
            <p:ph type="body" idx="1"/>
          </p:nvPr>
        </p:nvSpPr>
        <p:spPr>
          <a:xfrm>
            <a:off x="457200" y="1428750"/>
            <a:ext cx="5715000" cy="6667500"/>
          </a:xfrm>
        </p:spPr>
        <p:txBody>
          <a:bodyPr/>
          <a:lstStyle/>
          <a:p>
            <a:pPr marL="0" indent="0">
              <a:lnSpc>
                <a:spcPts val="1560"/>
              </a:lnSpc>
              <a:spcAft>
                <a:spcPts val="0"/>
              </a:spcAft>
              <a:buNone/>
            </a:pPr>
            <a:r>
              <a:rPr lang="en-US" sz="1200" b="0">
                <a:solidFill>
                  <a:srgbClr val="202b33"/>
                </a:solidFill>
                <a:latin typeface="Arial"/>
                <a:ea typeface="Arial"/>
                <a:cs typeface="Arial"/>
              </a:rPr>
              <a:t xml:space="preserve">1972: rare words matter more</a:t>
            </a:r>
            <a:endParaRPr lang="en-US" sz="1200"/>
          </a:p>
          <a:p>
            <a:pPr marL="0" indent="0">
              <a:lnSpc>
                <a:spcPts val="1560"/>
              </a:lnSpc>
              <a:spcAft>
                <a:spcPts val="0"/>
              </a:spcAft>
              <a:buNone/>
            </a:pPr>
            <a:r>
              <a:rPr lang="en-US" sz="1200" b="0">
                <a:solidFill>
                  <a:srgbClr val="202b33"/>
                </a:solidFill>
                <a:latin typeface="Arial"/>
                <a:ea typeface="Arial"/>
                <a:cs typeface="Arial"/>
              </a:rPr>
              <a:t xml:space="preserve"/>
            </a:r>
            <a:endParaRPr lang="en-US" sz="1200"/>
          </a:p>
          <a:p>
            <a:pPr marL="0" indent="0">
              <a:lnSpc>
                <a:spcPts val="1560"/>
              </a:lnSpc>
              <a:spcAft>
                <a:spcPts val="0"/>
              </a:spcAft>
              <a:buNone/>
            </a:pPr>
            <a:r>
              <a:rPr lang="en-US" sz="1200" b="0">
                <a:solidFill>
                  <a:srgbClr val="202b33"/>
                </a:solidFill>
                <a:latin typeface="Arial"/>
                <a:ea typeface="Arial"/>
                <a:cs typeface="Arial"/>
              </a:rPr>
              <a:t xml:space="preserve">04:30 to 07:30 · build</a:t>
            </a:r>
            <a:endParaRPr lang="en-US" sz="1200"/>
          </a:p>
          <a:p>
            <a:pPr marL="0" indent="0">
              <a:lnSpc>
                <a:spcPts val="1560"/>
              </a:lnSpc>
              <a:spcAft>
                <a:spcPts val="0"/>
              </a:spcAft>
              <a:buNone/>
            </a:pPr>
            <a:r>
              <a:rPr lang="en-US" sz="1200" b="0">
                <a:solidFill>
                  <a:srgbClr val="202b33"/>
                </a:solidFill>
                <a:latin typeface="Arial"/>
                <a:ea typeface="Arial"/>
                <a:cs typeface="Arial"/>
              </a:rPr>
              <a:t xml:space="preserve"/>
            </a:r>
            <a:endParaRPr lang="en-US" sz="1200"/>
          </a:p>
          <a:p>
            <a:pPr marL="0" indent="0">
              <a:lnSpc>
                <a:spcPts val="1560"/>
              </a:lnSpc>
              <a:spcAft>
                <a:spcPts val="0"/>
              </a:spcAft>
              <a:buNone/>
            </a:pPr>
            <a:r>
              <a:rPr lang="en-US" sz="1200" b="0">
                <a:solidFill>
                  <a:srgbClr val="202b33"/>
                </a:solidFill>
                <a:latin typeface="Arial"/>
                <a:ea typeface="Arial"/>
                <a:cs typeface="Arial"/>
              </a:rPr>
              <a:t xml:space="preserve">&gt; Karen Spärck Jones · term specificity</a:t>
            </a:r>
            <a:endParaRPr lang="en-US" sz="1200"/>
          </a:p>
          <a:p>
            <a:pPr marL="0" indent="0">
              <a:lnSpc>
                <a:spcPts val="1560"/>
              </a:lnSpc>
              <a:spcAft>
                <a:spcPts val="0"/>
              </a:spcAft>
              <a:buNone/>
            </a:pPr>
            <a:r>
              <a:rPr lang="en-US" sz="1200" b="0">
                <a:solidFill>
                  <a:srgbClr val="202b33"/>
                </a:solidFill>
                <a:latin typeface="Arial"/>
                <a:ea typeface="Arial"/>
                <a:cs typeface="Arial"/>
              </a:rPr>
              <a:t xml:space="preserve">&gt; 1972 → 2026 = 54 years</a:t>
            </a:r>
            <a:endParaRPr lang="en-US" sz="1200"/>
          </a:p>
          <a:p>
            <a:pPr marL="0" indent="0">
              <a:lnSpc>
                <a:spcPts val="1560"/>
              </a:lnSpc>
              <a:spcAft>
                <a:spcPts val="0"/>
              </a:spcAft>
              <a:buNone/>
            </a:pPr>
            <a:r>
              <a:rPr lang="en-US" sz="1200" b="0">
                <a:solidFill>
                  <a:srgbClr val="202b33"/>
                </a:solidFill>
                <a:latin typeface="Arial"/>
                <a:ea typeface="Arial"/>
                <a:cs typeface="Arial"/>
              </a:rPr>
              <a:t xml:space="preserve"/>
            </a:r>
            <a:endParaRPr lang="en-US" sz="1200"/>
          </a:p>
          <a:p>
            <a:pPr marL="0" indent="0">
              <a:lnSpc>
                <a:spcPts val="1560"/>
              </a:lnSpc>
              <a:spcAft>
                <a:spcPts val="0"/>
              </a:spcAft>
              <a:buNone/>
            </a:pPr>
            <a:r>
              <a:rPr lang="en-US" sz="1200" b="0">
                <a:solidFill>
                  <a:srgbClr val="202b33"/>
                </a:solidFill>
                <a:latin typeface="Arial"/>
                <a:ea typeface="Arial"/>
                <a:cs typeface="Arial"/>
              </a:rPr>
              <a:t xml:space="preserve">Karen Spärck Jones published a statistical interpretation of term specificity in 1972. A word that appears in almost every document tells you less about which document you want than a rare term does.</a:t>
            </a:r>
            <a:endParaRPr lang="en-US" sz="1200"/>
          </a:p>
          <a:p>
            <a:pPr marL="0" indent="0">
              <a:lnSpc>
                <a:spcPts val="1560"/>
              </a:lnSpc>
              <a:spcAft>
                <a:spcPts val="0"/>
              </a:spcAft>
              <a:buNone/>
            </a:pPr>
            <a:r>
              <a:rPr lang="en-US" sz="1200" b="0">
                <a:solidFill>
                  <a:srgbClr val="202b33"/>
                </a:solidFill>
                <a:latin typeface="Arial"/>
                <a:ea typeface="Arial"/>
                <a:cs typeface="Arial"/>
              </a:rPr>
              <a:t xml:space="preserve"/>
            </a:r>
            <a:endParaRPr lang="en-US" sz="1200"/>
          </a:p>
          <a:p>
            <a:pPr marL="0" indent="0">
              <a:lnSpc>
                <a:spcPts val="1560"/>
              </a:lnSpc>
              <a:spcAft>
                <a:spcPts val="0"/>
              </a:spcAft>
              <a:buNone/>
            </a:pPr>
            <a:r>
              <a:rPr lang="en-US" sz="1200" b="0">
                <a:solidFill>
                  <a:srgbClr val="202b33"/>
                </a:solidFill>
                <a:latin typeface="Arial"/>
                <a:ea typeface="Arial"/>
                <a:cs typeface="Arial"/>
              </a:rPr>
              <a:t xml:space="preserve">Think of an error code in a support query. The words "application error" occur everywhere. The exact identifier narrows the search. That is a concrete reason to keep lexical evidence in a retrieval system that also understands paraphrases.</a:t>
            </a:r>
            <a:endParaRPr lang="en-US" sz="1200"/>
          </a:p>
          <a:p>
            <a:pPr marL="0" indent="0">
              <a:lnSpc>
                <a:spcPts val="1560"/>
              </a:lnSpc>
              <a:spcAft>
                <a:spcPts val="0"/>
              </a:spcAft>
              <a:buNone/>
            </a:pPr>
            <a:r>
              <a:rPr lang="en-US" sz="1200" b="0">
                <a:solidFill>
                  <a:srgbClr val="202b33"/>
                </a:solidFill>
                <a:latin typeface="Arial"/>
                <a:ea typeface="Arial"/>
                <a:cs typeface="Arial"/>
              </a:rPr>
              <a:t xml:space="preserve"/>
            </a:r>
            <a:endParaRPr lang="en-US" sz="1200"/>
          </a:p>
          <a:p>
            <a:pPr marL="0" indent="0">
              <a:lnSpc>
                <a:spcPts val="1560"/>
              </a:lnSpc>
              <a:spcAft>
                <a:spcPts val="0"/>
              </a:spcAft>
              <a:buNone/>
            </a:pPr>
            <a:r>
              <a:rPr lang="en-US" sz="1200" b="0">
                <a:solidFill>
                  <a:srgbClr val="202b33"/>
                </a:solidFill>
                <a:latin typeface="Arial"/>
                <a:ea typeface="Arial"/>
                <a:cs typeface="Arial"/>
              </a:rPr>
              <a:t xml:space="preserve">Fifty-four years. We have had time to put her name on the slide. The point is that corpus frequency supplies evidence, and the evidence has a history and assumptions you can inspect.</a:t>
            </a:r>
            <a:endParaRPr lang="en-US" sz="1200"/>
          </a:p>
          <a:p>
            <a:pPr marL="0" indent="0">
              <a:lnSpc>
                <a:spcPts val="1560"/>
              </a:lnSpc>
              <a:spcAft>
                <a:spcPts val="0"/>
              </a:spcAft>
              <a:buNone/>
            </a:pPr>
            <a:r>
              <a:rPr lang="en-US" sz="1200" b="0">
                <a:solidFill>
                  <a:srgbClr val="202b33"/>
                </a:solidFill>
                <a:latin typeface="Arial"/>
                <a:ea typeface="Arial"/>
                <a:cs typeface="Arial"/>
              </a:rPr>
              <a:t xml:space="preserve"/>
            </a:r>
            <a:endParaRPr lang="en-US" sz="1200"/>
          </a:p>
          <a:p>
            <a:pPr marL="0" indent="0">
              <a:lnSpc>
                <a:spcPts val="1560"/>
              </a:lnSpc>
              <a:spcAft>
                <a:spcPts val="0"/>
              </a:spcAft>
              <a:buNone/>
            </a:pPr>
            <a:r>
              <a:rPr lang="en-US" sz="1200" b="0">
                <a:solidFill>
                  <a:srgbClr val="202b33"/>
                </a:solidFill>
                <a:latin typeface="Arial"/>
                <a:ea typeface="Arial"/>
                <a:cs typeface="Arial"/>
              </a:rPr>
              <a:t xml:space="preserve">Stage direction: Compare a generic support phrase with an exact error identifier. Ask the room which term it would retain in a hybrid query.</a:t>
            </a:r>
            <a:endParaRPr lang="en-US" sz="1200"/>
          </a:p>
          <a:p>
            <a:pPr marL="0" indent="0">
              <a:lnSpc>
                <a:spcPts val="1560"/>
              </a:lnSpc>
              <a:spcAft>
                <a:spcPts val="0"/>
              </a:spcAft>
              <a:buNone/>
            </a:pPr>
            <a:r>
              <a:rPr lang="en-US" sz="1200" b="0">
                <a:solidFill>
                  <a:srgbClr val="202b33"/>
                </a:solidFill>
                <a:latin typeface="Arial"/>
                <a:ea typeface="Arial"/>
                <a:cs typeface="Arial"/>
              </a:rPr>
              <a:t xml:space="preserve"/>
            </a:r>
            <a:endParaRPr lang="en-US" sz="1200"/>
          </a:p>
          <a:p>
            <a:pPr marL="0" indent="0">
              <a:lnSpc>
                <a:spcPts val="1560"/>
              </a:lnSpc>
              <a:spcAft>
                <a:spcPts val="0"/>
              </a:spcAft>
              <a:buNone/>
            </a:pPr>
            <a:r>
              <a:rPr lang="en-US" sz="1200" b="0">
                <a:solidFill>
                  <a:srgbClr val="202b33"/>
                </a:solidFill>
                <a:latin typeface="Arial"/>
                <a:ea typeface="Arial"/>
                <a:cs typeface="Arial"/>
              </a:rPr>
              <a:t xml:space="preserve">Source: Karen Spärck Jones (1972), A statistical interpretation of term specificity and its application in retrieval, Journal of Documentation 28(1), 11–21. [Author’s publication archive](https://www.cl.cam.ac.uk/archive/ksj21/ksjdigipapers/ksjbib3.html).</a:t>
            </a:r>
            <a:endParaRPr lang="en-US" sz="1200"/>
          </a:p>
          <a:p>
            <a:pPr marL="0" indent="0">
              <a:lnSpc>
                <a:spcPts val="1560"/>
              </a:lnSpc>
              <a:spcAft>
                <a:spcPts val="0"/>
              </a:spcAft>
              <a:buNone/>
            </a:pPr>
            <a:r>
              <a:rPr lang="en-US" sz="1200" b="0">
                <a:solidFill>
                  <a:srgbClr val="202b33"/>
                </a:solidFill>
                <a:latin typeface="Arial"/>
                <a:ea typeface="Arial"/>
                <a:cs typeface="Arial"/>
              </a:rPr>
              <a:t xml:space="preserve"/>
            </a:r>
            <a:endParaRPr lang="en-US" sz="1200"/>
          </a:p>
          <a:p>
            <a:pPr marL="0" indent="0">
              <a:lnSpc>
                <a:spcPts val="1560"/>
              </a:lnSpc>
              <a:spcAft>
                <a:spcPts val="0"/>
              </a:spcAft>
              <a:buNone/>
            </a:pPr>
            <a:r>
              <a:rPr lang="en-US" sz="1200" b="0">
                <a:solidFill>
                  <a:srgbClr val="202b33"/>
                </a:solidFill>
                <a:latin typeface="Arial"/>
                <a:ea typeface="Arial"/>
                <a:cs typeface="Arial"/>
              </a:rPr>
              <a:t xml:space="preserve"/>
            </a:r>
            <a:endParaRPr lang="en-US" sz="1200"/>
          </a:p>
        </p:txBody>
      </p:sp>
    </p:spTree>
  </p:cSld>
  <p:clrMapOvr>
    <a:masterClrMapping/>
  </p:clrMapOvr>
</p:notes>
</file>

<file path=ppt/notesSlides/notesSlide5.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Presenter notes"/>
          <p:cNvSpPr txBox="1"/>
          <p:nvPr>
            <p:ph type="body" idx="1"/>
          </p:nvPr>
        </p:nvSpPr>
        <p:spPr>
          <a:xfrm>
            <a:off x="457200" y="1428750"/>
            <a:ext cx="5715000" cy="6667500"/>
          </a:xfrm>
        </p:spPr>
        <p:txBody>
          <a:bodyPr/>
          <a:lstStyle/>
          <a:p>
            <a:pPr marL="0" indent="0">
              <a:lnSpc>
                <a:spcPts val="1560"/>
              </a:lnSpc>
              <a:spcAft>
                <a:spcPts val="0"/>
              </a:spcAft>
              <a:buNone/>
            </a:pPr>
            <a:r>
              <a:rPr lang="en-US" sz="1200" b="0">
                <a:solidFill>
                  <a:srgbClr val="202b33"/>
                </a:solidFill>
                <a:latin typeface="Arial"/>
                <a:ea typeface="Arial"/>
                <a:cs typeface="Arial"/>
              </a:rPr>
              <a:t xml:space="preserve">Vector Database, 1975</a:t>
            </a:r>
            <a:endParaRPr lang="en-US" sz="1200"/>
          </a:p>
          <a:p>
            <a:pPr marL="0" indent="0">
              <a:lnSpc>
                <a:spcPts val="1560"/>
              </a:lnSpc>
              <a:spcAft>
                <a:spcPts val="0"/>
              </a:spcAft>
              <a:buNone/>
            </a:pPr>
            <a:r>
              <a:rPr lang="en-US" sz="1200" b="0">
                <a:solidFill>
                  <a:srgbClr val="202b33"/>
                </a:solidFill>
                <a:latin typeface="Arial"/>
                <a:ea typeface="Arial"/>
                <a:cs typeface="Arial"/>
              </a:rPr>
              <a:t xml:space="preserve"/>
            </a:r>
            <a:endParaRPr lang="en-US" sz="1200"/>
          </a:p>
          <a:p>
            <a:pPr marL="0" indent="0">
              <a:lnSpc>
                <a:spcPts val="1560"/>
              </a:lnSpc>
              <a:spcAft>
                <a:spcPts val="0"/>
              </a:spcAft>
              <a:buNone/>
            </a:pPr>
            <a:r>
              <a:rPr lang="en-US" sz="1200" b="0">
                <a:solidFill>
                  <a:srgbClr val="202b33"/>
                </a:solidFill>
                <a:latin typeface="Arial"/>
                <a:ea typeface="Arial"/>
                <a:cs typeface="Arial"/>
              </a:rPr>
              <a:t xml:space="preserve">07:30 to 10:00 · build</a:t>
            </a:r>
            <a:endParaRPr lang="en-US" sz="1200"/>
          </a:p>
          <a:p>
            <a:pPr marL="0" indent="0">
              <a:lnSpc>
                <a:spcPts val="1560"/>
              </a:lnSpc>
              <a:spcAft>
                <a:spcPts val="0"/>
              </a:spcAft>
              <a:buNone/>
            </a:pPr>
            <a:r>
              <a:rPr lang="en-US" sz="1200" b="0">
                <a:solidFill>
                  <a:srgbClr val="202b33"/>
                </a:solidFill>
                <a:latin typeface="Arial"/>
                <a:ea typeface="Arial"/>
                <a:cs typeface="Arial"/>
              </a:rPr>
              <a:t xml:space="preserve"/>
            </a:r>
            <a:endParaRPr lang="en-US" sz="1200"/>
          </a:p>
          <a:p>
            <a:pPr marL="0" indent="0">
              <a:lnSpc>
                <a:spcPts val="1560"/>
              </a:lnSpc>
              <a:spcAft>
                <a:spcPts val="0"/>
              </a:spcAft>
              <a:buNone/>
            </a:pPr>
            <a:r>
              <a:rPr lang="en-US" sz="1200" b="0">
                <a:solidFill>
                  <a:srgbClr val="202b33"/>
                </a:solidFill>
                <a:latin typeface="Arial"/>
                <a:ea typeface="Arial"/>
                <a:cs typeface="Arial"/>
              </a:rPr>
              <a:t xml:space="preserve">&gt; Salton, Wong, Yang · vector space model · 1975</a:t>
            </a:r>
            <a:endParaRPr lang="en-US" sz="1200"/>
          </a:p>
          <a:p>
            <a:pPr marL="0" indent="0">
              <a:lnSpc>
                <a:spcPts val="1560"/>
              </a:lnSpc>
              <a:spcAft>
                <a:spcPts val="0"/>
              </a:spcAft>
              <a:buNone/>
            </a:pPr>
            <a:r>
              <a:rPr lang="en-US" sz="1200" b="0">
                <a:solidFill>
                  <a:srgbClr val="202b33"/>
                </a:solidFill>
                <a:latin typeface="Arial"/>
                <a:ea typeface="Arial"/>
                <a:cs typeface="Arial"/>
              </a:rPr>
              <a:t xml:space="preserve">&gt; Deerwester and colleagues · latent semantic analysis · 1990</a:t>
            </a:r>
            <a:endParaRPr lang="en-US" sz="1200"/>
          </a:p>
          <a:p>
            <a:pPr marL="0" indent="0">
              <a:lnSpc>
                <a:spcPts val="1560"/>
              </a:lnSpc>
              <a:spcAft>
                <a:spcPts val="0"/>
              </a:spcAft>
              <a:buNone/>
            </a:pPr>
            <a:r>
              <a:rPr lang="en-US" sz="1200" b="0">
                <a:solidFill>
                  <a:srgbClr val="202b33"/>
                </a:solidFill>
                <a:latin typeface="Arial"/>
                <a:ea typeface="Arial"/>
                <a:cs typeface="Arial"/>
              </a:rPr>
              <a:t xml:space="preserve"/>
            </a:r>
            <a:endParaRPr lang="en-US" sz="1200"/>
          </a:p>
          <a:p>
            <a:pPr marL="0" indent="0">
              <a:lnSpc>
                <a:spcPts val="1560"/>
              </a:lnSpc>
              <a:spcAft>
                <a:spcPts val="0"/>
              </a:spcAft>
              <a:buNone/>
            </a:pPr>
            <a:r>
              <a:rPr lang="en-US" sz="1200" b="0">
                <a:solidFill>
                  <a:srgbClr val="202b33"/>
                </a:solidFill>
                <a:latin typeface="Arial"/>
                <a:ea typeface="Arial"/>
                <a:cs typeface="Arial"/>
              </a:rPr>
              <a:t xml:space="preserve">Salton, Wong, and Yang described a vector space model for automatic indexing in 1975. Documents become weighted representations that support comparisons. In 1990, Deerwester and colleagues described latent semantic analysis using a low-rank representation of term-document structure.</a:t>
            </a:r>
            <a:endParaRPr lang="en-US" sz="1200"/>
          </a:p>
          <a:p>
            <a:pPr marL="0" indent="0">
              <a:lnSpc>
                <a:spcPts val="1560"/>
              </a:lnSpc>
              <a:spcAft>
                <a:spcPts val="0"/>
              </a:spcAft>
              <a:buNone/>
            </a:pPr>
            <a:r>
              <a:rPr lang="en-US" sz="1200" b="0">
                <a:solidFill>
                  <a:srgbClr val="202b33"/>
                </a:solidFill>
                <a:latin typeface="Arial"/>
                <a:ea typeface="Arial"/>
                <a:cs typeface="Arial"/>
              </a:rPr>
              <a:t xml:space="preserve"/>
            </a:r>
            <a:endParaRPr lang="en-US" sz="1200"/>
          </a:p>
          <a:p>
            <a:pPr marL="0" indent="0">
              <a:lnSpc>
                <a:spcPts val="1560"/>
              </a:lnSpc>
              <a:spcAft>
                <a:spcPts val="0"/>
              </a:spcAft>
              <a:buNone/>
            </a:pPr>
            <a:r>
              <a:rPr lang="en-US" sz="1200" b="0">
                <a:solidFill>
                  <a:srgbClr val="202b33"/>
                </a:solidFill>
                <a:latin typeface="Arial"/>
                <a:ea typeface="Arial"/>
                <a:cs typeface="Arial"/>
              </a:rPr>
              <a:t xml:space="preserve">Modern neural embeddings differ in how they learn and what they represent. The useful continuity is representing text numerically so related material can be retrieved despite imperfect word matching.</a:t>
            </a:r>
            <a:endParaRPr lang="en-US" sz="1200"/>
          </a:p>
          <a:p>
            <a:pPr marL="0" indent="0">
              <a:lnSpc>
                <a:spcPts val="1560"/>
              </a:lnSpc>
              <a:spcAft>
                <a:spcPts val="0"/>
              </a:spcAft>
              <a:buNone/>
            </a:pPr>
            <a:r>
              <a:rPr lang="en-US" sz="1200" b="0">
                <a:solidFill>
                  <a:srgbClr val="202b33"/>
                </a:solidFill>
                <a:latin typeface="Arial"/>
                <a:ea typeface="Arial"/>
                <a:cs typeface="Arial"/>
              </a:rPr>
              <a:t xml:space="preserve"/>
            </a:r>
            <a:endParaRPr lang="en-US" sz="1200"/>
          </a:p>
          <a:p>
            <a:pPr marL="0" indent="0">
              <a:lnSpc>
                <a:spcPts val="1560"/>
              </a:lnSpc>
              <a:spcAft>
                <a:spcPts val="0"/>
              </a:spcAft>
              <a:buNone/>
            </a:pPr>
            <a:r>
              <a:rPr lang="en-US" sz="1200" b="0">
                <a:solidFill>
                  <a:srgbClr val="202b33"/>
                </a:solidFill>
                <a:latin typeface="Arial"/>
                <a:ea typeface="Arial"/>
                <a:cs typeface="Arial"/>
              </a:rPr>
              <a:t xml:space="preserve">A vector store gives you a place to search those representations. It does not choose the right relevance definition. It does not tell you that a highly similar contract governs this customer. That work is still ours.</a:t>
            </a:r>
            <a:endParaRPr lang="en-US" sz="1200"/>
          </a:p>
          <a:p>
            <a:pPr marL="0" indent="0">
              <a:lnSpc>
                <a:spcPts val="1560"/>
              </a:lnSpc>
              <a:spcAft>
                <a:spcPts val="0"/>
              </a:spcAft>
              <a:buNone/>
            </a:pPr>
            <a:r>
              <a:rPr lang="en-US" sz="1200" b="0">
                <a:solidFill>
                  <a:srgbClr val="202b33"/>
                </a:solidFill>
                <a:latin typeface="Arial"/>
                <a:ea typeface="Arial"/>
                <a:cs typeface="Arial"/>
              </a:rPr>
              <a:t xml:space="preserve"/>
            </a:r>
            <a:endParaRPr lang="en-US" sz="1200"/>
          </a:p>
          <a:p>
            <a:pPr marL="0" indent="0">
              <a:lnSpc>
                <a:spcPts val="1560"/>
              </a:lnSpc>
              <a:spcAft>
                <a:spcPts val="0"/>
              </a:spcAft>
              <a:buNone/>
            </a:pPr>
            <a:r>
              <a:rPr lang="en-US" sz="1200" b="0">
                <a:solidFill>
                  <a:srgbClr val="202b33"/>
                </a:solidFill>
                <a:latin typeface="Arial"/>
                <a:ea typeface="Arial"/>
                <a:cs typeface="Arial"/>
              </a:rPr>
              <a:t xml:space="preserve">Source: Salton, Wong, and Yang (1975), [A vector space model for automatic indexing](https://doi.org/10.1145/361219.361220), Communications of the ACM 18(11), 613–620. Deerwester, Dumais, Furnas, Landauer, and Harshman (1990), [Indexing by Latent Semantic Analysis](https://www.cs.csustan.edu/~mmartin/LDS/Deerwester-et-al.pdf), JASIS 41(6), 391–407.</a:t>
            </a:r>
            <a:endParaRPr lang="en-US" sz="1200"/>
          </a:p>
          <a:p>
            <a:pPr marL="0" indent="0">
              <a:lnSpc>
                <a:spcPts val="1560"/>
              </a:lnSpc>
              <a:spcAft>
                <a:spcPts val="0"/>
              </a:spcAft>
              <a:buNone/>
            </a:pPr>
            <a:r>
              <a:rPr lang="en-US" sz="1200" b="0">
                <a:solidFill>
                  <a:srgbClr val="202b33"/>
                </a:solidFill>
                <a:latin typeface="Arial"/>
                <a:ea typeface="Arial"/>
                <a:cs typeface="Arial"/>
              </a:rPr>
              <a:t xml:space="preserve"/>
            </a:r>
            <a:endParaRPr lang="en-US" sz="1200"/>
          </a:p>
          <a:p>
            <a:pPr marL="0" indent="0">
              <a:lnSpc>
                <a:spcPts val="1560"/>
              </a:lnSpc>
              <a:spcAft>
                <a:spcPts val="0"/>
              </a:spcAft>
              <a:buNone/>
            </a:pPr>
            <a:r>
              <a:rPr lang="en-US" sz="1200" b="0">
                <a:solidFill>
                  <a:srgbClr val="202b33"/>
                </a:solidFill>
                <a:latin typeface="Arial"/>
                <a:ea typeface="Arial"/>
                <a:cs typeface="Arial"/>
              </a:rPr>
              <a:t xml:space="preserve"/>
            </a:r>
            <a:endParaRPr lang="en-US" sz="1200"/>
          </a:p>
        </p:txBody>
      </p:sp>
    </p:spTree>
  </p:cSld>
  <p:clrMapOvr>
    <a:masterClrMapping/>
  </p:clrMapOvr>
</p:notes>
</file>

<file path=ppt/notesSlides/notesSlide6.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Presenter notes"/>
          <p:cNvSpPr txBox="1"/>
          <p:nvPr>
            <p:ph type="body" idx="1"/>
          </p:nvPr>
        </p:nvSpPr>
        <p:spPr>
          <a:xfrm>
            <a:off x="457200" y="1428750"/>
            <a:ext cx="5715000" cy="6667500"/>
          </a:xfrm>
        </p:spPr>
        <p:txBody>
          <a:bodyPr/>
          <a:lstStyle/>
          <a:p>
            <a:pPr marL="0" indent="0">
              <a:lnSpc>
                <a:spcPts val="1560"/>
              </a:lnSpc>
              <a:spcAft>
                <a:spcPts val="0"/>
              </a:spcAft>
              <a:buNone/>
            </a:pPr>
            <a:r>
              <a:rPr lang="en-US" sz="1200" b="0">
                <a:solidFill>
                  <a:srgbClr val="202b33"/>
                </a:solidFill>
                <a:latin typeface="Arial"/>
                <a:ea typeface="Arial"/>
                <a:cs typeface="Arial"/>
              </a:rPr>
              <a:t xml:space="preserve">The vocabulary problem</a:t>
            </a:r>
            <a:endParaRPr lang="en-US" sz="1200"/>
          </a:p>
          <a:p>
            <a:pPr marL="0" indent="0">
              <a:lnSpc>
                <a:spcPts val="1560"/>
              </a:lnSpc>
              <a:spcAft>
                <a:spcPts val="0"/>
              </a:spcAft>
              <a:buNone/>
            </a:pPr>
            <a:r>
              <a:rPr lang="en-US" sz="1200" b="0">
                <a:solidFill>
                  <a:srgbClr val="202b33"/>
                </a:solidFill>
                <a:latin typeface="Arial"/>
                <a:ea typeface="Arial"/>
                <a:cs typeface="Arial"/>
              </a:rPr>
              <a:t xml:space="preserve"/>
            </a:r>
            <a:endParaRPr lang="en-US" sz="1200"/>
          </a:p>
          <a:p>
            <a:pPr marL="0" indent="0">
              <a:lnSpc>
                <a:spcPts val="1560"/>
              </a:lnSpc>
              <a:spcAft>
                <a:spcPts val="0"/>
              </a:spcAft>
              <a:buNone/>
            </a:pPr>
            <a:r>
              <a:rPr lang="en-US" sz="1200" b="0">
                <a:solidFill>
                  <a:srgbClr val="202b33"/>
                </a:solidFill>
                <a:latin typeface="Arial"/>
                <a:ea typeface="Arial"/>
                <a:cs typeface="Arial"/>
              </a:rPr>
              <a:t xml:space="preserve">10:00 to 12:30 · build</a:t>
            </a:r>
            <a:endParaRPr lang="en-US" sz="1200"/>
          </a:p>
          <a:p>
            <a:pPr marL="0" indent="0">
              <a:lnSpc>
                <a:spcPts val="1560"/>
              </a:lnSpc>
              <a:spcAft>
                <a:spcPts val="0"/>
              </a:spcAft>
              <a:buNone/>
            </a:pPr>
            <a:r>
              <a:rPr lang="en-US" sz="1200" b="0">
                <a:solidFill>
                  <a:srgbClr val="202b33"/>
                </a:solidFill>
                <a:latin typeface="Arial"/>
                <a:ea typeface="Arial"/>
                <a:cs typeface="Arial"/>
              </a:rPr>
              <a:t xml:space="preserve"/>
            </a:r>
            <a:endParaRPr lang="en-US" sz="1200"/>
          </a:p>
          <a:p>
            <a:pPr marL="0" indent="0">
              <a:lnSpc>
                <a:spcPts val="1560"/>
              </a:lnSpc>
              <a:spcAft>
                <a:spcPts val="0"/>
              </a:spcAft>
              <a:buNone/>
            </a:pPr>
            <a:r>
              <a:rPr lang="en-US" sz="1200" b="0">
                <a:solidFill>
                  <a:srgbClr val="202b33"/>
                </a:solidFill>
                <a:latin typeface="Arial"/>
                <a:ea typeface="Arial"/>
                <a:cs typeface="Arial"/>
              </a:rPr>
              <a:t xml:space="preserve">&gt; The customer says “stop billing”</a:t>
            </a:r>
            <a:endParaRPr lang="en-US" sz="1200"/>
          </a:p>
          <a:p>
            <a:pPr marL="0" indent="0">
              <a:lnSpc>
                <a:spcPts val="1560"/>
              </a:lnSpc>
              <a:spcAft>
                <a:spcPts val="0"/>
              </a:spcAft>
              <a:buNone/>
            </a:pPr>
            <a:r>
              <a:rPr lang="en-US" sz="1200" b="0">
                <a:solidFill>
                  <a:srgbClr val="202b33"/>
                </a:solidFill>
                <a:latin typeface="Arial"/>
                <a:ea typeface="Arial"/>
                <a:cs typeface="Arial"/>
              </a:rPr>
              <a:t xml:space="preserve">&gt; The document says “terminate renewal”</a:t>
            </a:r>
            <a:endParaRPr lang="en-US" sz="1200"/>
          </a:p>
          <a:p>
            <a:pPr marL="0" indent="0">
              <a:lnSpc>
                <a:spcPts val="1560"/>
              </a:lnSpc>
              <a:spcAft>
                <a:spcPts val="0"/>
              </a:spcAft>
              <a:buNone/>
            </a:pPr>
            <a:r>
              <a:rPr lang="en-US" sz="1200" b="0">
                <a:solidFill>
                  <a:srgbClr val="202b33"/>
                </a:solidFill>
                <a:latin typeface="Arial"/>
                <a:ea typeface="Arial"/>
                <a:cs typeface="Arial"/>
              </a:rPr>
              <a:t xml:space="preserve"/>
            </a:r>
            <a:endParaRPr lang="en-US" sz="1200"/>
          </a:p>
          <a:p>
            <a:pPr marL="0" indent="0">
              <a:lnSpc>
                <a:spcPts val="1560"/>
              </a:lnSpc>
              <a:spcAft>
                <a:spcPts val="0"/>
              </a:spcAft>
              <a:buNone/>
            </a:pPr>
            <a:r>
              <a:rPr lang="en-US" sz="1200" b="0">
                <a:solidFill>
                  <a:srgbClr val="202b33"/>
                </a:solidFill>
                <a:latin typeface="Arial"/>
                <a:ea typeface="Arial"/>
                <a:cs typeface="Arial"/>
              </a:rPr>
              <a:t xml:space="preserve">Two people can refer to the same thing using different words. Furnas, Landauer, Gomez, and Dumais studied that vocabulary problem in human-system communication in 1987.</a:t>
            </a:r>
            <a:endParaRPr lang="en-US" sz="1200"/>
          </a:p>
          <a:p>
            <a:pPr marL="0" indent="0">
              <a:lnSpc>
                <a:spcPts val="1560"/>
              </a:lnSpc>
              <a:spcAft>
                <a:spcPts val="0"/>
              </a:spcAft>
              <a:buNone/>
            </a:pPr>
            <a:r>
              <a:rPr lang="en-US" sz="1200" b="0">
                <a:solidFill>
                  <a:srgbClr val="202b33"/>
                </a:solidFill>
                <a:latin typeface="Arial"/>
                <a:ea typeface="Arial"/>
                <a:cs typeface="Arial"/>
              </a:rPr>
              <a:t xml:space="preserve"/>
            </a:r>
            <a:endParaRPr lang="en-US" sz="1200"/>
          </a:p>
          <a:p>
            <a:pPr marL="0" indent="0">
              <a:lnSpc>
                <a:spcPts val="1560"/>
              </a:lnSpc>
              <a:spcAft>
                <a:spcPts val="0"/>
              </a:spcAft>
              <a:buNone/>
            </a:pPr>
            <a:r>
              <a:rPr lang="en-US" sz="1200" b="0">
                <a:solidFill>
                  <a:srgbClr val="202b33"/>
                </a:solidFill>
                <a:latin typeface="Arial"/>
                <a:ea typeface="Arial"/>
                <a:cs typeface="Arial"/>
              </a:rPr>
              <a:t xml:space="preserve">Our customer says stop billing. The policy says terminate renewal. Exact matching has a problem. A semantic representation is one answer. So are aliases, expansion, and better indexing. An embedding is a method, not the reason the problem exists.</a:t>
            </a:r>
            <a:endParaRPr lang="en-US" sz="1200"/>
          </a:p>
          <a:p>
            <a:pPr marL="0" indent="0">
              <a:lnSpc>
                <a:spcPts val="1560"/>
              </a:lnSpc>
              <a:spcAft>
                <a:spcPts val="0"/>
              </a:spcAft>
              <a:buNone/>
            </a:pPr>
            <a:r>
              <a:rPr lang="en-US" sz="1200" b="0">
                <a:solidFill>
                  <a:srgbClr val="202b33"/>
                </a:solidFill>
                <a:latin typeface="Arial"/>
                <a:ea typeface="Arial"/>
                <a:cs typeface="Arial"/>
              </a:rPr>
              <a:t xml:space="preserve"/>
            </a:r>
            <a:endParaRPr lang="en-US" sz="1200"/>
          </a:p>
          <a:p>
            <a:pPr marL="0" indent="0">
              <a:lnSpc>
                <a:spcPts val="1560"/>
              </a:lnSpc>
              <a:spcAft>
                <a:spcPts val="0"/>
              </a:spcAft>
              <a:buNone/>
            </a:pPr>
            <a:r>
              <a:rPr lang="en-US" sz="1200" b="0">
                <a:solidFill>
                  <a:srgbClr val="202b33"/>
                </a:solidFill>
                <a:latin typeface="Arial"/>
                <a:ea typeface="Arial"/>
                <a:cs typeface="Arial"/>
              </a:rPr>
              <a:t xml:space="preserve">Now reverse it. Two documents both say cancel, but one cancels a meeting and one cancels a subscription. Shared words do not establish shared intent. Evaluation needs cases for both vocabulary mismatch and misleading overlap.</a:t>
            </a:r>
            <a:endParaRPr lang="en-US" sz="1200"/>
          </a:p>
          <a:p>
            <a:pPr marL="0" indent="0">
              <a:lnSpc>
                <a:spcPts val="1560"/>
              </a:lnSpc>
              <a:spcAft>
                <a:spcPts val="0"/>
              </a:spcAft>
              <a:buNone/>
            </a:pPr>
            <a:r>
              <a:rPr lang="en-US" sz="1200" b="0">
                <a:solidFill>
                  <a:srgbClr val="202b33"/>
                </a:solidFill>
                <a:latin typeface="Arial"/>
                <a:ea typeface="Arial"/>
                <a:cs typeface="Arial"/>
              </a:rPr>
              <a:t xml:space="preserve"/>
            </a:r>
            <a:endParaRPr lang="en-US" sz="1200"/>
          </a:p>
          <a:p>
            <a:pPr marL="0" indent="0">
              <a:lnSpc>
                <a:spcPts val="1560"/>
              </a:lnSpc>
              <a:spcAft>
                <a:spcPts val="0"/>
              </a:spcAft>
              <a:buNone/>
            </a:pPr>
            <a:r>
              <a:rPr lang="en-US" sz="1200" b="0">
                <a:solidFill>
                  <a:srgbClr val="202b33"/>
                </a:solidFill>
                <a:latin typeface="Arial"/>
                <a:ea typeface="Arial"/>
                <a:cs typeface="Arial"/>
              </a:rPr>
              <a:t xml:space="preserve">Stage direction: Ask for two phrases a customer uses that never appear in the internal docs. Allow 30 seconds.</a:t>
            </a:r>
            <a:endParaRPr lang="en-US" sz="1200"/>
          </a:p>
          <a:p>
            <a:pPr marL="0" indent="0">
              <a:lnSpc>
                <a:spcPts val="1560"/>
              </a:lnSpc>
              <a:spcAft>
                <a:spcPts val="0"/>
              </a:spcAft>
              <a:buNone/>
            </a:pPr>
            <a:r>
              <a:rPr lang="en-US" sz="1200" b="0">
                <a:solidFill>
                  <a:srgbClr val="202b33"/>
                </a:solidFill>
                <a:latin typeface="Arial"/>
                <a:ea typeface="Arial"/>
                <a:cs typeface="Arial"/>
              </a:rPr>
              <a:t xml:space="preserve"/>
            </a:r>
            <a:endParaRPr lang="en-US" sz="1200"/>
          </a:p>
          <a:p>
            <a:pPr marL="0" indent="0">
              <a:lnSpc>
                <a:spcPts val="1560"/>
              </a:lnSpc>
              <a:spcAft>
                <a:spcPts val="0"/>
              </a:spcAft>
              <a:buNone/>
            </a:pPr>
            <a:r>
              <a:rPr lang="en-US" sz="1200" b="0">
                <a:solidFill>
                  <a:srgbClr val="202b33"/>
                </a:solidFill>
                <a:latin typeface="Arial"/>
                <a:ea typeface="Arial"/>
                <a:cs typeface="Arial"/>
              </a:rPr>
              <a:t xml:space="preserve">Source: Furnas, Landauer, Gomez, and Dumais (1987), [The vocabulary problem in human-system communication](https://doi.org/10.1145/32206.32212), Communications of the ACM 30(11), 964–971.</a:t>
            </a:r>
            <a:endParaRPr lang="en-US" sz="1200"/>
          </a:p>
          <a:p>
            <a:pPr marL="0" indent="0">
              <a:lnSpc>
                <a:spcPts val="1560"/>
              </a:lnSpc>
              <a:spcAft>
                <a:spcPts val="0"/>
              </a:spcAft>
              <a:buNone/>
            </a:pPr>
            <a:r>
              <a:rPr lang="en-US" sz="1200" b="0">
                <a:solidFill>
                  <a:srgbClr val="202b33"/>
                </a:solidFill>
                <a:latin typeface="Arial"/>
                <a:ea typeface="Arial"/>
                <a:cs typeface="Arial"/>
              </a:rPr>
              <a:t xml:space="preserve"/>
            </a:r>
            <a:endParaRPr lang="en-US" sz="1200"/>
          </a:p>
          <a:p>
            <a:pPr marL="0" indent="0">
              <a:lnSpc>
                <a:spcPts val="1560"/>
              </a:lnSpc>
              <a:spcAft>
                <a:spcPts val="0"/>
              </a:spcAft>
              <a:buNone/>
            </a:pPr>
            <a:r>
              <a:rPr lang="en-US" sz="1200" b="0">
                <a:solidFill>
                  <a:srgbClr val="202b33"/>
                </a:solidFill>
                <a:latin typeface="Arial"/>
                <a:ea typeface="Arial"/>
                <a:cs typeface="Arial"/>
              </a:rPr>
              <a:t xml:space="preserve"/>
            </a:r>
            <a:endParaRPr lang="en-US" sz="1200"/>
          </a:p>
        </p:txBody>
      </p:sp>
    </p:spTree>
  </p:cSld>
  <p:clrMapOvr>
    <a:masterClrMapping/>
  </p:clrMapOvr>
</p:notes>
</file>

<file path=ppt/notesSlides/notesSlide7.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Presenter notes"/>
          <p:cNvSpPr txBox="1"/>
          <p:nvPr>
            <p:ph type="body" idx="1"/>
          </p:nvPr>
        </p:nvSpPr>
        <p:spPr>
          <a:xfrm>
            <a:off x="457200" y="1428750"/>
            <a:ext cx="5715000" cy="6667500"/>
          </a:xfrm>
        </p:spPr>
        <p:txBody>
          <a:bodyPr/>
          <a:lstStyle/>
          <a:p>
            <a:pPr marL="0" indent="0">
              <a:lnSpc>
                <a:spcPts val="1560"/>
              </a:lnSpc>
              <a:spcAft>
                <a:spcPts val="0"/>
              </a:spcAft>
              <a:buNone/>
            </a:pPr>
            <a:r>
              <a:rPr lang="en-US" sz="1200" b="0">
                <a:solidFill>
                  <a:srgbClr val="202b33"/>
                </a:solidFill>
                <a:latin typeface="Arial"/>
                <a:ea typeface="Arial"/>
                <a:cs typeface="Arial"/>
              </a:rPr>
              <a:t xml:space="preserve">Chunking is passage retrieval</a:t>
            </a:r>
            <a:endParaRPr lang="en-US" sz="1200"/>
          </a:p>
          <a:p>
            <a:pPr marL="0" indent="0">
              <a:lnSpc>
                <a:spcPts val="1560"/>
              </a:lnSpc>
              <a:spcAft>
                <a:spcPts val="0"/>
              </a:spcAft>
              <a:buNone/>
            </a:pPr>
            <a:r>
              <a:rPr lang="en-US" sz="1200" b="0">
                <a:solidFill>
                  <a:srgbClr val="202b33"/>
                </a:solidFill>
                <a:latin typeface="Arial"/>
                <a:ea typeface="Arial"/>
                <a:cs typeface="Arial"/>
              </a:rPr>
              <a:t xml:space="preserve"/>
            </a:r>
            <a:endParaRPr lang="en-US" sz="1200"/>
          </a:p>
          <a:p>
            <a:pPr marL="0" indent="0">
              <a:lnSpc>
                <a:spcPts val="1560"/>
              </a:lnSpc>
              <a:spcAft>
                <a:spcPts val="0"/>
              </a:spcAft>
              <a:buNone/>
            </a:pPr>
            <a:r>
              <a:rPr lang="en-US" sz="1200" b="0">
                <a:solidFill>
                  <a:srgbClr val="202b33"/>
                </a:solidFill>
                <a:latin typeface="Arial"/>
                <a:ea typeface="Arial"/>
                <a:cs typeface="Arial"/>
              </a:rPr>
              <a:t xml:space="preserve">12:30 to 14:30 · build</a:t>
            </a:r>
            <a:endParaRPr lang="en-US" sz="1200"/>
          </a:p>
          <a:p>
            <a:pPr marL="0" indent="0">
              <a:lnSpc>
                <a:spcPts val="1560"/>
              </a:lnSpc>
              <a:spcAft>
                <a:spcPts val="0"/>
              </a:spcAft>
              <a:buNone/>
            </a:pPr>
            <a:r>
              <a:rPr lang="en-US" sz="1200" b="0">
                <a:solidFill>
                  <a:srgbClr val="202b33"/>
                </a:solidFill>
                <a:latin typeface="Arial"/>
                <a:ea typeface="Arial"/>
                <a:cs typeface="Arial"/>
              </a:rPr>
              <a:t xml:space="preserve"/>
            </a:r>
            <a:endParaRPr lang="en-US" sz="1200"/>
          </a:p>
          <a:p>
            <a:pPr marL="0" indent="0">
              <a:lnSpc>
                <a:spcPts val="1560"/>
              </a:lnSpc>
              <a:spcAft>
                <a:spcPts val="0"/>
              </a:spcAft>
              <a:buNone/>
            </a:pPr>
            <a:r>
              <a:rPr lang="en-US" sz="1200" b="0">
                <a:solidFill>
                  <a:srgbClr val="202b33"/>
                </a:solidFill>
                <a:latin typeface="Arial"/>
                <a:ea typeface="Arial"/>
                <a:cs typeface="Arial"/>
              </a:rPr>
              <a:t xml:space="preserve">&gt; Salton, Allan, Buckley · 1993</a:t>
            </a:r>
            <a:endParaRPr lang="en-US" sz="1200"/>
          </a:p>
          <a:p>
            <a:pPr marL="0" indent="0">
              <a:lnSpc>
                <a:spcPts val="1560"/>
              </a:lnSpc>
              <a:spcAft>
                <a:spcPts val="0"/>
              </a:spcAft>
              <a:buNone/>
            </a:pPr>
            <a:r>
              <a:rPr lang="en-US" sz="1200" b="0">
                <a:solidFill>
                  <a:srgbClr val="202b33"/>
                </a:solidFill>
                <a:latin typeface="Arial"/>
                <a:ea typeface="Arial"/>
                <a:cs typeface="Arial"/>
              </a:rPr>
              <a:t xml:space="preserve">&gt; The useful passage may cross your boundary</a:t>
            </a:r>
            <a:endParaRPr lang="en-US" sz="1200"/>
          </a:p>
          <a:p>
            <a:pPr marL="0" indent="0">
              <a:lnSpc>
                <a:spcPts val="1560"/>
              </a:lnSpc>
              <a:spcAft>
                <a:spcPts val="0"/>
              </a:spcAft>
              <a:buNone/>
            </a:pPr>
            <a:r>
              <a:rPr lang="en-US" sz="1200" b="0">
                <a:solidFill>
                  <a:srgbClr val="202b33"/>
                </a:solidFill>
                <a:latin typeface="Arial"/>
                <a:ea typeface="Arial"/>
                <a:cs typeface="Arial"/>
              </a:rPr>
              <a:t xml:space="preserve"/>
            </a:r>
            <a:endParaRPr lang="en-US" sz="1200"/>
          </a:p>
          <a:p>
            <a:pPr marL="0" indent="0">
              <a:lnSpc>
                <a:spcPts val="1560"/>
              </a:lnSpc>
              <a:spcAft>
                <a:spcPts val="0"/>
              </a:spcAft>
              <a:buNone/>
            </a:pPr>
            <a:r>
              <a:rPr lang="en-US" sz="1200" b="0">
                <a:solidFill>
                  <a:srgbClr val="202b33"/>
                </a:solidFill>
                <a:latin typeface="Arial"/>
                <a:ea typeface="Arial"/>
                <a:cs typeface="Arial"/>
              </a:rPr>
              <a:t xml:space="preserve">Passage retrieval was being studied before our chunk-size arguments acquired a token budget. Salton, Allan, and Buckley compared approaches in 1993. Chunk size was an open research question in 1993 and a forum thread in 2024. One of those had a control group.</a:t>
            </a:r>
            <a:endParaRPr lang="en-US" sz="1200"/>
          </a:p>
          <a:p>
            <a:pPr marL="0" indent="0">
              <a:lnSpc>
                <a:spcPts val="1560"/>
              </a:lnSpc>
              <a:spcAft>
                <a:spcPts val="0"/>
              </a:spcAft>
              <a:buNone/>
            </a:pPr>
            <a:r>
              <a:rPr lang="en-US" sz="1200" b="0">
                <a:solidFill>
                  <a:srgbClr val="202b33"/>
                </a:solidFill>
                <a:latin typeface="Arial"/>
                <a:ea typeface="Arial"/>
                <a:cs typeface="Arial"/>
              </a:rPr>
              <a:t xml:space="preserve"/>
            </a:r>
            <a:endParaRPr lang="en-US" sz="1200"/>
          </a:p>
          <a:p>
            <a:pPr marL="0" indent="0">
              <a:lnSpc>
                <a:spcPts val="1560"/>
              </a:lnSpc>
              <a:spcAft>
                <a:spcPts val="0"/>
              </a:spcAft>
              <a:buNone/>
            </a:pPr>
            <a:r>
              <a:rPr lang="en-US" sz="1200" b="0">
                <a:solidFill>
                  <a:srgbClr val="202b33"/>
                </a:solidFill>
                <a:latin typeface="Arial"/>
                <a:ea typeface="Arial"/>
                <a:cs typeface="Arial"/>
              </a:rPr>
              <a:t xml:space="preserve">Take a policy paragraph that says cancellation is allowed, followed by an exception for annual contracts. Split between those paragraphs and the first chunk becomes a very persuasive wrong answer. Make the chunk enormous and the exception competes with a page of irrelevant material.</a:t>
            </a:r>
            <a:endParaRPr lang="en-US" sz="1200"/>
          </a:p>
          <a:p>
            <a:pPr marL="0" indent="0">
              <a:lnSpc>
                <a:spcPts val="1560"/>
              </a:lnSpc>
              <a:spcAft>
                <a:spcPts val="0"/>
              </a:spcAft>
              <a:buNone/>
            </a:pPr>
            <a:r>
              <a:rPr lang="en-US" sz="1200" b="0">
                <a:solidFill>
                  <a:srgbClr val="202b33"/>
                </a:solidFill>
                <a:latin typeface="Arial"/>
                <a:ea typeface="Arial"/>
                <a:cs typeface="Arial"/>
              </a:rPr>
              <a:t xml:space="preserve"/>
            </a:r>
            <a:endParaRPr lang="en-US" sz="1200"/>
          </a:p>
          <a:p>
            <a:pPr marL="0" indent="0">
              <a:lnSpc>
                <a:spcPts val="1560"/>
              </a:lnSpc>
              <a:spcAft>
                <a:spcPts val="0"/>
              </a:spcAft>
              <a:buNone/>
            </a:pPr>
            <a:r>
              <a:rPr lang="en-US" sz="1200" b="0">
                <a:solidFill>
                  <a:srgbClr val="202b33"/>
                </a:solidFill>
                <a:latin typeface="Arial"/>
                <a:ea typeface="Arial"/>
                <a:cs typeface="Arial"/>
              </a:rPr>
              <a:t xml:space="preserve">The old papers do not contain the perfect chunk size for your current generator. They give you experimental questions. What unit are we retrieving? What counts as enough evidence? Are we measuring the passage, the document, or the answer produced from it? Change one and the score may mean something else.</a:t>
            </a:r>
            <a:endParaRPr lang="en-US" sz="1200"/>
          </a:p>
          <a:p>
            <a:pPr marL="0" indent="0">
              <a:lnSpc>
                <a:spcPts val="1560"/>
              </a:lnSpc>
              <a:spcAft>
                <a:spcPts val="0"/>
              </a:spcAft>
              <a:buNone/>
            </a:pPr>
            <a:r>
              <a:rPr lang="en-US" sz="1200" b="0">
                <a:solidFill>
                  <a:srgbClr val="202b33"/>
                </a:solidFill>
                <a:latin typeface="Arial"/>
                <a:ea typeface="Arial"/>
                <a:cs typeface="Arial"/>
              </a:rPr>
              <a:t xml:space="preserve"/>
            </a:r>
            <a:endParaRPr lang="en-US" sz="1200"/>
          </a:p>
          <a:p>
            <a:pPr marL="0" indent="0">
              <a:lnSpc>
                <a:spcPts val="1560"/>
              </a:lnSpc>
              <a:spcAft>
                <a:spcPts val="0"/>
              </a:spcAft>
              <a:buNone/>
            </a:pPr>
            <a:r>
              <a:rPr lang="en-US" sz="1200" b="0">
                <a:solidFill>
                  <a:srgbClr val="202b33"/>
                </a:solidFill>
                <a:latin typeface="Arial"/>
                <a:ea typeface="Arial"/>
                <a:cs typeface="Arial"/>
              </a:rPr>
              <a:t xml:space="preserve">Source: Salton, Allan, and Buckley (1993), [Approaches to passage retrieval in full text information systems](https://doi.org/10.1145/160688.160693), SIGIR, 49–58.</a:t>
            </a:r>
            <a:endParaRPr lang="en-US" sz="1200"/>
          </a:p>
          <a:p>
            <a:pPr marL="0" indent="0">
              <a:lnSpc>
                <a:spcPts val="1560"/>
              </a:lnSpc>
              <a:spcAft>
                <a:spcPts val="0"/>
              </a:spcAft>
              <a:buNone/>
            </a:pPr>
            <a:r>
              <a:rPr lang="en-US" sz="1200" b="0">
                <a:solidFill>
                  <a:srgbClr val="202b33"/>
                </a:solidFill>
                <a:latin typeface="Arial"/>
                <a:ea typeface="Arial"/>
                <a:cs typeface="Arial"/>
              </a:rPr>
              <a:t xml:space="preserve"/>
            </a:r>
            <a:endParaRPr lang="en-US" sz="1200"/>
          </a:p>
          <a:p>
            <a:pPr marL="0" indent="0">
              <a:lnSpc>
                <a:spcPts val="1560"/>
              </a:lnSpc>
              <a:spcAft>
                <a:spcPts val="0"/>
              </a:spcAft>
              <a:buNone/>
            </a:pPr>
            <a:r>
              <a:rPr lang="en-US" sz="1200" b="0">
                <a:solidFill>
                  <a:srgbClr val="202b33"/>
                </a:solidFill>
                <a:latin typeface="Arial"/>
                <a:ea typeface="Arial"/>
                <a:cs typeface="Arial"/>
              </a:rPr>
              <a:t xml:space="preserve"/>
            </a:r>
            <a:endParaRPr lang="en-US" sz="1200"/>
          </a:p>
        </p:txBody>
      </p:sp>
    </p:spTree>
  </p:cSld>
  <p:clrMapOvr>
    <a:masterClrMapping/>
  </p:clrMapOvr>
</p:notes>
</file>

<file path=ppt/notesSlides/notesSlide8.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Presenter notes"/>
          <p:cNvSpPr txBox="1"/>
          <p:nvPr>
            <p:ph type="body" idx="1"/>
          </p:nvPr>
        </p:nvSpPr>
        <p:spPr>
          <a:xfrm>
            <a:off x="457200" y="1428750"/>
            <a:ext cx="5715000" cy="6667500"/>
          </a:xfrm>
        </p:spPr>
        <p:txBody>
          <a:bodyPr/>
          <a:lstStyle/>
          <a:p>
            <a:pPr marL="0" indent="0">
              <a:lnSpc>
                <a:spcPts val="1560"/>
              </a:lnSpc>
              <a:spcAft>
                <a:spcPts val="0"/>
              </a:spcAft>
              <a:buNone/>
            </a:pPr>
            <a:r>
              <a:rPr lang="en-US" sz="1200" b="0">
                <a:solidFill>
                  <a:srgbClr val="202b33"/>
                </a:solidFill>
                <a:latin typeface="Arial"/>
                <a:ea typeface="Arial"/>
                <a:cs typeface="Arial"/>
              </a:rPr>
              <a:t xml:space="preserve">BM25 is still standing there</a:t>
            </a:r>
            <a:endParaRPr lang="en-US" sz="1200"/>
          </a:p>
          <a:p>
            <a:pPr marL="0" indent="0">
              <a:lnSpc>
                <a:spcPts val="1560"/>
              </a:lnSpc>
              <a:spcAft>
                <a:spcPts val="0"/>
              </a:spcAft>
              <a:buNone/>
            </a:pPr>
            <a:r>
              <a:rPr lang="en-US" sz="1200" b="0">
                <a:solidFill>
                  <a:srgbClr val="202b33"/>
                </a:solidFill>
                <a:latin typeface="Arial"/>
                <a:ea typeface="Arial"/>
                <a:cs typeface="Arial"/>
              </a:rPr>
              <a:t xml:space="preserve"/>
            </a:r>
            <a:endParaRPr lang="en-US" sz="1200"/>
          </a:p>
          <a:p>
            <a:pPr marL="0" indent="0">
              <a:lnSpc>
                <a:spcPts val="1560"/>
              </a:lnSpc>
              <a:spcAft>
                <a:spcPts val="0"/>
              </a:spcAft>
              <a:buNone/>
            </a:pPr>
            <a:r>
              <a:rPr lang="en-US" sz="1200" b="0">
                <a:solidFill>
                  <a:srgbClr val="202b33"/>
                </a:solidFill>
                <a:latin typeface="Arial"/>
                <a:ea typeface="Arial"/>
                <a:cs typeface="Arial"/>
              </a:rPr>
              <a:t xml:space="preserve">14:30 to 16:30 · build</a:t>
            </a:r>
            <a:endParaRPr lang="en-US" sz="1200"/>
          </a:p>
          <a:p>
            <a:pPr marL="0" indent="0">
              <a:lnSpc>
                <a:spcPts val="1560"/>
              </a:lnSpc>
              <a:spcAft>
                <a:spcPts val="0"/>
              </a:spcAft>
              <a:buNone/>
            </a:pPr>
            <a:r>
              <a:rPr lang="en-US" sz="1200" b="0">
                <a:solidFill>
                  <a:srgbClr val="202b33"/>
                </a:solidFill>
                <a:latin typeface="Arial"/>
                <a:ea typeface="Arial"/>
                <a:cs typeface="Arial"/>
              </a:rPr>
              <a:t xml:space="preserve"/>
            </a:r>
            <a:endParaRPr lang="en-US" sz="1200"/>
          </a:p>
          <a:p>
            <a:pPr marL="0" indent="0">
              <a:lnSpc>
                <a:spcPts val="1560"/>
              </a:lnSpc>
              <a:spcAft>
                <a:spcPts val="0"/>
              </a:spcAft>
              <a:buNone/>
            </a:pPr>
            <a:r>
              <a:rPr lang="en-US" sz="1200" b="0">
                <a:solidFill>
                  <a:srgbClr val="202b33"/>
                </a:solidFill>
                <a:latin typeface="Arial"/>
                <a:ea typeface="Arial"/>
                <a:cs typeface="Arial"/>
              </a:rPr>
              <a:t xml:space="preserve">&gt; BEIR, 2021: a robust lexical baseline</a:t>
            </a:r>
            <a:endParaRPr lang="en-US" sz="1200"/>
          </a:p>
          <a:p>
            <a:pPr marL="0" indent="0">
              <a:lnSpc>
                <a:spcPts val="1560"/>
              </a:lnSpc>
              <a:spcAft>
                <a:spcPts val="0"/>
              </a:spcAft>
              <a:buNone/>
            </a:pPr>
            <a:r>
              <a:rPr lang="en-US" sz="1200" b="0">
                <a:solidFill>
                  <a:srgbClr val="202b33"/>
                </a:solidFill>
                <a:latin typeface="Arial"/>
                <a:ea typeface="Arial"/>
                <a:cs typeface="Arial"/>
              </a:rPr>
              <a:t xml:space="preserve">&gt; Compare lexical, dense, and hybrid on your task</a:t>
            </a:r>
            <a:endParaRPr lang="en-US" sz="1200"/>
          </a:p>
          <a:p>
            <a:pPr marL="0" indent="0">
              <a:lnSpc>
                <a:spcPts val="1560"/>
              </a:lnSpc>
              <a:spcAft>
                <a:spcPts val="0"/>
              </a:spcAft>
              <a:buNone/>
            </a:pPr>
            <a:r>
              <a:rPr lang="en-US" sz="1200" b="0">
                <a:solidFill>
                  <a:srgbClr val="202b33"/>
                </a:solidFill>
                <a:latin typeface="Arial"/>
                <a:ea typeface="Arial"/>
                <a:cs typeface="Arial"/>
              </a:rPr>
              <a:t xml:space="preserve"/>
            </a:r>
            <a:endParaRPr lang="en-US" sz="1200"/>
          </a:p>
          <a:p>
            <a:pPr marL="0" indent="0">
              <a:lnSpc>
                <a:spcPts val="1560"/>
              </a:lnSpc>
              <a:spcAft>
                <a:spcPts val="0"/>
              </a:spcAft>
              <a:buNone/>
            </a:pPr>
            <a:r>
              <a:rPr lang="en-US" sz="1200" b="0">
                <a:solidFill>
                  <a:srgbClr val="202b33"/>
                </a:solidFill>
                <a:latin typeface="Arial"/>
                <a:ea typeface="Arial"/>
                <a:cs typeface="Arial"/>
              </a:rPr>
              <a:t xml:space="preserve">BEIR's 2021 experiments found BM25 a robust baseline across heterogeneous retrieval tasks. Reranking and late-interaction models performed best on average in that study, at higher computational cost.</a:t>
            </a:r>
            <a:endParaRPr lang="en-US" sz="1200"/>
          </a:p>
          <a:p>
            <a:pPr marL="0" indent="0">
              <a:lnSpc>
                <a:spcPts val="1560"/>
              </a:lnSpc>
              <a:spcAft>
                <a:spcPts val="0"/>
              </a:spcAft>
              <a:buNone/>
            </a:pPr>
            <a:r>
              <a:rPr lang="en-US" sz="1200" b="0">
                <a:solidFill>
                  <a:srgbClr val="202b33"/>
                </a:solidFill>
                <a:latin typeface="Arial"/>
                <a:ea typeface="Arial"/>
                <a:cs typeface="Arial"/>
              </a:rPr>
              <a:t xml:space="preserve"/>
            </a:r>
            <a:endParaRPr lang="en-US" sz="1200"/>
          </a:p>
          <a:p>
            <a:pPr marL="0" indent="0">
              <a:lnSpc>
                <a:spcPts val="1560"/>
              </a:lnSpc>
              <a:spcAft>
                <a:spcPts val="0"/>
              </a:spcAft>
              <a:buNone/>
            </a:pPr>
            <a:r>
              <a:rPr lang="en-US" sz="1200" b="0">
                <a:solidFill>
                  <a:srgbClr val="202b33"/>
                </a:solidFill>
                <a:latin typeface="Arial"/>
                <a:ea typeface="Arial"/>
                <a:cs typeface="Arial"/>
              </a:rPr>
              <a:t xml:space="preserve">That is a dated experimental result, not a claim that BM25 wins in 2026. It is a reason to include a cheap lexical baseline when measuring a new retriever. Exact identifiers and unfamiliar domain language are places where a semantic-looking system can disappoint you.</a:t>
            </a:r>
            <a:endParaRPr lang="en-US" sz="1200"/>
          </a:p>
          <a:p>
            <a:pPr marL="0" indent="0">
              <a:lnSpc>
                <a:spcPts val="1560"/>
              </a:lnSpc>
              <a:spcAft>
                <a:spcPts val="0"/>
              </a:spcAft>
              <a:buNone/>
            </a:pPr>
            <a:r>
              <a:rPr lang="en-US" sz="1200" b="0">
                <a:solidFill>
                  <a:srgbClr val="202b33"/>
                </a:solidFill>
                <a:latin typeface="Arial"/>
                <a:ea typeface="Arial"/>
                <a:cs typeface="Arial"/>
              </a:rPr>
              <a:t xml:space="preserve"/>
            </a:r>
            <a:endParaRPr lang="en-US" sz="1200"/>
          </a:p>
          <a:p>
            <a:pPr marL="0" indent="0">
              <a:lnSpc>
                <a:spcPts val="1560"/>
              </a:lnSpc>
              <a:spcAft>
                <a:spcPts val="0"/>
              </a:spcAft>
              <a:buNone/>
            </a:pPr>
            <a:r>
              <a:rPr lang="en-US" sz="1200" b="0">
                <a:solidFill>
                  <a:srgbClr val="202b33"/>
                </a:solidFill>
                <a:latin typeface="Arial"/>
                <a:ea typeface="Arial"/>
                <a:cs typeface="Arial"/>
              </a:rPr>
              <a:t xml:space="preserve">Lexical, dense, hybrid. Those are the three search methods in the trenchcoat, and the pitch usually names one of them. Run the comparison on the same corpus, queries, and judgments. Otherwise you have compared two demonstrations and called the difference a model improvement.</a:t>
            </a:r>
            <a:endParaRPr lang="en-US" sz="1200"/>
          </a:p>
          <a:p>
            <a:pPr marL="0" indent="0">
              <a:lnSpc>
                <a:spcPts val="1560"/>
              </a:lnSpc>
              <a:spcAft>
                <a:spcPts val="0"/>
              </a:spcAft>
              <a:buNone/>
            </a:pPr>
            <a:r>
              <a:rPr lang="en-US" sz="1200" b="0">
                <a:solidFill>
                  <a:srgbClr val="202b33"/>
                </a:solidFill>
                <a:latin typeface="Arial"/>
                <a:ea typeface="Arial"/>
                <a:cs typeface="Arial"/>
              </a:rPr>
              <a:t xml:space="preserve"/>
            </a:r>
            <a:endParaRPr lang="en-US" sz="1200"/>
          </a:p>
          <a:p>
            <a:pPr marL="0" indent="0">
              <a:lnSpc>
                <a:spcPts val="1560"/>
              </a:lnSpc>
              <a:spcAft>
                <a:spcPts val="0"/>
              </a:spcAft>
              <a:buNone/>
            </a:pPr>
            <a:r>
              <a:rPr lang="en-US" sz="1200" b="0">
                <a:solidFill>
                  <a:srgbClr val="202b33"/>
                </a:solidFill>
                <a:latin typeface="Arial"/>
                <a:ea typeface="Arial"/>
                <a:cs typeface="Arial"/>
              </a:rPr>
              <a:t xml:space="preserve">Source: Thakur et al. (2021), [BEIR: A Heterogeneous Benchmark for Zero-shot Evaluation of Information Retrieval Models](https://openreview.net/pdf?id=wCu6T5xFjeJ), NeurIPS Datasets and Benchmarks. This slide reports the 2021 experiment.</a:t>
            </a:r>
            <a:endParaRPr lang="en-US" sz="1200"/>
          </a:p>
          <a:p>
            <a:pPr marL="0" indent="0">
              <a:lnSpc>
                <a:spcPts val="1560"/>
              </a:lnSpc>
              <a:spcAft>
                <a:spcPts val="0"/>
              </a:spcAft>
              <a:buNone/>
            </a:pPr>
            <a:r>
              <a:rPr lang="en-US" sz="1200" b="0">
                <a:solidFill>
                  <a:srgbClr val="202b33"/>
                </a:solidFill>
                <a:latin typeface="Arial"/>
                <a:ea typeface="Arial"/>
                <a:cs typeface="Arial"/>
              </a:rPr>
              <a:t xml:space="preserve"/>
            </a:r>
            <a:endParaRPr lang="en-US" sz="1200"/>
          </a:p>
          <a:p>
            <a:pPr marL="0" indent="0">
              <a:lnSpc>
                <a:spcPts val="1560"/>
              </a:lnSpc>
              <a:spcAft>
                <a:spcPts val="0"/>
              </a:spcAft>
              <a:buNone/>
            </a:pPr>
            <a:r>
              <a:rPr lang="en-US" sz="1200" b="0">
                <a:solidFill>
                  <a:srgbClr val="202b33"/>
                </a:solidFill>
                <a:latin typeface="Arial"/>
                <a:ea typeface="Arial"/>
                <a:cs typeface="Arial"/>
              </a:rPr>
              <a:t xml:space="preserve"/>
            </a:r>
            <a:endParaRPr lang="en-US" sz="1200"/>
          </a:p>
        </p:txBody>
      </p:sp>
    </p:spTree>
  </p:cSld>
  <p:clrMapOvr>
    <a:masterClrMapping/>
  </p:clrMapOvr>
</p:notes>
</file>

<file path=ppt/notesSlides/notesSlide9.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Presenter notes"/>
          <p:cNvSpPr txBox="1"/>
          <p:nvPr>
            <p:ph type="body" idx="1"/>
          </p:nvPr>
        </p:nvSpPr>
        <p:spPr>
          <a:xfrm>
            <a:off x="457200" y="1428750"/>
            <a:ext cx="5715000" cy="6667500"/>
          </a:xfrm>
        </p:spPr>
        <p:txBody>
          <a:bodyPr/>
          <a:lstStyle/>
          <a:p>
            <a:pPr marL="0" indent="0">
              <a:lnSpc>
                <a:spcPts val="1560"/>
              </a:lnSpc>
              <a:spcAft>
                <a:spcPts val="0"/>
              </a:spcAft>
              <a:buNone/>
            </a:pPr>
            <a:r>
              <a:rPr lang="en-US" sz="1200" b="0">
                <a:solidFill>
                  <a:srgbClr val="202b33"/>
                </a:solidFill>
                <a:latin typeface="Arial"/>
                <a:ea typeface="Arial"/>
                <a:cs typeface="Arial"/>
              </a:rPr>
              <a:t xml:space="preserve">Judge these five documents</a:t>
            </a:r>
            <a:endParaRPr lang="en-US" sz="1200"/>
          </a:p>
          <a:p>
            <a:pPr marL="0" indent="0">
              <a:lnSpc>
                <a:spcPts val="1560"/>
              </a:lnSpc>
              <a:spcAft>
                <a:spcPts val="0"/>
              </a:spcAft>
              <a:buNone/>
            </a:pPr>
            <a:r>
              <a:rPr lang="en-US" sz="1200" b="0">
                <a:solidFill>
                  <a:srgbClr val="202b33"/>
                </a:solidFill>
                <a:latin typeface="Arial"/>
                <a:ea typeface="Arial"/>
                <a:cs typeface="Arial"/>
              </a:rPr>
              <a:t xml:space="preserve"/>
            </a:r>
            <a:endParaRPr lang="en-US" sz="1200"/>
          </a:p>
          <a:p>
            <a:pPr marL="0" indent="0">
              <a:lnSpc>
                <a:spcPts val="1560"/>
              </a:lnSpc>
              <a:spcAft>
                <a:spcPts val="0"/>
              </a:spcAft>
              <a:buNone/>
            </a:pPr>
            <a:r>
              <a:rPr lang="en-US" sz="1200" b="0">
                <a:solidFill>
                  <a:srgbClr val="202b33"/>
                </a:solidFill>
                <a:latin typeface="Arial"/>
                <a:ea typeface="Arial"/>
                <a:cs typeface="Arial"/>
              </a:rPr>
              <a:t xml:space="preserve">16:30 to 20:00 · build</a:t>
            </a:r>
            <a:endParaRPr lang="en-US" sz="1200"/>
          </a:p>
          <a:p>
            <a:pPr marL="0" indent="0">
              <a:lnSpc>
                <a:spcPts val="1560"/>
              </a:lnSpc>
              <a:spcAft>
                <a:spcPts val="0"/>
              </a:spcAft>
              <a:buNone/>
            </a:pPr>
            <a:r>
              <a:rPr lang="en-US" sz="1200" b="0">
                <a:solidFill>
                  <a:srgbClr val="202b33"/>
                </a:solidFill>
                <a:latin typeface="Arial"/>
                <a:ea typeface="Arial"/>
                <a:cs typeface="Arial"/>
              </a:rPr>
              <a:t xml:space="preserve"/>
            </a:r>
            <a:endParaRPr lang="en-US" sz="1200"/>
          </a:p>
          <a:p>
            <a:pPr marL="0" indent="0">
              <a:lnSpc>
                <a:spcPts val="1560"/>
              </a:lnSpc>
              <a:spcAft>
                <a:spcPts val="0"/>
              </a:spcAft>
              <a:buNone/>
            </a:pPr>
            <a:r>
              <a:rPr lang="en-US" sz="1200" b="0">
                <a:solidFill>
                  <a:srgbClr val="202b33"/>
                </a:solidFill>
                <a:latin typeface="Arial"/>
                <a:ea typeface="Arial"/>
                <a:cs typeface="Arial"/>
              </a:rPr>
              <a:t xml:space="preserve">&gt; A · current generic policy; 30-day notice</a:t>
            </a:r>
            <a:endParaRPr lang="en-US" sz="1200"/>
          </a:p>
          <a:p>
            <a:pPr marL="0" indent="0">
              <a:lnSpc>
                <a:spcPts val="1560"/>
              </a:lnSpc>
              <a:spcAft>
                <a:spcPts val="0"/>
              </a:spcAft>
              <a:buNone/>
            </a:pPr>
            <a:r>
              <a:rPr lang="en-US" sz="1200" b="0">
                <a:solidFill>
                  <a:srgbClr val="202b33"/>
                </a:solidFill>
                <a:latin typeface="Arial"/>
                <a:ea typeface="Arial"/>
                <a:cs typeface="Arial"/>
              </a:rPr>
              <a:t xml:space="preserve">&gt; B · signed Acme addendum; “see Schedule R”</a:t>
            </a:r>
            <a:endParaRPr lang="en-US" sz="1200"/>
          </a:p>
          <a:p>
            <a:pPr marL="0" indent="0">
              <a:lnSpc>
                <a:spcPts val="1560"/>
              </a:lnSpc>
              <a:spcAft>
                <a:spcPts val="0"/>
              </a:spcAft>
              <a:buNone/>
            </a:pPr>
            <a:r>
              <a:rPr lang="en-US" sz="1200" b="0">
                <a:solidFill>
                  <a:srgbClr val="202b33"/>
                </a:solidFill>
                <a:latin typeface="Arial"/>
                <a:ea typeface="Arial"/>
                <a:cs typeface="Arial"/>
              </a:rPr>
              <a:t xml:space="preserve">&gt; C · expired Acme terms; immediate cancellation</a:t>
            </a:r>
            <a:endParaRPr lang="en-US" sz="1200"/>
          </a:p>
          <a:p>
            <a:pPr marL="0" indent="0">
              <a:lnSpc>
                <a:spcPts val="1560"/>
              </a:lnSpc>
              <a:spcAft>
                <a:spcPts val="0"/>
              </a:spcAft>
              <a:buNone/>
            </a:pPr>
            <a:r>
              <a:rPr lang="en-US" sz="1200" b="0">
                <a:solidFill>
                  <a:srgbClr val="202b33"/>
                </a:solidFill>
                <a:latin typeface="Arial"/>
                <a:ea typeface="Arial"/>
                <a:cs typeface="Arial"/>
              </a:rPr>
              <a:t xml:space="preserve">&gt; D · current terms for another customer</a:t>
            </a:r>
            <a:endParaRPr lang="en-US" sz="1200"/>
          </a:p>
          <a:p>
            <a:pPr marL="0" indent="0">
              <a:lnSpc>
                <a:spcPts val="1560"/>
              </a:lnSpc>
              <a:spcAft>
                <a:spcPts val="0"/>
              </a:spcAft>
              <a:buNone/>
            </a:pPr>
            <a:r>
              <a:rPr lang="en-US" sz="1200" b="0">
                <a:solidFill>
                  <a:srgbClr val="202b33"/>
                </a:solidFill>
                <a:latin typeface="Arial"/>
                <a:ea typeface="Arial"/>
                <a:cs typeface="Arial"/>
              </a:rPr>
              <a:t xml:space="preserve">&gt; E · support note; “probably immediate”</a:t>
            </a:r>
            <a:endParaRPr lang="en-US" sz="1200"/>
          </a:p>
          <a:p>
            <a:pPr marL="0" indent="0">
              <a:lnSpc>
                <a:spcPts val="1560"/>
              </a:lnSpc>
              <a:spcAft>
                <a:spcPts val="0"/>
              </a:spcAft>
              <a:buNone/>
            </a:pPr>
            <a:r>
              <a:rPr lang="en-US" sz="1200" b="0">
                <a:solidFill>
                  <a:srgbClr val="202b33"/>
                </a:solidFill>
                <a:latin typeface="Arial"/>
                <a:ea typeface="Arial"/>
                <a:cs typeface="Arial"/>
              </a:rPr>
              <a:t xml:space="preserve"/>
            </a:r>
            <a:endParaRPr lang="en-US" sz="1200"/>
          </a:p>
          <a:p>
            <a:pPr marL="0" indent="0">
              <a:lnSpc>
                <a:spcPts val="1560"/>
              </a:lnSpc>
              <a:spcAft>
                <a:spcPts val="0"/>
              </a:spcAft>
              <a:buNone/>
            </a:pPr>
            <a:r>
              <a:rPr lang="en-US" sz="1200" b="0">
                <a:solidFill>
                  <a:srgbClr val="202b33"/>
                </a:solidFill>
                <a:latin typeface="Arial"/>
                <a:ea typeface="Arial"/>
                <a:cs typeface="Arial"/>
              </a:rPr>
              <a:t xml:space="preserve">Acme asks whether it can cancel today without a fee. Which documents belong in the evidence supplied to answer it? Work in pairs for sixty seconds.</a:t>
            </a:r>
            <a:endParaRPr lang="en-US" sz="1200"/>
          </a:p>
          <a:p>
            <a:pPr marL="0" indent="0">
              <a:lnSpc>
                <a:spcPts val="1560"/>
              </a:lnSpc>
              <a:spcAft>
                <a:spcPts val="0"/>
              </a:spcAft>
              <a:buNone/>
            </a:pPr>
            <a:r>
              <a:rPr lang="en-US" sz="1200" b="0">
                <a:solidFill>
                  <a:srgbClr val="202b33"/>
                </a:solidFill>
                <a:latin typeface="Arial"/>
                <a:ea typeface="Arial"/>
                <a:cs typeface="Arial"/>
              </a:rPr>
              <a:t xml:space="preserve"/>
            </a:r>
            <a:endParaRPr lang="en-US" sz="1200"/>
          </a:p>
          <a:p>
            <a:pPr marL="0" indent="0">
              <a:lnSpc>
                <a:spcPts val="1560"/>
              </a:lnSpc>
              <a:spcAft>
                <a:spcPts val="0"/>
              </a:spcAft>
              <a:buNone/>
            </a:pPr>
            <a:r>
              <a:rPr lang="en-US" sz="1200" b="0">
                <a:solidFill>
                  <a:srgbClr val="202b33"/>
                </a:solidFill>
                <a:latin typeface="Arial"/>
                <a:ea typeface="Arial"/>
                <a:cs typeface="Arial"/>
              </a:rPr>
              <a:t xml:space="preserve">A is current but generic. B is signed and specific, but refers to a schedule we have not supplied. C has the answer we might like and is expired. D is about somebody else. E is an employee's guess.</a:t>
            </a:r>
            <a:endParaRPr lang="en-US" sz="1200"/>
          </a:p>
          <a:p>
            <a:pPr marL="0" indent="0">
              <a:lnSpc>
                <a:spcPts val="1560"/>
              </a:lnSpc>
              <a:spcAft>
                <a:spcPts val="0"/>
              </a:spcAft>
              <a:buNone/>
            </a:pPr>
            <a:r>
              <a:rPr lang="en-US" sz="1200" b="0">
                <a:solidFill>
                  <a:srgbClr val="202b33"/>
                </a:solidFill>
                <a:latin typeface="Arial"/>
                <a:ea typeface="Arial"/>
                <a:cs typeface="Arial"/>
              </a:rPr>
              <a:t xml:space="preserve"/>
            </a:r>
            <a:endParaRPr lang="en-US" sz="1200"/>
          </a:p>
          <a:p>
            <a:pPr marL="0" indent="0">
              <a:lnSpc>
                <a:spcPts val="1560"/>
              </a:lnSpc>
              <a:spcAft>
                <a:spcPts val="0"/>
              </a:spcAft>
              <a:buNone/>
            </a:pPr>
            <a:r>
              <a:rPr lang="en-US" sz="1200" b="0">
                <a:solidFill>
                  <a:srgbClr val="202b33"/>
                </a:solidFill>
                <a:latin typeface="Arial"/>
                <a:ea typeface="Arial"/>
                <a:cs typeface="Arial"/>
              </a:rPr>
              <a:t xml:space="preserve">Now compare answers. You just made relevance judgments. Relevant to the topic, applicable to this customer, authoritative, and sufficient to answer are different criteria. If the room agrees perfectly, change the question from "useful evidence" to "enough to authorize cancellation" and compare again. Do not manufacture disagreement for the punchline.</a:t>
            </a:r>
            <a:endParaRPr lang="en-US" sz="1200"/>
          </a:p>
          <a:p>
            <a:pPr marL="0" indent="0">
              <a:lnSpc>
                <a:spcPts val="1560"/>
              </a:lnSpc>
              <a:spcAft>
                <a:spcPts val="0"/>
              </a:spcAft>
              <a:buNone/>
            </a:pPr>
            <a:r>
              <a:rPr lang="en-US" sz="1200" b="0">
                <a:solidFill>
                  <a:srgbClr val="202b33"/>
                </a:solidFill>
                <a:latin typeface="Arial"/>
                <a:ea typeface="Arial"/>
                <a:cs typeface="Arial"/>
              </a:rPr>
              <a:t xml:space="preserve"/>
            </a:r>
            <a:endParaRPr lang="en-US" sz="1200"/>
          </a:p>
          <a:p>
            <a:pPr marL="0" indent="0">
              <a:lnSpc>
                <a:spcPts val="1560"/>
              </a:lnSpc>
              <a:spcAft>
                <a:spcPts val="0"/>
              </a:spcAft>
              <a:buNone/>
            </a:pPr>
            <a:r>
              <a:rPr lang="en-US" sz="1200" b="0">
                <a:solidFill>
                  <a:srgbClr val="202b33"/>
                </a:solidFill>
                <a:latin typeface="Arial"/>
                <a:ea typeface="Arial"/>
                <a:cs typeface="Arial"/>
              </a:rPr>
              <a:t xml:space="preserve">Stage direction: Give 60 seconds in pairs and collect two judgments with reasons. Do not reveal the missing schedule until slide 10. Use contracts.md for the full synthetic fixture.</a:t>
            </a:r>
            <a:endParaRPr lang="en-US" sz="1200"/>
          </a:p>
          <a:p>
            <a:pPr marL="0" indent="0">
              <a:lnSpc>
                <a:spcPts val="1560"/>
              </a:lnSpc>
              <a:spcAft>
                <a:spcPts val="0"/>
              </a:spcAft>
              <a:buNone/>
            </a:pPr>
            <a:r>
              <a:rPr lang="en-US" sz="1200" b="0">
                <a:solidFill>
                  <a:srgbClr val="202b33"/>
                </a:solidFill>
                <a:latin typeface="Arial"/>
                <a:ea typeface="Arial"/>
                <a:cs typeface="Arial"/>
              </a:rPr>
              <a:t xml:space="preserve"/>
            </a:r>
            <a:endParaRPr lang="en-US" sz="1200"/>
          </a:p>
          <a:p>
            <a:pPr marL="0" indent="0">
              <a:lnSpc>
                <a:spcPts val="1560"/>
              </a:lnSpc>
              <a:spcAft>
                <a:spcPts val="0"/>
              </a:spcAft>
              <a:buNone/>
            </a:pPr>
            <a:r>
              <a:rPr lang="en-US" sz="1200" b="0">
                <a:solidFill>
                  <a:srgbClr val="202b33"/>
                </a:solidFill>
                <a:latin typeface="Arial"/>
                <a:ea typeface="Arial"/>
                <a:cs typeface="Arial"/>
              </a:rPr>
              <a:t xml:space="preserve"/>
            </a:r>
            <a:endParaRPr lang="en-US" sz="1200"/>
          </a:p>
        </p:txBody>
      </p:sp>
    </p:spTree>
  </p:cSld>
  <p:clrMapOvr>
    <a:masterClrMapping/>
  </p:clrMapOvr>
</p:notes>
</file>

<file path=ppt/notesSlides/notesSlide10.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Presenter notes"/>
          <p:cNvSpPr txBox="1"/>
          <p:nvPr>
            <p:ph type="body" idx="1"/>
          </p:nvPr>
        </p:nvSpPr>
        <p:spPr>
          <a:xfrm>
            <a:off x="457200" y="1428750"/>
            <a:ext cx="5715000" cy="6667500"/>
          </a:xfrm>
        </p:spPr>
        <p:txBody>
          <a:bodyPr/>
          <a:lstStyle/>
          <a:p>
            <a:pPr marL="0" indent="0">
              <a:lnSpc>
                <a:spcPts val="1560"/>
              </a:lnSpc>
              <a:spcAft>
                <a:spcPts val="0"/>
              </a:spcAft>
              <a:buNone/>
            </a:pPr>
            <a:r>
              <a:rPr lang="en-US" sz="1200" b="0">
                <a:solidFill>
                  <a:srgbClr val="202b33"/>
                </a:solidFill>
                <a:latin typeface="Arial"/>
                <a:ea typeface="Arial"/>
                <a:cs typeface="Arial"/>
              </a:rPr>
              <a:t xml:space="preserve">Cranfield, Bedfordshire, 1966</a:t>
            </a:r>
            <a:endParaRPr lang="en-US" sz="1200"/>
          </a:p>
          <a:p>
            <a:pPr marL="0" indent="0">
              <a:lnSpc>
                <a:spcPts val="1560"/>
              </a:lnSpc>
              <a:spcAft>
                <a:spcPts val="0"/>
              </a:spcAft>
              <a:buNone/>
            </a:pPr>
            <a:r>
              <a:rPr lang="en-US" sz="1200" b="0">
                <a:solidFill>
                  <a:srgbClr val="202b33"/>
                </a:solidFill>
                <a:latin typeface="Arial"/>
                <a:ea typeface="Arial"/>
                <a:cs typeface="Arial"/>
              </a:rPr>
              <a:t xml:space="preserve"/>
            </a:r>
            <a:endParaRPr lang="en-US" sz="1200"/>
          </a:p>
          <a:p>
            <a:pPr marL="0" indent="0">
              <a:lnSpc>
                <a:spcPts val="1560"/>
              </a:lnSpc>
              <a:spcAft>
                <a:spcPts val="0"/>
              </a:spcAft>
              <a:buNone/>
            </a:pPr>
            <a:r>
              <a:rPr lang="en-US" sz="1200" b="0">
                <a:solidFill>
                  <a:srgbClr val="202b33"/>
                </a:solidFill>
                <a:latin typeface="Arial"/>
                <a:ea typeface="Arial"/>
                <a:cs typeface="Arial"/>
              </a:rPr>
              <a:t xml:space="preserve">20:00 to 23:00 · build</a:t>
            </a:r>
            <a:endParaRPr lang="en-US" sz="1200"/>
          </a:p>
          <a:p>
            <a:pPr marL="0" indent="0">
              <a:lnSpc>
                <a:spcPts val="1560"/>
              </a:lnSpc>
              <a:spcAft>
                <a:spcPts val="0"/>
              </a:spcAft>
              <a:buNone/>
            </a:pPr>
            <a:r>
              <a:rPr lang="en-US" sz="1200" b="0">
                <a:solidFill>
                  <a:srgbClr val="202b33"/>
                </a:solidFill>
                <a:latin typeface="Arial"/>
                <a:ea typeface="Arial"/>
                <a:cs typeface="Arial"/>
              </a:rPr>
              <a:t xml:space="preserve"/>
            </a:r>
            <a:endParaRPr lang="en-US" sz="1200"/>
          </a:p>
          <a:p>
            <a:pPr marL="0" indent="0">
              <a:lnSpc>
                <a:spcPts val="1560"/>
              </a:lnSpc>
              <a:spcAft>
                <a:spcPts val="0"/>
              </a:spcAft>
              <a:buNone/>
            </a:pPr>
            <a:r>
              <a:rPr lang="en-US" sz="1200" b="0">
                <a:solidFill>
                  <a:srgbClr val="202b33"/>
                </a:solidFill>
                <a:latin typeface="Arial"/>
                <a:ea typeface="Arial"/>
                <a:cs typeface="Arial"/>
              </a:rPr>
              <a:t xml:space="preserve">![Cranfield, Bedfordshire, 1966](../../../../public/talks/assets/retrieval/history.svg)</a:t>
            </a:r>
            <a:endParaRPr lang="en-US" sz="1200"/>
          </a:p>
          <a:p>
            <a:pPr marL="0" indent="0">
              <a:lnSpc>
                <a:spcPts val="1560"/>
              </a:lnSpc>
              <a:spcAft>
                <a:spcPts val="0"/>
              </a:spcAft>
              <a:buNone/>
            </a:pPr>
            <a:r>
              <a:rPr lang="en-US" sz="1200" b="0">
                <a:solidFill>
                  <a:srgbClr val="202b33"/>
                </a:solidFill>
                <a:latin typeface="Arial"/>
                <a:ea typeface="Arial"/>
                <a:cs typeface="Arial"/>
              </a:rPr>
              <a:t xml:space="preserve"/>
            </a:r>
            <a:endParaRPr lang="en-US" sz="1200"/>
          </a:p>
          <a:p>
            <a:pPr marL="0" indent="0">
              <a:lnSpc>
                <a:spcPts val="1560"/>
              </a:lnSpc>
              <a:spcAft>
                <a:spcPts val="0"/>
              </a:spcAft>
              <a:buNone/>
            </a:pPr>
            <a:r>
              <a:rPr lang="en-US" sz="1200" b="0">
                <a:solidFill>
                  <a:srgbClr val="202b33"/>
                </a:solidFill>
                <a:latin typeface="Arial"/>
                <a:ea typeface="Arial"/>
                <a:cs typeface="Arial"/>
              </a:rPr>
              <a:t xml:space="preserve">&gt; Corpus + queries + relevance judgments</a:t>
            </a:r>
            <a:endParaRPr lang="en-US" sz="1200"/>
          </a:p>
          <a:p>
            <a:pPr marL="0" indent="0">
              <a:lnSpc>
                <a:spcPts val="1560"/>
              </a:lnSpc>
              <a:spcAft>
                <a:spcPts val="0"/>
              </a:spcAft>
              <a:buNone/>
            </a:pPr>
            <a:r>
              <a:rPr lang="en-US" sz="1200" b="0">
                <a:solidFill>
                  <a:srgbClr val="202b33"/>
                </a:solidFill>
                <a:latin typeface="Arial"/>
                <a:ea typeface="Arial"/>
                <a:cs typeface="Arial"/>
              </a:rPr>
              <a:t xml:space="preserve">&gt; 1966 → 2026 = 60 years</a:t>
            </a:r>
            <a:endParaRPr lang="en-US" sz="1200"/>
          </a:p>
          <a:p>
            <a:pPr marL="0" indent="0">
              <a:lnSpc>
                <a:spcPts val="1560"/>
              </a:lnSpc>
              <a:spcAft>
                <a:spcPts val="0"/>
              </a:spcAft>
              <a:buNone/>
            </a:pPr>
            <a:r>
              <a:rPr lang="en-US" sz="1200" b="0">
                <a:solidFill>
                  <a:srgbClr val="202b33"/>
                </a:solidFill>
                <a:latin typeface="Arial"/>
                <a:ea typeface="Arial"/>
                <a:cs typeface="Arial"/>
              </a:rPr>
              <a:t xml:space="preserve"/>
            </a:r>
            <a:endParaRPr lang="en-US" sz="1200"/>
          </a:p>
          <a:p>
            <a:pPr marL="0" indent="0">
              <a:lnSpc>
                <a:spcPts val="1560"/>
              </a:lnSpc>
              <a:spcAft>
                <a:spcPts val="0"/>
              </a:spcAft>
              <a:buNone/>
            </a:pPr>
            <a:r>
              <a:rPr lang="en-US" sz="1200" b="0">
                <a:solidFill>
                  <a:srgbClr val="202b33"/>
                </a:solidFill>
                <a:latin typeface="Arial"/>
                <a:ea typeface="Arial"/>
                <a:cs typeface="Arial"/>
              </a:rPr>
              <a:t xml:space="preserve">Cleverdon, Mills, and Keen's Cranfield report is dated 1966. Fix a document collection, define questions, judge relevance, and compare systems under the same conditions. Sixty years later, that is a recognizable shape for an eval harness.</a:t>
            </a:r>
            <a:endParaRPr lang="en-US" sz="1200"/>
          </a:p>
          <a:p>
            <a:pPr marL="0" indent="0">
              <a:lnSpc>
                <a:spcPts val="1560"/>
              </a:lnSpc>
              <a:spcAft>
                <a:spcPts val="0"/>
              </a:spcAft>
              <a:buNone/>
            </a:pPr>
            <a:r>
              <a:rPr lang="en-US" sz="1200" b="0">
                <a:solidFill>
                  <a:srgbClr val="202b33"/>
                </a:solidFill>
                <a:latin typeface="Arial"/>
                <a:ea typeface="Arial"/>
                <a:cs typeface="Arial"/>
              </a:rPr>
              <a:t xml:space="preserve"/>
            </a:r>
            <a:endParaRPr lang="en-US" sz="1200"/>
          </a:p>
          <a:p>
            <a:pPr marL="0" indent="0">
              <a:lnSpc>
                <a:spcPts val="1560"/>
              </a:lnSpc>
              <a:spcAft>
                <a:spcPts val="0"/>
              </a:spcAft>
              <a:buNone/>
            </a:pPr>
            <a:r>
              <a:rPr lang="en-US" sz="1200" b="0">
                <a:solidFill>
                  <a:srgbClr val="202b33"/>
                </a:solidFill>
                <a:latin typeface="Arial"/>
                <a:ea typeface="Arial"/>
                <a:cs typeface="Arial"/>
              </a:rPr>
              <a:t xml:space="preserve">The name is the Cranfield paradigm. It gives you a controlled comparison. It also forces choices about who writes the questions, who judges the evidence, and what the collection represents.</a:t>
            </a:r>
            <a:endParaRPr lang="en-US" sz="1200"/>
          </a:p>
          <a:p>
            <a:pPr marL="0" indent="0">
              <a:lnSpc>
                <a:spcPts val="1560"/>
              </a:lnSpc>
              <a:spcAft>
                <a:spcPts val="0"/>
              </a:spcAft>
              <a:buNone/>
            </a:pPr>
            <a:r>
              <a:rPr lang="en-US" sz="1200" b="0">
                <a:solidFill>
                  <a:srgbClr val="202b33"/>
                </a:solidFill>
                <a:latin typeface="Arial"/>
                <a:ea typeface="Arial"/>
                <a:cs typeface="Arial"/>
              </a:rPr>
              <a:t xml:space="preserve"/>
            </a:r>
            <a:endParaRPr lang="en-US" sz="1200"/>
          </a:p>
          <a:p>
            <a:pPr marL="0" indent="0">
              <a:lnSpc>
                <a:spcPts val="1560"/>
              </a:lnSpc>
              <a:spcAft>
                <a:spcPts val="0"/>
              </a:spcAft>
              <a:buNone/>
            </a:pPr>
            <a:r>
              <a:rPr lang="en-US" sz="1200" b="0">
                <a:solidFill>
                  <a:srgbClr val="202b33"/>
                </a:solidFill>
                <a:latin typeface="Arial"/>
                <a:ea typeface="Arial"/>
                <a:cs typeface="Arial"/>
              </a:rPr>
              <a:t xml:space="preserve">Your golden dataset is a test collection with a flattering filename. Write down its collection protocol. If it consists of whatever your first retriever happened to find, the next slide is about you.</a:t>
            </a:r>
            <a:endParaRPr lang="en-US" sz="1200"/>
          </a:p>
          <a:p>
            <a:pPr marL="0" indent="0">
              <a:lnSpc>
                <a:spcPts val="1560"/>
              </a:lnSpc>
              <a:spcAft>
                <a:spcPts val="0"/>
              </a:spcAft>
              <a:buNone/>
            </a:pPr>
            <a:r>
              <a:rPr lang="en-US" sz="1200" b="0">
                <a:solidFill>
                  <a:srgbClr val="202b33"/>
                </a:solidFill>
                <a:latin typeface="Arial"/>
                <a:ea typeface="Arial"/>
                <a:cs typeface="Arial"/>
              </a:rPr>
              <a:t xml:space="preserve"/>
            </a:r>
            <a:endParaRPr lang="en-US" sz="1200"/>
          </a:p>
          <a:p>
            <a:pPr marL="0" indent="0">
              <a:lnSpc>
                <a:spcPts val="1560"/>
              </a:lnSpc>
              <a:spcAft>
                <a:spcPts val="0"/>
              </a:spcAft>
              <a:buNone/>
            </a:pPr>
            <a:r>
              <a:rPr lang="en-US" sz="1200" b="0">
                <a:solidFill>
                  <a:srgbClr val="202b33"/>
                </a:solidFill>
                <a:latin typeface="Arial"/>
                <a:ea typeface="Arial"/>
                <a:cs typeface="Arial"/>
              </a:rPr>
              <a:t xml:space="preserve">Source: Cleverdon, Mills, and Keen (1966), [Factors Determining the Performance of Indexing Systems, Volume I, Design, Part 2, front matter](https://sigir.org/files/museum/Factors%20Determining%20the%20Performance%20of%20Indexing%20Systems%20Volume%20I.%20Design%20-%20Part%202.%20Appendices/pdfs/frontmatter.pdf).</a:t>
            </a:r>
            <a:endParaRPr lang="en-US" sz="1200"/>
          </a:p>
          <a:p>
            <a:pPr marL="0" indent="0">
              <a:lnSpc>
                <a:spcPts val="1560"/>
              </a:lnSpc>
              <a:spcAft>
                <a:spcPts val="0"/>
              </a:spcAft>
              <a:buNone/>
            </a:pPr>
            <a:r>
              <a:rPr lang="en-US" sz="1200" b="0">
                <a:solidFill>
                  <a:srgbClr val="202b33"/>
                </a:solidFill>
                <a:latin typeface="Arial"/>
                <a:ea typeface="Arial"/>
                <a:cs typeface="Arial"/>
              </a:rPr>
              <a:t xml:space="preserve"/>
            </a:r>
            <a:endParaRPr lang="en-US" sz="1200"/>
          </a:p>
          <a:p>
            <a:pPr marL="0" indent="0">
              <a:lnSpc>
                <a:spcPts val="1560"/>
              </a:lnSpc>
              <a:spcAft>
                <a:spcPts val="0"/>
              </a:spcAft>
              <a:buNone/>
            </a:pPr>
            <a:r>
              <a:rPr lang="en-US" sz="1200" b="0">
                <a:solidFill>
                  <a:srgbClr val="202b33"/>
                </a:solidFill>
                <a:latin typeface="Arial"/>
                <a:ea typeface="Arial"/>
                <a:cs typeface="Arial"/>
              </a:rPr>
              <a:t xml:space="preserve"/>
            </a:r>
            <a:endParaRPr lang="en-US" sz="1200"/>
          </a:p>
        </p:txBody>
      </p:sp>
    </p:spTree>
  </p:cSld>
  <p:clrMapOvr>
    <a:masterClrMapping/>
  </p:clrMapOvr>
</p:notes>
</file>

<file path=ppt/notesSlides/notesSlide11.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Presenter notes"/>
          <p:cNvSpPr txBox="1"/>
          <p:nvPr>
            <p:ph type="body" idx="1"/>
          </p:nvPr>
        </p:nvSpPr>
        <p:spPr>
          <a:xfrm>
            <a:off x="457200" y="1428750"/>
            <a:ext cx="5715000" cy="6667500"/>
          </a:xfrm>
        </p:spPr>
        <p:txBody>
          <a:bodyPr/>
          <a:lstStyle/>
          <a:p>
            <a:pPr marL="0" indent="0">
              <a:lnSpc>
                <a:spcPts val="1560"/>
              </a:lnSpc>
              <a:spcAft>
                <a:spcPts val="0"/>
              </a:spcAft>
              <a:buNone/>
            </a:pPr>
            <a:r>
              <a:rPr lang="en-US" sz="1200" b="0">
                <a:solidFill>
                  <a:srgbClr val="202b33"/>
                </a:solidFill>
                <a:latin typeface="Arial"/>
                <a:ea typeface="Arial"/>
                <a:cs typeface="Arial"/>
              </a:rPr>
              <a:t xml:space="preserve">Fool's Golden Dataset</a:t>
            </a:r>
            <a:endParaRPr lang="en-US" sz="1200"/>
          </a:p>
          <a:p>
            <a:pPr marL="0" indent="0">
              <a:lnSpc>
                <a:spcPts val="1560"/>
              </a:lnSpc>
              <a:spcAft>
                <a:spcPts val="0"/>
              </a:spcAft>
              <a:buNone/>
            </a:pPr>
            <a:r>
              <a:rPr lang="en-US" sz="1200" b="0">
                <a:solidFill>
                  <a:srgbClr val="202b33"/>
                </a:solidFill>
                <a:latin typeface="Arial"/>
                <a:ea typeface="Arial"/>
                <a:cs typeface="Arial"/>
              </a:rPr>
              <a:t xml:space="preserve"/>
            </a:r>
            <a:endParaRPr lang="en-US" sz="1200"/>
          </a:p>
          <a:p>
            <a:pPr marL="0" indent="0">
              <a:lnSpc>
                <a:spcPts val="1560"/>
              </a:lnSpc>
              <a:spcAft>
                <a:spcPts val="0"/>
              </a:spcAft>
              <a:buNone/>
            </a:pPr>
            <a:r>
              <a:rPr lang="en-US" sz="1200" b="0">
                <a:solidFill>
                  <a:srgbClr val="202b33"/>
                </a:solidFill>
                <a:latin typeface="Arial"/>
                <a:ea typeface="Arial"/>
                <a:cs typeface="Arial"/>
              </a:rPr>
              <a:t xml:space="preserve">23:00 to 27:00 · peak</a:t>
            </a:r>
            <a:endParaRPr lang="en-US" sz="1200"/>
          </a:p>
          <a:p>
            <a:pPr marL="0" indent="0">
              <a:lnSpc>
                <a:spcPts val="1560"/>
              </a:lnSpc>
              <a:spcAft>
                <a:spcPts val="0"/>
              </a:spcAft>
              <a:buNone/>
            </a:pPr>
            <a:r>
              <a:rPr lang="en-US" sz="1200" b="0">
                <a:solidFill>
                  <a:srgbClr val="202b33"/>
                </a:solidFill>
                <a:latin typeface="Arial"/>
                <a:ea typeface="Arial"/>
                <a:cs typeface="Arial"/>
              </a:rPr>
              <a:t xml:space="preserve"/>
            </a:r>
            <a:endParaRPr lang="en-US" sz="1200"/>
          </a:p>
          <a:p>
            <a:pPr marL="0" indent="0">
              <a:lnSpc>
                <a:spcPts val="1560"/>
              </a:lnSpc>
              <a:spcAft>
                <a:spcPts val="0"/>
              </a:spcAft>
              <a:buNone/>
            </a:pPr>
            <a:r>
              <a:rPr lang="en-US" sz="1200" b="0">
                <a:solidFill>
                  <a:srgbClr val="202b33"/>
                </a:solidFill>
                <a:latin typeface="Arial"/>
                <a:ea typeface="Arial"/>
                <a:cs typeface="Arial"/>
              </a:rPr>
              <a:t xml:space="preserve">&gt; Old pool: A, B, C, D, E</a:t>
            </a:r>
            <a:endParaRPr lang="en-US" sz="1200"/>
          </a:p>
          <a:p>
            <a:pPr marL="0" indent="0">
              <a:lnSpc>
                <a:spcPts val="1560"/>
              </a:lnSpc>
              <a:spcAft>
                <a:spcPts val="0"/>
              </a:spcAft>
              <a:buNone/>
            </a:pPr>
            <a:r>
              <a:rPr lang="en-US" sz="1200" b="0">
                <a:solidFill>
                  <a:srgbClr val="202b33"/>
                </a:solidFill>
                <a:latin typeface="Arial"/>
                <a:ea typeface="Arial"/>
                <a:cs typeface="Arial"/>
              </a:rPr>
              <a:t xml:space="preserve">&gt; New result: F · signed Schedule R</a:t>
            </a:r>
            <a:endParaRPr lang="en-US" sz="1200"/>
          </a:p>
          <a:p>
            <a:pPr marL="0" indent="0">
              <a:lnSpc>
                <a:spcPts val="1560"/>
              </a:lnSpc>
              <a:spcAft>
                <a:spcPts val="0"/>
              </a:spcAft>
              <a:buNone/>
            </a:pPr>
            <a:r>
              <a:rPr lang="en-US" sz="1200" b="0">
                <a:solidFill>
                  <a:srgbClr val="202b33"/>
                </a:solidFill>
                <a:latin typeface="Arial"/>
                <a:ea typeface="Arial"/>
                <a:cs typeface="Arial"/>
              </a:rPr>
              <a:t xml:space="preserve">&gt; Unjudged is not a relevance judgment</a:t>
            </a:r>
            <a:endParaRPr lang="en-US" sz="1200"/>
          </a:p>
          <a:p>
            <a:pPr marL="0" indent="0">
              <a:lnSpc>
                <a:spcPts val="1560"/>
              </a:lnSpc>
              <a:spcAft>
                <a:spcPts val="0"/>
              </a:spcAft>
              <a:buNone/>
            </a:pPr>
            <a:r>
              <a:rPr lang="en-US" sz="1200" b="0">
                <a:solidFill>
                  <a:srgbClr val="202b33"/>
                </a:solidFill>
                <a:latin typeface="Arial"/>
                <a:ea typeface="Arial"/>
                <a:cs typeface="Arial"/>
              </a:rPr>
              <a:t xml:space="preserve"/>
            </a:r>
            <a:endParaRPr lang="en-US" sz="1200"/>
          </a:p>
          <a:p>
            <a:pPr marL="0" indent="0">
              <a:lnSpc>
                <a:spcPts val="1560"/>
              </a:lnSpc>
              <a:spcAft>
                <a:spcPts val="0"/>
              </a:spcAft>
              <a:buNone/>
            </a:pPr>
            <a:r>
              <a:rPr lang="en-US" sz="1200" b="0">
                <a:solidFill>
                  <a:srgbClr val="202b33"/>
                </a:solidFill>
                <a:latin typeface="Arial"/>
                <a:ea typeface="Arial"/>
                <a:cs typeface="Arial"/>
              </a:rPr>
              <a:t xml:space="preserve">The old retrievers contributed A through E to the judgment pool. Our new retriever finds F: the signed Schedule R referenced by B. It waives Acme's cancellation fee. Nobody judged it because nobody retrieved it.</a:t>
            </a:r>
            <a:endParaRPr lang="en-US" sz="1200"/>
          </a:p>
          <a:p>
            <a:pPr marL="0" indent="0">
              <a:lnSpc>
                <a:spcPts val="1560"/>
              </a:lnSpc>
              <a:spcAft>
                <a:spcPts val="0"/>
              </a:spcAft>
              <a:buNone/>
            </a:pPr>
            <a:r>
              <a:rPr lang="en-US" sz="1200" b="0">
                <a:solidFill>
                  <a:srgbClr val="202b33"/>
                </a:solidFill>
                <a:latin typeface="Arial"/>
                <a:ea typeface="Arial"/>
                <a:cs typeface="Arial"/>
              </a:rPr>
              <a:t xml:space="preserve"/>
            </a:r>
            <a:endParaRPr lang="en-US" sz="1200"/>
          </a:p>
          <a:p>
            <a:pPr marL="0" indent="0">
              <a:lnSpc>
                <a:spcPts val="1560"/>
              </a:lnSpc>
              <a:spcAft>
                <a:spcPts val="0"/>
              </a:spcAft>
              <a:buNone/>
            </a:pPr>
            <a:r>
              <a:rPr lang="en-US" sz="1200" b="0">
                <a:solidFill>
                  <a:srgbClr val="202b33"/>
                </a:solidFill>
                <a:latin typeface="Arial"/>
                <a:ea typeface="Arial"/>
                <a:cs typeface="Arial"/>
              </a:rPr>
              <a:t xml:space="preserve">Our naive scorer treats unjudged as nonrelevant. Old top two, B and A: two judged relevant, precision at two equals one. New top two, B and F: only B gets credit, precision at two equals point five. Judge F under the same rubric and the new run returns to one. We changed no retrieval output. We fixed the instrument.</a:t>
            </a:r>
            <a:endParaRPr lang="en-US" sz="1200"/>
          </a:p>
          <a:p>
            <a:pPr marL="0" indent="0">
              <a:lnSpc>
                <a:spcPts val="1560"/>
              </a:lnSpc>
              <a:spcAft>
                <a:spcPts val="0"/>
              </a:spcAft>
              <a:buNone/>
            </a:pPr>
            <a:r>
              <a:rPr lang="en-US" sz="1200" b="0">
                <a:solidFill>
                  <a:srgbClr val="202b33"/>
                </a:solidFill>
                <a:latin typeface="Arial"/>
                <a:ea typeface="Arial"/>
                <a:cs typeface="Arial"/>
              </a:rPr>
              <a:t xml:space="preserve"/>
            </a:r>
            <a:endParaRPr lang="en-US" sz="1200"/>
          </a:p>
          <a:p>
            <a:pPr marL="0" indent="0">
              <a:lnSpc>
                <a:spcPts val="1560"/>
              </a:lnSpc>
              <a:spcAft>
                <a:spcPts val="0"/>
              </a:spcAft>
              <a:buNone/>
            </a:pPr>
            <a:r>
              <a:rPr lang="en-US" sz="1200" b="0">
                <a:solidFill>
                  <a:srgbClr val="202b33"/>
                </a:solidFill>
                <a:latin typeface="Arial"/>
                <a:ea typeface="Arial"/>
                <a:cs typeface="Arial"/>
              </a:rPr>
              <a:t xml:space="preserve">TREC used pooling because judging every document for every query was impractical. Zobel investigated reliability with incomplete judgments. The risk is real; universal failure is not. In a 2022 recheck, Voorhees, Soboroff, and Lin added judgments to TREC-8 and compared how the systems ranked before and after. The ordering barely moved. Deep, diverse pools had held up.</a:t>
            </a:r>
            <a:endParaRPr lang="en-US" sz="1200"/>
          </a:p>
          <a:p>
            <a:pPr marL="0" indent="0">
              <a:lnSpc>
                <a:spcPts val="1560"/>
              </a:lnSpc>
              <a:spcAft>
                <a:spcPts val="0"/>
              </a:spcAft>
              <a:buNone/>
            </a:pPr>
            <a:r>
              <a:rPr lang="en-US" sz="1200" b="0">
                <a:solidFill>
                  <a:srgbClr val="202b33"/>
                </a:solidFill>
                <a:latin typeface="Arial"/>
                <a:ea typeface="Arial"/>
                <a:cs typeface="Arial"/>
              </a:rPr>
              <a:t xml:space="preserve"/>
            </a:r>
            <a:endParaRPr lang="en-US" sz="1200"/>
          </a:p>
          <a:p>
            <a:pPr marL="0" indent="0">
              <a:lnSpc>
                <a:spcPts val="1560"/>
              </a:lnSpc>
              <a:spcAft>
                <a:spcPts val="0"/>
              </a:spcAft>
              <a:buNone/>
            </a:pPr>
            <a:r>
              <a:rPr lang="en-US" sz="1200" b="0">
                <a:solidFill>
                  <a:srgbClr val="202b33"/>
                </a:solidFill>
                <a:latin typeface="Arial"/>
                <a:ea typeface="Arial"/>
                <a:cs typeface="Arial"/>
              </a:rPr>
              <a:t xml:space="preserve">That is the lesson we missed. They tested whether the shortcut damaged the comparison. We called our first results golden.</a:t>
            </a:r>
            <a:endParaRPr lang="en-US" sz="1200"/>
          </a:p>
          <a:p>
            <a:pPr marL="0" indent="0">
              <a:lnSpc>
                <a:spcPts val="1560"/>
              </a:lnSpc>
              <a:spcAft>
                <a:spcPts val="0"/>
              </a:spcAft>
              <a:buNone/>
            </a:pPr>
            <a:r>
              <a:rPr lang="en-US" sz="1200" b="0">
                <a:solidFill>
                  <a:srgbClr val="202b33"/>
                </a:solidFill>
                <a:latin typeface="Arial"/>
                <a:ea typeface="Arial"/>
                <a:cs typeface="Arial"/>
              </a:rPr>
              <a:t xml:space="preserve"/>
            </a:r>
            <a:endParaRPr lang="en-US" sz="1200"/>
          </a:p>
          <a:p>
            <a:pPr marL="0" indent="0">
              <a:lnSpc>
                <a:spcPts val="1560"/>
              </a:lnSpc>
              <a:spcAft>
                <a:spcPts val="0"/>
              </a:spcAft>
              <a:buNone/>
            </a:pPr>
            <a:r>
              <a:rPr lang="en-US" sz="1200" b="0">
                <a:solidFill>
                  <a:srgbClr val="202b33"/>
                </a:solidFill>
                <a:latin typeface="Arial"/>
                <a:ea typeface="Arial"/>
                <a:cs typeface="Arial"/>
              </a:rPr>
              <a:t xml:space="preserve">Stage direction: Run `bun artifacts/speaking-portfolio-expanded/talks/retrieval/pooling.ts` after revealing F. Walk through 2/2, 1/2, then 2/2. Explain that the metric measures topical relevance, not sufficiency or permission.</a:t>
            </a:r>
            <a:endParaRPr lang="en-US" sz="1200"/>
          </a:p>
          <a:p>
            <a:pPr marL="0" indent="0">
              <a:lnSpc>
                <a:spcPts val="1560"/>
              </a:lnSpc>
              <a:spcAft>
                <a:spcPts val="0"/>
              </a:spcAft>
              <a:buNone/>
            </a:pPr>
            <a:r>
              <a:rPr lang="en-US" sz="1200" b="0">
                <a:solidFill>
                  <a:srgbClr val="202b33"/>
                </a:solidFill>
                <a:latin typeface="Arial"/>
                <a:ea typeface="Arial"/>
                <a:cs typeface="Arial"/>
              </a:rPr>
              <a:t xml:space="preserve"/>
            </a:r>
            <a:endParaRPr lang="en-US" sz="1200"/>
          </a:p>
          <a:p>
            <a:pPr marL="0" indent="0">
              <a:lnSpc>
                <a:spcPts val="1560"/>
              </a:lnSpc>
              <a:spcAft>
                <a:spcPts val="0"/>
              </a:spcAft>
              <a:buNone/>
            </a:pPr>
            <a:r>
              <a:rPr lang="en-US" sz="1200" b="0">
                <a:solidFill>
                  <a:srgbClr val="202b33"/>
                </a:solidFill>
                <a:latin typeface="Arial"/>
                <a:ea typeface="Arial"/>
                <a:cs typeface="Arial"/>
              </a:rPr>
              <a:t xml:space="preserve">Source: Justin Zobel (1998), [How reliable are the results of large-scale information retrieval experiments?](https://doi.org/10.1145/290941.291014), SIGIR, 307–314. Voorhees, Soboroff, and Lin (2022), [Can Old TREC Collections Reliably Evaluate Modern Neural Retrieval Models?](https://arxiv.org/abs/2201.11086). [NIST TREC overview](https://trec.nist.gov/overview.html), started 1992.</a:t>
            </a:r>
            <a:endParaRPr lang="en-US" sz="1200"/>
          </a:p>
          <a:p>
            <a:pPr marL="0" indent="0">
              <a:lnSpc>
                <a:spcPts val="1560"/>
              </a:lnSpc>
              <a:spcAft>
                <a:spcPts val="0"/>
              </a:spcAft>
              <a:buNone/>
            </a:pPr>
            <a:r>
              <a:rPr lang="en-US" sz="1200" b="0">
                <a:solidFill>
                  <a:srgbClr val="202b33"/>
                </a:solidFill>
                <a:latin typeface="Arial"/>
                <a:ea typeface="Arial"/>
                <a:cs typeface="Arial"/>
              </a:rPr>
              <a:t xml:space="preserve"/>
            </a:r>
            <a:endParaRPr lang="en-US" sz="1200"/>
          </a:p>
          <a:p>
            <a:pPr marL="0" indent="0">
              <a:lnSpc>
                <a:spcPts val="1560"/>
              </a:lnSpc>
              <a:spcAft>
                <a:spcPts val="0"/>
              </a:spcAft>
              <a:buNone/>
            </a:pPr>
            <a:r>
              <a:rPr lang="en-US" sz="1200" b="0">
                <a:solidFill>
                  <a:srgbClr val="202b33"/>
                </a:solidFill>
                <a:latin typeface="Arial"/>
                <a:ea typeface="Arial"/>
                <a:cs typeface="Arial"/>
              </a:rPr>
              <a:t xml:space="preserve"/>
            </a:r>
            <a:endParaRPr lang="en-US" sz="1200"/>
          </a:p>
        </p:txBody>
      </p:sp>
    </p:spTree>
  </p:cSld>
  <p:clrMapOvr>
    <a:masterClrMapping/>
  </p:clrMapOvr>
</p:notes>
</file>

<file path=ppt/notesSlides/notesSlide12.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Presenter notes"/>
          <p:cNvSpPr txBox="1"/>
          <p:nvPr>
            <p:ph type="body" idx="1"/>
          </p:nvPr>
        </p:nvSpPr>
        <p:spPr>
          <a:xfrm>
            <a:off x="457200" y="1428750"/>
            <a:ext cx="5715000" cy="6667500"/>
          </a:xfrm>
        </p:spPr>
        <p:txBody>
          <a:bodyPr/>
          <a:lstStyle/>
          <a:p>
            <a:pPr marL="0" indent="0">
              <a:lnSpc>
                <a:spcPts val="1560"/>
              </a:lnSpc>
              <a:spcAft>
                <a:spcPts val="0"/>
              </a:spcAft>
              <a:buNone/>
            </a:pPr>
            <a:r>
              <a:rPr lang="en-US" sz="1200" b="0">
                <a:solidFill>
                  <a:srgbClr val="202b33"/>
                </a:solidFill>
                <a:latin typeface="Arial"/>
                <a:ea typeface="Arial"/>
                <a:cs typeface="Arial"/>
              </a:rPr>
              <a:t xml:space="preserve">Assessors disagree. Rankings can survive.</a:t>
            </a:r>
            <a:endParaRPr lang="en-US" sz="1200"/>
          </a:p>
          <a:p>
            <a:pPr marL="0" indent="0">
              <a:lnSpc>
                <a:spcPts val="1560"/>
              </a:lnSpc>
              <a:spcAft>
                <a:spcPts val="0"/>
              </a:spcAft>
              <a:buNone/>
            </a:pPr>
            <a:r>
              <a:rPr lang="en-US" sz="1200" b="0">
                <a:solidFill>
                  <a:srgbClr val="202b33"/>
                </a:solidFill>
                <a:latin typeface="Arial"/>
                <a:ea typeface="Arial"/>
                <a:cs typeface="Arial"/>
              </a:rPr>
              <a:t xml:space="preserve"/>
            </a:r>
            <a:endParaRPr lang="en-US" sz="1200"/>
          </a:p>
          <a:p>
            <a:pPr marL="0" indent="0">
              <a:lnSpc>
                <a:spcPts val="1560"/>
              </a:lnSpc>
              <a:spcAft>
                <a:spcPts val="0"/>
              </a:spcAft>
              <a:buNone/>
            </a:pPr>
            <a:r>
              <a:rPr lang="en-US" sz="1200" b="0">
                <a:solidFill>
                  <a:srgbClr val="202b33"/>
                </a:solidFill>
                <a:latin typeface="Arial"/>
                <a:ea typeface="Arial"/>
                <a:cs typeface="Arial"/>
              </a:rPr>
              <a:t xml:space="preserve">27:00 to 30:00 · build</a:t>
            </a:r>
            <a:endParaRPr lang="en-US" sz="1200"/>
          </a:p>
          <a:p>
            <a:pPr marL="0" indent="0">
              <a:lnSpc>
                <a:spcPts val="1560"/>
              </a:lnSpc>
              <a:spcAft>
                <a:spcPts val="0"/>
              </a:spcAft>
              <a:buNone/>
            </a:pPr>
            <a:r>
              <a:rPr lang="en-US" sz="1200" b="0">
                <a:solidFill>
                  <a:srgbClr val="202b33"/>
                </a:solidFill>
                <a:latin typeface="Arial"/>
                <a:ea typeface="Arial"/>
                <a:cs typeface="Arial"/>
              </a:rPr>
              <a:t xml:space="preserve"/>
            </a:r>
            <a:endParaRPr lang="en-US" sz="1200"/>
          </a:p>
          <a:p>
            <a:pPr marL="0" indent="0">
              <a:lnSpc>
                <a:spcPts val="1560"/>
              </a:lnSpc>
              <a:spcAft>
                <a:spcPts val="0"/>
              </a:spcAft>
              <a:buNone/>
            </a:pPr>
            <a:r>
              <a:rPr lang="en-US" sz="1200" b="0">
                <a:solidFill>
                  <a:srgbClr val="202b33"/>
                </a:solidFill>
                <a:latin typeface="Arial"/>
                <a:ea typeface="Arial"/>
                <a:cs typeface="Arial"/>
              </a:rPr>
              <a:t xml:space="preserve">&gt; Voorhees, 2000: changed judgments, stable comparisons</a:t>
            </a:r>
            <a:endParaRPr lang="en-US" sz="1200"/>
          </a:p>
          <a:p>
            <a:pPr marL="0" indent="0">
              <a:lnSpc>
                <a:spcPts val="1560"/>
              </a:lnSpc>
              <a:spcAft>
                <a:spcPts val="0"/>
              </a:spcAft>
              <a:buNone/>
            </a:pPr>
            <a:r>
              <a:rPr lang="en-US" sz="1200" b="0">
                <a:solidFill>
                  <a:srgbClr val="202b33"/>
                </a:solidFill>
                <a:latin typeface="Arial"/>
                <a:ea typeface="Arial"/>
                <a:cs typeface="Arial"/>
              </a:rPr>
              <a:t xml:space="preserve">&gt; Test your comparison under more than one assessor</a:t>
            </a:r>
            <a:endParaRPr lang="en-US" sz="1200"/>
          </a:p>
          <a:p>
            <a:pPr marL="0" indent="0">
              <a:lnSpc>
                <a:spcPts val="1560"/>
              </a:lnSpc>
              <a:spcAft>
                <a:spcPts val="0"/>
              </a:spcAft>
              <a:buNone/>
            </a:pPr>
            <a:r>
              <a:rPr lang="en-US" sz="1200" b="0">
                <a:solidFill>
                  <a:srgbClr val="202b33"/>
                </a:solidFill>
                <a:latin typeface="Arial"/>
                <a:ea typeface="Arial"/>
                <a:cs typeface="Arial"/>
              </a:rPr>
              <a:t xml:space="preserve"/>
            </a:r>
            <a:endParaRPr lang="en-US" sz="1200"/>
          </a:p>
          <a:p>
            <a:pPr marL="0" indent="0">
              <a:lnSpc>
                <a:spcPts val="1560"/>
              </a:lnSpc>
              <a:spcAft>
                <a:spcPts val="0"/>
              </a:spcAft>
              <a:buNone/>
            </a:pPr>
            <a:r>
              <a:rPr lang="en-US" sz="1200" b="0">
                <a:solidFill>
                  <a:srgbClr val="202b33"/>
                </a:solidFill>
                <a:latin typeface="Arial"/>
                <a:ea typeface="Arial"/>
                <a:cs typeface="Arial"/>
              </a:rPr>
              <a:t xml:space="preserve">Voorhees varied relevance judgments and examined the resulting system rankings. The comparative results stayed stable despite substantial judgment differences in those experiments.</a:t>
            </a:r>
            <a:endParaRPr lang="en-US" sz="1200"/>
          </a:p>
          <a:p>
            <a:pPr marL="0" indent="0">
              <a:lnSpc>
                <a:spcPts val="1560"/>
              </a:lnSpc>
              <a:spcAft>
                <a:spcPts val="0"/>
              </a:spcAft>
              <a:buNone/>
            </a:pPr>
            <a:r>
              <a:rPr lang="en-US" sz="1200" b="0">
                <a:solidFill>
                  <a:srgbClr val="202b33"/>
                </a:solidFill>
                <a:latin typeface="Arial"/>
                <a:ea typeface="Arial"/>
                <a:cs typeface="Arial"/>
              </a:rPr>
              <a:t xml:space="preserve"/>
            </a:r>
            <a:endParaRPr lang="en-US" sz="1200"/>
          </a:p>
          <a:p>
            <a:pPr marL="0" indent="0">
              <a:lnSpc>
                <a:spcPts val="1560"/>
              </a:lnSpc>
              <a:spcAft>
                <a:spcPts val="0"/>
              </a:spcAft>
              <a:buNone/>
            </a:pPr>
            <a:r>
              <a:rPr lang="en-US" sz="1200" b="0">
                <a:solidFill>
                  <a:srgbClr val="202b33"/>
                </a:solidFill>
                <a:latin typeface="Arial"/>
                <a:ea typeface="Arial"/>
                <a:cs typeface="Arial"/>
              </a:rPr>
              <a:t xml:space="preserve">An absolute score and an A-versus-B ordering make different demands on the labels. That does not mean a model judge is trustworthy because it ranks two answers. It means we have a specific test to run: relabel a sample independently, then see which conclusions survive.</a:t>
            </a:r>
            <a:endParaRPr lang="en-US" sz="1200"/>
          </a:p>
          <a:p>
            <a:pPr marL="0" indent="0">
              <a:lnSpc>
                <a:spcPts val="1560"/>
              </a:lnSpc>
              <a:spcAft>
                <a:spcPts val="0"/>
              </a:spcAft>
              <a:buNone/>
            </a:pPr>
            <a:r>
              <a:rPr lang="en-US" sz="1200" b="0">
                <a:solidFill>
                  <a:srgbClr val="202b33"/>
                </a:solidFill>
                <a:latin typeface="Arial"/>
                <a:ea typeface="Arial"/>
                <a:cs typeface="Arial"/>
              </a:rPr>
              <a:t xml:space="preserve"/>
            </a:r>
            <a:endParaRPr lang="en-US" sz="1200"/>
          </a:p>
          <a:p>
            <a:pPr marL="0" indent="0">
              <a:lnSpc>
                <a:spcPts val="1560"/>
              </a:lnSpc>
              <a:spcAft>
                <a:spcPts val="0"/>
              </a:spcAft>
              <a:buNone/>
            </a:pPr>
            <a:r>
              <a:rPr lang="en-US" sz="1200" b="0">
                <a:solidFill>
                  <a:srgbClr val="202b33"/>
                </a:solidFill>
                <a:latin typeface="Arial"/>
                <a:ea typeface="Arial"/>
                <a:cs typeface="Arial"/>
              </a:rPr>
              <a:t xml:space="preserve">Keep disagreement as data. Was the case ambiguous? Did the rubric ask two questions at once? Did one assessor have the signed schedule and another not? A consensus label without that explanation can conceal exactly the distinction the next system needs.</a:t>
            </a:r>
            <a:endParaRPr lang="en-US" sz="1200"/>
          </a:p>
          <a:p>
            <a:pPr marL="0" indent="0">
              <a:lnSpc>
                <a:spcPts val="1560"/>
              </a:lnSpc>
              <a:spcAft>
                <a:spcPts val="0"/>
              </a:spcAft>
              <a:buNone/>
            </a:pPr>
            <a:r>
              <a:rPr lang="en-US" sz="1200" b="0">
                <a:solidFill>
                  <a:srgbClr val="202b33"/>
                </a:solidFill>
                <a:latin typeface="Arial"/>
                <a:ea typeface="Arial"/>
                <a:cs typeface="Arial"/>
              </a:rPr>
              <a:t xml:space="preserve"/>
            </a:r>
            <a:endParaRPr lang="en-US" sz="1200"/>
          </a:p>
          <a:p>
            <a:pPr marL="0" indent="0">
              <a:lnSpc>
                <a:spcPts val="1560"/>
              </a:lnSpc>
              <a:spcAft>
                <a:spcPts val="0"/>
              </a:spcAft>
              <a:buNone/>
            </a:pPr>
            <a:r>
              <a:rPr lang="en-US" sz="1200" b="0">
                <a:solidFill>
                  <a:srgbClr val="202b33"/>
                </a:solidFill>
                <a:latin typeface="Arial"/>
                <a:ea typeface="Arial"/>
                <a:cs typeface="Arial"/>
              </a:rPr>
              <a:t xml:space="preserve">Source: Ellen M. Voorhees (2000), [Variations in Relevance Judgments and the Measurement of Retrieval Effectiveness](https://www.nist.gov/publications/variations-relevance-judgments-and-measurement-retrieval-effectiveness), Information Processing &amp; Management 36(5), 697–716.</a:t>
            </a:r>
            <a:endParaRPr lang="en-US" sz="1200"/>
          </a:p>
          <a:p>
            <a:pPr marL="0" indent="0">
              <a:lnSpc>
                <a:spcPts val="1560"/>
              </a:lnSpc>
              <a:spcAft>
                <a:spcPts val="0"/>
              </a:spcAft>
              <a:buNone/>
            </a:pPr>
            <a:r>
              <a:rPr lang="en-US" sz="1200" b="0">
                <a:solidFill>
                  <a:srgbClr val="202b33"/>
                </a:solidFill>
                <a:latin typeface="Arial"/>
                <a:ea typeface="Arial"/>
                <a:cs typeface="Arial"/>
              </a:rPr>
              <a:t xml:space="preserve"/>
            </a:r>
            <a:endParaRPr lang="en-US" sz="1200"/>
          </a:p>
          <a:p>
            <a:pPr marL="0" indent="0">
              <a:lnSpc>
                <a:spcPts val="1560"/>
              </a:lnSpc>
              <a:spcAft>
                <a:spcPts val="0"/>
              </a:spcAft>
              <a:buNone/>
            </a:pPr>
            <a:r>
              <a:rPr lang="en-US" sz="1200" b="0">
                <a:solidFill>
                  <a:srgbClr val="202b33"/>
                </a:solidFill>
                <a:latin typeface="Arial"/>
                <a:ea typeface="Arial"/>
                <a:cs typeface="Arial"/>
              </a:rPr>
              <a:t xml:space="preserve"/>
            </a:r>
            <a:endParaRPr lang="en-US" sz="1200"/>
          </a:p>
        </p:txBody>
      </p:sp>
    </p:spTree>
  </p:cSld>
  <p:clrMapOvr>
    <a:masterClrMapping/>
  </p:clrMapOvr>
</p:notes>
</file>

<file path=ppt/notesSlides/notesSlide13.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Presenter notes"/>
          <p:cNvSpPr txBox="1"/>
          <p:nvPr>
            <p:ph type="body" idx="1"/>
          </p:nvPr>
        </p:nvSpPr>
        <p:spPr>
          <a:xfrm>
            <a:off x="457200" y="1428750"/>
            <a:ext cx="5715000" cy="6667500"/>
          </a:xfrm>
        </p:spPr>
        <p:txBody>
          <a:bodyPr/>
          <a:lstStyle/>
          <a:p>
            <a:pPr marL="0" indent="0">
              <a:lnSpc>
                <a:spcPts val="1560"/>
              </a:lnSpc>
              <a:spcAft>
                <a:spcPts val="0"/>
              </a:spcAft>
              <a:buNone/>
            </a:pPr>
            <a:r>
              <a:rPr lang="en-US" sz="1200" b="0">
                <a:solidFill>
                  <a:srgbClr val="202b33"/>
                </a:solidFill>
                <a:latin typeface="Arial"/>
                <a:ea typeface="Arial"/>
                <a:cs typeface="Arial"/>
              </a:rPr>
              <a:t xml:space="preserve">The Reader Stopped Being a Person</a:t>
            </a:r>
            <a:endParaRPr lang="en-US" sz="1200"/>
          </a:p>
          <a:p>
            <a:pPr marL="0" indent="0">
              <a:lnSpc>
                <a:spcPts val="1560"/>
              </a:lnSpc>
              <a:spcAft>
                <a:spcPts val="0"/>
              </a:spcAft>
              <a:buNone/>
            </a:pPr>
            <a:r>
              <a:rPr lang="en-US" sz="1200" b="0">
                <a:solidFill>
                  <a:srgbClr val="202b33"/>
                </a:solidFill>
                <a:latin typeface="Arial"/>
                <a:ea typeface="Arial"/>
                <a:cs typeface="Arial"/>
              </a:rPr>
              <a:t xml:space="preserve"/>
            </a:r>
            <a:endParaRPr lang="en-US" sz="1200"/>
          </a:p>
          <a:p>
            <a:pPr marL="0" indent="0">
              <a:lnSpc>
                <a:spcPts val="1560"/>
              </a:lnSpc>
              <a:spcAft>
                <a:spcPts val="0"/>
              </a:spcAft>
              <a:buNone/>
            </a:pPr>
            <a:r>
              <a:rPr lang="en-US" sz="1200" b="0">
                <a:solidFill>
                  <a:srgbClr val="202b33"/>
                </a:solidFill>
                <a:latin typeface="Arial"/>
                <a:ea typeface="Arial"/>
                <a:cs typeface="Arial"/>
              </a:rPr>
              <a:t xml:space="preserve">30:00 to 33:00 · build</a:t>
            </a:r>
            <a:endParaRPr lang="en-US" sz="1200"/>
          </a:p>
          <a:p>
            <a:pPr marL="0" indent="0">
              <a:lnSpc>
                <a:spcPts val="1560"/>
              </a:lnSpc>
              <a:spcAft>
                <a:spcPts val="0"/>
              </a:spcAft>
              <a:buNone/>
            </a:pPr>
            <a:r>
              <a:rPr lang="en-US" sz="1200" b="0">
                <a:solidFill>
                  <a:srgbClr val="202b33"/>
                </a:solidFill>
                <a:latin typeface="Arial"/>
                <a:ea typeface="Arial"/>
                <a:cs typeface="Arial"/>
              </a:rPr>
              <a:t xml:space="preserve"/>
            </a:r>
            <a:endParaRPr lang="en-US" sz="1200"/>
          </a:p>
          <a:p>
            <a:pPr marL="0" indent="0">
              <a:lnSpc>
                <a:spcPts val="1560"/>
              </a:lnSpc>
              <a:spcAft>
                <a:spcPts val="0"/>
              </a:spcAft>
              <a:buNone/>
            </a:pPr>
            <a:r>
              <a:rPr lang="en-US" sz="1200" b="0">
                <a:solidFill>
                  <a:srgbClr val="202b33"/>
                </a:solidFill>
                <a:latin typeface="Arial"/>
                <a:ea typeface="Arial"/>
                <a:cs typeface="Arial"/>
              </a:rPr>
              <a:t xml:space="preserve">&gt; Useful to inspect ≠ sufficient to answer</a:t>
            </a:r>
            <a:endParaRPr lang="en-US" sz="1200"/>
          </a:p>
          <a:p>
            <a:pPr marL="0" indent="0">
              <a:lnSpc>
                <a:spcPts val="1560"/>
              </a:lnSpc>
              <a:spcAft>
                <a:spcPts val="0"/>
              </a:spcAft>
              <a:buNone/>
            </a:pPr>
            <a:r>
              <a:rPr lang="en-US" sz="1200" b="0">
                <a:solidFill>
                  <a:srgbClr val="202b33"/>
                </a:solidFill>
                <a:latin typeface="Arial"/>
                <a:ea typeface="Arial"/>
                <a:cs typeface="Arial"/>
              </a:rPr>
              <a:t xml:space="preserve">&gt; Score retrieval and the resulting answer separately</a:t>
            </a:r>
            <a:endParaRPr lang="en-US" sz="1200"/>
          </a:p>
          <a:p>
            <a:pPr marL="0" indent="0">
              <a:lnSpc>
                <a:spcPts val="1560"/>
              </a:lnSpc>
              <a:spcAft>
                <a:spcPts val="0"/>
              </a:spcAft>
              <a:buNone/>
            </a:pPr>
            <a:r>
              <a:rPr lang="en-US" sz="1200" b="0">
                <a:solidFill>
                  <a:srgbClr val="202b33"/>
                </a:solidFill>
                <a:latin typeface="Arial"/>
                <a:ea typeface="Arial"/>
                <a:cs typeface="Arial"/>
              </a:rPr>
              <a:t xml:space="preserve"/>
            </a:r>
            <a:endParaRPr lang="en-US" sz="1200"/>
          </a:p>
          <a:p>
            <a:pPr marL="0" indent="0">
              <a:lnSpc>
                <a:spcPts val="1560"/>
              </a:lnSpc>
              <a:spcAft>
                <a:spcPts val="0"/>
              </a:spcAft>
              <a:buNone/>
            </a:pPr>
            <a:r>
              <a:rPr lang="en-US" sz="1200" b="0">
                <a:solidFill>
                  <a:srgbClr val="202b33"/>
                </a:solidFill>
                <a:latin typeface="Arial"/>
                <a:ea typeface="Arial"/>
                <a:cs typeface="Arial"/>
              </a:rPr>
              <a:t xml:space="preserve">A person inspecting a ranked list can notice that the signed addendum refers to a missing schedule and go looking. Our generator may instead turn the generic thirty-day policy into a fluent answer about Acme.</a:t>
            </a:r>
            <a:endParaRPr lang="en-US" sz="1200"/>
          </a:p>
          <a:p>
            <a:pPr marL="0" indent="0">
              <a:lnSpc>
                <a:spcPts val="1560"/>
              </a:lnSpc>
              <a:spcAft>
                <a:spcPts val="0"/>
              </a:spcAft>
              <a:buNone/>
            </a:pPr>
            <a:r>
              <a:rPr lang="en-US" sz="1200" b="0">
                <a:solidFill>
                  <a:srgbClr val="202b33"/>
                </a:solidFill>
                <a:latin typeface="Arial"/>
                <a:ea typeface="Arial"/>
                <a:cs typeface="Arial"/>
              </a:rPr>
              <a:t xml:space="preserve"/>
            </a:r>
            <a:endParaRPr lang="en-US" sz="1200"/>
          </a:p>
          <a:p>
            <a:pPr marL="0" indent="0">
              <a:lnSpc>
                <a:spcPts val="1560"/>
              </a:lnSpc>
              <a:spcAft>
                <a:spcPts val="0"/>
              </a:spcAft>
              <a:buNone/>
            </a:pPr>
            <a:r>
              <a:rPr lang="en-US" sz="1200" b="0">
                <a:solidFill>
                  <a:srgbClr val="202b33"/>
                </a:solidFill>
                <a:latin typeface="Arial"/>
                <a:ea typeface="Arial"/>
                <a:cs typeface="Arial"/>
              </a:rPr>
              <a:t xml:space="preserve">We can build abstention and verification into that system. We cannot infer that it will use them from a good retrieval score. The retrieved material must be applicable, sufficiently complete, and represented with the qualifiers the answer needs.</a:t>
            </a:r>
            <a:endParaRPr lang="en-US" sz="1200"/>
          </a:p>
          <a:p>
            <a:pPr marL="0" indent="0">
              <a:lnSpc>
                <a:spcPts val="1560"/>
              </a:lnSpc>
              <a:spcAft>
                <a:spcPts val="0"/>
              </a:spcAft>
              <a:buNone/>
            </a:pPr>
            <a:r>
              <a:rPr lang="en-US" sz="1200" b="0">
                <a:solidFill>
                  <a:srgbClr val="202b33"/>
                </a:solidFill>
                <a:latin typeface="Arial"/>
                <a:ea typeface="Arial"/>
                <a:cs typeface="Arial"/>
              </a:rPr>
              <a:t xml:space="preserve"/>
            </a:r>
            <a:endParaRPr lang="en-US" sz="1200"/>
          </a:p>
          <a:p>
            <a:pPr marL="0" indent="0">
              <a:lnSpc>
                <a:spcPts val="1560"/>
              </a:lnSpc>
              <a:spcAft>
                <a:spcPts val="0"/>
              </a:spcAft>
              <a:buNone/>
            </a:pPr>
            <a:r>
              <a:rPr lang="en-US" sz="1200" b="0">
                <a:solidFill>
                  <a:srgbClr val="202b33"/>
                </a:solidFill>
                <a:latin typeface="Arial"/>
                <a:ea typeface="Arial"/>
                <a:cs typeface="Arial"/>
              </a:rPr>
              <a:t xml:space="preserve">Evaluate the handoff. Did retrieval find B and F? Did context assembly keep their relationship? Did the answer cite the actual exception? If the answer is wrong, those checks locate the failure instead of blaming the nearest model.</a:t>
            </a:r>
            <a:endParaRPr lang="en-US" sz="1200"/>
          </a:p>
          <a:p>
            <a:pPr marL="0" indent="0">
              <a:lnSpc>
                <a:spcPts val="1560"/>
              </a:lnSpc>
              <a:spcAft>
                <a:spcPts val="0"/>
              </a:spcAft>
              <a:buNone/>
            </a:pPr>
            <a:r>
              <a:rPr lang="en-US" sz="1200" b="0">
                <a:solidFill>
                  <a:srgbClr val="202b33"/>
                </a:solidFill>
                <a:latin typeface="Arial"/>
                <a:ea typeface="Arial"/>
                <a:cs typeface="Arial"/>
              </a:rPr>
              <a:t xml:space="preserve"/>
            </a:r>
            <a:endParaRPr lang="en-US" sz="1200"/>
          </a:p>
          <a:p>
            <a:pPr marL="0" indent="0">
              <a:lnSpc>
                <a:spcPts val="1560"/>
              </a:lnSpc>
              <a:spcAft>
                <a:spcPts val="0"/>
              </a:spcAft>
              <a:buNone/>
            </a:pPr>
            <a:r>
              <a:rPr lang="en-US" sz="1200" b="0">
                <a:solidFill>
                  <a:srgbClr val="202b33"/>
                </a:solidFill>
                <a:latin typeface="Arial"/>
                <a:ea typeface="Arial"/>
                <a:cs typeface="Arial"/>
              </a:rPr>
              <a:t xml:space="preserve"/>
            </a:r>
            <a:endParaRPr lang="en-US" sz="1200"/>
          </a:p>
        </p:txBody>
      </p:sp>
    </p:spTree>
  </p:cSld>
  <p:clrMapOvr>
    <a:masterClrMapping/>
  </p:clrMapOvr>
</p:notes>
</file>

<file path=ppt/notesSlides/notesSlide14.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Presenter notes"/>
          <p:cNvSpPr txBox="1"/>
          <p:nvPr>
            <p:ph type="body" idx="1"/>
          </p:nvPr>
        </p:nvSpPr>
        <p:spPr>
          <a:xfrm>
            <a:off x="457200" y="1428750"/>
            <a:ext cx="5715000" cy="6667500"/>
          </a:xfrm>
        </p:spPr>
        <p:txBody>
          <a:bodyPr/>
          <a:lstStyle/>
          <a:p>
            <a:pPr marL="0" indent="0">
              <a:lnSpc>
                <a:spcPts val="1560"/>
              </a:lnSpc>
              <a:spcAft>
                <a:spcPts val="0"/>
              </a:spcAft>
              <a:buNone/>
            </a:pPr>
            <a:r>
              <a:rPr lang="en-US" sz="1200" b="0">
                <a:solidFill>
                  <a:srgbClr val="202b33"/>
                </a:solidFill>
                <a:latin typeface="Arial"/>
                <a:ea typeface="Arial"/>
                <a:cs typeface="Arial"/>
              </a:rPr>
              <a:t xml:space="preserve">Retrieved text now sits beside instructions</a:t>
            </a:r>
            <a:endParaRPr lang="en-US" sz="1200"/>
          </a:p>
          <a:p>
            <a:pPr marL="0" indent="0">
              <a:lnSpc>
                <a:spcPts val="1560"/>
              </a:lnSpc>
              <a:spcAft>
                <a:spcPts val="0"/>
              </a:spcAft>
              <a:buNone/>
            </a:pPr>
            <a:r>
              <a:rPr lang="en-US" sz="1200" b="0">
                <a:solidFill>
                  <a:srgbClr val="202b33"/>
                </a:solidFill>
                <a:latin typeface="Arial"/>
                <a:ea typeface="Arial"/>
                <a:cs typeface="Arial"/>
              </a:rPr>
              <a:t xml:space="preserve"/>
            </a:r>
            <a:endParaRPr lang="en-US" sz="1200"/>
          </a:p>
          <a:p>
            <a:pPr marL="0" indent="0">
              <a:lnSpc>
                <a:spcPts val="1560"/>
              </a:lnSpc>
              <a:spcAft>
                <a:spcPts val="0"/>
              </a:spcAft>
              <a:buNone/>
            </a:pPr>
            <a:r>
              <a:rPr lang="en-US" sz="1200" b="0">
                <a:solidFill>
                  <a:srgbClr val="202b33"/>
                </a:solidFill>
                <a:latin typeface="Arial"/>
                <a:ea typeface="Arial"/>
                <a:cs typeface="Arial"/>
              </a:rPr>
              <a:t xml:space="preserve">33:00 to 35:30 · build</a:t>
            </a:r>
            <a:endParaRPr lang="en-US" sz="1200"/>
          </a:p>
          <a:p>
            <a:pPr marL="0" indent="0">
              <a:lnSpc>
                <a:spcPts val="1560"/>
              </a:lnSpc>
              <a:spcAft>
                <a:spcPts val="0"/>
              </a:spcAft>
              <a:buNone/>
            </a:pPr>
            <a:r>
              <a:rPr lang="en-US" sz="1200" b="0">
                <a:solidFill>
                  <a:srgbClr val="202b33"/>
                </a:solidFill>
                <a:latin typeface="Arial"/>
                <a:ea typeface="Arial"/>
                <a:cs typeface="Arial"/>
              </a:rPr>
              <a:t xml:space="preserve"/>
            </a:r>
            <a:endParaRPr lang="en-US" sz="1200"/>
          </a:p>
          <a:p>
            <a:pPr marL="0" indent="0">
              <a:lnSpc>
                <a:spcPts val="1560"/>
              </a:lnSpc>
              <a:spcAft>
                <a:spcPts val="0"/>
              </a:spcAft>
              <a:buNone/>
            </a:pPr>
            <a:r>
              <a:rPr lang="en-US" sz="1200" b="0">
                <a:solidFill>
                  <a:srgbClr val="202b33"/>
                </a:solidFill>
                <a:latin typeface="Arial"/>
                <a:ea typeface="Arial"/>
                <a:cs typeface="Arial"/>
              </a:rPr>
              <a:t xml:space="preserve">&gt; Relevance gives evidence, not authority</a:t>
            </a:r>
            <a:endParaRPr lang="en-US" sz="1200"/>
          </a:p>
          <a:p>
            <a:pPr marL="0" indent="0">
              <a:lnSpc>
                <a:spcPts val="1560"/>
              </a:lnSpc>
              <a:spcAft>
                <a:spcPts val="0"/>
              </a:spcAft>
              <a:buNone/>
            </a:pPr>
            <a:r>
              <a:rPr lang="en-US" sz="1200" b="0">
                <a:solidFill>
                  <a:srgbClr val="202b33"/>
                </a:solidFill>
                <a:latin typeface="Arial"/>
                <a:ea typeface="Arial"/>
                <a:cs typeface="Arial"/>
              </a:rPr>
              <a:t xml:space="preserve">&gt; A document cannot grant a tool permission</a:t>
            </a:r>
            <a:endParaRPr lang="en-US" sz="1200"/>
          </a:p>
          <a:p>
            <a:pPr marL="0" indent="0">
              <a:lnSpc>
                <a:spcPts val="1560"/>
              </a:lnSpc>
              <a:spcAft>
                <a:spcPts val="0"/>
              </a:spcAft>
              <a:buNone/>
            </a:pPr>
            <a:r>
              <a:rPr lang="en-US" sz="1200" b="0">
                <a:solidFill>
                  <a:srgbClr val="202b33"/>
                </a:solidFill>
                <a:latin typeface="Arial"/>
                <a:ea typeface="Arial"/>
                <a:cs typeface="Arial"/>
              </a:rPr>
              <a:t xml:space="preserve"/>
            </a:r>
            <a:endParaRPr lang="en-US" sz="1200"/>
          </a:p>
          <a:p>
            <a:pPr marL="0" indent="0">
              <a:lnSpc>
                <a:spcPts val="1560"/>
              </a:lnSpc>
              <a:spcAft>
                <a:spcPts val="0"/>
              </a:spcAft>
              <a:buNone/>
            </a:pPr>
            <a:r>
              <a:rPr lang="en-US" sz="1200" b="0">
                <a:solidFill>
                  <a:srgbClr val="202b33"/>
                </a:solidFill>
                <a:latin typeface="Arial"/>
                <a:ea typeface="Arial"/>
                <a:cs typeface="Arial"/>
              </a:rPr>
              <a:t xml:space="preserve">Put a sentence in the retrieved support note telling the assistant to ignore policy and issue a credit. It may be relevant text in a support corpus. It is still untrusted input.</a:t>
            </a:r>
            <a:endParaRPr lang="en-US" sz="1200"/>
          </a:p>
          <a:p>
            <a:pPr marL="0" indent="0">
              <a:lnSpc>
                <a:spcPts val="1560"/>
              </a:lnSpc>
              <a:spcAft>
                <a:spcPts val="0"/>
              </a:spcAft>
              <a:buNone/>
            </a:pPr>
            <a:r>
              <a:rPr lang="en-US" sz="1200" b="0">
                <a:solidFill>
                  <a:srgbClr val="202b33"/>
                </a:solidFill>
                <a:latin typeface="Arial"/>
                <a:ea typeface="Arial"/>
                <a:cs typeface="Arial"/>
              </a:rPr>
              <a:t xml:space="preserve"/>
            </a:r>
            <a:endParaRPr lang="en-US" sz="1200"/>
          </a:p>
          <a:p>
            <a:pPr marL="0" indent="0">
              <a:lnSpc>
                <a:spcPts val="1560"/>
              </a:lnSpc>
              <a:spcAft>
                <a:spcPts val="0"/>
              </a:spcAft>
              <a:buNone/>
            </a:pPr>
            <a:r>
              <a:rPr lang="en-US" sz="1200" b="0">
                <a:solidFill>
                  <a:srgbClr val="202b33"/>
                </a:solidFill>
                <a:latin typeface="Arial"/>
                <a:ea typeface="Arial"/>
                <a:cs typeface="Arial"/>
              </a:rPr>
              <a:t xml:space="preserve">The ranking score answers how well the content matches a retrieval objective. It does not authorize an action. Keep tool permissions and policy checks outside the retrieved document's control. A signed cancellation exception can supply facts for a decision; it cannot change which account the tool is permitted to modify.</a:t>
            </a:r>
            <a:endParaRPr lang="en-US" sz="1200"/>
          </a:p>
          <a:p>
            <a:pPr marL="0" indent="0">
              <a:lnSpc>
                <a:spcPts val="1560"/>
              </a:lnSpc>
              <a:spcAft>
                <a:spcPts val="0"/>
              </a:spcAft>
              <a:buNone/>
            </a:pPr>
            <a:r>
              <a:rPr lang="en-US" sz="1200" b="0">
                <a:solidFill>
                  <a:srgbClr val="202b33"/>
                </a:solidFill>
                <a:latin typeface="Arial"/>
                <a:ea typeface="Arial"/>
                <a:cs typeface="Arial"/>
              </a:rPr>
              <a:t xml:space="preserve"/>
            </a:r>
            <a:endParaRPr lang="en-US" sz="1200"/>
          </a:p>
          <a:p>
            <a:pPr marL="0" indent="0">
              <a:lnSpc>
                <a:spcPts val="1560"/>
              </a:lnSpc>
              <a:spcAft>
                <a:spcPts val="0"/>
              </a:spcAft>
              <a:buNone/>
            </a:pPr>
            <a:r>
              <a:rPr lang="en-US" sz="1200" b="0">
                <a:solidFill>
                  <a:srgbClr val="202b33"/>
                </a:solidFill>
                <a:latin typeface="Arial"/>
                <a:ea typeface="Arial"/>
                <a:cs typeface="Arial"/>
              </a:rPr>
              <a:t xml:space="preserve">Keep this boundary in the end-to-end evaluation. Retrieval success, answer correctness, and action authorization are separate results. A useful citation does not turn a document into a supervisor.</a:t>
            </a:r>
            <a:endParaRPr lang="en-US" sz="1200"/>
          </a:p>
          <a:p>
            <a:pPr marL="0" indent="0">
              <a:lnSpc>
                <a:spcPts val="1560"/>
              </a:lnSpc>
              <a:spcAft>
                <a:spcPts val="0"/>
              </a:spcAft>
              <a:buNone/>
            </a:pPr>
            <a:r>
              <a:rPr lang="en-US" sz="1200" b="0">
                <a:solidFill>
                  <a:srgbClr val="202b33"/>
                </a:solidFill>
                <a:latin typeface="Arial"/>
                <a:ea typeface="Arial"/>
                <a:cs typeface="Arial"/>
              </a:rPr>
              <a:t xml:space="preserve"/>
            </a:r>
            <a:endParaRPr lang="en-US" sz="1200"/>
          </a:p>
          <a:p>
            <a:pPr marL="0" indent="0">
              <a:lnSpc>
                <a:spcPts val="1560"/>
              </a:lnSpc>
              <a:spcAft>
                <a:spcPts val="0"/>
              </a:spcAft>
              <a:buNone/>
            </a:pPr>
            <a:r>
              <a:rPr lang="en-US" sz="1200" b="0">
                <a:solidFill>
                  <a:srgbClr val="202b33"/>
                </a:solidFill>
                <a:latin typeface="Arial"/>
                <a:ea typeface="Arial"/>
                <a:cs typeface="Arial"/>
              </a:rPr>
              <a:t xml:space="preserve">Stage direction: Use a harmless printed instruction in the synthetic support note. Do not connect the exercise to live tools.</a:t>
            </a:r>
            <a:endParaRPr lang="en-US" sz="1200"/>
          </a:p>
          <a:p>
            <a:pPr marL="0" indent="0">
              <a:lnSpc>
                <a:spcPts val="1560"/>
              </a:lnSpc>
              <a:spcAft>
                <a:spcPts val="0"/>
              </a:spcAft>
              <a:buNone/>
            </a:pPr>
            <a:r>
              <a:rPr lang="en-US" sz="1200" b="0">
                <a:solidFill>
                  <a:srgbClr val="202b33"/>
                </a:solidFill>
                <a:latin typeface="Arial"/>
                <a:ea typeface="Arial"/>
                <a:cs typeface="Arial"/>
              </a:rPr>
              <a:t xml:space="preserve"/>
            </a:r>
            <a:endParaRPr lang="en-US" sz="1200"/>
          </a:p>
          <a:p>
            <a:pPr marL="0" indent="0">
              <a:lnSpc>
                <a:spcPts val="1560"/>
              </a:lnSpc>
              <a:spcAft>
                <a:spcPts val="0"/>
              </a:spcAft>
              <a:buNone/>
            </a:pPr>
            <a:r>
              <a:rPr lang="en-US" sz="1200" b="0">
                <a:solidFill>
                  <a:srgbClr val="202b33"/>
                </a:solidFill>
                <a:latin typeface="Arial"/>
                <a:ea typeface="Arial"/>
                <a:cs typeface="Arial"/>
              </a:rPr>
              <a:t xml:space="preserve"/>
            </a:r>
            <a:endParaRPr lang="en-US" sz="1200"/>
          </a:p>
        </p:txBody>
      </p:sp>
    </p:spTree>
  </p:cSld>
  <p:clrMapOvr>
    <a:masterClrMapping/>
  </p:clrMapOvr>
</p:notes>
</file>

<file path=ppt/notesSlides/notesSlide15.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Presenter notes"/>
          <p:cNvSpPr txBox="1"/>
          <p:nvPr>
            <p:ph type="body" idx="1"/>
          </p:nvPr>
        </p:nvSpPr>
        <p:spPr>
          <a:xfrm>
            <a:off x="457200" y="1428750"/>
            <a:ext cx="5715000" cy="6667500"/>
          </a:xfrm>
        </p:spPr>
        <p:txBody>
          <a:bodyPr/>
          <a:lstStyle/>
          <a:p>
            <a:pPr marL="0" indent="0">
              <a:lnSpc>
                <a:spcPts val="1560"/>
              </a:lnSpc>
              <a:spcAft>
                <a:spcPts val="0"/>
              </a:spcAft>
              <a:buNone/>
            </a:pPr>
            <a:r>
              <a:rPr lang="en-US" sz="1200" b="0">
                <a:solidFill>
                  <a:srgbClr val="202b33"/>
                </a:solidFill>
                <a:latin typeface="Arial"/>
                <a:ea typeface="Arial"/>
                <a:cs typeface="Arial"/>
              </a:rPr>
              <a:t xml:space="preserve">The old cost of keeping knowledge current</a:t>
            </a:r>
            <a:endParaRPr lang="en-US" sz="1200"/>
          </a:p>
          <a:p>
            <a:pPr marL="0" indent="0">
              <a:lnSpc>
                <a:spcPts val="1560"/>
              </a:lnSpc>
              <a:spcAft>
                <a:spcPts val="0"/>
              </a:spcAft>
              <a:buNone/>
            </a:pPr>
            <a:r>
              <a:rPr lang="en-US" sz="1200" b="0">
                <a:solidFill>
                  <a:srgbClr val="202b33"/>
                </a:solidFill>
                <a:latin typeface="Arial"/>
                <a:ea typeface="Arial"/>
                <a:cs typeface="Arial"/>
              </a:rPr>
              <a:t xml:space="preserve"/>
            </a:r>
            <a:endParaRPr lang="en-US" sz="1200"/>
          </a:p>
          <a:p>
            <a:pPr marL="0" indent="0">
              <a:lnSpc>
                <a:spcPts val="1560"/>
              </a:lnSpc>
              <a:spcAft>
                <a:spcPts val="0"/>
              </a:spcAft>
              <a:buNone/>
            </a:pPr>
            <a:r>
              <a:rPr lang="en-US" sz="1200" b="0">
                <a:solidFill>
                  <a:srgbClr val="202b33"/>
                </a:solidFill>
                <a:latin typeface="Arial"/>
                <a:ea typeface="Arial"/>
                <a:cs typeface="Arial"/>
              </a:rPr>
              <a:t xml:space="preserve">35:30 to 38:00 · land</a:t>
            </a:r>
            <a:endParaRPr lang="en-US" sz="1200"/>
          </a:p>
          <a:p>
            <a:pPr marL="0" indent="0">
              <a:lnSpc>
                <a:spcPts val="1560"/>
              </a:lnSpc>
              <a:spcAft>
                <a:spcPts val="0"/>
              </a:spcAft>
              <a:buNone/>
            </a:pPr>
            <a:r>
              <a:rPr lang="en-US" sz="1200" b="0">
                <a:solidFill>
                  <a:srgbClr val="202b33"/>
                </a:solidFill>
                <a:latin typeface="Arial"/>
                <a:ea typeface="Arial"/>
                <a:cs typeface="Arial"/>
              </a:rPr>
              <a:t xml:space="preserve"/>
            </a:r>
            <a:endParaRPr lang="en-US" sz="1200"/>
          </a:p>
          <a:p>
            <a:pPr marL="0" indent="0">
              <a:lnSpc>
                <a:spcPts val="1560"/>
              </a:lnSpc>
              <a:spcAft>
                <a:spcPts val="0"/>
              </a:spcAft>
              <a:buNone/>
            </a:pPr>
            <a:r>
              <a:rPr lang="en-US" sz="1200" b="0">
                <a:solidFill>
                  <a:srgbClr val="202b33"/>
                </a:solidFill>
                <a:latin typeface="Arial"/>
                <a:ea typeface="Arial"/>
                <a:cs typeface="Arial"/>
              </a:rPr>
              <a:t xml:space="preserve">&gt; McDermott’s R1: a real configuration system</a:t>
            </a:r>
            <a:endParaRPr lang="en-US" sz="1200"/>
          </a:p>
          <a:p>
            <a:pPr marL="0" indent="0">
              <a:lnSpc>
                <a:spcPts val="1560"/>
              </a:lnSpc>
              <a:spcAft>
                <a:spcPts val="0"/>
              </a:spcAft>
              <a:buNone/>
            </a:pPr>
            <a:r>
              <a:rPr lang="en-US" sz="1200" b="0">
                <a:solidFill>
                  <a:srgbClr val="202b33"/>
                </a:solidFill>
                <a:latin typeface="Arial"/>
                <a:ea typeface="Arial"/>
                <a:cs typeface="Arial"/>
              </a:rPr>
              <a:t xml:space="preserve">&gt; Who updates the knowledge when the product changes?</a:t>
            </a:r>
            <a:endParaRPr lang="en-US" sz="1200"/>
          </a:p>
          <a:p>
            <a:pPr marL="0" indent="0">
              <a:lnSpc>
                <a:spcPts val="1560"/>
              </a:lnSpc>
              <a:spcAft>
                <a:spcPts val="0"/>
              </a:spcAft>
              <a:buNone/>
            </a:pPr>
            <a:r>
              <a:rPr lang="en-US" sz="1200" b="0">
                <a:solidFill>
                  <a:srgbClr val="202b33"/>
                </a:solidFill>
                <a:latin typeface="Arial"/>
                <a:ea typeface="Arial"/>
                <a:cs typeface="Arial"/>
              </a:rPr>
              <a:t xml:space="preserve"/>
            </a:r>
            <a:endParaRPr lang="en-US" sz="1200"/>
          </a:p>
          <a:p>
            <a:pPr marL="0" indent="0">
              <a:lnSpc>
                <a:spcPts val="1560"/>
              </a:lnSpc>
              <a:spcAft>
                <a:spcPts val="0"/>
              </a:spcAft>
              <a:buNone/>
            </a:pPr>
            <a:r>
              <a:rPr lang="en-US" sz="1200" b="0">
                <a:solidFill>
                  <a:srgbClr val="202b33"/>
                </a:solidFill>
                <a:latin typeface="Arial"/>
                <a:ea typeface="Arial"/>
                <a:cs typeface="Arial"/>
              </a:rPr>
              <a:t xml:space="preserve">McDermott's R1 configured computer systems at DEC. The journal paper is from 1982. This was working software.</a:t>
            </a:r>
            <a:endParaRPr lang="en-US" sz="1200"/>
          </a:p>
          <a:p>
            <a:pPr marL="0" indent="0">
              <a:lnSpc>
                <a:spcPts val="1560"/>
              </a:lnSpc>
              <a:spcAft>
                <a:spcPts val="0"/>
              </a:spcAft>
              <a:buNone/>
            </a:pPr>
            <a:r>
              <a:rPr lang="en-US" sz="1200" b="0">
                <a:solidFill>
                  <a:srgbClr val="202b33"/>
                </a:solidFill>
                <a:latin typeface="Arial"/>
                <a:ea typeface="Arial"/>
                <a:cs typeface="Arial"/>
              </a:rPr>
              <a:t xml:space="preserve"/>
            </a:r>
            <a:endParaRPr lang="en-US" sz="1200"/>
          </a:p>
          <a:p>
            <a:pPr marL="0" indent="0">
              <a:lnSpc>
                <a:spcPts val="1560"/>
              </a:lnSpc>
              <a:spcAft>
                <a:spcPts val="0"/>
              </a:spcAft>
              <a:buNone/>
            </a:pPr>
            <a:r>
              <a:rPr lang="en-US" sz="1200" b="0">
                <a:solidFill>
                  <a:srgbClr val="202b33"/>
                </a:solidFill>
                <a:latin typeface="Arial"/>
                <a:ea typeface="Arial"/>
                <a:cs typeface="Arial"/>
              </a:rPr>
              <a:t xml:space="preserve">The useful question is who supplies and maintains the domain knowledge. Our retrieved policies and signed schedules have the same operational obligation: somebody must know when they change, what supersedes them, and which decisions depend on them.</a:t>
            </a:r>
            <a:endParaRPr lang="en-US" sz="1200"/>
          </a:p>
          <a:p>
            <a:pPr marL="0" indent="0">
              <a:lnSpc>
                <a:spcPts val="1560"/>
              </a:lnSpc>
              <a:spcAft>
                <a:spcPts val="0"/>
              </a:spcAft>
              <a:buNone/>
            </a:pPr>
            <a:r>
              <a:rPr lang="en-US" sz="1200" b="0">
                <a:solidFill>
                  <a:srgbClr val="202b33"/>
                </a:solidFill>
                <a:latin typeface="Arial"/>
                <a:ea typeface="Arial"/>
                <a:cs typeface="Arial"/>
              </a:rPr>
              <a:t xml:space="preserve"/>
            </a:r>
            <a:endParaRPr lang="en-US" sz="1200"/>
          </a:p>
          <a:p>
            <a:pPr marL="0" indent="0">
              <a:lnSpc>
                <a:spcPts val="1560"/>
              </a:lnSpc>
              <a:spcAft>
                <a:spcPts val="0"/>
              </a:spcAft>
              <a:buNone/>
            </a:pPr>
            <a:r>
              <a:rPr lang="en-US" sz="1200" b="0">
                <a:solidFill>
                  <a:srgbClr val="202b33"/>
                </a:solidFill>
                <a:latin typeface="Arial"/>
                <a:ea typeface="Arial"/>
                <a:cs typeface="Arial"/>
              </a:rPr>
              <a:t xml:space="preserve">A model does not remove that obligation. It makes stale knowledge easier to turn into a confident sentence. Name the owner of the corpus and the invalidation path. We do not need a grand theory of why expert systems declined to ask who updates Schedule R.</a:t>
            </a:r>
            <a:endParaRPr lang="en-US" sz="1200"/>
          </a:p>
          <a:p>
            <a:pPr marL="0" indent="0">
              <a:lnSpc>
                <a:spcPts val="1560"/>
              </a:lnSpc>
              <a:spcAft>
                <a:spcPts val="0"/>
              </a:spcAft>
              <a:buNone/>
            </a:pPr>
            <a:r>
              <a:rPr lang="en-US" sz="1200" b="0">
                <a:solidFill>
                  <a:srgbClr val="202b33"/>
                </a:solidFill>
                <a:latin typeface="Arial"/>
                <a:ea typeface="Arial"/>
                <a:cs typeface="Arial"/>
              </a:rPr>
              <a:t xml:space="preserve"/>
            </a:r>
            <a:endParaRPr lang="en-US" sz="1200"/>
          </a:p>
          <a:p>
            <a:pPr marL="0" indent="0">
              <a:lnSpc>
                <a:spcPts val="1560"/>
              </a:lnSpc>
              <a:spcAft>
                <a:spcPts val="0"/>
              </a:spcAft>
              <a:buNone/>
            </a:pPr>
            <a:r>
              <a:rPr lang="en-US" sz="1200" b="0">
                <a:solidFill>
                  <a:srgbClr val="202b33"/>
                </a:solidFill>
                <a:latin typeface="Arial"/>
                <a:ea typeface="Arial"/>
                <a:cs typeface="Arial"/>
              </a:rPr>
              <a:t xml:space="preserve">Source: John McDermott (1982), [R1: A rule-based configurer of computer systems](https://www.sciencedirect.com/science/article/abs/pii/0004370282900212), Artificial Intelligence 19(1), 39–88.</a:t>
            </a:r>
            <a:endParaRPr lang="en-US" sz="1200"/>
          </a:p>
          <a:p>
            <a:pPr marL="0" indent="0">
              <a:lnSpc>
                <a:spcPts val="1560"/>
              </a:lnSpc>
              <a:spcAft>
                <a:spcPts val="0"/>
              </a:spcAft>
              <a:buNone/>
            </a:pPr>
            <a:r>
              <a:rPr lang="en-US" sz="1200" b="0">
                <a:solidFill>
                  <a:srgbClr val="202b33"/>
                </a:solidFill>
                <a:latin typeface="Arial"/>
                <a:ea typeface="Arial"/>
                <a:cs typeface="Arial"/>
              </a:rPr>
              <a:t xml:space="preserve"/>
            </a:r>
            <a:endParaRPr lang="en-US" sz="1200"/>
          </a:p>
          <a:p>
            <a:pPr marL="0" indent="0">
              <a:lnSpc>
                <a:spcPts val="1560"/>
              </a:lnSpc>
              <a:spcAft>
                <a:spcPts val="0"/>
              </a:spcAft>
              <a:buNone/>
            </a:pPr>
            <a:r>
              <a:rPr lang="en-US" sz="1200" b="0">
                <a:solidFill>
                  <a:srgbClr val="202b33"/>
                </a:solidFill>
                <a:latin typeface="Arial"/>
                <a:ea typeface="Arial"/>
                <a:cs typeface="Arial"/>
              </a:rPr>
              <a:t xml:space="preserve"/>
            </a:r>
            <a:endParaRPr lang="en-US" sz="1200"/>
          </a:p>
        </p:txBody>
      </p:sp>
    </p:spTree>
  </p:cSld>
  <p:clrMapOvr>
    <a:masterClrMapping/>
  </p:clrMapOvr>
</p:notes>
</file>

<file path=ppt/notesSlides/notesSlide16.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Presenter notes"/>
          <p:cNvSpPr txBox="1"/>
          <p:nvPr>
            <p:ph type="body" idx="1"/>
          </p:nvPr>
        </p:nvSpPr>
        <p:spPr>
          <a:xfrm>
            <a:off x="457200" y="1428750"/>
            <a:ext cx="5715000" cy="6667500"/>
          </a:xfrm>
        </p:spPr>
        <p:txBody>
          <a:bodyPr/>
          <a:lstStyle/>
          <a:p>
            <a:pPr marL="0" indent="0">
              <a:lnSpc>
                <a:spcPts val="1560"/>
              </a:lnSpc>
              <a:spcAft>
                <a:spcPts val="0"/>
              </a:spcAft>
              <a:buNone/>
            </a:pPr>
            <a:r>
              <a:rPr lang="en-US" sz="1200" b="0">
                <a:solidFill>
                  <a:srgbClr val="202b33"/>
                </a:solidFill>
                <a:latin typeface="Arial"/>
                <a:ea typeface="Arial"/>
                <a:cs typeface="Arial"/>
              </a:rPr>
              <a:t xml:space="preserve">Eight words. Sixty years. One instruction.</a:t>
            </a:r>
            <a:endParaRPr lang="en-US" sz="1200"/>
          </a:p>
          <a:p>
            <a:pPr marL="0" indent="0">
              <a:lnSpc>
                <a:spcPts val="1560"/>
              </a:lnSpc>
              <a:spcAft>
                <a:spcPts val="0"/>
              </a:spcAft>
              <a:buNone/>
            </a:pPr>
            <a:r>
              <a:rPr lang="en-US" sz="1200" b="0">
                <a:solidFill>
                  <a:srgbClr val="202b33"/>
                </a:solidFill>
                <a:latin typeface="Arial"/>
                <a:ea typeface="Arial"/>
                <a:cs typeface="Arial"/>
              </a:rPr>
              <a:t xml:space="preserve"/>
            </a:r>
            <a:endParaRPr lang="en-US" sz="1200"/>
          </a:p>
          <a:p>
            <a:pPr marL="0" indent="0">
              <a:lnSpc>
                <a:spcPts val="1560"/>
              </a:lnSpc>
              <a:spcAft>
                <a:spcPts val="0"/>
              </a:spcAft>
              <a:buNone/>
            </a:pPr>
            <a:r>
              <a:rPr lang="en-US" sz="1200" b="0">
                <a:solidFill>
                  <a:srgbClr val="202b33"/>
                </a:solidFill>
                <a:latin typeface="Arial"/>
                <a:ea typeface="Arial"/>
                <a:cs typeface="Arial"/>
              </a:rPr>
              <a:t xml:space="preserve">38:00 to 40:00 · land</a:t>
            </a:r>
            <a:endParaRPr lang="en-US" sz="1200"/>
          </a:p>
          <a:p>
            <a:pPr marL="0" indent="0">
              <a:lnSpc>
                <a:spcPts val="1560"/>
              </a:lnSpc>
              <a:spcAft>
                <a:spcPts val="0"/>
              </a:spcAft>
              <a:buNone/>
            </a:pPr>
            <a:r>
              <a:rPr lang="en-US" sz="1200" b="0">
                <a:solidFill>
                  <a:srgbClr val="202b33"/>
                </a:solidFill>
                <a:latin typeface="Arial"/>
                <a:ea typeface="Arial"/>
                <a:cs typeface="Arial"/>
              </a:rPr>
              <a:t xml:space="preserve"/>
            </a:r>
            <a:endParaRPr lang="en-US" sz="1200"/>
          </a:p>
          <a:p>
            <a:pPr marL="0" indent="0">
              <a:lnSpc>
                <a:spcPts val="1560"/>
              </a:lnSpc>
              <a:spcAft>
                <a:spcPts val="0"/>
              </a:spcAft>
              <a:buNone/>
            </a:pPr>
            <a:r>
              <a:rPr lang="en-US" sz="1200" b="0">
                <a:solidFill>
                  <a:srgbClr val="202b33"/>
                </a:solidFill>
                <a:latin typeface="Arial"/>
                <a:ea typeface="Arial"/>
                <a:cs typeface="Arial"/>
              </a:rPr>
              <a:t xml:space="preserve">&gt; Three search methods. One instrument nobody checked.</a:t>
            </a:r>
            <a:endParaRPr lang="en-US" sz="1200"/>
          </a:p>
          <a:p>
            <a:pPr marL="0" indent="0">
              <a:lnSpc>
                <a:spcPts val="1560"/>
              </a:lnSpc>
              <a:spcAft>
                <a:spcPts val="0"/>
              </a:spcAft>
              <a:buNone/>
            </a:pPr>
            <a:r>
              <a:rPr lang="en-US" sz="1200" b="0">
                <a:solidFill>
                  <a:srgbClr val="202b33"/>
                </a:solidFill>
                <a:latin typeface="Arial"/>
                <a:ea typeface="Arial"/>
                <a:cs typeface="Arial"/>
              </a:rPr>
              <a:t xml:space="preserve">&gt; Find the documents your eval never judged.</a:t>
            </a:r>
            <a:endParaRPr lang="en-US" sz="1200"/>
          </a:p>
          <a:p>
            <a:pPr marL="0" indent="0">
              <a:lnSpc>
                <a:spcPts val="1560"/>
              </a:lnSpc>
              <a:spcAft>
                <a:spcPts val="0"/>
              </a:spcAft>
              <a:buNone/>
            </a:pPr>
            <a:r>
              <a:rPr lang="en-US" sz="1200" b="0">
                <a:solidFill>
                  <a:srgbClr val="202b33"/>
                </a:solidFill>
                <a:latin typeface="Arial"/>
                <a:ea typeface="Arial"/>
                <a:cs typeface="Arial"/>
              </a:rPr>
              <a:t xml:space="preserve"/>
            </a:r>
            <a:endParaRPr lang="en-US" sz="1200"/>
          </a:p>
          <a:p>
            <a:pPr marL="0" indent="0">
              <a:lnSpc>
                <a:spcPts val="1560"/>
              </a:lnSpc>
              <a:spcAft>
                <a:spcPts val="0"/>
              </a:spcAft>
              <a:buNone/>
            </a:pPr>
            <a:r>
              <a:rPr lang="en-US" sz="1200" b="0">
                <a:solidFill>
                  <a:srgbClr val="202b33"/>
                </a:solidFill>
                <a:latin typeface="Arial"/>
                <a:ea typeface="Arial"/>
                <a:cs typeface="Arial"/>
              </a:rPr>
              <a:t xml:space="preserve">Term specificity. Vector space model. Vocabulary problem. Passage retrieval. Relevance judgment. The Cranfield paradigm. Pooling. Assessor disagreement.</a:t>
            </a:r>
            <a:endParaRPr lang="en-US" sz="1200"/>
          </a:p>
          <a:p>
            <a:pPr marL="0" indent="0">
              <a:lnSpc>
                <a:spcPts val="1560"/>
              </a:lnSpc>
              <a:spcAft>
                <a:spcPts val="0"/>
              </a:spcAft>
              <a:buNone/>
            </a:pPr>
            <a:r>
              <a:rPr lang="en-US" sz="1200" b="0">
                <a:solidFill>
                  <a:srgbClr val="202b33"/>
                </a:solidFill>
                <a:latin typeface="Arial"/>
                <a:ea typeface="Arial"/>
                <a:cs typeface="Arial"/>
              </a:rPr>
              <a:t xml:space="preserve"/>
            </a:r>
            <a:endParaRPr lang="en-US" sz="1200"/>
          </a:p>
          <a:p>
            <a:pPr marL="0" indent="0">
              <a:lnSpc>
                <a:spcPts val="1560"/>
              </a:lnSpc>
              <a:spcAft>
                <a:spcPts val="0"/>
              </a:spcAft>
              <a:buNone/>
            </a:pPr>
            <a:r>
              <a:rPr lang="en-US" sz="1200" b="0">
                <a:solidFill>
                  <a:srgbClr val="202b33"/>
                </a:solidFill>
                <a:latin typeface="Arial"/>
                <a:ea typeface="Arial"/>
                <a:cs typeface="Arial"/>
              </a:rPr>
              <a:t xml:space="preserve">Those words tell us why rare identifiers matter, why synonyms are hard, why a passage needs its exception, and why the score depends on who judged which documents. They are tools for investigating a failure, not a history quiz.</a:t>
            </a:r>
            <a:endParaRPr lang="en-US" sz="1200"/>
          </a:p>
          <a:p>
            <a:pPr marL="0" indent="0">
              <a:lnSpc>
                <a:spcPts val="1560"/>
              </a:lnSpc>
              <a:spcAft>
                <a:spcPts val="0"/>
              </a:spcAft>
              <a:buNone/>
            </a:pPr>
            <a:r>
              <a:rPr lang="en-US" sz="1200" b="0">
                <a:solidFill>
                  <a:srgbClr val="202b33"/>
                </a:solidFill>
                <a:latin typeface="Arial"/>
                <a:ea typeface="Arial"/>
                <a:cs typeface="Arial"/>
              </a:rPr>
              <a:t xml:space="preserve"/>
            </a:r>
            <a:endParaRPr lang="en-US" sz="1200"/>
          </a:p>
          <a:p>
            <a:pPr marL="0" indent="0">
              <a:lnSpc>
                <a:spcPts val="1560"/>
              </a:lnSpc>
              <a:spcAft>
                <a:spcPts val="0"/>
              </a:spcAft>
              <a:buNone/>
            </a:pPr>
            <a:r>
              <a:rPr lang="en-US" sz="1200" b="0">
                <a:solidFill>
                  <a:srgbClr val="202b33"/>
                </a:solidFill>
                <a:latin typeface="Arial"/>
                <a:ea typeface="Arial"/>
                <a:cs typeface="Arial"/>
              </a:rPr>
              <a:t xml:space="preserve">Three search methods in a fundable trenchcoat. That is a fair joke about the retriever, and the coat is not the problem. Lexical, dense, hybrid: we inherited all three. What we left behind was the sixty years of checking whether the score underneath was telling the truth. Go find the documents your eval set never judged.</a:t>
            </a:r>
            <a:endParaRPr lang="en-US" sz="1200"/>
          </a:p>
          <a:p>
            <a:pPr marL="0" indent="0">
              <a:lnSpc>
                <a:spcPts val="1560"/>
              </a:lnSpc>
              <a:spcAft>
                <a:spcPts val="0"/>
              </a:spcAft>
              <a:buNone/>
            </a:pPr>
            <a:r>
              <a:rPr lang="en-US" sz="1200" b="0">
                <a:solidFill>
                  <a:srgbClr val="202b33"/>
                </a:solidFill>
                <a:latin typeface="Arial"/>
                <a:ea typeface="Arial"/>
                <a:cs typeface="Arial"/>
              </a:rPr>
              <a:t xml:space="preserve"/>
            </a:r>
            <a:endParaRPr lang="en-US" sz="1200"/>
          </a:p>
          <a:p>
            <a:pPr marL="0" indent="0">
              <a:lnSpc>
                <a:spcPts val="1560"/>
              </a:lnSpc>
              <a:spcAft>
                <a:spcPts val="0"/>
              </a:spcAft>
              <a:buNone/>
            </a:pPr>
            <a:r>
              <a:rPr lang="en-US" sz="1200" b="0">
                <a:solidFill>
                  <a:srgbClr val="202b33"/>
                </a:solidFill>
                <a:latin typeface="Arial"/>
                <a:ea typeface="Arial"/>
                <a:cs typeface="Arial"/>
              </a:rPr>
              <a:t xml:space="preserve">Stage direction: Say the title line once, flat, then drop to the instruction. Leave the B/F example up during questions. Keep all eight terms in the notes; the screen closes on the instruction.</a:t>
            </a:r>
            <a:endParaRPr lang="en-US" sz="1200"/>
          </a:p>
          <a:p>
            <a:pPr marL="0" indent="0">
              <a:lnSpc>
                <a:spcPts val="1560"/>
              </a:lnSpc>
              <a:spcAft>
                <a:spcPts val="0"/>
              </a:spcAft>
              <a:buNone/>
            </a:pPr>
            <a:r>
              <a:rPr lang="en-US" sz="1200" b="0">
                <a:solidFill>
                  <a:srgbClr val="202b33"/>
                </a:solidFill>
                <a:latin typeface="Arial"/>
                <a:ea typeface="Arial"/>
                <a:cs typeface="Arial"/>
              </a:rPr>
              <a:t xml:space="preserve"/>
            </a:r>
            <a:endParaRPr lang="en-US" sz="1200"/>
          </a:p>
        </p:txBody>
      </p:sp>
    </p:spTree>
  </p:cSld>
  <p:clrMapOvr>
    <a:masterClrMapping/>
  </p:clrMapOvr>
</p:notes>
</file>

<file path=ppt/notesSlides/notesSlide17.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Presenter notes"/>
          <p:cNvSpPr txBox="1"/>
          <p:nvPr>
            <p:ph type="body" idx="1"/>
          </p:nvPr>
        </p:nvSpPr>
        <p:spPr>
          <a:xfrm>
            <a:off x="457200" y="1428750"/>
            <a:ext cx="5715000" cy="6667500"/>
          </a:xfrm>
        </p:spPr>
        <p:txBody>
          <a:bodyPr/>
          <a:lstStyle/>
          <a:p>
            <a:pPr marL="0" indent="0">
              <a:lnSpc>
                <a:spcPts val="1560"/>
              </a:lnSpc>
              <a:spcAft>
                <a:spcPts val="0"/>
              </a:spcAft>
              <a:buNone/>
            </a:pPr>
            <a:r>
              <a:rPr lang="en-US" sz="1200" b="0">
                <a:solidFill>
                  <a:srgbClr val="202b33"/>
                </a:solidFill>
                <a:latin typeface="Arial"/>
                <a:ea typeface="Arial"/>
                <a:cs typeface="Arial"/>
              </a:rPr>
              <a:t xml:space="preserve">Karen Spärck Jones (1972), A statistical interpretation of term specificity and its application in retrieval, Journal of Documentation 28(1), 11–21. [Author’s publication archive](https://www.cl.cam.ac.uk/archive/ksj21/ksjdigipapers/ksjbib3.html).</a:t>
            </a:r>
            <a:endParaRPr lang="en-US" sz="1200"/>
          </a:p>
          <a:p>
            <a:pPr marL="0" indent="0">
              <a:lnSpc>
                <a:spcPts val="1560"/>
              </a:lnSpc>
              <a:spcAft>
                <a:spcPts val="0"/>
              </a:spcAft>
              <a:buNone/>
            </a:pPr>
            <a:r>
              <a:rPr lang="en-US" sz="1200" b="0">
                <a:solidFill>
                  <a:srgbClr val="202b33"/>
                </a:solidFill>
                <a:latin typeface="Arial"/>
                <a:ea typeface="Arial"/>
                <a:cs typeface="Arial"/>
              </a:rPr>
              <a:t xml:space="preserve"/>
            </a:r>
            <a:endParaRPr lang="en-US" sz="1200"/>
          </a:p>
          <a:p>
            <a:pPr marL="0" indent="0">
              <a:lnSpc>
                <a:spcPts val="1560"/>
              </a:lnSpc>
              <a:spcAft>
                <a:spcPts val="0"/>
              </a:spcAft>
              <a:buNone/>
            </a:pPr>
            <a:r>
              <a:rPr lang="en-US" sz="1200" b="0">
                <a:solidFill>
                  <a:srgbClr val="202b33"/>
                </a:solidFill>
                <a:latin typeface="Arial"/>
                <a:ea typeface="Arial"/>
                <a:cs typeface="Arial"/>
              </a:rPr>
              <a:t xml:space="preserve">Salton, Wong, and Yang (1975), [A vector space model for automatic indexing](https://doi.org/10.1145/361219.361220), Communications of the ACM 18(11), 613–620. Deerwester, Dumais, Furnas, Landauer, and Harshman (1990), [Indexing by Latent Semantic Analysis](https://www.cs.csustan.edu/~mmartin/LDS/Deerwester-et-al.pdf), JASIS 41(6), 391–407.</a:t>
            </a:r>
            <a:endParaRPr lang="en-US" sz="1200"/>
          </a:p>
          <a:p>
            <a:pPr marL="0" indent="0">
              <a:lnSpc>
                <a:spcPts val="1560"/>
              </a:lnSpc>
              <a:spcAft>
                <a:spcPts val="0"/>
              </a:spcAft>
              <a:buNone/>
            </a:pPr>
            <a:r>
              <a:rPr lang="en-US" sz="1200" b="0">
                <a:solidFill>
                  <a:srgbClr val="202b33"/>
                </a:solidFill>
                <a:latin typeface="Arial"/>
                <a:ea typeface="Arial"/>
                <a:cs typeface="Arial"/>
              </a:rPr>
              <a:t xml:space="preserve"/>
            </a:r>
            <a:endParaRPr lang="en-US" sz="1200"/>
          </a:p>
          <a:p>
            <a:pPr marL="0" indent="0">
              <a:lnSpc>
                <a:spcPts val="1560"/>
              </a:lnSpc>
              <a:spcAft>
                <a:spcPts val="0"/>
              </a:spcAft>
              <a:buNone/>
            </a:pPr>
            <a:r>
              <a:rPr lang="en-US" sz="1200" b="0">
                <a:solidFill>
                  <a:srgbClr val="202b33"/>
                </a:solidFill>
                <a:latin typeface="Arial"/>
                <a:ea typeface="Arial"/>
                <a:cs typeface="Arial"/>
              </a:rPr>
              <a:t xml:space="preserve">Furnas, Landauer, Gomez, and Dumais (1987), [The vocabulary problem in human-system communication](https://doi.org/10.1145/32206.32212), Communications of the ACM 30(11), 964–971.</a:t>
            </a:r>
            <a:endParaRPr lang="en-US" sz="1200"/>
          </a:p>
          <a:p>
            <a:pPr marL="0" indent="0">
              <a:lnSpc>
                <a:spcPts val="1560"/>
              </a:lnSpc>
              <a:spcAft>
                <a:spcPts val="0"/>
              </a:spcAft>
              <a:buNone/>
            </a:pPr>
            <a:r>
              <a:rPr lang="en-US" sz="1200" b="0">
                <a:solidFill>
                  <a:srgbClr val="202b33"/>
                </a:solidFill>
                <a:latin typeface="Arial"/>
                <a:ea typeface="Arial"/>
                <a:cs typeface="Arial"/>
              </a:rPr>
              <a:t xml:space="preserve"/>
            </a:r>
            <a:endParaRPr lang="en-US" sz="1200"/>
          </a:p>
          <a:p>
            <a:pPr marL="0" indent="0">
              <a:lnSpc>
                <a:spcPts val="1560"/>
              </a:lnSpc>
              <a:spcAft>
                <a:spcPts val="0"/>
              </a:spcAft>
              <a:buNone/>
            </a:pPr>
            <a:r>
              <a:rPr lang="en-US" sz="1200" b="0">
                <a:solidFill>
                  <a:srgbClr val="202b33"/>
                </a:solidFill>
                <a:latin typeface="Arial"/>
                <a:ea typeface="Arial"/>
                <a:cs typeface="Arial"/>
              </a:rPr>
              <a:t xml:space="preserve">Salton, Allan, and Buckley (1993), [Approaches to passage retrieval in full text information systems](https://doi.org/10.1145/160688.160693), SIGIR, 49–58.</a:t>
            </a:r>
            <a:endParaRPr lang="en-US" sz="1200"/>
          </a:p>
          <a:p>
            <a:pPr marL="0" indent="0">
              <a:lnSpc>
                <a:spcPts val="1560"/>
              </a:lnSpc>
              <a:spcAft>
                <a:spcPts val="0"/>
              </a:spcAft>
              <a:buNone/>
            </a:pPr>
            <a:r>
              <a:rPr lang="en-US" sz="1200" b="0">
                <a:solidFill>
                  <a:srgbClr val="202b33"/>
                </a:solidFill>
                <a:latin typeface="Arial"/>
                <a:ea typeface="Arial"/>
                <a:cs typeface="Arial"/>
              </a:rPr>
              <a:t xml:space="preserve"/>
            </a:r>
            <a:endParaRPr lang="en-US" sz="1200"/>
          </a:p>
          <a:p>
            <a:pPr marL="0" indent="0">
              <a:lnSpc>
                <a:spcPts val="1560"/>
              </a:lnSpc>
              <a:spcAft>
                <a:spcPts val="0"/>
              </a:spcAft>
              <a:buNone/>
            </a:pPr>
            <a:r>
              <a:rPr lang="en-US" sz="1200" b="0">
                <a:solidFill>
                  <a:srgbClr val="202b33"/>
                </a:solidFill>
                <a:latin typeface="Arial"/>
                <a:ea typeface="Arial"/>
                <a:cs typeface="Arial"/>
              </a:rPr>
              <a:t xml:space="preserve">Thakur et al. (2021), [BEIR: A Heterogeneous Benchmark for Zero-shot Evaluation of Information Retrieval Models](https://openreview.net/pdf?id=wCu6T5xFjeJ), NeurIPS Datasets and Benchmarks. This slide reports the 2021 experiment.</a:t>
            </a:r>
            <a:endParaRPr lang="en-US" sz="1200"/>
          </a:p>
          <a:p>
            <a:pPr marL="0" indent="0">
              <a:lnSpc>
                <a:spcPts val="1560"/>
              </a:lnSpc>
              <a:spcAft>
                <a:spcPts val="0"/>
              </a:spcAft>
              <a:buNone/>
            </a:pPr>
            <a:r>
              <a:rPr lang="en-US" sz="1200" b="0">
                <a:solidFill>
                  <a:srgbClr val="202b33"/>
                </a:solidFill>
                <a:latin typeface="Arial"/>
                <a:ea typeface="Arial"/>
                <a:cs typeface="Arial"/>
              </a:rPr>
              <a:t xml:space="preserve"/>
            </a:r>
            <a:endParaRPr lang="en-US" sz="1200"/>
          </a:p>
          <a:p>
            <a:pPr marL="0" indent="0">
              <a:lnSpc>
                <a:spcPts val="1560"/>
              </a:lnSpc>
              <a:spcAft>
                <a:spcPts val="0"/>
              </a:spcAft>
              <a:buNone/>
            </a:pPr>
            <a:r>
              <a:rPr lang="en-US" sz="1200" b="0">
                <a:solidFill>
                  <a:srgbClr val="202b33"/>
                </a:solidFill>
                <a:latin typeface="Arial"/>
                <a:ea typeface="Arial"/>
                <a:cs typeface="Arial"/>
              </a:rPr>
              <a:t xml:space="preserve">Cleverdon, Mills, and Keen (1966), [Factors Determining the Performance of Indexing Systems, Volume I, Design, Part 2, front matter](https://sigir.org/files/museum/Factors%20Determining%20the%20Performance%20of%20Indexing%20Systems%20Volume%20I.%20Design%20-%20Part%202.%20Appendices/pdfs/frontmatter.pdf).</a:t>
            </a:r>
            <a:endParaRPr lang="en-US" sz="1200"/>
          </a:p>
          <a:p>
            <a:pPr marL="0" indent="0">
              <a:lnSpc>
                <a:spcPts val="1560"/>
              </a:lnSpc>
              <a:spcAft>
                <a:spcPts val="0"/>
              </a:spcAft>
              <a:buNone/>
            </a:pPr>
            <a:r>
              <a:rPr lang="en-US" sz="1200" b="0">
                <a:solidFill>
                  <a:srgbClr val="202b33"/>
                </a:solidFill>
                <a:latin typeface="Arial"/>
                <a:ea typeface="Arial"/>
                <a:cs typeface="Arial"/>
              </a:rPr>
              <a:t xml:space="preserve"/>
            </a:r>
            <a:endParaRPr lang="en-US" sz="1200"/>
          </a:p>
          <a:p>
            <a:pPr marL="0" indent="0">
              <a:lnSpc>
                <a:spcPts val="1560"/>
              </a:lnSpc>
              <a:spcAft>
                <a:spcPts val="0"/>
              </a:spcAft>
              <a:buNone/>
            </a:pPr>
            <a:r>
              <a:rPr lang="en-US" sz="1200" b="0">
                <a:solidFill>
                  <a:srgbClr val="202b33"/>
                </a:solidFill>
                <a:latin typeface="Arial"/>
                <a:ea typeface="Arial"/>
                <a:cs typeface="Arial"/>
              </a:rPr>
              <a:t xml:space="preserve">Justin Zobel (1998), [How reliable are the results of large-scale information retrieval experiments?](https://doi.org/10.1145/290941.291014), SIGIR, 307–314. Voorhees, Soboroff, and Lin (2022), [Can Old TREC Collections Reliably Evaluate Modern Neural Retrieval Models?](https://arxiv.org/abs/2201.11086). [NIST TREC overview](https://trec.nist.gov/overview.html), started 1992.</a:t>
            </a:r>
            <a:endParaRPr lang="en-US" sz="1200"/>
          </a:p>
          <a:p>
            <a:pPr marL="0" indent="0">
              <a:lnSpc>
                <a:spcPts val="1560"/>
              </a:lnSpc>
              <a:spcAft>
                <a:spcPts val="0"/>
              </a:spcAft>
              <a:buNone/>
            </a:pPr>
            <a:r>
              <a:rPr lang="en-US" sz="1200" b="0">
                <a:solidFill>
                  <a:srgbClr val="202b33"/>
                </a:solidFill>
                <a:latin typeface="Arial"/>
                <a:ea typeface="Arial"/>
                <a:cs typeface="Arial"/>
              </a:rPr>
              <a:t xml:space="preserve"/>
            </a:r>
            <a:endParaRPr lang="en-US" sz="1200"/>
          </a:p>
          <a:p>
            <a:pPr marL="0" indent="0">
              <a:lnSpc>
                <a:spcPts val="1560"/>
              </a:lnSpc>
              <a:spcAft>
                <a:spcPts val="0"/>
              </a:spcAft>
              <a:buNone/>
            </a:pPr>
            <a:r>
              <a:rPr lang="en-US" sz="1200" b="0">
                <a:solidFill>
                  <a:srgbClr val="202b33"/>
                </a:solidFill>
                <a:latin typeface="Arial"/>
                <a:ea typeface="Arial"/>
                <a:cs typeface="Arial"/>
              </a:rPr>
              <a:t xml:space="preserve">Ellen M. Voorhees (2000), [Variations in Relevance Judgments and the Measurement of Retrieval Effectiveness](https://www.nist.gov/publications/variations-relevance-judgments-and-measurement-retrieval-effectiveness), Information Processing &amp; Management 36(5), 697–716.</a:t>
            </a:r>
            <a:endParaRPr lang="en-US" sz="1200"/>
          </a:p>
          <a:p>
            <a:pPr marL="0" indent="0">
              <a:lnSpc>
                <a:spcPts val="1560"/>
              </a:lnSpc>
              <a:spcAft>
                <a:spcPts val="0"/>
              </a:spcAft>
              <a:buNone/>
            </a:pPr>
            <a:r>
              <a:rPr lang="en-US" sz="1200" b="0">
                <a:solidFill>
                  <a:srgbClr val="202b33"/>
                </a:solidFill>
                <a:latin typeface="Arial"/>
                <a:ea typeface="Arial"/>
                <a:cs typeface="Arial"/>
              </a:rPr>
              <a:t xml:space="preserve"/>
            </a:r>
            <a:endParaRPr lang="en-US" sz="1200"/>
          </a:p>
          <a:p>
            <a:pPr marL="0" indent="0">
              <a:lnSpc>
                <a:spcPts val="1560"/>
              </a:lnSpc>
              <a:spcAft>
                <a:spcPts val="0"/>
              </a:spcAft>
              <a:buNone/>
            </a:pPr>
            <a:r>
              <a:rPr lang="en-US" sz="1200" b="0">
                <a:solidFill>
                  <a:srgbClr val="202b33"/>
                </a:solidFill>
                <a:latin typeface="Arial"/>
                <a:ea typeface="Arial"/>
                <a:cs typeface="Arial"/>
              </a:rPr>
              <a:t xml:space="preserve">John McDermott (1982), [R1: A rule-based configurer of computer systems](https://www.sciencedirect.com/science/article/abs/pii/0004370282900212), Artificial Intelligence 19(1), 39–88.</a:t>
            </a:r>
            <a:endParaRPr lang="en-US" sz="1200"/>
          </a:p>
        </p:txBody>
      </p:sp>
    </p:spTree>
  </p:cSld>
  <p:clrMapOvr>
    <a:masterClrMapping/>
  </p:clrMapOvr>
</p:notes>
</file>

<file path=ppt/notesSlides/notesSlide18.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Presenter notes"/>
          <p:cNvSpPr txBox="1"/>
          <p:nvPr>
            <p:ph type="body" idx="1"/>
          </p:nvPr>
        </p:nvSpPr>
        <p:spPr>
          <a:xfrm>
            <a:off x="457200" y="1428750"/>
            <a:ext cx="5715000" cy="6667500"/>
          </a:xfrm>
        </p:spPr>
        <p:txBody>
          <a:bodyPr/>
          <a:lstStyle/>
          <a:p>
            <a:pPr marL="0" indent="0">
              <a:lnSpc>
                <a:spcPts val="1560"/>
              </a:lnSpc>
              <a:spcAft>
                <a:spcPts val="0"/>
              </a:spcAft>
              <a:buNone/>
            </a:pPr>
            <a:r>
              <a:rPr lang="en-US" sz="1200" b="0">
                <a:solidFill>
                  <a:srgbClr val="202b33"/>
                </a:solidFill>
                <a:latin typeface="Arial"/>
                <a:ea typeface="Arial"/>
                <a:cs typeface="Arial"/>
              </a:rPr>
              <a:t xml:space="preserve">Karen Spärck Jones (1972), A statistical interpretation of term specificity and its application in retrieval, Journal of Documentation 28(1), 11–21. [Author’s publication archive](https://www.cl.cam.ac.uk/archive/ksj21/ksjdigipapers/ksjbib3.html).</a:t>
            </a:r>
            <a:endParaRPr lang="en-US" sz="1200"/>
          </a:p>
          <a:p>
            <a:pPr marL="0" indent="0">
              <a:lnSpc>
                <a:spcPts val="1560"/>
              </a:lnSpc>
              <a:spcAft>
                <a:spcPts val="0"/>
              </a:spcAft>
              <a:buNone/>
            </a:pPr>
            <a:r>
              <a:rPr lang="en-US" sz="1200" b="0">
                <a:solidFill>
                  <a:srgbClr val="202b33"/>
                </a:solidFill>
                <a:latin typeface="Arial"/>
                <a:ea typeface="Arial"/>
                <a:cs typeface="Arial"/>
              </a:rPr>
              <a:t xml:space="preserve"/>
            </a:r>
            <a:endParaRPr lang="en-US" sz="1200"/>
          </a:p>
          <a:p>
            <a:pPr marL="0" indent="0">
              <a:lnSpc>
                <a:spcPts val="1560"/>
              </a:lnSpc>
              <a:spcAft>
                <a:spcPts val="0"/>
              </a:spcAft>
              <a:buNone/>
            </a:pPr>
            <a:r>
              <a:rPr lang="en-US" sz="1200" b="0">
                <a:solidFill>
                  <a:srgbClr val="202b33"/>
                </a:solidFill>
                <a:latin typeface="Arial"/>
                <a:ea typeface="Arial"/>
                <a:cs typeface="Arial"/>
              </a:rPr>
              <a:t xml:space="preserve">Salton, Wong, and Yang (1975), [A vector space model for automatic indexing](https://doi.org/10.1145/361219.361220), Communications of the ACM 18(11), 613–620. Deerwester, Dumais, Furnas, Landauer, and Harshman (1990), [Indexing by Latent Semantic Analysis](https://www.cs.csustan.edu/~mmartin/LDS/Deerwester-et-al.pdf), JASIS 41(6), 391–407.</a:t>
            </a:r>
            <a:endParaRPr lang="en-US" sz="1200"/>
          </a:p>
          <a:p>
            <a:pPr marL="0" indent="0">
              <a:lnSpc>
                <a:spcPts val="1560"/>
              </a:lnSpc>
              <a:spcAft>
                <a:spcPts val="0"/>
              </a:spcAft>
              <a:buNone/>
            </a:pPr>
            <a:r>
              <a:rPr lang="en-US" sz="1200" b="0">
                <a:solidFill>
                  <a:srgbClr val="202b33"/>
                </a:solidFill>
                <a:latin typeface="Arial"/>
                <a:ea typeface="Arial"/>
                <a:cs typeface="Arial"/>
              </a:rPr>
              <a:t xml:space="preserve"/>
            </a:r>
            <a:endParaRPr lang="en-US" sz="1200"/>
          </a:p>
          <a:p>
            <a:pPr marL="0" indent="0">
              <a:lnSpc>
                <a:spcPts val="1560"/>
              </a:lnSpc>
              <a:spcAft>
                <a:spcPts val="0"/>
              </a:spcAft>
              <a:buNone/>
            </a:pPr>
            <a:r>
              <a:rPr lang="en-US" sz="1200" b="0">
                <a:solidFill>
                  <a:srgbClr val="202b33"/>
                </a:solidFill>
                <a:latin typeface="Arial"/>
                <a:ea typeface="Arial"/>
                <a:cs typeface="Arial"/>
              </a:rPr>
              <a:t xml:space="preserve">Furnas, Landauer, Gomez, and Dumais (1987), [The vocabulary problem in human-system communication](https://doi.org/10.1145/32206.32212), Communications of the ACM 30(11), 964–971.</a:t>
            </a:r>
            <a:endParaRPr lang="en-US" sz="1200"/>
          </a:p>
          <a:p>
            <a:pPr marL="0" indent="0">
              <a:lnSpc>
                <a:spcPts val="1560"/>
              </a:lnSpc>
              <a:spcAft>
                <a:spcPts val="0"/>
              </a:spcAft>
              <a:buNone/>
            </a:pPr>
            <a:r>
              <a:rPr lang="en-US" sz="1200" b="0">
                <a:solidFill>
                  <a:srgbClr val="202b33"/>
                </a:solidFill>
                <a:latin typeface="Arial"/>
                <a:ea typeface="Arial"/>
                <a:cs typeface="Arial"/>
              </a:rPr>
              <a:t xml:space="preserve"/>
            </a:r>
            <a:endParaRPr lang="en-US" sz="1200"/>
          </a:p>
          <a:p>
            <a:pPr marL="0" indent="0">
              <a:lnSpc>
                <a:spcPts val="1560"/>
              </a:lnSpc>
              <a:spcAft>
                <a:spcPts val="0"/>
              </a:spcAft>
              <a:buNone/>
            </a:pPr>
            <a:r>
              <a:rPr lang="en-US" sz="1200" b="0">
                <a:solidFill>
                  <a:srgbClr val="202b33"/>
                </a:solidFill>
                <a:latin typeface="Arial"/>
                <a:ea typeface="Arial"/>
                <a:cs typeface="Arial"/>
              </a:rPr>
              <a:t xml:space="preserve">Salton, Allan, and Buckley (1993), [Approaches to passage retrieval in full text information systems](https://doi.org/10.1145/160688.160693), SIGIR, 49–58.</a:t>
            </a:r>
            <a:endParaRPr lang="en-US" sz="1200"/>
          </a:p>
          <a:p>
            <a:pPr marL="0" indent="0">
              <a:lnSpc>
                <a:spcPts val="1560"/>
              </a:lnSpc>
              <a:spcAft>
                <a:spcPts val="0"/>
              </a:spcAft>
              <a:buNone/>
            </a:pPr>
            <a:r>
              <a:rPr lang="en-US" sz="1200" b="0">
                <a:solidFill>
                  <a:srgbClr val="202b33"/>
                </a:solidFill>
                <a:latin typeface="Arial"/>
                <a:ea typeface="Arial"/>
                <a:cs typeface="Arial"/>
              </a:rPr>
              <a:t xml:space="preserve"/>
            </a:r>
            <a:endParaRPr lang="en-US" sz="1200"/>
          </a:p>
          <a:p>
            <a:pPr marL="0" indent="0">
              <a:lnSpc>
                <a:spcPts val="1560"/>
              </a:lnSpc>
              <a:spcAft>
                <a:spcPts val="0"/>
              </a:spcAft>
              <a:buNone/>
            </a:pPr>
            <a:r>
              <a:rPr lang="en-US" sz="1200" b="0">
                <a:solidFill>
                  <a:srgbClr val="202b33"/>
                </a:solidFill>
                <a:latin typeface="Arial"/>
                <a:ea typeface="Arial"/>
                <a:cs typeface="Arial"/>
              </a:rPr>
              <a:t xml:space="preserve">Thakur et al. (2021), [BEIR: A Heterogeneous Benchmark for Zero-shot Evaluation of Information Retrieval Models](https://openreview.net/pdf?id=wCu6T5xFjeJ), NeurIPS Datasets and Benchmarks. This slide reports the 2021 experiment.</a:t>
            </a:r>
            <a:endParaRPr lang="en-US" sz="1200"/>
          </a:p>
          <a:p>
            <a:pPr marL="0" indent="0">
              <a:lnSpc>
                <a:spcPts val="1560"/>
              </a:lnSpc>
              <a:spcAft>
                <a:spcPts val="0"/>
              </a:spcAft>
              <a:buNone/>
            </a:pPr>
            <a:r>
              <a:rPr lang="en-US" sz="1200" b="0">
                <a:solidFill>
                  <a:srgbClr val="202b33"/>
                </a:solidFill>
                <a:latin typeface="Arial"/>
                <a:ea typeface="Arial"/>
                <a:cs typeface="Arial"/>
              </a:rPr>
              <a:t xml:space="preserve"/>
            </a:r>
            <a:endParaRPr lang="en-US" sz="1200"/>
          </a:p>
          <a:p>
            <a:pPr marL="0" indent="0">
              <a:lnSpc>
                <a:spcPts val="1560"/>
              </a:lnSpc>
              <a:spcAft>
                <a:spcPts val="0"/>
              </a:spcAft>
              <a:buNone/>
            </a:pPr>
            <a:r>
              <a:rPr lang="en-US" sz="1200" b="0">
                <a:solidFill>
                  <a:srgbClr val="202b33"/>
                </a:solidFill>
                <a:latin typeface="Arial"/>
                <a:ea typeface="Arial"/>
                <a:cs typeface="Arial"/>
              </a:rPr>
              <a:t xml:space="preserve">Cleverdon, Mills, and Keen (1966), [Factors Determining the Performance of Indexing Systems, Volume I, Design, Part 2, front matter](https://sigir.org/files/museum/Factors%20Determining%20the%20Performance%20of%20Indexing%20Systems%20Volume%20I.%20Design%20-%20Part%202.%20Appendices/pdfs/frontmatter.pdf).</a:t>
            </a:r>
            <a:endParaRPr lang="en-US" sz="1200"/>
          </a:p>
          <a:p>
            <a:pPr marL="0" indent="0">
              <a:lnSpc>
                <a:spcPts val="1560"/>
              </a:lnSpc>
              <a:spcAft>
                <a:spcPts val="0"/>
              </a:spcAft>
              <a:buNone/>
            </a:pPr>
            <a:r>
              <a:rPr lang="en-US" sz="1200" b="0">
                <a:solidFill>
                  <a:srgbClr val="202b33"/>
                </a:solidFill>
                <a:latin typeface="Arial"/>
                <a:ea typeface="Arial"/>
                <a:cs typeface="Arial"/>
              </a:rPr>
              <a:t xml:space="preserve"/>
            </a:r>
            <a:endParaRPr lang="en-US" sz="1200"/>
          </a:p>
          <a:p>
            <a:pPr marL="0" indent="0">
              <a:lnSpc>
                <a:spcPts val="1560"/>
              </a:lnSpc>
              <a:spcAft>
                <a:spcPts val="0"/>
              </a:spcAft>
              <a:buNone/>
            </a:pPr>
            <a:r>
              <a:rPr lang="en-US" sz="1200" b="0">
                <a:solidFill>
                  <a:srgbClr val="202b33"/>
                </a:solidFill>
                <a:latin typeface="Arial"/>
                <a:ea typeface="Arial"/>
                <a:cs typeface="Arial"/>
              </a:rPr>
              <a:t xml:space="preserve">Justin Zobel (1998), [How reliable are the results of large-scale information retrieval experiments?](https://doi.org/10.1145/290941.291014), SIGIR, 307–314. Voorhees, Soboroff, and Lin (2022), [Can Old TREC Collections Reliably Evaluate Modern Neural Retrieval Models?](https://arxiv.org/abs/2201.11086). [NIST TREC overview](https://trec.nist.gov/overview.html), started 1992.</a:t>
            </a:r>
            <a:endParaRPr lang="en-US" sz="1200"/>
          </a:p>
          <a:p>
            <a:pPr marL="0" indent="0">
              <a:lnSpc>
                <a:spcPts val="1560"/>
              </a:lnSpc>
              <a:spcAft>
                <a:spcPts val="0"/>
              </a:spcAft>
              <a:buNone/>
            </a:pPr>
            <a:r>
              <a:rPr lang="en-US" sz="1200" b="0">
                <a:solidFill>
                  <a:srgbClr val="202b33"/>
                </a:solidFill>
                <a:latin typeface="Arial"/>
                <a:ea typeface="Arial"/>
                <a:cs typeface="Arial"/>
              </a:rPr>
              <a:t xml:space="preserve"/>
            </a:r>
            <a:endParaRPr lang="en-US" sz="1200"/>
          </a:p>
          <a:p>
            <a:pPr marL="0" indent="0">
              <a:lnSpc>
                <a:spcPts val="1560"/>
              </a:lnSpc>
              <a:spcAft>
                <a:spcPts val="0"/>
              </a:spcAft>
              <a:buNone/>
            </a:pPr>
            <a:r>
              <a:rPr lang="en-US" sz="1200" b="0">
                <a:solidFill>
                  <a:srgbClr val="202b33"/>
                </a:solidFill>
                <a:latin typeface="Arial"/>
                <a:ea typeface="Arial"/>
                <a:cs typeface="Arial"/>
              </a:rPr>
              <a:t xml:space="preserve">Ellen M. Voorhees (2000), [Variations in Relevance Judgments and the Measurement of Retrieval Effectiveness](https://www.nist.gov/publications/variations-relevance-judgments-and-measurement-retrieval-effectiveness), Information Processing &amp; Management 36(5), 697–716.</a:t>
            </a:r>
            <a:endParaRPr lang="en-US" sz="1200"/>
          </a:p>
          <a:p>
            <a:pPr marL="0" indent="0">
              <a:lnSpc>
                <a:spcPts val="1560"/>
              </a:lnSpc>
              <a:spcAft>
                <a:spcPts val="0"/>
              </a:spcAft>
              <a:buNone/>
            </a:pPr>
            <a:r>
              <a:rPr lang="en-US" sz="1200" b="0">
                <a:solidFill>
                  <a:srgbClr val="202b33"/>
                </a:solidFill>
                <a:latin typeface="Arial"/>
                <a:ea typeface="Arial"/>
                <a:cs typeface="Arial"/>
              </a:rPr>
              <a:t xml:space="preserve"/>
            </a:r>
            <a:endParaRPr lang="en-US" sz="1200"/>
          </a:p>
          <a:p>
            <a:pPr marL="0" indent="0">
              <a:lnSpc>
                <a:spcPts val="1560"/>
              </a:lnSpc>
              <a:spcAft>
                <a:spcPts val="0"/>
              </a:spcAft>
              <a:buNone/>
            </a:pPr>
            <a:r>
              <a:rPr lang="en-US" sz="1200" b="0">
                <a:solidFill>
                  <a:srgbClr val="202b33"/>
                </a:solidFill>
                <a:latin typeface="Arial"/>
                <a:ea typeface="Arial"/>
                <a:cs typeface="Arial"/>
              </a:rPr>
              <a:t xml:space="preserve">John McDermott (1982), [R1: A rule-based configurer of computer systems](https://www.sciencedirect.com/science/article/abs/pii/0004370282900212), Artificial Intelligence 19(1), 39–88.</a:t>
            </a:r>
            <a:endParaRPr lang="en-US" sz="1200"/>
          </a:p>
        </p:txBody>
      </p:sp>
    </p:spTree>
  </p:cSld>
  <p:clrMapOvr>
    <a:masterClrMapping/>
  </p:clrMapOvr>
</p:notes>
</file>

<file path=ppt/slideLayouts/_rels/slideLayout1.xml.rels><?xml version="1.0" encoding="UTF-8" standalone="yes"?><Relationships xmlns="http://schemas.openxmlformats.org/package/2006/relationships"><Relationship Id="rIdMaster" Type="http://schemas.openxmlformats.org/officeDocument/2006/relationships/slideMaster" Target="../slideMasters/slideMaster1.xml"/></Relationships>
</file>

<file path=ppt/slideLayouts/slideLayout1.xml><?xml version="1.0" encoding="utf-8"?>
<p:sldLayout xmlns:a="http://schemas.openxmlformats.org/drawingml/2006/main" xmlns:r="http://schemas.openxmlformats.org/officeDocument/2006/relationships" xmlns:p="http://schemas.openxmlformats.org/presentationml/2006/main" type="blank" preserve="1">
  <p:cSld name="Blank">
    <p:spTree>
      <p:nvGrpSpPr>
        <p:cNvPr id="1" name=""/>
        <p:cNvGrpSpPr/>
        <p:nvPr/>
      </p:nvGrpSpPr>
      <p:grpSpPr>
        <a:xfrm>
          <a:off x="0" y="0"/>
          <a:ext cx="0" cy="0"/>
          <a:chOff x="0" y="0"/>
          <a:chExt cx="0" cy="0"/>
        </a:xfrm>
      </p:grpSpPr>
    </p:spTree>
  </p:cSld>
  <p:clrMapOvr>
    <a:masterClrMapping/>
  </p:clrMapOvr>
</p:sldLayout>
</file>

<file path=ppt/slideMasters/_rels/slideMaster1.xml.rels><?xml version="1.0" encoding="UTF-8" standalone="yes"?><Relationships xmlns="http://schemas.openxmlformats.org/package/2006/relationships"><Relationship Id="rIdLayout" Type="http://schemas.openxmlformats.org/officeDocument/2006/relationships/slideLayout" Target="../slideLayouts/slideLayout1.xml"/><Relationship Id="rIdTheme" Type="http://schemas.openxmlformats.org/officeDocument/2006/relationships/theme" Target="../theme/theme1.xml"/></Relationships>
</file>

<file path=ppt/slideMasters/slideMaster1.xml><?xml version="1.0" encoding="utf-8"?>
<p:sldMaster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Tree>
  </p:cSld>
  <p:clrMap accent1="accent1" accent2="accent2" accent3="accent3" accent4="accent4" accent5="accent5" accent6="accent6" bg1="lt1" bg2="lt2" folHlink="folHlink" hlink="hlink" tx1="dk1" tx2="dk2"/>
  <p:sldLayoutIdLst>
    <p:sldLayoutId id="2147483649" r:id="rIdLayout"/>
  </p:sldLayoutIdLst>
  <p:txStyles>
    <p:titleStyle/>
    <p:bodyStyle/>
    <p:otherStyle/>
  </p:txStyles>
</p:sldMaster>
</file>

<file path=ppt/slides/_rels/slide1.xml.rels><?xml version="1.0" encoding="UTF-8" standalone="yes"?><Relationships xmlns="http://schemas.openxmlformats.org/package/2006/relationships"><Relationship Id="rIdLayout" Type="http://schemas.openxmlformats.org/officeDocument/2006/relationships/slideLayout" Target="../slideLayouts/slideLayout1.xml"/><Relationship Id="rIdNotes" Type="http://schemas.openxmlformats.org/officeDocument/2006/relationships/notesSlide" Target="../notesSlides/notesSlide1.xml"/></Relationships>
</file>

<file path=ppt/slides/_rels/slide2.xml.rels><?xml version="1.0" encoding="UTF-8" standalone="yes"?><Relationships xmlns="http://schemas.openxmlformats.org/package/2006/relationships"><Relationship Id="rIdLayout" Type="http://schemas.openxmlformats.org/officeDocument/2006/relationships/slideLayout" Target="../slideLayouts/slideLayout1.xml"/><Relationship Id="rIdNotes" Type="http://schemas.openxmlformats.org/officeDocument/2006/relationships/notesSlide" Target="../notesSlides/notesSlide2.xml"/></Relationships>
</file>

<file path=ppt/slides/_rels/slide3.xml.rels><?xml version="1.0" encoding="UTF-8" standalone="yes"?><Relationships xmlns="http://schemas.openxmlformats.org/package/2006/relationships"><Relationship Id="rIdLayout" Type="http://schemas.openxmlformats.org/officeDocument/2006/relationships/slideLayout" Target="../slideLayouts/slideLayout1.xml"/><Relationship Id="rIdNotes" Type="http://schemas.openxmlformats.org/officeDocument/2006/relationships/notesSlide" Target="../notesSlides/notesSlide3.xml"/></Relationships>
</file>

<file path=ppt/slides/_rels/slide4.xml.rels><?xml version="1.0" encoding="UTF-8" standalone="yes"?><Relationships xmlns="http://schemas.openxmlformats.org/package/2006/relationships"><Relationship Id="rIdLayout" Type="http://schemas.openxmlformats.org/officeDocument/2006/relationships/slideLayout" Target="../slideLayouts/slideLayout1.xml"/><Relationship Id="rIdNotes" Type="http://schemas.openxmlformats.org/officeDocument/2006/relationships/notesSlide" Target="../notesSlides/notesSlide4.xml"/></Relationships>
</file>

<file path=ppt/slides/_rels/slide5.xml.rels><?xml version="1.0" encoding="UTF-8" standalone="yes"?><Relationships xmlns="http://schemas.openxmlformats.org/package/2006/relationships"><Relationship Id="rIdLayout" Type="http://schemas.openxmlformats.org/officeDocument/2006/relationships/slideLayout" Target="../slideLayouts/slideLayout1.xml"/><Relationship Id="rIdNotes" Type="http://schemas.openxmlformats.org/officeDocument/2006/relationships/notesSlide" Target="../notesSlides/notesSlide5.xml"/></Relationships>
</file>

<file path=ppt/slides/_rels/slide6.xml.rels><?xml version="1.0" encoding="UTF-8" standalone="yes"?><Relationships xmlns="http://schemas.openxmlformats.org/package/2006/relationships"><Relationship Id="rIdLayout" Type="http://schemas.openxmlformats.org/officeDocument/2006/relationships/slideLayout" Target="../slideLayouts/slideLayout1.xml"/><Relationship Id="rIdNotes" Type="http://schemas.openxmlformats.org/officeDocument/2006/relationships/notesSlide" Target="../notesSlides/notesSlide6.xml"/></Relationships>
</file>

<file path=ppt/slides/_rels/slide7.xml.rels><?xml version="1.0" encoding="UTF-8" standalone="yes"?><Relationships xmlns="http://schemas.openxmlformats.org/package/2006/relationships"><Relationship Id="rIdLayout" Type="http://schemas.openxmlformats.org/officeDocument/2006/relationships/slideLayout" Target="../slideLayouts/slideLayout1.xml"/><Relationship Id="rIdNotes" Type="http://schemas.openxmlformats.org/officeDocument/2006/relationships/notesSlide" Target="../notesSlides/notesSlide7.xml"/></Relationships>
</file>

<file path=ppt/slides/_rels/slide8.xml.rels><?xml version="1.0" encoding="UTF-8" standalone="yes"?><Relationships xmlns="http://schemas.openxmlformats.org/package/2006/relationships"><Relationship Id="rIdLayout" Type="http://schemas.openxmlformats.org/officeDocument/2006/relationships/slideLayout" Target="../slideLayouts/slideLayout1.xml"/><Relationship Id="rIdNotes" Type="http://schemas.openxmlformats.org/officeDocument/2006/relationships/notesSlide" Target="../notesSlides/notesSlide8.xml"/></Relationships>
</file>

<file path=ppt/slides/_rels/slide9.xml.rels><?xml version="1.0" encoding="UTF-8" standalone="yes"?><Relationships xmlns="http://schemas.openxmlformats.org/package/2006/relationships"><Relationship Id="rIdLayout" Type="http://schemas.openxmlformats.org/officeDocument/2006/relationships/slideLayout" Target="../slideLayouts/slideLayout1.xml"/><Relationship Id="rIdNotes" Type="http://schemas.openxmlformats.org/officeDocument/2006/relationships/notesSlide" Target="../notesSlides/notesSlide9.xml"/></Relationships>
</file>

<file path=ppt/slides/_rels/slide10.xml.rels><?xml version="1.0" encoding="UTF-8" standalone="yes"?><Relationships xmlns="http://schemas.openxmlformats.org/package/2006/relationships"><Relationship Id="rIdLayout" Type="http://schemas.openxmlformats.org/officeDocument/2006/relationships/slideLayout" Target="../slideLayouts/slideLayout1.xml"/><Relationship Id="rIdNotes" Type="http://schemas.openxmlformats.org/officeDocument/2006/relationships/notesSlide" Target="../notesSlides/notesSlide10.xml"/><Relationship Id="rIdImage1" Type="http://schemas.openxmlformats.org/officeDocument/2006/relationships/image" Target="../media/slide10-1.png"/><Relationship Id="rIdSvg1" Type="http://schemas.openxmlformats.org/officeDocument/2006/relationships/image" Target="../media/slide10-1.svg"/></Relationships>
</file>

<file path=ppt/slides/_rels/slide11.xml.rels><?xml version="1.0" encoding="UTF-8" standalone="yes"?><Relationships xmlns="http://schemas.openxmlformats.org/package/2006/relationships"><Relationship Id="rIdLayout" Type="http://schemas.openxmlformats.org/officeDocument/2006/relationships/slideLayout" Target="../slideLayouts/slideLayout1.xml"/><Relationship Id="rIdNotes" Type="http://schemas.openxmlformats.org/officeDocument/2006/relationships/notesSlide" Target="../notesSlides/notesSlide11.xml"/></Relationships>
</file>

<file path=ppt/slides/_rels/slide12.xml.rels><?xml version="1.0" encoding="UTF-8" standalone="yes"?><Relationships xmlns="http://schemas.openxmlformats.org/package/2006/relationships"><Relationship Id="rIdLayout" Type="http://schemas.openxmlformats.org/officeDocument/2006/relationships/slideLayout" Target="../slideLayouts/slideLayout1.xml"/><Relationship Id="rIdNotes" Type="http://schemas.openxmlformats.org/officeDocument/2006/relationships/notesSlide" Target="../notesSlides/notesSlide12.xml"/></Relationships>
</file>

<file path=ppt/slides/_rels/slide13.xml.rels><?xml version="1.0" encoding="UTF-8" standalone="yes"?><Relationships xmlns="http://schemas.openxmlformats.org/package/2006/relationships"><Relationship Id="rIdLayout" Type="http://schemas.openxmlformats.org/officeDocument/2006/relationships/slideLayout" Target="../slideLayouts/slideLayout1.xml"/><Relationship Id="rIdNotes" Type="http://schemas.openxmlformats.org/officeDocument/2006/relationships/notesSlide" Target="../notesSlides/notesSlide13.xml"/></Relationships>
</file>

<file path=ppt/slides/_rels/slide14.xml.rels><?xml version="1.0" encoding="UTF-8" standalone="yes"?><Relationships xmlns="http://schemas.openxmlformats.org/package/2006/relationships"><Relationship Id="rIdLayout" Type="http://schemas.openxmlformats.org/officeDocument/2006/relationships/slideLayout" Target="../slideLayouts/slideLayout1.xml"/><Relationship Id="rIdNotes" Type="http://schemas.openxmlformats.org/officeDocument/2006/relationships/notesSlide" Target="../notesSlides/notesSlide14.xml"/></Relationships>
</file>

<file path=ppt/slides/_rels/slide15.xml.rels><?xml version="1.0" encoding="UTF-8" standalone="yes"?><Relationships xmlns="http://schemas.openxmlformats.org/package/2006/relationships"><Relationship Id="rIdLayout" Type="http://schemas.openxmlformats.org/officeDocument/2006/relationships/slideLayout" Target="../slideLayouts/slideLayout1.xml"/><Relationship Id="rIdNotes" Type="http://schemas.openxmlformats.org/officeDocument/2006/relationships/notesSlide" Target="../notesSlides/notesSlide15.xml"/></Relationships>
</file>

<file path=ppt/slides/_rels/slide16.xml.rels><?xml version="1.0" encoding="UTF-8" standalone="yes"?><Relationships xmlns="http://schemas.openxmlformats.org/package/2006/relationships"><Relationship Id="rIdLayout" Type="http://schemas.openxmlformats.org/officeDocument/2006/relationships/slideLayout" Target="../slideLayouts/slideLayout1.xml"/><Relationship Id="rIdNotes" Type="http://schemas.openxmlformats.org/officeDocument/2006/relationships/notesSlide" Target="../notesSlides/notesSlide16.xml"/></Relationships>
</file>

<file path=ppt/slides/_rels/slide17.xml.rels><?xml version="1.0" encoding="UTF-8" standalone="yes"?><Relationships xmlns="http://schemas.openxmlformats.org/package/2006/relationships"><Relationship Id="rIdLayout" Type="http://schemas.openxmlformats.org/officeDocument/2006/relationships/slideLayout" Target="../slideLayouts/slideLayout1.xml"/><Relationship Id="rIdNotes" Type="http://schemas.openxmlformats.org/officeDocument/2006/relationships/notesSlide" Target="../notesSlides/notesSlide17.xml"/></Relationships>
</file>

<file path=ppt/slides/_rels/slide18.xml.rels><?xml version="1.0" encoding="UTF-8" standalone="yes"?><Relationships xmlns="http://schemas.openxmlformats.org/package/2006/relationships"><Relationship Id="rIdLayout" Type="http://schemas.openxmlformats.org/officeDocument/2006/relationships/slideLayout" Target="../slideLayouts/slideLayout1.xml"/><Relationship Id="rIdNotes" Type="http://schemas.openxmlformats.org/officeDocument/2006/relationships/notesSlide" Target="../notesSlides/notesSlide18.xml"/></Relationships>
</file>

<file path=ppt/slides/slide1.xml><?xml version="1.0" encoding="utf-8"?>
<p:sld xmlns:a="http://schemas.openxmlformats.org/drawingml/2006/main" xmlns:r="http://schemas.openxmlformats.org/officeDocument/2006/relationships" xmlns:p="http://schemas.openxmlformats.org/presentationml/2006/main">
  <p:cSld name="Slide 1">
    <p:bg>
      <p:bgPr>
        <a:solidFill>
          <a:srgbClr val="FAFAF7"/>
        </a:solidFill>
        <a:effectLst/>
      </p:bgPr>
    </p:bg>
    <p:spTree>
      <p:nvGrpSpPr>
        <p:cNvPr id="1" name=""/>
        <p:cNvGrpSpPr/>
        <p:nvPr/>
      </p:nvGrpSpPr>
      <p:grpSpPr>
        <a:xfrm>
          <a:off x="0" y="0"/>
          <a:ext cx="0" cy="0"/>
          <a:chOff x="0" y="0"/>
          <a:chExt cx="0" cy="0"/>
        </a:xfrm>
      </p:grpSpPr>
      <p:sp>
        <p:nvSpPr>
          <p:cNvPr id="2" name="Text 2"/>
          <p:cNvSpPr txBox="1"/>
          <p:nvPr/>
        </p:nvSpPr>
        <p:spPr>
          <a:xfrm>
            <a:off x="457200" y="514350"/>
            <a:ext cx="9144000" cy="285750"/>
          </a:xfrm>
          <a:prstGeom prst="rect">
            <a:avLst/>
          </a:prstGeom>
          <a:noFill/>
          <a:ln>
            <a:noFill/>
          </a:ln>
        </p:spPr>
        <p:txBody>
          <a:bodyPr wrap="none" lIns="0" tIns="0" rIns="0" bIns="0" anchor="t">
            <a:noAutofit/>
          </a:bodyPr>
          <a:lstStyle/>
          <a:p>
            <a:pPr marL="0" indent="0">
              <a:lnSpc>
                <a:spcPts val="1755"/>
              </a:lnSpc>
              <a:spcAft>
                <a:spcPts val="0"/>
              </a:spcAft>
              <a:buNone/>
            </a:pPr>
            <a:r>
              <a:rPr lang="en-US" sz="1350" b="1">
                <a:solidFill>
                  <a:srgbClr val="246957"/>
                </a:solidFill>
                <a:latin typeface="Arial"/>
                <a:ea typeface="Arial"/>
                <a:cs typeface="Arial"/>
              </a:rPr>
              <a:t xml:space="preserve">DAN LEVY</a:t>
            </a:r>
            <a:endParaRPr lang="en-US" sz="1350"/>
          </a:p>
        </p:txBody>
      </p:sp>
      <p:sp>
        <p:nvSpPr>
          <p:cNvPr id="3" name="Text 3"/>
          <p:cNvSpPr txBox="1"/>
          <p:nvPr/>
        </p:nvSpPr>
        <p:spPr>
          <a:xfrm>
            <a:off x="457200" y="1428750"/>
            <a:ext cx="9144000" cy="2381250"/>
          </a:xfrm>
          <a:prstGeom prst="rect">
            <a:avLst/>
          </a:prstGeom>
          <a:noFill/>
          <a:ln>
            <a:noFill/>
          </a:ln>
        </p:spPr>
        <p:txBody>
          <a:bodyPr wrap="none" lIns="0" tIns="0" rIns="0" bIns="0" anchor="t">
            <a:noAutofit/>
          </a:bodyPr>
          <a:lstStyle/>
          <a:p>
            <a:pPr marL="0" indent="0">
              <a:lnSpc>
                <a:spcPts val="4500"/>
              </a:lnSpc>
              <a:spcAft>
                <a:spcPts val="0"/>
              </a:spcAft>
              <a:buNone/>
            </a:pPr>
            <a:r>
              <a:rPr lang="en-US" sz="3750" b="1">
                <a:solidFill>
                  <a:srgbClr val="202B33"/>
                </a:solidFill>
                <a:latin typeface="Arial"/>
                <a:ea typeface="Arial"/>
                <a:cs typeface="Arial"/>
              </a:rPr>
              <a:t xml:space="preserve">Three Search Methods in a Fundable</a:t>
            </a:r>
            <a:endParaRPr lang="en-US" sz="3750"/>
          </a:p>
          <a:p>
            <a:pPr marL="0" indent="0">
              <a:lnSpc>
                <a:spcPts val="4500"/>
              </a:lnSpc>
              <a:spcAft>
                <a:spcPts val="0"/>
              </a:spcAft>
              <a:buNone/>
            </a:pPr>
            <a:r>
              <a:rPr lang="en-US" sz="3750" b="1">
                <a:solidFill>
                  <a:srgbClr val="202B33"/>
                </a:solidFill>
                <a:latin typeface="Arial"/>
                <a:ea typeface="Arial"/>
                <a:cs typeface="Arial"/>
              </a:rPr>
              <a:t xml:space="preserve">Trenchcoat</a:t>
            </a:r>
            <a:endParaRPr lang="en-US" sz="3750"/>
          </a:p>
        </p:txBody>
      </p:sp>
      <p:sp>
        <p:nvSpPr>
          <p:cNvPr id="4" name="Text 4"/>
          <p:cNvSpPr txBox="1"/>
          <p:nvPr/>
        </p:nvSpPr>
        <p:spPr>
          <a:xfrm>
            <a:off x="457200" y="4476750"/>
            <a:ext cx="9144000" cy="571500"/>
          </a:xfrm>
          <a:prstGeom prst="rect">
            <a:avLst/>
          </a:prstGeom>
          <a:noFill/>
          <a:ln>
            <a:noFill/>
          </a:ln>
        </p:spPr>
        <p:txBody>
          <a:bodyPr wrap="none" lIns="0" tIns="0" rIns="0" bIns="0" anchor="t">
            <a:noAutofit/>
          </a:bodyPr>
          <a:lstStyle/>
          <a:p>
            <a:pPr marL="0" indent="0">
              <a:lnSpc>
                <a:spcPts val="2925"/>
              </a:lnSpc>
              <a:spcAft>
                <a:spcPts val="0"/>
              </a:spcAft>
              <a:buNone/>
            </a:pPr>
            <a:r>
              <a:rPr lang="en-US" sz="2250" b="0">
                <a:solidFill>
                  <a:srgbClr val="246957"/>
                </a:solidFill>
                <a:latin typeface="Arial"/>
                <a:ea typeface="Arial"/>
                <a:cs typeface="Arial"/>
              </a:rPr>
              <a:t xml:space="preserve">40-minute route · Reading edition</a:t>
            </a:r>
            <a:endParaRPr lang="en-US" sz="2250"/>
          </a:p>
        </p:txBody>
      </p:sp>
      <p:sp>
        <p:nvSpPr>
          <p:cNvPr id="5" name="Text 5"/>
          <p:cNvSpPr txBox="1"/>
          <p:nvPr/>
        </p:nvSpPr>
        <p:spPr>
          <a:xfrm>
            <a:off x="457200" y="6496050"/>
            <a:ext cx="9048750" cy="762000"/>
          </a:xfrm>
          <a:prstGeom prst="rect">
            <a:avLst/>
          </a:prstGeom>
          <a:noFill/>
          <a:ln>
            <a:noFill/>
          </a:ln>
        </p:spPr>
        <p:txBody>
          <a:bodyPr wrap="none" lIns="0" tIns="0" rIns="0" bIns="0" anchor="t">
            <a:noAutofit/>
          </a:bodyPr>
          <a:lstStyle/>
          <a:p>
            <a:pPr marL="0" indent="0">
              <a:lnSpc>
                <a:spcPts val="2175"/>
              </a:lnSpc>
              <a:spcAft>
                <a:spcPts val="0"/>
              </a:spcAft>
              <a:buNone/>
            </a:pPr>
            <a:r>
              <a:rPr lang="en-US" sz="1575" b="0">
                <a:solidFill>
                  <a:srgbClr val="202B33"/>
                </a:solidFill>
                <a:latin typeface="Arial"/>
                <a:ea typeface="Arial"/>
                <a:cs typeface="Arial"/>
              </a:rPr>
              <a:t xml:space="preserve">15 source sections</a:t>
            </a:r>
            <a:endParaRPr lang="en-US" sz="1575"/>
          </a:p>
          <a:p>
            <a:pPr marL="0" indent="0">
              <a:lnSpc>
                <a:spcPts val="2175"/>
              </a:lnSpc>
              <a:spcAft>
                <a:spcPts val="0"/>
              </a:spcAft>
              <a:buNone/>
            </a:pPr>
            <a:r>
              <a:rPr lang="en-US" sz="1575" b="0">
                <a:solidFill>
                  <a:srgbClr val="202B33"/>
                </a:solidFill>
                <a:latin typeface="Arial"/>
                <a:ea typeface="Arial"/>
                <a:cs typeface="Arial"/>
              </a:rPr>
              <a:t xml:space="preserve">September 6, 2026</a:t>
            </a:r>
            <a:endParaRPr lang="en-US" sz="1575"/>
          </a:p>
        </p:txBody>
      </p:sp>
      <p:sp>
        <p:nvSpPr>
          <p:cNvPr id="6" name="Text 6"/>
          <p:cNvSpPr txBox="1"/>
          <p:nvPr/>
        </p:nvSpPr>
        <p:spPr>
          <a:xfrm>
            <a:off x="457200" y="7486650"/>
            <a:ext cx="8820150" cy="190500"/>
          </a:xfrm>
          <a:prstGeom prst="rect">
            <a:avLst/>
          </a:prstGeom>
          <a:noFill/>
          <a:ln>
            <a:noFill/>
          </a:ln>
        </p:spPr>
        <p:txBody>
          <a:bodyPr wrap="none" lIns="0" tIns="0" rIns="0" bIns="0" anchor="t">
            <a:noAutofit/>
          </a:bodyPr>
          <a:lstStyle/>
          <a:p>
            <a:pPr marL="0" indent="0">
              <a:lnSpc>
                <a:spcPts val="1268"/>
              </a:lnSpc>
              <a:spcAft>
                <a:spcPts val="0"/>
              </a:spcAft>
              <a:buNone/>
            </a:pPr>
            <a:r>
              <a:rPr lang="en-US" sz="975" b="0">
                <a:solidFill>
                  <a:srgbClr val="48555B"/>
                </a:solidFill>
                <a:latin typeface="Arial"/>
                <a:ea typeface="Arial"/>
                <a:cs typeface="Arial"/>
              </a:rPr>
              <a:t xml:space="preserve">Three Search Methods in a Fundable Trenchcoat</a:t>
            </a:r>
            <a:endParaRPr lang="en-US" sz="975"/>
          </a:p>
        </p:txBody>
      </p:sp>
      <p:sp>
        <p:nvSpPr>
          <p:cNvPr id="7" name="Text 7"/>
          <p:cNvSpPr txBox="1"/>
          <p:nvPr/>
        </p:nvSpPr>
        <p:spPr>
          <a:xfrm>
            <a:off x="9391650" y="7486650"/>
            <a:ext cx="238125" cy="190500"/>
          </a:xfrm>
          <a:prstGeom prst="rect">
            <a:avLst/>
          </a:prstGeom>
          <a:noFill/>
          <a:ln>
            <a:noFill/>
          </a:ln>
        </p:spPr>
        <p:txBody>
          <a:bodyPr wrap="none" lIns="0" tIns="0" rIns="0" bIns="0" anchor="t">
            <a:noAutofit/>
          </a:bodyPr>
          <a:lstStyle/>
          <a:p>
            <a:pPr marL="0" indent="0">
              <a:lnSpc>
                <a:spcPts val="1268"/>
              </a:lnSpc>
              <a:spcAft>
                <a:spcPts val="0"/>
              </a:spcAft>
              <a:buNone/>
            </a:pPr>
            <a:r>
              <a:rPr lang="en-US" sz="975" b="0">
                <a:solidFill>
                  <a:srgbClr val="48555B"/>
                </a:solidFill>
                <a:latin typeface="Arial"/>
                <a:ea typeface="Arial"/>
                <a:cs typeface="Arial"/>
              </a:rPr>
              <a:t xml:space="preserve">1</a:t>
            </a:r>
            <a:endParaRPr lang="en-US" sz="975"/>
          </a:p>
        </p:txBody>
      </p:sp>
    </p:spTree>
  </p:cSld>
  <p:clrMapOvr>
    <a:masterClrMapping/>
  </p:clrMapOvr>
</p:sld>
</file>

<file path=ppt/slides/slide2.xml><?xml version="1.0" encoding="utf-8"?>
<p:sld xmlns:a="http://schemas.openxmlformats.org/drawingml/2006/main" xmlns:r="http://schemas.openxmlformats.org/officeDocument/2006/relationships" xmlns:p="http://schemas.openxmlformats.org/presentationml/2006/main">
  <p:cSld name="Slide 2">
    <p:bg>
      <p:bgPr>
        <a:solidFill>
          <a:srgbClr val="FAFAF7"/>
        </a:solidFill>
        <a:effectLst/>
      </p:bgPr>
    </p:bg>
    <p:spTree>
      <p:nvGrpSpPr>
        <p:cNvPr id="1" name=""/>
        <p:cNvGrpSpPr/>
        <p:nvPr/>
      </p:nvGrpSpPr>
      <p:grpSpPr>
        <a:xfrm>
          <a:off x="0" y="0"/>
          <a:ext cx="0" cy="0"/>
          <a:chOff x="0" y="0"/>
          <a:chExt cx="0" cy="0"/>
        </a:xfrm>
      </p:grpSpPr>
      <p:sp>
        <p:nvSpPr>
          <p:cNvPr id="2" name="Text 2"/>
          <p:cNvSpPr txBox="1"/>
          <p:nvPr/>
        </p:nvSpPr>
        <p:spPr>
          <a:xfrm>
            <a:off x="457200" y="266700"/>
            <a:ext cx="9144000" cy="228600"/>
          </a:xfrm>
          <a:prstGeom prst="rect">
            <a:avLst/>
          </a:prstGeom>
          <a:noFill/>
          <a:ln>
            <a:noFill/>
          </a:ln>
        </p:spPr>
        <p:txBody>
          <a:bodyPr wrap="none" lIns="0" tIns="0" rIns="0" bIns="0" anchor="t">
            <a:noAutofit/>
          </a:bodyPr>
          <a:lstStyle/>
          <a:p>
            <a:pPr marL="0" indent="0">
              <a:lnSpc>
                <a:spcPts val="1365"/>
              </a:lnSpc>
              <a:spcAft>
                <a:spcPts val="0"/>
              </a:spcAft>
              <a:buNone/>
            </a:pPr>
            <a:r>
              <a:rPr lang="en-US" sz="1050" b="1">
                <a:solidFill>
                  <a:srgbClr val="246957"/>
                </a:solidFill>
                <a:latin typeface="Arial"/>
                <a:ea typeface="Arial"/>
                <a:cs typeface="Arial"/>
              </a:rPr>
              <a:t xml:space="preserve">01 / 15    SOURCE SLIDE 1</a:t>
            </a:r>
            <a:endParaRPr lang="en-US" sz="1050"/>
          </a:p>
        </p:txBody>
      </p:sp>
      <p:sp>
        <p:nvSpPr>
          <p:cNvPr id="3" name="Text 3"/>
          <p:cNvSpPr txBox="1"/>
          <p:nvPr/>
        </p:nvSpPr>
        <p:spPr>
          <a:xfrm>
            <a:off x="457200" y="657225"/>
            <a:ext cx="9144000" cy="1104900"/>
          </a:xfrm>
          <a:prstGeom prst="rect">
            <a:avLst/>
          </a:prstGeom>
          <a:noFill/>
          <a:ln>
            <a:noFill/>
          </a:ln>
        </p:spPr>
        <p:txBody>
          <a:bodyPr wrap="none" lIns="0" tIns="0" rIns="0" bIns="0" anchor="t">
            <a:noAutofit/>
          </a:bodyPr>
          <a:lstStyle/>
          <a:p>
            <a:pPr marL="0" indent="0">
              <a:lnSpc>
                <a:spcPts val="3060"/>
              </a:lnSpc>
              <a:spcAft>
                <a:spcPts val="0"/>
              </a:spcAft>
              <a:buNone/>
            </a:pPr>
            <a:r>
              <a:rPr lang="en-US" sz="2550" b="1">
                <a:solidFill>
                  <a:srgbClr val="202B33"/>
                </a:solidFill>
                <a:latin typeface="Arial"/>
                <a:ea typeface="Arial"/>
                <a:cs typeface="Arial"/>
              </a:rPr>
              <a:t xml:space="preserve">The sentence</a:t>
            </a:r>
            <a:endParaRPr lang="en-US" sz="2550"/>
          </a:p>
        </p:txBody>
      </p:sp>
      <p:sp>
        <p:nvSpPr>
          <p:cNvPr id="4" name="Text 4"/>
          <p:cNvSpPr txBox="1"/>
          <p:nvPr/>
        </p:nvSpPr>
        <p:spPr>
          <a:xfrm>
            <a:off x="457200" y="1971675"/>
            <a:ext cx="4352925" cy="5314950"/>
          </a:xfrm>
          <a:prstGeom prst="rect">
            <a:avLst/>
          </a:prstGeom>
          <a:noFill/>
          <a:ln>
            <a:noFill/>
          </a:ln>
        </p:spPr>
        <p:txBody>
          <a:bodyPr wrap="none" lIns="0" tIns="0" rIns="0" bIns="0" anchor="t">
            <a:noAutofit/>
          </a:bodyPr>
          <a:lstStyle/>
          <a:p>
            <a:pPr marL="0" indent="0">
              <a:lnSpc>
                <a:spcPts val="1950"/>
              </a:lnSpc>
              <a:spcAft>
                <a:spcPts val="0"/>
              </a:spcAft>
              <a:buNone/>
            </a:pPr>
            <a:r>
              <a:rPr lang="en-US" sz="1500" b="0">
                <a:solidFill>
                  <a:srgbClr val="202B33"/>
                </a:solidFill>
                <a:latin typeface="Arial"/>
                <a:ea typeface="Arial"/>
                <a:cs typeface="Arial"/>
              </a:rPr>
              <a:t xml:space="preserve">RAG · embeddings · memory · MCP · judges ·</a:t>
            </a:r>
            <a:endParaRPr lang="en-US" sz="1500"/>
          </a:p>
          <a:p>
            <a:pPr marL="0" indent="0">
              <a:lnSpc>
                <a:spcPts val="1950"/>
              </a:lnSpc>
              <a:spcAft>
                <a:spcPts val="0"/>
              </a:spcAft>
              <a:buNone/>
            </a:pPr>
            <a:r>
              <a:rPr lang="en-US" sz="1500" b="0">
                <a:solidFill>
                  <a:srgbClr val="202B33"/>
                </a:solidFill>
                <a:latin typeface="Arial"/>
                <a:ea typeface="Arial"/>
                <a:cs typeface="Arial"/>
              </a:rPr>
              <a:t xml:space="preserve">traces</a:t>
            </a:r>
            <a:endParaRPr lang="en-US" sz="1500"/>
          </a:p>
          <a:p>
            <a:pPr marL="0" indent="0">
              <a:lnSpc>
                <a:spcPts val="1950"/>
              </a:lnSpc>
              <a:spcAft>
                <a:spcPts val="0"/>
              </a:spcAft>
              <a:buNone/>
            </a:pPr>
            <a:r>
              <a:rPr lang="en-US" sz="1500" b="0">
                <a:solidFill>
                  <a:srgbClr val="202B33"/>
                </a:solidFill>
                <a:latin typeface="Arial"/>
                <a:ea typeface="Arial"/>
                <a:cs typeface="Arial"/>
              </a:rPr>
              <a:t xml:space="preserve"/>
            </a:r>
            <a:endParaRPr lang="en-US" sz="1500"/>
          </a:p>
          <a:p>
            <a:pPr marL="0" indent="0">
              <a:lnSpc>
                <a:spcPts val="1950"/>
              </a:lnSpc>
              <a:spcAft>
                <a:spcPts val="0"/>
              </a:spcAft>
              <a:buNone/>
            </a:pPr>
            <a:r>
              <a:rPr lang="en-US" sz="1500" b="0">
                <a:solidFill>
                  <a:srgbClr val="202B33"/>
                </a:solidFill>
                <a:latin typeface="Arial"/>
                <a:ea typeface="Arial"/>
                <a:cs typeface="Arial"/>
              </a:rPr>
              <a:t xml:space="preserve">There is a reading list under that pitch.</a:t>
            </a:r>
            <a:endParaRPr lang="en-US" sz="1500"/>
          </a:p>
          <a:p>
            <a:pPr marL="0" indent="0">
              <a:lnSpc>
                <a:spcPts val="1950"/>
              </a:lnSpc>
              <a:spcAft>
                <a:spcPts val="0"/>
              </a:spcAft>
              <a:buNone/>
            </a:pPr>
            <a:r>
              <a:rPr lang="en-US" sz="1500" b="0">
                <a:solidFill>
                  <a:srgbClr val="202B33"/>
                </a:solidFill>
                <a:latin typeface="Arial"/>
                <a:ea typeface="Arial"/>
                <a:cs typeface="Arial"/>
              </a:rPr>
              <a:t xml:space="preserve"/>
            </a:r>
            <a:endParaRPr lang="en-US" sz="1500"/>
          </a:p>
          <a:p>
            <a:pPr marL="0" indent="0">
              <a:lnSpc>
                <a:spcPts val="1950"/>
              </a:lnSpc>
              <a:spcAft>
                <a:spcPts val="0"/>
              </a:spcAft>
              <a:buNone/>
            </a:pPr>
            <a:r>
              <a:rPr lang="en-US" sz="1500" b="0">
                <a:solidFill>
                  <a:srgbClr val="202B33"/>
                </a:solidFill>
                <a:latin typeface="Arial"/>
                <a:ea typeface="Arial"/>
                <a:cs typeface="Arial"/>
              </a:rPr>
              <a:t xml:space="preserve">Our agent uses RAG over an embedding store,</a:t>
            </a:r>
            <a:endParaRPr lang="en-US" sz="1500"/>
          </a:p>
          <a:p>
            <a:pPr marL="0" indent="0">
              <a:lnSpc>
                <a:spcPts val="1950"/>
              </a:lnSpc>
              <a:spcAft>
                <a:spcPts val="0"/>
              </a:spcAft>
              <a:buNone/>
            </a:pPr>
            <a:r>
              <a:rPr lang="en-US" sz="1500" b="0">
                <a:solidFill>
                  <a:srgbClr val="202B33"/>
                </a:solidFill>
                <a:latin typeface="Arial"/>
                <a:ea typeface="Arial"/>
                <a:cs typeface="Arial"/>
              </a:rPr>
              <a:t xml:space="preserve">adds memories to context, calls MCP tools,</a:t>
            </a:r>
            <a:endParaRPr lang="en-US" sz="1500"/>
          </a:p>
          <a:p>
            <a:pPr marL="0" indent="0">
              <a:lnSpc>
                <a:spcPts val="1950"/>
              </a:lnSpc>
              <a:spcAft>
                <a:spcPts val="0"/>
              </a:spcAft>
              <a:buNone/>
            </a:pPr>
            <a:r>
              <a:rPr lang="en-US" sz="1500" b="0">
                <a:solidFill>
                  <a:srgbClr val="202B33"/>
                </a:solidFill>
                <a:latin typeface="Arial"/>
                <a:ea typeface="Arial"/>
                <a:cs typeface="Arial"/>
              </a:rPr>
              <a:t xml:space="preserve">emits structured outputs, gets evaluated by</a:t>
            </a:r>
            <a:endParaRPr lang="en-US" sz="1500"/>
          </a:p>
          <a:p>
            <a:pPr marL="0" indent="0">
              <a:lnSpc>
                <a:spcPts val="1950"/>
              </a:lnSpc>
              <a:spcAft>
                <a:spcPts val="0"/>
              </a:spcAft>
              <a:buNone/>
            </a:pPr>
            <a:r>
              <a:rPr lang="en-US" sz="1500" b="0">
                <a:solidFill>
                  <a:srgbClr val="202B33"/>
                </a:solidFill>
                <a:latin typeface="Arial"/>
                <a:ea typeface="Arial"/>
                <a:cs typeface="Arial"/>
              </a:rPr>
              <a:t xml:space="preserve">an LLM judge, and traces the whole thing</a:t>
            </a:r>
            <a:endParaRPr lang="en-US" sz="1500"/>
          </a:p>
          <a:p>
            <a:pPr marL="0" indent="0">
              <a:lnSpc>
                <a:spcPts val="1950"/>
              </a:lnSpc>
              <a:spcAft>
                <a:spcPts val="0"/>
              </a:spcAft>
              <a:buNone/>
            </a:pPr>
            <a:r>
              <a:rPr lang="en-US" sz="1500" b="0">
                <a:solidFill>
                  <a:srgbClr val="202B33"/>
                </a:solidFill>
                <a:latin typeface="Arial"/>
                <a:ea typeface="Arial"/>
                <a:cs typeface="Arial"/>
              </a:rPr>
              <a:t xml:space="preserve">through our agent observability platform.</a:t>
            </a:r>
            <a:endParaRPr lang="en-US" sz="1500"/>
          </a:p>
          <a:p>
            <a:pPr marL="0" indent="0">
              <a:lnSpc>
                <a:spcPts val="1950"/>
              </a:lnSpc>
              <a:spcAft>
                <a:spcPts val="0"/>
              </a:spcAft>
              <a:buNone/>
            </a:pPr>
            <a:r>
              <a:rPr lang="en-US" sz="1500" b="0">
                <a:solidFill>
                  <a:srgbClr val="202B33"/>
                </a:solidFill>
                <a:latin typeface="Arial"/>
                <a:ea typeface="Arial"/>
                <a:cs typeface="Arial"/>
              </a:rPr>
              <a:t xml:space="preserve"/>
            </a:r>
            <a:endParaRPr lang="en-US" sz="1500"/>
          </a:p>
          <a:p>
            <a:pPr marL="0" indent="0">
              <a:lnSpc>
                <a:spcPts val="1950"/>
              </a:lnSpc>
              <a:spcAft>
                <a:spcPts val="0"/>
              </a:spcAft>
              <a:buNone/>
            </a:pPr>
            <a:r>
              <a:rPr lang="en-US" sz="1500" b="0">
                <a:solidFill>
                  <a:srgbClr val="202B33"/>
                </a:solidFill>
                <a:latin typeface="Arial"/>
                <a:ea typeface="Arial"/>
                <a:cs typeface="Arial"/>
              </a:rPr>
              <a:t xml:space="preserve">That sentence used to be the talk.</a:t>
            </a:r>
            <a:endParaRPr lang="en-US" sz="1500"/>
          </a:p>
        </p:txBody>
      </p:sp>
      <p:sp>
        <p:nvSpPr>
          <p:cNvPr id="5" name="Text 5"/>
          <p:cNvSpPr txBox="1"/>
          <p:nvPr/>
        </p:nvSpPr>
        <p:spPr>
          <a:xfrm>
            <a:off x="5238750" y="1971675"/>
            <a:ext cx="4362450" cy="5314950"/>
          </a:xfrm>
          <a:prstGeom prst="rect">
            <a:avLst/>
          </a:prstGeom>
          <a:noFill/>
          <a:ln>
            <a:noFill/>
          </a:ln>
        </p:spPr>
        <p:txBody>
          <a:bodyPr wrap="none" lIns="0" tIns="0" rIns="0" bIns="0" anchor="t">
            <a:noAutofit/>
          </a:bodyPr>
          <a:lstStyle/>
          <a:p>
            <a:pPr marL="0" indent="0">
              <a:lnSpc>
                <a:spcPts val="1950"/>
              </a:lnSpc>
              <a:spcAft>
                <a:spcPts val="0"/>
              </a:spcAft>
              <a:buNone/>
            </a:pPr>
            <a:r>
              <a:rPr lang="en-US" sz="1500" b="0">
                <a:solidFill>
                  <a:srgbClr val="202B33"/>
                </a:solidFill>
                <a:latin typeface="Arial"/>
                <a:ea typeface="Arial"/>
                <a:cs typeface="Arial"/>
              </a:rPr>
              <a:t xml:space="preserve">Translate the nouns and everybody feels</a:t>
            </a:r>
            <a:endParaRPr lang="en-US" sz="1500"/>
          </a:p>
          <a:p>
            <a:pPr marL="0" indent="0">
              <a:lnSpc>
                <a:spcPts val="1950"/>
              </a:lnSpc>
              <a:spcAft>
                <a:spcPts val="0"/>
              </a:spcAft>
              <a:buNone/>
            </a:pPr>
            <a:r>
              <a:rPr lang="en-US" sz="1500" b="0">
                <a:solidFill>
                  <a:srgbClr val="202B33"/>
                </a:solidFill>
                <a:latin typeface="Arial"/>
                <a:ea typeface="Arial"/>
                <a:cs typeface="Arial"/>
              </a:rPr>
              <a:t xml:space="preserve">less behind. But knowing what the nouns</a:t>
            </a:r>
            <a:endParaRPr lang="en-US" sz="1500"/>
          </a:p>
          <a:p>
            <a:pPr marL="0" indent="0">
              <a:lnSpc>
                <a:spcPts val="1950"/>
              </a:lnSpc>
              <a:spcAft>
                <a:spcPts val="0"/>
              </a:spcAft>
              <a:buNone/>
            </a:pPr>
            <a:r>
              <a:rPr lang="en-US" sz="1500" b="0">
                <a:solidFill>
                  <a:srgbClr val="202B33"/>
                </a:solidFill>
                <a:latin typeface="Arial"/>
                <a:ea typeface="Arial"/>
                <a:cs typeface="Arial"/>
              </a:rPr>
              <a:t xml:space="preserve">mean does not tell us whether the retrieval</a:t>
            </a:r>
            <a:endParaRPr lang="en-US" sz="1500"/>
          </a:p>
          <a:p>
            <a:pPr marL="0" indent="0">
              <a:lnSpc>
                <a:spcPts val="1950"/>
              </a:lnSpc>
              <a:spcAft>
                <a:spcPts val="0"/>
              </a:spcAft>
              <a:buNone/>
            </a:pPr>
            <a:r>
              <a:rPr lang="en-US" sz="1500" b="0">
                <a:solidFill>
                  <a:srgbClr val="202B33"/>
                </a:solidFill>
                <a:latin typeface="Arial"/>
                <a:ea typeface="Arial"/>
                <a:cs typeface="Arial"/>
              </a:rPr>
              <a:t xml:space="preserve">works. The useful question is what the</a:t>
            </a:r>
            <a:endParaRPr lang="en-US" sz="1500"/>
          </a:p>
          <a:p>
            <a:pPr marL="0" indent="0">
              <a:lnSpc>
                <a:spcPts val="1950"/>
              </a:lnSpc>
              <a:spcAft>
                <a:spcPts val="0"/>
              </a:spcAft>
              <a:buNone/>
            </a:pPr>
            <a:r>
              <a:rPr lang="en-US" sz="1500" b="0">
                <a:solidFill>
                  <a:srgbClr val="202B33"/>
                </a:solidFill>
                <a:latin typeface="Arial"/>
                <a:ea typeface="Arial"/>
                <a:cs typeface="Arial"/>
              </a:rPr>
              <a:t xml:space="preserve">people who studied it already found out.</a:t>
            </a:r>
            <a:endParaRPr lang="en-US" sz="1500"/>
          </a:p>
          <a:p>
            <a:pPr marL="0" indent="0">
              <a:lnSpc>
                <a:spcPts val="1950"/>
              </a:lnSpc>
              <a:spcAft>
                <a:spcPts val="0"/>
              </a:spcAft>
              <a:buNone/>
            </a:pPr>
            <a:r>
              <a:rPr lang="en-US" sz="1500" b="0">
                <a:solidFill>
                  <a:srgbClr val="202B33"/>
                </a:solidFill>
                <a:latin typeface="Arial"/>
                <a:ea typeface="Arial"/>
                <a:cs typeface="Arial"/>
              </a:rPr>
              <a:t xml:space="preserve"/>
            </a:r>
            <a:endParaRPr lang="en-US" sz="1500"/>
          </a:p>
          <a:p>
            <a:pPr marL="0" indent="0">
              <a:lnSpc>
                <a:spcPts val="1950"/>
              </a:lnSpc>
              <a:spcAft>
                <a:spcPts val="0"/>
              </a:spcAft>
              <a:buNone/>
            </a:pPr>
            <a:r>
              <a:rPr lang="en-US" sz="1500" b="0">
                <a:solidFill>
                  <a:srgbClr val="202B33"/>
                </a:solidFill>
                <a:latin typeface="Arial"/>
                <a:ea typeface="Arial"/>
                <a:cs typeface="Arial"/>
              </a:rPr>
              <a:t xml:space="preserve">We spent years calling it search. Then we</a:t>
            </a:r>
            <a:endParaRPr lang="en-US" sz="1500"/>
          </a:p>
          <a:p>
            <a:pPr marL="0" indent="0">
              <a:lnSpc>
                <a:spcPts val="1950"/>
              </a:lnSpc>
              <a:spcAft>
                <a:spcPts val="0"/>
              </a:spcAft>
              <a:buNone/>
            </a:pPr>
            <a:r>
              <a:rPr lang="en-US" sz="1500" b="0">
                <a:solidFill>
                  <a:srgbClr val="202B33"/>
                </a:solidFill>
                <a:latin typeface="Arial"/>
                <a:ea typeface="Arial"/>
                <a:cs typeface="Arial"/>
              </a:rPr>
              <a:t xml:space="preserve">called it a vector database and raised a</a:t>
            </a:r>
            <a:endParaRPr lang="en-US" sz="1500"/>
          </a:p>
          <a:p>
            <a:pPr marL="0" indent="0">
              <a:lnSpc>
                <a:spcPts val="1950"/>
              </a:lnSpc>
              <a:spcAft>
                <a:spcPts val="0"/>
              </a:spcAft>
              <a:buNone/>
            </a:pPr>
            <a:r>
              <a:rPr lang="en-US" sz="1500" b="0">
                <a:solidFill>
                  <a:srgbClr val="202B33"/>
                </a:solidFill>
                <a:latin typeface="Arial"/>
                <a:ea typeface="Arial"/>
                <a:cs typeface="Arial"/>
              </a:rPr>
              <a:t xml:space="preserve">round. The product category changed. The</a:t>
            </a:r>
            <a:endParaRPr lang="en-US" sz="1500"/>
          </a:p>
          <a:p>
            <a:pPr marL="0" indent="0">
              <a:lnSpc>
                <a:spcPts val="1950"/>
              </a:lnSpc>
              <a:spcAft>
                <a:spcPts val="0"/>
              </a:spcAft>
              <a:buNone/>
            </a:pPr>
            <a:r>
              <a:rPr lang="en-US" sz="1500" b="0">
                <a:solidFill>
                  <a:srgbClr val="202B33"/>
                </a:solidFill>
                <a:latin typeface="Arial"/>
                <a:ea typeface="Arial"/>
                <a:cs typeface="Arial"/>
              </a:rPr>
              <a:t xml:space="preserve">problem of deciding whether the returned</a:t>
            </a:r>
            <a:endParaRPr lang="en-US" sz="1500"/>
          </a:p>
          <a:p>
            <a:pPr marL="0" indent="0">
              <a:lnSpc>
                <a:spcPts val="1950"/>
              </a:lnSpc>
              <a:spcAft>
                <a:spcPts val="0"/>
              </a:spcAft>
              <a:buNone/>
            </a:pPr>
            <a:r>
              <a:rPr lang="en-US" sz="1500" b="0">
                <a:solidFill>
                  <a:srgbClr val="202B33"/>
                </a:solidFill>
                <a:latin typeface="Arial"/>
                <a:ea typeface="Arial"/>
                <a:cs typeface="Arial"/>
              </a:rPr>
              <a:t xml:space="preserve">material is useful did not wait for the</a:t>
            </a:r>
            <a:endParaRPr lang="en-US" sz="1500"/>
          </a:p>
          <a:p>
            <a:pPr marL="0" indent="0">
              <a:lnSpc>
                <a:spcPts val="1950"/>
              </a:lnSpc>
              <a:spcAft>
                <a:spcPts val="0"/>
              </a:spcAft>
              <a:buNone/>
            </a:pPr>
            <a:r>
              <a:rPr lang="en-US" sz="1500" b="0">
                <a:solidFill>
                  <a:srgbClr val="202B33"/>
                </a:solidFill>
                <a:latin typeface="Arial"/>
                <a:ea typeface="Arial"/>
                <a:cs typeface="Arial"/>
              </a:rPr>
              <a:t xml:space="preserve">funding announcement.</a:t>
            </a:r>
            <a:endParaRPr lang="en-US" sz="1500"/>
          </a:p>
        </p:txBody>
      </p:sp>
      <p:sp>
        <p:nvSpPr>
          <p:cNvPr id="6" name="Text 6"/>
          <p:cNvSpPr txBox="1"/>
          <p:nvPr/>
        </p:nvSpPr>
        <p:spPr>
          <a:xfrm>
            <a:off x="457200" y="7486650"/>
            <a:ext cx="8820150" cy="190500"/>
          </a:xfrm>
          <a:prstGeom prst="rect">
            <a:avLst/>
          </a:prstGeom>
          <a:noFill/>
          <a:ln>
            <a:noFill/>
          </a:ln>
        </p:spPr>
        <p:txBody>
          <a:bodyPr wrap="none" lIns="0" tIns="0" rIns="0" bIns="0" anchor="t">
            <a:noAutofit/>
          </a:bodyPr>
          <a:lstStyle/>
          <a:p>
            <a:pPr marL="0" indent="0">
              <a:lnSpc>
                <a:spcPts val="1268"/>
              </a:lnSpc>
              <a:spcAft>
                <a:spcPts val="0"/>
              </a:spcAft>
              <a:buNone/>
            </a:pPr>
            <a:r>
              <a:rPr lang="en-US" sz="975" b="0">
                <a:solidFill>
                  <a:srgbClr val="48555B"/>
                </a:solidFill>
                <a:latin typeface="Arial"/>
                <a:ea typeface="Arial"/>
                <a:cs typeface="Arial"/>
              </a:rPr>
              <a:t xml:space="preserve">Three Search Methods in a Fundable Trenchcoat</a:t>
            </a:r>
            <a:endParaRPr lang="en-US" sz="975"/>
          </a:p>
        </p:txBody>
      </p:sp>
      <p:sp>
        <p:nvSpPr>
          <p:cNvPr id="7" name="Text 7"/>
          <p:cNvSpPr txBox="1"/>
          <p:nvPr/>
        </p:nvSpPr>
        <p:spPr>
          <a:xfrm>
            <a:off x="9391650" y="7486650"/>
            <a:ext cx="238125" cy="190500"/>
          </a:xfrm>
          <a:prstGeom prst="rect">
            <a:avLst/>
          </a:prstGeom>
          <a:noFill/>
          <a:ln>
            <a:noFill/>
          </a:ln>
        </p:spPr>
        <p:txBody>
          <a:bodyPr wrap="none" lIns="0" tIns="0" rIns="0" bIns="0" anchor="t">
            <a:noAutofit/>
          </a:bodyPr>
          <a:lstStyle/>
          <a:p>
            <a:pPr marL="0" indent="0">
              <a:lnSpc>
                <a:spcPts val="1268"/>
              </a:lnSpc>
              <a:spcAft>
                <a:spcPts val="0"/>
              </a:spcAft>
              <a:buNone/>
            </a:pPr>
            <a:r>
              <a:rPr lang="en-US" sz="975" b="0">
                <a:solidFill>
                  <a:srgbClr val="48555B"/>
                </a:solidFill>
                <a:latin typeface="Arial"/>
                <a:ea typeface="Arial"/>
                <a:cs typeface="Arial"/>
              </a:rPr>
              <a:t xml:space="preserve">2</a:t>
            </a:r>
            <a:endParaRPr lang="en-US" sz="975"/>
          </a:p>
        </p:txBody>
      </p:sp>
    </p:spTree>
  </p:cSld>
  <p:clrMapOvr>
    <a:masterClrMapping/>
  </p:clrMapOvr>
</p:sld>
</file>

<file path=ppt/slides/slide3.xml><?xml version="1.0" encoding="utf-8"?>
<p:sld xmlns:a="http://schemas.openxmlformats.org/drawingml/2006/main" xmlns:r="http://schemas.openxmlformats.org/officeDocument/2006/relationships" xmlns:p="http://schemas.openxmlformats.org/presentationml/2006/main">
  <p:cSld name="Slide 3">
    <p:bg>
      <p:bgPr>
        <a:solidFill>
          <a:srgbClr val="FAFAF7"/>
        </a:solidFill>
        <a:effectLst/>
      </p:bgPr>
    </p:bg>
    <p:spTree>
      <p:nvGrpSpPr>
        <p:cNvPr id="1" name=""/>
        <p:cNvGrpSpPr/>
        <p:nvPr/>
      </p:nvGrpSpPr>
      <p:grpSpPr>
        <a:xfrm>
          <a:off x="0" y="0"/>
          <a:ext cx="0" cy="0"/>
          <a:chOff x="0" y="0"/>
          <a:chExt cx="0" cy="0"/>
        </a:xfrm>
      </p:grpSpPr>
      <p:sp>
        <p:nvSpPr>
          <p:cNvPr id="2" name="Text 2"/>
          <p:cNvSpPr txBox="1"/>
          <p:nvPr/>
        </p:nvSpPr>
        <p:spPr>
          <a:xfrm>
            <a:off x="457200" y="266700"/>
            <a:ext cx="9144000" cy="228600"/>
          </a:xfrm>
          <a:prstGeom prst="rect">
            <a:avLst/>
          </a:prstGeom>
          <a:noFill/>
          <a:ln>
            <a:noFill/>
          </a:ln>
        </p:spPr>
        <p:txBody>
          <a:bodyPr wrap="none" lIns="0" tIns="0" rIns="0" bIns="0" anchor="t">
            <a:noAutofit/>
          </a:bodyPr>
          <a:lstStyle/>
          <a:p>
            <a:pPr marL="0" indent="0">
              <a:lnSpc>
                <a:spcPts val="1365"/>
              </a:lnSpc>
              <a:spcAft>
                <a:spcPts val="0"/>
              </a:spcAft>
              <a:buNone/>
            </a:pPr>
            <a:r>
              <a:rPr lang="en-US" sz="1050" b="1">
                <a:solidFill>
                  <a:srgbClr val="246957"/>
                </a:solidFill>
                <a:latin typeface="Arial"/>
                <a:ea typeface="Arial"/>
                <a:cs typeface="Arial"/>
              </a:rPr>
              <a:t xml:space="preserve">02 / 15    SOURCE SLIDE 2</a:t>
            </a:r>
            <a:endParaRPr lang="en-US" sz="1050"/>
          </a:p>
        </p:txBody>
      </p:sp>
      <p:sp>
        <p:nvSpPr>
          <p:cNvPr id="3" name="Text 3"/>
          <p:cNvSpPr txBox="1"/>
          <p:nvPr/>
        </p:nvSpPr>
        <p:spPr>
          <a:xfrm>
            <a:off x="457200" y="657225"/>
            <a:ext cx="9144000" cy="1104900"/>
          </a:xfrm>
          <a:prstGeom prst="rect">
            <a:avLst/>
          </a:prstGeom>
          <a:noFill/>
          <a:ln>
            <a:noFill/>
          </a:ln>
        </p:spPr>
        <p:txBody>
          <a:bodyPr wrap="none" lIns="0" tIns="0" rIns="0" bIns="0" anchor="t">
            <a:noAutofit/>
          </a:bodyPr>
          <a:lstStyle/>
          <a:p>
            <a:pPr marL="0" indent="0">
              <a:lnSpc>
                <a:spcPts val="3060"/>
              </a:lnSpc>
              <a:spcAft>
                <a:spcPts val="0"/>
              </a:spcAft>
              <a:buNone/>
            </a:pPr>
            <a:r>
              <a:rPr lang="en-US" sz="2550" b="1">
                <a:solidFill>
                  <a:srgbClr val="202B33"/>
                </a:solidFill>
                <a:latin typeface="Arial"/>
                <a:ea typeface="Arial"/>
                <a:cs typeface="Arial"/>
              </a:rPr>
              <a:t xml:space="preserve">The bet, and the eight words</a:t>
            </a:r>
            <a:endParaRPr lang="en-US" sz="2550"/>
          </a:p>
        </p:txBody>
      </p:sp>
      <p:sp>
        <p:nvSpPr>
          <p:cNvPr id="4" name="Text 4"/>
          <p:cNvSpPr txBox="1"/>
          <p:nvPr/>
        </p:nvSpPr>
        <p:spPr>
          <a:xfrm>
            <a:off x="457200" y="1971675"/>
            <a:ext cx="4352925" cy="5314950"/>
          </a:xfrm>
          <a:prstGeom prst="rect">
            <a:avLst/>
          </a:prstGeom>
          <a:noFill/>
          <a:ln>
            <a:noFill/>
          </a:ln>
        </p:spPr>
        <p:txBody>
          <a:bodyPr wrap="none" lIns="0" tIns="0" rIns="0" bIns="0" anchor="t">
            <a:noAutofit/>
          </a:bodyPr>
          <a:lstStyle/>
          <a:p>
            <a:pPr marL="0" indent="0">
              <a:lnSpc>
                <a:spcPts val="1950"/>
              </a:lnSpc>
              <a:spcAft>
                <a:spcPts val="0"/>
              </a:spcAft>
              <a:buNone/>
            </a:pPr>
            <a:r>
              <a:rPr lang="en-US" sz="1500" b="0">
                <a:solidFill>
                  <a:srgbClr val="202B33"/>
                </a:solidFill>
                <a:latin typeface="Arial"/>
                <a:ea typeface="Arial"/>
                <a:cs typeface="Arial"/>
              </a:rPr>
              <a:t xml:space="preserve">You are joining an old field late</a:t>
            </a:r>
            <a:endParaRPr lang="en-US" sz="1500"/>
          </a:p>
          <a:p>
            <a:pPr marL="0" indent="0">
              <a:lnSpc>
                <a:spcPts val="1950"/>
              </a:lnSpc>
              <a:spcAft>
                <a:spcPts val="0"/>
              </a:spcAft>
              <a:buNone/>
            </a:pPr>
            <a:r>
              <a:rPr lang="en-US" sz="1500" b="0">
                <a:solidFill>
                  <a:srgbClr val="202B33"/>
                </a:solidFill>
                <a:latin typeface="Arial"/>
                <a:ea typeface="Arial"/>
                <a:cs typeface="Arial"/>
              </a:rPr>
              <a:t xml:space="preserve"/>
            </a:r>
            <a:endParaRPr lang="en-US" sz="1500"/>
          </a:p>
          <a:p>
            <a:pPr marL="0" indent="0">
              <a:lnSpc>
                <a:spcPts val="1950"/>
              </a:lnSpc>
              <a:spcAft>
                <a:spcPts val="0"/>
              </a:spcAft>
              <a:buNone/>
            </a:pPr>
            <a:r>
              <a:rPr lang="en-US" sz="1500" b="0">
                <a:solidFill>
                  <a:srgbClr val="202B33"/>
                </a:solidFill>
                <a:latin typeface="Arial"/>
                <a:ea typeface="Arial"/>
                <a:cs typeface="Arial"/>
              </a:rPr>
              <a:t xml:space="preserve">Term specificity → assessor disagreement</a:t>
            </a:r>
            <a:endParaRPr lang="en-US" sz="1500"/>
          </a:p>
          <a:p>
            <a:pPr marL="0" indent="0">
              <a:lnSpc>
                <a:spcPts val="1950"/>
              </a:lnSpc>
              <a:spcAft>
                <a:spcPts val="0"/>
              </a:spcAft>
              <a:buNone/>
            </a:pPr>
            <a:r>
              <a:rPr lang="en-US" sz="1500" b="0">
                <a:solidFill>
                  <a:srgbClr val="202B33"/>
                </a:solidFill>
                <a:latin typeface="Arial"/>
                <a:ea typeface="Arial"/>
                <a:cs typeface="Arial"/>
              </a:rPr>
              <a:t xml:space="preserve"/>
            </a:r>
            <a:endParaRPr lang="en-US" sz="1500"/>
          </a:p>
          <a:p>
            <a:pPr marL="0" indent="0">
              <a:lnSpc>
                <a:spcPts val="1950"/>
              </a:lnSpc>
              <a:spcAft>
                <a:spcPts val="0"/>
              </a:spcAft>
              <a:buNone/>
            </a:pPr>
            <a:r>
              <a:rPr lang="en-US" sz="1500" b="0">
                <a:solidFill>
                  <a:srgbClr val="202B33"/>
                </a:solidFill>
                <a:latin typeface="Arial"/>
                <a:ea typeface="Arial"/>
                <a:cs typeface="Arial"/>
              </a:rPr>
              <a:t xml:space="preserve">This is an engineer's reading of</a:t>
            </a:r>
            <a:endParaRPr lang="en-US" sz="1500"/>
          </a:p>
          <a:p>
            <a:pPr marL="0" indent="0">
              <a:lnSpc>
                <a:spcPts val="1950"/>
              </a:lnSpc>
              <a:spcAft>
                <a:spcPts val="0"/>
              </a:spcAft>
              <a:buNone/>
            </a:pPr>
            <a:r>
              <a:rPr lang="en-US" sz="1500" b="0">
                <a:solidFill>
                  <a:srgbClr val="202B33"/>
                </a:solidFill>
                <a:latin typeface="Arial"/>
                <a:ea typeface="Arial"/>
                <a:cs typeface="Arial"/>
              </a:rPr>
              <a:t xml:space="preserve">information retrieval, with synthetic</a:t>
            </a:r>
            <a:endParaRPr lang="en-US" sz="1500"/>
          </a:p>
          <a:p>
            <a:pPr marL="0" indent="0">
              <a:lnSpc>
                <a:spcPts val="1950"/>
              </a:lnSpc>
              <a:spcAft>
                <a:spcPts val="0"/>
              </a:spcAft>
              <a:buNone/>
            </a:pPr>
            <a:r>
              <a:rPr lang="en-US" sz="1500" b="0">
                <a:solidFill>
                  <a:srgbClr val="202B33"/>
                </a:solidFill>
                <a:latin typeface="Arial"/>
                <a:ea typeface="Arial"/>
                <a:cs typeface="Arial"/>
              </a:rPr>
              <a:t xml:space="preserve">exercises and sources attached. The claim</a:t>
            </a:r>
            <a:endParaRPr lang="en-US" sz="1500"/>
          </a:p>
          <a:p>
            <a:pPr marL="0" indent="0">
              <a:lnSpc>
                <a:spcPts val="1950"/>
              </a:lnSpc>
              <a:spcAft>
                <a:spcPts val="0"/>
              </a:spcAft>
              <a:buNone/>
            </a:pPr>
            <a:r>
              <a:rPr lang="en-US" sz="1500" b="0">
                <a:solidFill>
                  <a:srgbClr val="202B33"/>
                </a:solidFill>
                <a:latin typeface="Arial"/>
                <a:ea typeface="Arial"/>
                <a:cs typeface="Arial"/>
              </a:rPr>
              <a:t xml:space="preserve">is that we skipped useful evaluation work,</a:t>
            </a:r>
            <a:endParaRPr lang="en-US" sz="1500"/>
          </a:p>
          <a:p>
            <a:pPr marL="0" indent="0">
              <a:lnSpc>
                <a:spcPts val="1950"/>
              </a:lnSpc>
              <a:spcAft>
                <a:spcPts val="0"/>
              </a:spcAft>
              <a:buNone/>
            </a:pPr>
            <a:r>
              <a:rPr lang="en-US" sz="1500" b="0">
                <a:solidFill>
                  <a:srgbClr val="202B33"/>
                </a:solidFill>
                <a:latin typeface="Arial"/>
                <a:ea typeface="Arial"/>
                <a:cs typeface="Arial"/>
              </a:rPr>
              <a:t xml:space="preserve">not that IR researchers solved every</a:t>
            </a:r>
            <a:endParaRPr lang="en-US" sz="1500"/>
          </a:p>
          <a:p>
            <a:pPr marL="0" indent="0">
              <a:lnSpc>
                <a:spcPts val="1950"/>
              </a:lnSpc>
              <a:spcAft>
                <a:spcPts val="0"/>
              </a:spcAft>
              <a:buNone/>
            </a:pPr>
            <a:r>
              <a:rPr lang="en-US" sz="1500" b="0">
                <a:solidFill>
                  <a:srgbClr val="202B33"/>
                </a:solidFill>
                <a:latin typeface="Arial"/>
                <a:ea typeface="Arial"/>
                <a:cs typeface="Arial"/>
              </a:rPr>
              <a:t xml:space="preserve">problem in RAG.</a:t>
            </a:r>
            <a:endParaRPr lang="en-US" sz="1500"/>
          </a:p>
          <a:p>
            <a:pPr marL="0" indent="0">
              <a:lnSpc>
                <a:spcPts val="1950"/>
              </a:lnSpc>
              <a:spcAft>
                <a:spcPts val="0"/>
              </a:spcAft>
              <a:buNone/>
            </a:pPr>
            <a:r>
              <a:rPr lang="en-US" sz="1500" b="0">
                <a:solidFill>
                  <a:srgbClr val="202B33"/>
                </a:solidFill>
                <a:latin typeface="Arial"/>
                <a:ea typeface="Arial"/>
                <a:cs typeface="Arial"/>
              </a:rPr>
              <a:t xml:space="preserve"/>
            </a:r>
            <a:endParaRPr lang="en-US" sz="1500"/>
          </a:p>
        </p:txBody>
      </p:sp>
      <p:sp>
        <p:nvSpPr>
          <p:cNvPr id="5" name="Text 5"/>
          <p:cNvSpPr txBox="1"/>
          <p:nvPr/>
        </p:nvSpPr>
        <p:spPr>
          <a:xfrm>
            <a:off x="5238750" y="1971675"/>
            <a:ext cx="4362450" cy="5314950"/>
          </a:xfrm>
          <a:prstGeom prst="rect">
            <a:avLst/>
          </a:prstGeom>
          <a:noFill/>
          <a:ln>
            <a:noFill/>
          </a:ln>
        </p:spPr>
        <p:txBody>
          <a:bodyPr wrap="none" lIns="0" tIns="0" rIns="0" bIns="0" anchor="t">
            <a:noAutofit/>
          </a:bodyPr>
          <a:lstStyle/>
          <a:p>
            <a:pPr marL="0" indent="0">
              <a:lnSpc>
                <a:spcPts val="1950"/>
              </a:lnSpc>
              <a:spcAft>
                <a:spcPts val="0"/>
              </a:spcAft>
              <a:buNone/>
            </a:pPr>
            <a:r>
              <a:rPr lang="en-US" sz="1500" b="0">
                <a:solidFill>
                  <a:srgbClr val="202B33"/>
                </a:solidFill>
                <a:latin typeface="Arial"/>
                <a:ea typeface="Arial"/>
                <a:cs typeface="Arial"/>
              </a:rPr>
              <a:t xml:space="preserve">Eight words will do the work: term</a:t>
            </a:r>
            <a:endParaRPr lang="en-US" sz="1500"/>
          </a:p>
          <a:p>
            <a:pPr marL="0" indent="0">
              <a:lnSpc>
                <a:spcPts val="1950"/>
              </a:lnSpc>
              <a:spcAft>
                <a:spcPts val="0"/>
              </a:spcAft>
              <a:buNone/>
            </a:pPr>
            <a:r>
              <a:rPr lang="en-US" sz="1500" b="0">
                <a:solidFill>
                  <a:srgbClr val="202B33"/>
                </a:solidFill>
                <a:latin typeface="Arial"/>
                <a:ea typeface="Arial"/>
                <a:cs typeface="Arial"/>
              </a:rPr>
              <a:t xml:space="preserve">specificity, vector space model, vocabulary</a:t>
            </a:r>
            <a:endParaRPr lang="en-US" sz="1500"/>
          </a:p>
          <a:p>
            <a:pPr marL="0" indent="0">
              <a:lnSpc>
                <a:spcPts val="1950"/>
              </a:lnSpc>
              <a:spcAft>
                <a:spcPts val="0"/>
              </a:spcAft>
              <a:buNone/>
            </a:pPr>
            <a:r>
              <a:rPr lang="en-US" sz="1500" b="0">
                <a:solidFill>
                  <a:srgbClr val="202B33"/>
                </a:solidFill>
                <a:latin typeface="Arial"/>
                <a:ea typeface="Arial"/>
                <a:cs typeface="Arial"/>
              </a:rPr>
              <a:t xml:space="preserve">problem, passage retrieval, relevance</a:t>
            </a:r>
            <a:endParaRPr lang="en-US" sz="1500"/>
          </a:p>
          <a:p>
            <a:pPr marL="0" indent="0">
              <a:lnSpc>
                <a:spcPts val="1950"/>
              </a:lnSpc>
              <a:spcAft>
                <a:spcPts val="0"/>
              </a:spcAft>
              <a:buNone/>
            </a:pPr>
            <a:r>
              <a:rPr lang="en-US" sz="1500" b="0">
                <a:solidFill>
                  <a:srgbClr val="202B33"/>
                </a:solidFill>
                <a:latin typeface="Arial"/>
                <a:ea typeface="Arial"/>
                <a:cs typeface="Arial"/>
              </a:rPr>
              <a:t xml:space="preserve">judgment, the Cranfield paradigm, pooling,</a:t>
            </a:r>
            <a:endParaRPr lang="en-US" sz="1500"/>
          </a:p>
          <a:p>
            <a:pPr marL="0" indent="0">
              <a:lnSpc>
                <a:spcPts val="1950"/>
              </a:lnSpc>
              <a:spcAft>
                <a:spcPts val="0"/>
              </a:spcAft>
              <a:buNone/>
            </a:pPr>
            <a:r>
              <a:rPr lang="en-US" sz="1500" b="0">
                <a:solidFill>
                  <a:srgbClr val="202B33"/>
                </a:solidFill>
                <a:latin typeface="Arial"/>
                <a:ea typeface="Arial"/>
                <a:cs typeface="Arial"/>
              </a:rPr>
              <a:t xml:space="preserve">and assessor disagreement.</a:t>
            </a:r>
            <a:endParaRPr lang="en-US" sz="1500"/>
          </a:p>
          <a:p>
            <a:pPr marL="0" indent="0">
              <a:lnSpc>
                <a:spcPts val="1950"/>
              </a:lnSpc>
              <a:spcAft>
                <a:spcPts val="0"/>
              </a:spcAft>
              <a:buNone/>
            </a:pPr>
            <a:r>
              <a:rPr lang="en-US" sz="1500" b="0">
                <a:solidFill>
                  <a:srgbClr val="202B33"/>
                </a:solidFill>
                <a:latin typeface="Arial"/>
                <a:ea typeface="Arial"/>
                <a:cs typeface="Arial"/>
              </a:rPr>
              <a:t xml:space="preserve"/>
            </a:r>
            <a:endParaRPr lang="en-US" sz="1500"/>
          </a:p>
          <a:p>
            <a:pPr marL="0" indent="0">
              <a:lnSpc>
                <a:spcPts val="1950"/>
              </a:lnSpc>
              <a:spcAft>
                <a:spcPts val="0"/>
              </a:spcAft>
              <a:buNone/>
            </a:pPr>
            <a:r>
              <a:rPr lang="en-US" sz="1500" b="0">
                <a:solidFill>
                  <a:srgbClr val="202B33"/>
                </a:solidFill>
                <a:latin typeface="Arial"/>
                <a:ea typeface="Arial"/>
                <a:cs typeface="Arial"/>
              </a:rPr>
              <a:t xml:space="preserve">By the end we will use them to find a hole</a:t>
            </a:r>
            <a:endParaRPr lang="en-US" sz="1500"/>
          </a:p>
          <a:p>
            <a:pPr marL="0" indent="0">
              <a:lnSpc>
                <a:spcPts val="1950"/>
              </a:lnSpc>
              <a:spcAft>
                <a:spcPts val="0"/>
              </a:spcAft>
              <a:buNone/>
            </a:pPr>
            <a:r>
              <a:rPr lang="en-US" sz="1500" b="0">
                <a:solidFill>
                  <a:srgbClr val="202B33"/>
                </a:solidFill>
                <a:latin typeface="Arial"/>
                <a:ea typeface="Arial"/>
                <a:cs typeface="Arial"/>
              </a:rPr>
              <a:t xml:space="preserve">in a golden dataset. The hole will make a</a:t>
            </a:r>
            <a:endParaRPr lang="en-US" sz="1500"/>
          </a:p>
          <a:p>
            <a:pPr marL="0" indent="0">
              <a:lnSpc>
                <a:spcPts val="1950"/>
              </a:lnSpc>
              <a:spcAft>
                <a:spcPts val="0"/>
              </a:spcAft>
              <a:buNone/>
            </a:pPr>
            <a:r>
              <a:rPr lang="en-US" sz="1500" b="0">
                <a:solidFill>
                  <a:srgbClr val="202B33"/>
                </a:solidFill>
                <a:latin typeface="Arial"/>
                <a:ea typeface="Arial"/>
                <a:cs typeface="Arial"/>
              </a:rPr>
              <a:t xml:space="preserve">better retriever look worse. Then we will</a:t>
            </a:r>
            <a:endParaRPr lang="en-US" sz="1500"/>
          </a:p>
          <a:p>
            <a:pPr marL="0" indent="0">
              <a:lnSpc>
                <a:spcPts val="1950"/>
              </a:lnSpc>
              <a:spcAft>
                <a:spcPts val="0"/>
              </a:spcAft>
              <a:buNone/>
            </a:pPr>
            <a:r>
              <a:rPr lang="en-US" sz="1500" b="0">
                <a:solidFill>
                  <a:srgbClr val="202B33"/>
                </a:solidFill>
                <a:latin typeface="Arial"/>
                <a:ea typeface="Arial"/>
                <a:cs typeface="Arial"/>
              </a:rPr>
              <a:t xml:space="preserve">ask whether that happens in a collection</a:t>
            </a:r>
            <a:endParaRPr lang="en-US" sz="1500"/>
          </a:p>
          <a:p>
            <a:pPr marL="0" indent="0">
              <a:lnSpc>
                <a:spcPts val="1950"/>
              </a:lnSpc>
              <a:spcAft>
                <a:spcPts val="0"/>
              </a:spcAft>
              <a:buNone/>
            </a:pPr>
            <a:r>
              <a:rPr lang="en-US" sz="1500" b="0">
                <a:solidFill>
                  <a:srgbClr val="202B33"/>
                </a:solidFill>
                <a:latin typeface="Arial"/>
                <a:ea typeface="Arial"/>
                <a:cs typeface="Arial"/>
              </a:rPr>
              <a:t xml:space="preserve">built by people who knew to look for it.</a:t>
            </a:r>
            <a:endParaRPr lang="en-US" sz="1500"/>
          </a:p>
        </p:txBody>
      </p:sp>
      <p:sp>
        <p:nvSpPr>
          <p:cNvPr id="6" name="Text 6"/>
          <p:cNvSpPr txBox="1"/>
          <p:nvPr/>
        </p:nvSpPr>
        <p:spPr>
          <a:xfrm>
            <a:off x="457200" y="7486650"/>
            <a:ext cx="8820150" cy="190500"/>
          </a:xfrm>
          <a:prstGeom prst="rect">
            <a:avLst/>
          </a:prstGeom>
          <a:noFill/>
          <a:ln>
            <a:noFill/>
          </a:ln>
        </p:spPr>
        <p:txBody>
          <a:bodyPr wrap="none" lIns="0" tIns="0" rIns="0" bIns="0" anchor="t">
            <a:noAutofit/>
          </a:bodyPr>
          <a:lstStyle/>
          <a:p>
            <a:pPr marL="0" indent="0">
              <a:lnSpc>
                <a:spcPts val="1268"/>
              </a:lnSpc>
              <a:spcAft>
                <a:spcPts val="0"/>
              </a:spcAft>
              <a:buNone/>
            </a:pPr>
            <a:r>
              <a:rPr lang="en-US" sz="975" b="0">
                <a:solidFill>
                  <a:srgbClr val="48555B"/>
                </a:solidFill>
                <a:latin typeface="Arial"/>
                <a:ea typeface="Arial"/>
                <a:cs typeface="Arial"/>
              </a:rPr>
              <a:t xml:space="preserve">Three Search Methods in a Fundable Trenchcoat</a:t>
            </a:r>
            <a:endParaRPr lang="en-US" sz="975"/>
          </a:p>
        </p:txBody>
      </p:sp>
      <p:sp>
        <p:nvSpPr>
          <p:cNvPr id="7" name="Text 7"/>
          <p:cNvSpPr txBox="1"/>
          <p:nvPr/>
        </p:nvSpPr>
        <p:spPr>
          <a:xfrm>
            <a:off x="9391650" y="7486650"/>
            <a:ext cx="238125" cy="190500"/>
          </a:xfrm>
          <a:prstGeom prst="rect">
            <a:avLst/>
          </a:prstGeom>
          <a:noFill/>
          <a:ln>
            <a:noFill/>
          </a:ln>
        </p:spPr>
        <p:txBody>
          <a:bodyPr wrap="none" lIns="0" tIns="0" rIns="0" bIns="0" anchor="t">
            <a:noAutofit/>
          </a:bodyPr>
          <a:lstStyle/>
          <a:p>
            <a:pPr marL="0" indent="0">
              <a:lnSpc>
                <a:spcPts val="1268"/>
              </a:lnSpc>
              <a:spcAft>
                <a:spcPts val="0"/>
              </a:spcAft>
              <a:buNone/>
            </a:pPr>
            <a:r>
              <a:rPr lang="en-US" sz="975" b="0">
                <a:solidFill>
                  <a:srgbClr val="48555B"/>
                </a:solidFill>
                <a:latin typeface="Arial"/>
                <a:ea typeface="Arial"/>
                <a:cs typeface="Arial"/>
              </a:rPr>
              <a:t xml:space="preserve">3</a:t>
            </a:r>
            <a:endParaRPr lang="en-US" sz="975"/>
          </a:p>
        </p:txBody>
      </p:sp>
    </p:spTree>
  </p:cSld>
  <p:clrMapOvr>
    <a:masterClrMapping/>
  </p:clrMapOvr>
</p:sld>
</file>

<file path=ppt/slides/slide4.xml><?xml version="1.0" encoding="utf-8"?>
<p:sld xmlns:a="http://schemas.openxmlformats.org/drawingml/2006/main" xmlns:r="http://schemas.openxmlformats.org/officeDocument/2006/relationships" xmlns:p="http://schemas.openxmlformats.org/presentationml/2006/main">
  <p:cSld name="Slide 4">
    <p:bg>
      <p:bgPr>
        <a:solidFill>
          <a:srgbClr val="FAFAF7"/>
        </a:solidFill>
        <a:effectLst/>
      </p:bgPr>
    </p:bg>
    <p:spTree>
      <p:nvGrpSpPr>
        <p:cNvPr id="1" name=""/>
        <p:cNvGrpSpPr/>
        <p:nvPr/>
      </p:nvGrpSpPr>
      <p:grpSpPr>
        <a:xfrm>
          <a:off x="0" y="0"/>
          <a:ext cx="0" cy="0"/>
          <a:chOff x="0" y="0"/>
          <a:chExt cx="0" cy="0"/>
        </a:xfrm>
      </p:grpSpPr>
      <p:sp>
        <p:nvSpPr>
          <p:cNvPr id="2" name="Text 2"/>
          <p:cNvSpPr txBox="1"/>
          <p:nvPr/>
        </p:nvSpPr>
        <p:spPr>
          <a:xfrm>
            <a:off x="457200" y="266700"/>
            <a:ext cx="9144000" cy="228600"/>
          </a:xfrm>
          <a:prstGeom prst="rect">
            <a:avLst/>
          </a:prstGeom>
          <a:noFill/>
          <a:ln>
            <a:noFill/>
          </a:ln>
        </p:spPr>
        <p:txBody>
          <a:bodyPr wrap="none" lIns="0" tIns="0" rIns="0" bIns="0" anchor="t">
            <a:noAutofit/>
          </a:bodyPr>
          <a:lstStyle/>
          <a:p>
            <a:pPr marL="0" indent="0">
              <a:lnSpc>
                <a:spcPts val="1365"/>
              </a:lnSpc>
              <a:spcAft>
                <a:spcPts val="0"/>
              </a:spcAft>
              <a:buNone/>
            </a:pPr>
            <a:r>
              <a:rPr lang="en-US" sz="1050" b="1">
                <a:solidFill>
                  <a:srgbClr val="246957"/>
                </a:solidFill>
                <a:latin typeface="Arial"/>
                <a:ea typeface="Arial"/>
                <a:cs typeface="Arial"/>
              </a:rPr>
              <a:t xml:space="preserve">03 / 15    SOURCE SLIDE 3</a:t>
            </a:r>
            <a:endParaRPr lang="en-US" sz="1050"/>
          </a:p>
        </p:txBody>
      </p:sp>
      <p:sp>
        <p:nvSpPr>
          <p:cNvPr id="3" name="Text 3"/>
          <p:cNvSpPr txBox="1"/>
          <p:nvPr/>
        </p:nvSpPr>
        <p:spPr>
          <a:xfrm>
            <a:off x="457200" y="657225"/>
            <a:ext cx="9144000" cy="1104900"/>
          </a:xfrm>
          <a:prstGeom prst="rect">
            <a:avLst/>
          </a:prstGeom>
          <a:noFill/>
          <a:ln>
            <a:noFill/>
          </a:ln>
        </p:spPr>
        <p:txBody>
          <a:bodyPr wrap="none" lIns="0" tIns="0" rIns="0" bIns="0" anchor="t">
            <a:noAutofit/>
          </a:bodyPr>
          <a:lstStyle/>
          <a:p>
            <a:pPr marL="0" indent="0">
              <a:lnSpc>
                <a:spcPts val="3060"/>
              </a:lnSpc>
              <a:spcAft>
                <a:spcPts val="0"/>
              </a:spcAft>
              <a:buNone/>
            </a:pPr>
            <a:r>
              <a:rPr lang="en-US" sz="2550" b="1">
                <a:solidFill>
                  <a:srgbClr val="202B33"/>
                </a:solidFill>
                <a:latin typeface="Arial"/>
                <a:ea typeface="Arial"/>
                <a:cs typeface="Arial"/>
              </a:rPr>
              <a:t xml:space="preserve">1972: rare words matter more</a:t>
            </a:r>
            <a:endParaRPr lang="en-US" sz="2550"/>
          </a:p>
        </p:txBody>
      </p:sp>
      <p:sp>
        <p:nvSpPr>
          <p:cNvPr id="4" name="Text 4"/>
          <p:cNvSpPr txBox="1"/>
          <p:nvPr/>
        </p:nvSpPr>
        <p:spPr>
          <a:xfrm>
            <a:off x="457200" y="1971675"/>
            <a:ext cx="4352925" cy="5314950"/>
          </a:xfrm>
          <a:prstGeom prst="rect">
            <a:avLst/>
          </a:prstGeom>
          <a:noFill/>
          <a:ln>
            <a:noFill/>
          </a:ln>
        </p:spPr>
        <p:txBody>
          <a:bodyPr wrap="none" lIns="0" tIns="0" rIns="0" bIns="0" anchor="t">
            <a:noAutofit/>
          </a:bodyPr>
          <a:lstStyle/>
          <a:p>
            <a:pPr marL="0" indent="0">
              <a:lnSpc>
                <a:spcPts val="1950"/>
              </a:lnSpc>
              <a:spcAft>
                <a:spcPts val="0"/>
              </a:spcAft>
              <a:buNone/>
            </a:pPr>
            <a:r>
              <a:rPr lang="en-US" sz="1500" b="0">
                <a:solidFill>
                  <a:srgbClr val="202B33"/>
                </a:solidFill>
                <a:latin typeface="Arial"/>
                <a:ea typeface="Arial"/>
                <a:cs typeface="Arial"/>
              </a:rPr>
              <a:t xml:space="preserve">Karen Spärck Jones · term specificity</a:t>
            </a:r>
            <a:endParaRPr lang="en-US" sz="1500"/>
          </a:p>
          <a:p>
            <a:pPr marL="0" indent="0">
              <a:lnSpc>
                <a:spcPts val="1950"/>
              </a:lnSpc>
              <a:spcAft>
                <a:spcPts val="0"/>
              </a:spcAft>
              <a:buNone/>
            </a:pPr>
            <a:r>
              <a:rPr lang="en-US" sz="1500" b="0">
                <a:solidFill>
                  <a:srgbClr val="202B33"/>
                </a:solidFill>
                <a:latin typeface="Arial"/>
                <a:ea typeface="Arial"/>
                <a:cs typeface="Arial"/>
              </a:rPr>
              <a:t xml:space="preserve"/>
            </a:r>
            <a:endParaRPr lang="en-US" sz="1500"/>
          </a:p>
          <a:p>
            <a:pPr marL="0" indent="0">
              <a:lnSpc>
                <a:spcPts val="1950"/>
              </a:lnSpc>
              <a:spcAft>
                <a:spcPts val="0"/>
              </a:spcAft>
              <a:buNone/>
            </a:pPr>
            <a:r>
              <a:rPr lang="en-US" sz="1500" b="0">
                <a:solidFill>
                  <a:srgbClr val="202B33"/>
                </a:solidFill>
                <a:latin typeface="Arial"/>
                <a:ea typeface="Arial"/>
                <a:cs typeface="Arial"/>
              </a:rPr>
              <a:t xml:space="preserve">1972 → 2026 = 54 years</a:t>
            </a:r>
            <a:endParaRPr lang="en-US" sz="1500"/>
          </a:p>
          <a:p>
            <a:pPr marL="0" indent="0">
              <a:lnSpc>
                <a:spcPts val="1950"/>
              </a:lnSpc>
              <a:spcAft>
                <a:spcPts val="0"/>
              </a:spcAft>
              <a:buNone/>
            </a:pPr>
            <a:r>
              <a:rPr lang="en-US" sz="1500" b="0">
                <a:solidFill>
                  <a:srgbClr val="202B33"/>
                </a:solidFill>
                <a:latin typeface="Arial"/>
                <a:ea typeface="Arial"/>
                <a:cs typeface="Arial"/>
              </a:rPr>
              <a:t xml:space="preserve"/>
            </a:r>
            <a:endParaRPr lang="en-US" sz="1500"/>
          </a:p>
          <a:p>
            <a:pPr marL="0" indent="0">
              <a:lnSpc>
                <a:spcPts val="1950"/>
              </a:lnSpc>
              <a:spcAft>
                <a:spcPts val="0"/>
              </a:spcAft>
              <a:buNone/>
            </a:pPr>
            <a:r>
              <a:rPr lang="en-US" sz="1500" b="0">
                <a:solidFill>
                  <a:srgbClr val="202B33"/>
                </a:solidFill>
                <a:latin typeface="Arial"/>
                <a:ea typeface="Arial"/>
                <a:cs typeface="Arial"/>
              </a:rPr>
              <a:t xml:space="preserve">Karen Spärck Jones published a statistical</a:t>
            </a:r>
            <a:endParaRPr lang="en-US" sz="1500"/>
          </a:p>
          <a:p>
            <a:pPr marL="0" indent="0">
              <a:lnSpc>
                <a:spcPts val="1950"/>
              </a:lnSpc>
              <a:spcAft>
                <a:spcPts val="0"/>
              </a:spcAft>
              <a:buNone/>
            </a:pPr>
            <a:r>
              <a:rPr lang="en-US" sz="1500" b="0">
                <a:solidFill>
                  <a:srgbClr val="202B33"/>
                </a:solidFill>
                <a:latin typeface="Arial"/>
                <a:ea typeface="Arial"/>
                <a:cs typeface="Arial"/>
              </a:rPr>
              <a:t xml:space="preserve">interpretation of term specificity in 1972.</a:t>
            </a:r>
            <a:endParaRPr lang="en-US" sz="1500"/>
          </a:p>
          <a:p>
            <a:pPr marL="0" indent="0">
              <a:lnSpc>
                <a:spcPts val="1950"/>
              </a:lnSpc>
              <a:spcAft>
                <a:spcPts val="0"/>
              </a:spcAft>
              <a:buNone/>
            </a:pPr>
            <a:r>
              <a:rPr lang="en-US" sz="1500" b="0">
                <a:solidFill>
                  <a:srgbClr val="202B33"/>
                </a:solidFill>
                <a:latin typeface="Arial"/>
                <a:ea typeface="Arial"/>
                <a:cs typeface="Arial"/>
              </a:rPr>
              <a:t xml:space="preserve">A word that appears in almost every</a:t>
            </a:r>
            <a:endParaRPr lang="en-US" sz="1500"/>
          </a:p>
          <a:p>
            <a:pPr marL="0" indent="0">
              <a:lnSpc>
                <a:spcPts val="1950"/>
              </a:lnSpc>
              <a:spcAft>
                <a:spcPts val="0"/>
              </a:spcAft>
              <a:buNone/>
            </a:pPr>
            <a:r>
              <a:rPr lang="en-US" sz="1500" b="0">
                <a:solidFill>
                  <a:srgbClr val="202B33"/>
                </a:solidFill>
                <a:latin typeface="Arial"/>
                <a:ea typeface="Arial"/>
                <a:cs typeface="Arial"/>
              </a:rPr>
              <a:t xml:space="preserve">document tells you less about which</a:t>
            </a:r>
            <a:endParaRPr lang="en-US" sz="1500"/>
          </a:p>
          <a:p>
            <a:pPr marL="0" indent="0">
              <a:lnSpc>
                <a:spcPts val="1950"/>
              </a:lnSpc>
              <a:spcAft>
                <a:spcPts val="0"/>
              </a:spcAft>
              <a:buNone/>
            </a:pPr>
            <a:r>
              <a:rPr lang="en-US" sz="1500" b="0">
                <a:solidFill>
                  <a:srgbClr val="202B33"/>
                </a:solidFill>
                <a:latin typeface="Arial"/>
                <a:ea typeface="Arial"/>
                <a:cs typeface="Arial"/>
              </a:rPr>
              <a:t xml:space="preserve">document you want than a rare term does.</a:t>
            </a:r>
            <a:endParaRPr lang="en-US" sz="1500"/>
          </a:p>
          <a:p>
            <a:pPr marL="0" indent="0">
              <a:lnSpc>
                <a:spcPts val="1950"/>
              </a:lnSpc>
              <a:spcAft>
                <a:spcPts val="0"/>
              </a:spcAft>
              <a:buNone/>
            </a:pPr>
            <a:r>
              <a:rPr lang="en-US" sz="1500" b="0">
                <a:solidFill>
                  <a:srgbClr val="202B33"/>
                </a:solidFill>
                <a:latin typeface="Arial"/>
                <a:ea typeface="Arial"/>
                <a:cs typeface="Arial"/>
              </a:rPr>
              <a:t xml:space="preserve"/>
            </a:r>
            <a:endParaRPr lang="en-US" sz="1500"/>
          </a:p>
          <a:p>
            <a:pPr marL="0" indent="0">
              <a:lnSpc>
                <a:spcPts val="1950"/>
              </a:lnSpc>
              <a:spcAft>
                <a:spcPts val="0"/>
              </a:spcAft>
              <a:buNone/>
            </a:pPr>
            <a:r>
              <a:rPr lang="en-US" sz="1500" b="0">
                <a:solidFill>
                  <a:srgbClr val="202B33"/>
                </a:solidFill>
                <a:latin typeface="Arial"/>
                <a:ea typeface="Arial"/>
                <a:cs typeface="Arial"/>
              </a:rPr>
              <a:t xml:space="preserve">Think of an error code in a support query.</a:t>
            </a:r>
            <a:endParaRPr lang="en-US" sz="1500"/>
          </a:p>
        </p:txBody>
      </p:sp>
      <p:sp>
        <p:nvSpPr>
          <p:cNvPr id="5" name="Text 5"/>
          <p:cNvSpPr txBox="1"/>
          <p:nvPr/>
        </p:nvSpPr>
        <p:spPr>
          <a:xfrm>
            <a:off x="5238750" y="1971675"/>
            <a:ext cx="4362450" cy="5314950"/>
          </a:xfrm>
          <a:prstGeom prst="rect">
            <a:avLst/>
          </a:prstGeom>
          <a:noFill/>
          <a:ln>
            <a:noFill/>
          </a:ln>
        </p:spPr>
        <p:txBody>
          <a:bodyPr wrap="none" lIns="0" tIns="0" rIns="0" bIns="0" anchor="t">
            <a:noAutofit/>
          </a:bodyPr>
          <a:lstStyle/>
          <a:p>
            <a:pPr marL="0" indent="0">
              <a:lnSpc>
                <a:spcPts val="1950"/>
              </a:lnSpc>
              <a:spcAft>
                <a:spcPts val="0"/>
              </a:spcAft>
              <a:buNone/>
            </a:pPr>
            <a:r>
              <a:rPr lang="en-US" sz="1500" b="0">
                <a:solidFill>
                  <a:srgbClr val="202B33"/>
                </a:solidFill>
                <a:latin typeface="Arial"/>
                <a:ea typeface="Arial"/>
                <a:cs typeface="Arial"/>
              </a:rPr>
              <a:t xml:space="preserve">The words "application error" occur</a:t>
            </a:r>
            <a:endParaRPr lang="en-US" sz="1500"/>
          </a:p>
          <a:p>
            <a:pPr marL="0" indent="0">
              <a:lnSpc>
                <a:spcPts val="1950"/>
              </a:lnSpc>
              <a:spcAft>
                <a:spcPts val="0"/>
              </a:spcAft>
              <a:buNone/>
            </a:pPr>
            <a:r>
              <a:rPr lang="en-US" sz="1500" b="0">
                <a:solidFill>
                  <a:srgbClr val="202B33"/>
                </a:solidFill>
                <a:latin typeface="Arial"/>
                <a:ea typeface="Arial"/>
                <a:cs typeface="Arial"/>
              </a:rPr>
              <a:t xml:space="preserve">everywhere. The exact identifier narrows</a:t>
            </a:r>
            <a:endParaRPr lang="en-US" sz="1500"/>
          </a:p>
          <a:p>
            <a:pPr marL="0" indent="0">
              <a:lnSpc>
                <a:spcPts val="1950"/>
              </a:lnSpc>
              <a:spcAft>
                <a:spcPts val="0"/>
              </a:spcAft>
              <a:buNone/>
            </a:pPr>
            <a:r>
              <a:rPr lang="en-US" sz="1500" b="0">
                <a:solidFill>
                  <a:srgbClr val="202B33"/>
                </a:solidFill>
                <a:latin typeface="Arial"/>
                <a:ea typeface="Arial"/>
                <a:cs typeface="Arial"/>
              </a:rPr>
              <a:t xml:space="preserve">the search. That is a concrete reason to</a:t>
            </a:r>
            <a:endParaRPr lang="en-US" sz="1500"/>
          </a:p>
          <a:p>
            <a:pPr marL="0" indent="0">
              <a:lnSpc>
                <a:spcPts val="1950"/>
              </a:lnSpc>
              <a:spcAft>
                <a:spcPts val="0"/>
              </a:spcAft>
              <a:buNone/>
            </a:pPr>
            <a:r>
              <a:rPr lang="en-US" sz="1500" b="0">
                <a:solidFill>
                  <a:srgbClr val="202B33"/>
                </a:solidFill>
                <a:latin typeface="Arial"/>
                <a:ea typeface="Arial"/>
                <a:cs typeface="Arial"/>
              </a:rPr>
              <a:t xml:space="preserve">keep lexical evidence in a retrieval system</a:t>
            </a:r>
            <a:endParaRPr lang="en-US" sz="1500"/>
          </a:p>
          <a:p>
            <a:pPr marL="0" indent="0">
              <a:lnSpc>
                <a:spcPts val="1950"/>
              </a:lnSpc>
              <a:spcAft>
                <a:spcPts val="0"/>
              </a:spcAft>
              <a:buNone/>
            </a:pPr>
            <a:r>
              <a:rPr lang="en-US" sz="1500" b="0">
                <a:solidFill>
                  <a:srgbClr val="202B33"/>
                </a:solidFill>
                <a:latin typeface="Arial"/>
                <a:ea typeface="Arial"/>
                <a:cs typeface="Arial"/>
              </a:rPr>
              <a:t xml:space="preserve">that also understands paraphrases.</a:t>
            </a:r>
            <a:endParaRPr lang="en-US" sz="1500"/>
          </a:p>
          <a:p>
            <a:pPr marL="0" indent="0">
              <a:lnSpc>
                <a:spcPts val="1950"/>
              </a:lnSpc>
              <a:spcAft>
                <a:spcPts val="0"/>
              </a:spcAft>
              <a:buNone/>
            </a:pPr>
            <a:r>
              <a:rPr lang="en-US" sz="1500" b="0">
                <a:solidFill>
                  <a:srgbClr val="202B33"/>
                </a:solidFill>
                <a:latin typeface="Arial"/>
                <a:ea typeface="Arial"/>
                <a:cs typeface="Arial"/>
              </a:rPr>
              <a:t xml:space="preserve"/>
            </a:r>
            <a:endParaRPr lang="en-US" sz="1500"/>
          </a:p>
          <a:p>
            <a:pPr marL="0" indent="0">
              <a:lnSpc>
                <a:spcPts val="1950"/>
              </a:lnSpc>
              <a:spcAft>
                <a:spcPts val="0"/>
              </a:spcAft>
              <a:buNone/>
            </a:pPr>
            <a:r>
              <a:rPr lang="en-US" sz="1500" b="0">
                <a:solidFill>
                  <a:srgbClr val="202B33"/>
                </a:solidFill>
                <a:latin typeface="Arial"/>
                <a:ea typeface="Arial"/>
                <a:cs typeface="Arial"/>
              </a:rPr>
              <a:t xml:space="preserve">Fifty-four years. We have had time to put</a:t>
            </a:r>
            <a:endParaRPr lang="en-US" sz="1500"/>
          </a:p>
          <a:p>
            <a:pPr marL="0" indent="0">
              <a:lnSpc>
                <a:spcPts val="1950"/>
              </a:lnSpc>
              <a:spcAft>
                <a:spcPts val="0"/>
              </a:spcAft>
              <a:buNone/>
            </a:pPr>
            <a:r>
              <a:rPr lang="en-US" sz="1500" b="0">
                <a:solidFill>
                  <a:srgbClr val="202B33"/>
                </a:solidFill>
                <a:latin typeface="Arial"/>
                <a:ea typeface="Arial"/>
                <a:cs typeface="Arial"/>
              </a:rPr>
              <a:t xml:space="preserve">her name on the slide. The point is that</a:t>
            </a:r>
            <a:endParaRPr lang="en-US" sz="1500"/>
          </a:p>
          <a:p>
            <a:pPr marL="0" indent="0">
              <a:lnSpc>
                <a:spcPts val="1950"/>
              </a:lnSpc>
              <a:spcAft>
                <a:spcPts val="0"/>
              </a:spcAft>
              <a:buNone/>
            </a:pPr>
            <a:r>
              <a:rPr lang="en-US" sz="1500" b="0">
                <a:solidFill>
                  <a:srgbClr val="202B33"/>
                </a:solidFill>
                <a:latin typeface="Arial"/>
                <a:ea typeface="Arial"/>
                <a:cs typeface="Arial"/>
              </a:rPr>
              <a:t xml:space="preserve">corpus frequency supplies evidence, and the</a:t>
            </a:r>
            <a:endParaRPr lang="en-US" sz="1500"/>
          </a:p>
          <a:p>
            <a:pPr marL="0" indent="0">
              <a:lnSpc>
                <a:spcPts val="1950"/>
              </a:lnSpc>
              <a:spcAft>
                <a:spcPts val="0"/>
              </a:spcAft>
              <a:buNone/>
            </a:pPr>
            <a:r>
              <a:rPr lang="en-US" sz="1500" b="0">
                <a:solidFill>
                  <a:srgbClr val="202B33"/>
                </a:solidFill>
                <a:latin typeface="Arial"/>
                <a:ea typeface="Arial"/>
                <a:cs typeface="Arial"/>
              </a:rPr>
              <a:t xml:space="preserve">evidence has a history and assumptions you</a:t>
            </a:r>
            <a:endParaRPr lang="en-US" sz="1500"/>
          </a:p>
          <a:p>
            <a:pPr marL="0" indent="0">
              <a:lnSpc>
                <a:spcPts val="1950"/>
              </a:lnSpc>
              <a:spcAft>
                <a:spcPts val="0"/>
              </a:spcAft>
              <a:buNone/>
            </a:pPr>
            <a:r>
              <a:rPr lang="en-US" sz="1500" b="0">
                <a:solidFill>
                  <a:srgbClr val="202B33"/>
                </a:solidFill>
                <a:latin typeface="Arial"/>
                <a:ea typeface="Arial"/>
                <a:cs typeface="Arial"/>
              </a:rPr>
              <a:t xml:space="preserve">can inspect.</a:t>
            </a:r>
            <a:endParaRPr lang="en-US" sz="1500"/>
          </a:p>
        </p:txBody>
      </p:sp>
      <p:sp>
        <p:nvSpPr>
          <p:cNvPr id="6" name="Text 6"/>
          <p:cNvSpPr txBox="1"/>
          <p:nvPr/>
        </p:nvSpPr>
        <p:spPr>
          <a:xfrm>
            <a:off x="457200" y="7486650"/>
            <a:ext cx="8820150" cy="190500"/>
          </a:xfrm>
          <a:prstGeom prst="rect">
            <a:avLst/>
          </a:prstGeom>
          <a:noFill/>
          <a:ln>
            <a:noFill/>
          </a:ln>
        </p:spPr>
        <p:txBody>
          <a:bodyPr wrap="none" lIns="0" tIns="0" rIns="0" bIns="0" anchor="t">
            <a:noAutofit/>
          </a:bodyPr>
          <a:lstStyle/>
          <a:p>
            <a:pPr marL="0" indent="0">
              <a:lnSpc>
                <a:spcPts val="1268"/>
              </a:lnSpc>
              <a:spcAft>
                <a:spcPts val="0"/>
              </a:spcAft>
              <a:buNone/>
            </a:pPr>
            <a:r>
              <a:rPr lang="en-US" sz="975" b="0">
                <a:solidFill>
                  <a:srgbClr val="48555B"/>
                </a:solidFill>
                <a:latin typeface="Arial"/>
                <a:ea typeface="Arial"/>
                <a:cs typeface="Arial"/>
              </a:rPr>
              <a:t xml:space="preserve">Three Search Methods in a Fundable Trenchcoat</a:t>
            </a:r>
            <a:endParaRPr lang="en-US" sz="975"/>
          </a:p>
        </p:txBody>
      </p:sp>
      <p:sp>
        <p:nvSpPr>
          <p:cNvPr id="7" name="Text 7"/>
          <p:cNvSpPr txBox="1"/>
          <p:nvPr/>
        </p:nvSpPr>
        <p:spPr>
          <a:xfrm>
            <a:off x="9391650" y="7486650"/>
            <a:ext cx="238125" cy="190500"/>
          </a:xfrm>
          <a:prstGeom prst="rect">
            <a:avLst/>
          </a:prstGeom>
          <a:noFill/>
          <a:ln>
            <a:noFill/>
          </a:ln>
        </p:spPr>
        <p:txBody>
          <a:bodyPr wrap="none" lIns="0" tIns="0" rIns="0" bIns="0" anchor="t">
            <a:noAutofit/>
          </a:bodyPr>
          <a:lstStyle/>
          <a:p>
            <a:pPr marL="0" indent="0">
              <a:lnSpc>
                <a:spcPts val="1268"/>
              </a:lnSpc>
              <a:spcAft>
                <a:spcPts val="0"/>
              </a:spcAft>
              <a:buNone/>
            </a:pPr>
            <a:r>
              <a:rPr lang="en-US" sz="975" b="0">
                <a:solidFill>
                  <a:srgbClr val="48555B"/>
                </a:solidFill>
                <a:latin typeface="Arial"/>
                <a:ea typeface="Arial"/>
                <a:cs typeface="Arial"/>
              </a:rPr>
              <a:t xml:space="preserve">4</a:t>
            </a:r>
            <a:endParaRPr lang="en-US" sz="975"/>
          </a:p>
        </p:txBody>
      </p:sp>
    </p:spTree>
  </p:cSld>
  <p:clrMapOvr>
    <a:masterClrMapping/>
  </p:clrMapOvr>
</p:sld>
</file>

<file path=ppt/slides/slide5.xml><?xml version="1.0" encoding="utf-8"?>
<p:sld xmlns:a="http://schemas.openxmlformats.org/drawingml/2006/main" xmlns:r="http://schemas.openxmlformats.org/officeDocument/2006/relationships" xmlns:p="http://schemas.openxmlformats.org/presentationml/2006/main">
  <p:cSld name="Slide 5">
    <p:bg>
      <p:bgPr>
        <a:solidFill>
          <a:srgbClr val="FAFAF7"/>
        </a:solidFill>
        <a:effectLst/>
      </p:bgPr>
    </p:bg>
    <p:spTree>
      <p:nvGrpSpPr>
        <p:cNvPr id="1" name=""/>
        <p:cNvGrpSpPr/>
        <p:nvPr/>
      </p:nvGrpSpPr>
      <p:grpSpPr>
        <a:xfrm>
          <a:off x="0" y="0"/>
          <a:ext cx="0" cy="0"/>
          <a:chOff x="0" y="0"/>
          <a:chExt cx="0" cy="0"/>
        </a:xfrm>
      </p:grpSpPr>
      <p:sp>
        <p:nvSpPr>
          <p:cNvPr id="2" name="Text 2"/>
          <p:cNvSpPr txBox="1"/>
          <p:nvPr/>
        </p:nvSpPr>
        <p:spPr>
          <a:xfrm>
            <a:off x="457200" y="266700"/>
            <a:ext cx="9144000" cy="228600"/>
          </a:xfrm>
          <a:prstGeom prst="rect">
            <a:avLst/>
          </a:prstGeom>
          <a:noFill/>
          <a:ln>
            <a:noFill/>
          </a:ln>
        </p:spPr>
        <p:txBody>
          <a:bodyPr wrap="none" lIns="0" tIns="0" rIns="0" bIns="0" anchor="t">
            <a:noAutofit/>
          </a:bodyPr>
          <a:lstStyle/>
          <a:p>
            <a:pPr marL="0" indent="0">
              <a:lnSpc>
                <a:spcPts val="1365"/>
              </a:lnSpc>
              <a:spcAft>
                <a:spcPts val="0"/>
              </a:spcAft>
              <a:buNone/>
            </a:pPr>
            <a:r>
              <a:rPr lang="en-US" sz="1050" b="1">
                <a:solidFill>
                  <a:srgbClr val="246957"/>
                </a:solidFill>
                <a:latin typeface="Arial"/>
                <a:ea typeface="Arial"/>
                <a:cs typeface="Arial"/>
              </a:rPr>
              <a:t xml:space="preserve">04 / 15    SOURCE SLIDE 4</a:t>
            </a:r>
            <a:endParaRPr lang="en-US" sz="1050"/>
          </a:p>
        </p:txBody>
      </p:sp>
      <p:sp>
        <p:nvSpPr>
          <p:cNvPr id="3" name="Text 3"/>
          <p:cNvSpPr txBox="1"/>
          <p:nvPr/>
        </p:nvSpPr>
        <p:spPr>
          <a:xfrm>
            <a:off x="457200" y="657225"/>
            <a:ext cx="9144000" cy="1104900"/>
          </a:xfrm>
          <a:prstGeom prst="rect">
            <a:avLst/>
          </a:prstGeom>
          <a:noFill/>
          <a:ln>
            <a:noFill/>
          </a:ln>
        </p:spPr>
        <p:txBody>
          <a:bodyPr wrap="none" lIns="0" tIns="0" rIns="0" bIns="0" anchor="t">
            <a:noAutofit/>
          </a:bodyPr>
          <a:lstStyle/>
          <a:p>
            <a:pPr marL="0" indent="0">
              <a:lnSpc>
                <a:spcPts val="3060"/>
              </a:lnSpc>
              <a:spcAft>
                <a:spcPts val="0"/>
              </a:spcAft>
              <a:buNone/>
            </a:pPr>
            <a:r>
              <a:rPr lang="en-US" sz="2550" b="1">
                <a:solidFill>
                  <a:srgbClr val="202B33"/>
                </a:solidFill>
                <a:latin typeface="Arial"/>
                <a:ea typeface="Arial"/>
                <a:cs typeface="Arial"/>
              </a:rPr>
              <a:t xml:space="preserve">Vector Database, 1975</a:t>
            </a:r>
            <a:endParaRPr lang="en-US" sz="2550"/>
          </a:p>
        </p:txBody>
      </p:sp>
      <p:sp>
        <p:nvSpPr>
          <p:cNvPr id="4" name="Text 4"/>
          <p:cNvSpPr txBox="1"/>
          <p:nvPr/>
        </p:nvSpPr>
        <p:spPr>
          <a:xfrm>
            <a:off x="457200" y="1971675"/>
            <a:ext cx="4352925" cy="5314950"/>
          </a:xfrm>
          <a:prstGeom prst="rect">
            <a:avLst/>
          </a:prstGeom>
          <a:noFill/>
          <a:ln>
            <a:noFill/>
          </a:ln>
        </p:spPr>
        <p:txBody>
          <a:bodyPr wrap="none" lIns="0" tIns="0" rIns="0" bIns="0" anchor="t">
            <a:noAutofit/>
          </a:bodyPr>
          <a:lstStyle/>
          <a:p>
            <a:pPr marL="0" indent="0">
              <a:lnSpc>
                <a:spcPts val="1950"/>
              </a:lnSpc>
              <a:spcAft>
                <a:spcPts val="0"/>
              </a:spcAft>
              <a:buNone/>
            </a:pPr>
            <a:r>
              <a:rPr lang="en-US" sz="1500" b="0">
                <a:solidFill>
                  <a:srgbClr val="202B33"/>
                </a:solidFill>
                <a:latin typeface="Arial"/>
                <a:ea typeface="Arial"/>
                <a:cs typeface="Arial"/>
              </a:rPr>
              <a:t xml:space="preserve">Salton, Wong, Yang · vector space model ·</a:t>
            </a:r>
            <a:endParaRPr lang="en-US" sz="1500"/>
          </a:p>
          <a:p>
            <a:pPr marL="0" indent="0">
              <a:lnSpc>
                <a:spcPts val="1950"/>
              </a:lnSpc>
              <a:spcAft>
                <a:spcPts val="0"/>
              </a:spcAft>
              <a:buNone/>
            </a:pPr>
            <a:r>
              <a:rPr lang="en-US" sz="1500" b="0">
                <a:solidFill>
                  <a:srgbClr val="202B33"/>
                </a:solidFill>
                <a:latin typeface="Arial"/>
                <a:ea typeface="Arial"/>
                <a:cs typeface="Arial"/>
              </a:rPr>
              <a:t xml:space="preserve">1975</a:t>
            </a:r>
            <a:endParaRPr lang="en-US" sz="1500"/>
          </a:p>
          <a:p>
            <a:pPr marL="0" indent="0">
              <a:lnSpc>
                <a:spcPts val="1950"/>
              </a:lnSpc>
              <a:spcAft>
                <a:spcPts val="0"/>
              </a:spcAft>
              <a:buNone/>
            </a:pPr>
            <a:r>
              <a:rPr lang="en-US" sz="1500" b="0">
                <a:solidFill>
                  <a:srgbClr val="202B33"/>
                </a:solidFill>
                <a:latin typeface="Arial"/>
                <a:ea typeface="Arial"/>
                <a:cs typeface="Arial"/>
              </a:rPr>
              <a:t xml:space="preserve"/>
            </a:r>
            <a:endParaRPr lang="en-US" sz="1500"/>
          </a:p>
          <a:p>
            <a:pPr marL="0" indent="0">
              <a:lnSpc>
                <a:spcPts val="1950"/>
              </a:lnSpc>
              <a:spcAft>
                <a:spcPts val="0"/>
              </a:spcAft>
              <a:buNone/>
            </a:pPr>
            <a:r>
              <a:rPr lang="en-US" sz="1500" b="0">
                <a:solidFill>
                  <a:srgbClr val="202B33"/>
                </a:solidFill>
                <a:latin typeface="Arial"/>
                <a:ea typeface="Arial"/>
                <a:cs typeface="Arial"/>
              </a:rPr>
              <a:t xml:space="preserve">Deerwester and colleagues · latent semantic</a:t>
            </a:r>
            <a:endParaRPr lang="en-US" sz="1500"/>
          </a:p>
          <a:p>
            <a:pPr marL="0" indent="0">
              <a:lnSpc>
                <a:spcPts val="1950"/>
              </a:lnSpc>
              <a:spcAft>
                <a:spcPts val="0"/>
              </a:spcAft>
              <a:buNone/>
            </a:pPr>
            <a:r>
              <a:rPr lang="en-US" sz="1500" b="0">
                <a:solidFill>
                  <a:srgbClr val="202B33"/>
                </a:solidFill>
                <a:latin typeface="Arial"/>
                <a:ea typeface="Arial"/>
                <a:cs typeface="Arial"/>
              </a:rPr>
              <a:t xml:space="preserve">analysis · 1990</a:t>
            </a:r>
            <a:endParaRPr lang="en-US" sz="1500"/>
          </a:p>
          <a:p>
            <a:pPr marL="0" indent="0">
              <a:lnSpc>
                <a:spcPts val="1950"/>
              </a:lnSpc>
              <a:spcAft>
                <a:spcPts val="0"/>
              </a:spcAft>
              <a:buNone/>
            </a:pPr>
            <a:r>
              <a:rPr lang="en-US" sz="1500" b="0">
                <a:solidFill>
                  <a:srgbClr val="202B33"/>
                </a:solidFill>
                <a:latin typeface="Arial"/>
                <a:ea typeface="Arial"/>
                <a:cs typeface="Arial"/>
              </a:rPr>
              <a:t xml:space="preserve"/>
            </a:r>
            <a:endParaRPr lang="en-US" sz="1500"/>
          </a:p>
          <a:p>
            <a:pPr marL="0" indent="0">
              <a:lnSpc>
                <a:spcPts val="1950"/>
              </a:lnSpc>
              <a:spcAft>
                <a:spcPts val="0"/>
              </a:spcAft>
              <a:buNone/>
            </a:pPr>
            <a:r>
              <a:rPr lang="en-US" sz="1500" b="0">
                <a:solidFill>
                  <a:srgbClr val="202B33"/>
                </a:solidFill>
                <a:latin typeface="Arial"/>
                <a:ea typeface="Arial"/>
                <a:cs typeface="Arial"/>
              </a:rPr>
              <a:t xml:space="preserve">Salton, Wong, and Yang described a vector</a:t>
            </a:r>
            <a:endParaRPr lang="en-US" sz="1500"/>
          </a:p>
          <a:p>
            <a:pPr marL="0" indent="0">
              <a:lnSpc>
                <a:spcPts val="1950"/>
              </a:lnSpc>
              <a:spcAft>
                <a:spcPts val="0"/>
              </a:spcAft>
              <a:buNone/>
            </a:pPr>
            <a:r>
              <a:rPr lang="en-US" sz="1500" b="0">
                <a:solidFill>
                  <a:srgbClr val="202B33"/>
                </a:solidFill>
                <a:latin typeface="Arial"/>
                <a:ea typeface="Arial"/>
                <a:cs typeface="Arial"/>
              </a:rPr>
              <a:t xml:space="preserve">space model for automatic indexing in 1975.</a:t>
            </a:r>
            <a:endParaRPr lang="en-US" sz="1500"/>
          </a:p>
          <a:p>
            <a:pPr marL="0" indent="0">
              <a:lnSpc>
                <a:spcPts val="1950"/>
              </a:lnSpc>
              <a:spcAft>
                <a:spcPts val="0"/>
              </a:spcAft>
              <a:buNone/>
            </a:pPr>
            <a:r>
              <a:rPr lang="en-US" sz="1500" b="0">
                <a:solidFill>
                  <a:srgbClr val="202B33"/>
                </a:solidFill>
                <a:latin typeface="Arial"/>
                <a:ea typeface="Arial"/>
                <a:cs typeface="Arial"/>
              </a:rPr>
              <a:t xml:space="preserve">Documents become weighted representations</a:t>
            </a:r>
            <a:endParaRPr lang="en-US" sz="1500"/>
          </a:p>
          <a:p>
            <a:pPr marL="0" indent="0">
              <a:lnSpc>
                <a:spcPts val="1950"/>
              </a:lnSpc>
              <a:spcAft>
                <a:spcPts val="0"/>
              </a:spcAft>
              <a:buNone/>
            </a:pPr>
            <a:r>
              <a:rPr lang="en-US" sz="1500" b="0">
                <a:solidFill>
                  <a:srgbClr val="202B33"/>
                </a:solidFill>
                <a:latin typeface="Arial"/>
                <a:ea typeface="Arial"/>
                <a:cs typeface="Arial"/>
              </a:rPr>
              <a:t xml:space="preserve">that support comparisons. In 1990,</a:t>
            </a:r>
            <a:endParaRPr lang="en-US" sz="1500"/>
          </a:p>
          <a:p>
            <a:pPr marL="0" indent="0">
              <a:lnSpc>
                <a:spcPts val="1950"/>
              </a:lnSpc>
              <a:spcAft>
                <a:spcPts val="0"/>
              </a:spcAft>
              <a:buNone/>
            </a:pPr>
            <a:r>
              <a:rPr lang="en-US" sz="1500" b="0">
                <a:solidFill>
                  <a:srgbClr val="202B33"/>
                </a:solidFill>
                <a:latin typeface="Arial"/>
                <a:ea typeface="Arial"/>
                <a:cs typeface="Arial"/>
              </a:rPr>
              <a:t xml:space="preserve">Deerwester and colleagues described latent</a:t>
            </a:r>
            <a:endParaRPr lang="en-US" sz="1500"/>
          </a:p>
          <a:p>
            <a:pPr marL="0" indent="0">
              <a:lnSpc>
                <a:spcPts val="1950"/>
              </a:lnSpc>
              <a:spcAft>
                <a:spcPts val="0"/>
              </a:spcAft>
              <a:buNone/>
            </a:pPr>
            <a:r>
              <a:rPr lang="en-US" sz="1500" b="0">
                <a:solidFill>
                  <a:srgbClr val="202B33"/>
                </a:solidFill>
                <a:latin typeface="Arial"/>
                <a:ea typeface="Arial"/>
                <a:cs typeface="Arial"/>
              </a:rPr>
              <a:t xml:space="preserve">semantic analysis using a low-rank</a:t>
            </a:r>
            <a:endParaRPr lang="en-US" sz="1500"/>
          </a:p>
          <a:p>
            <a:pPr marL="0" indent="0">
              <a:lnSpc>
                <a:spcPts val="1950"/>
              </a:lnSpc>
              <a:spcAft>
                <a:spcPts val="0"/>
              </a:spcAft>
              <a:buNone/>
            </a:pPr>
            <a:r>
              <a:rPr lang="en-US" sz="1500" b="0">
                <a:solidFill>
                  <a:srgbClr val="202B33"/>
                </a:solidFill>
                <a:latin typeface="Arial"/>
                <a:ea typeface="Arial"/>
                <a:cs typeface="Arial"/>
              </a:rPr>
              <a:t xml:space="preserve">representation of term-document structure.</a:t>
            </a:r>
            <a:endParaRPr lang="en-US" sz="1500"/>
          </a:p>
        </p:txBody>
      </p:sp>
      <p:sp>
        <p:nvSpPr>
          <p:cNvPr id="5" name="Text 5"/>
          <p:cNvSpPr txBox="1"/>
          <p:nvPr/>
        </p:nvSpPr>
        <p:spPr>
          <a:xfrm>
            <a:off x="5238750" y="1971675"/>
            <a:ext cx="4362450" cy="5314950"/>
          </a:xfrm>
          <a:prstGeom prst="rect">
            <a:avLst/>
          </a:prstGeom>
          <a:noFill/>
          <a:ln>
            <a:noFill/>
          </a:ln>
        </p:spPr>
        <p:txBody>
          <a:bodyPr wrap="none" lIns="0" tIns="0" rIns="0" bIns="0" anchor="t">
            <a:noAutofit/>
          </a:bodyPr>
          <a:lstStyle/>
          <a:p>
            <a:pPr marL="0" indent="0">
              <a:lnSpc>
                <a:spcPts val="1950"/>
              </a:lnSpc>
              <a:spcAft>
                <a:spcPts val="0"/>
              </a:spcAft>
              <a:buNone/>
            </a:pPr>
            <a:r>
              <a:rPr lang="en-US" sz="1500" b="0">
                <a:solidFill>
                  <a:srgbClr val="202B33"/>
                </a:solidFill>
                <a:latin typeface="Arial"/>
                <a:ea typeface="Arial"/>
                <a:cs typeface="Arial"/>
              </a:rPr>
              <a:t xml:space="preserve"/>
            </a:r>
            <a:endParaRPr lang="en-US" sz="1500"/>
          </a:p>
          <a:p>
            <a:pPr marL="0" indent="0">
              <a:lnSpc>
                <a:spcPts val="1950"/>
              </a:lnSpc>
              <a:spcAft>
                <a:spcPts val="0"/>
              </a:spcAft>
              <a:buNone/>
            </a:pPr>
            <a:r>
              <a:rPr lang="en-US" sz="1500" b="0">
                <a:solidFill>
                  <a:srgbClr val="202B33"/>
                </a:solidFill>
                <a:latin typeface="Arial"/>
                <a:ea typeface="Arial"/>
                <a:cs typeface="Arial"/>
              </a:rPr>
              <a:t xml:space="preserve">Modern neural embeddings differ in how they</a:t>
            </a:r>
            <a:endParaRPr lang="en-US" sz="1500"/>
          </a:p>
          <a:p>
            <a:pPr marL="0" indent="0">
              <a:lnSpc>
                <a:spcPts val="1950"/>
              </a:lnSpc>
              <a:spcAft>
                <a:spcPts val="0"/>
              </a:spcAft>
              <a:buNone/>
            </a:pPr>
            <a:r>
              <a:rPr lang="en-US" sz="1500" b="0">
                <a:solidFill>
                  <a:srgbClr val="202B33"/>
                </a:solidFill>
                <a:latin typeface="Arial"/>
                <a:ea typeface="Arial"/>
                <a:cs typeface="Arial"/>
              </a:rPr>
              <a:t xml:space="preserve">learn and what they represent. The useful</a:t>
            </a:r>
            <a:endParaRPr lang="en-US" sz="1500"/>
          </a:p>
          <a:p>
            <a:pPr marL="0" indent="0">
              <a:lnSpc>
                <a:spcPts val="1950"/>
              </a:lnSpc>
              <a:spcAft>
                <a:spcPts val="0"/>
              </a:spcAft>
              <a:buNone/>
            </a:pPr>
            <a:r>
              <a:rPr lang="en-US" sz="1500" b="0">
                <a:solidFill>
                  <a:srgbClr val="202B33"/>
                </a:solidFill>
                <a:latin typeface="Arial"/>
                <a:ea typeface="Arial"/>
                <a:cs typeface="Arial"/>
              </a:rPr>
              <a:t xml:space="preserve">continuity is representing text numerically</a:t>
            </a:r>
            <a:endParaRPr lang="en-US" sz="1500"/>
          </a:p>
          <a:p>
            <a:pPr marL="0" indent="0">
              <a:lnSpc>
                <a:spcPts val="1950"/>
              </a:lnSpc>
              <a:spcAft>
                <a:spcPts val="0"/>
              </a:spcAft>
              <a:buNone/>
            </a:pPr>
            <a:r>
              <a:rPr lang="en-US" sz="1500" b="0">
                <a:solidFill>
                  <a:srgbClr val="202B33"/>
                </a:solidFill>
                <a:latin typeface="Arial"/>
                <a:ea typeface="Arial"/>
                <a:cs typeface="Arial"/>
              </a:rPr>
              <a:t xml:space="preserve">so related material can be retrieved</a:t>
            </a:r>
            <a:endParaRPr lang="en-US" sz="1500"/>
          </a:p>
          <a:p>
            <a:pPr marL="0" indent="0">
              <a:lnSpc>
                <a:spcPts val="1950"/>
              </a:lnSpc>
              <a:spcAft>
                <a:spcPts val="0"/>
              </a:spcAft>
              <a:buNone/>
            </a:pPr>
            <a:r>
              <a:rPr lang="en-US" sz="1500" b="0">
                <a:solidFill>
                  <a:srgbClr val="202B33"/>
                </a:solidFill>
                <a:latin typeface="Arial"/>
                <a:ea typeface="Arial"/>
                <a:cs typeface="Arial"/>
              </a:rPr>
              <a:t xml:space="preserve">despite imperfect word matching.</a:t>
            </a:r>
            <a:endParaRPr lang="en-US" sz="1500"/>
          </a:p>
          <a:p>
            <a:pPr marL="0" indent="0">
              <a:lnSpc>
                <a:spcPts val="1950"/>
              </a:lnSpc>
              <a:spcAft>
                <a:spcPts val="0"/>
              </a:spcAft>
              <a:buNone/>
            </a:pPr>
            <a:r>
              <a:rPr lang="en-US" sz="1500" b="0">
                <a:solidFill>
                  <a:srgbClr val="202B33"/>
                </a:solidFill>
                <a:latin typeface="Arial"/>
                <a:ea typeface="Arial"/>
                <a:cs typeface="Arial"/>
              </a:rPr>
              <a:t xml:space="preserve"/>
            </a:r>
            <a:endParaRPr lang="en-US" sz="1500"/>
          </a:p>
          <a:p>
            <a:pPr marL="0" indent="0">
              <a:lnSpc>
                <a:spcPts val="1950"/>
              </a:lnSpc>
              <a:spcAft>
                <a:spcPts val="0"/>
              </a:spcAft>
              <a:buNone/>
            </a:pPr>
            <a:r>
              <a:rPr lang="en-US" sz="1500" b="0">
                <a:solidFill>
                  <a:srgbClr val="202B33"/>
                </a:solidFill>
                <a:latin typeface="Arial"/>
                <a:ea typeface="Arial"/>
                <a:cs typeface="Arial"/>
              </a:rPr>
              <a:t xml:space="preserve">A vector store gives you a place to search</a:t>
            </a:r>
            <a:endParaRPr lang="en-US" sz="1500"/>
          </a:p>
          <a:p>
            <a:pPr marL="0" indent="0">
              <a:lnSpc>
                <a:spcPts val="1950"/>
              </a:lnSpc>
              <a:spcAft>
                <a:spcPts val="0"/>
              </a:spcAft>
              <a:buNone/>
            </a:pPr>
            <a:r>
              <a:rPr lang="en-US" sz="1500" b="0">
                <a:solidFill>
                  <a:srgbClr val="202B33"/>
                </a:solidFill>
                <a:latin typeface="Arial"/>
                <a:ea typeface="Arial"/>
                <a:cs typeface="Arial"/>
              </a:rPr>
              <a:t xml:space="preserve">those representations. It does not choose</a:t>
            </a:r>
            <a:endParaRPr lang="en-US" sz="1500"/>
          </a:p>
          <a:p>
            <a:pPr marL="0" indent="0">
              <a:lnSpc>
                <a:spcPts val="1950"/>
              </a:lnSpc>
              <a:spcAft>
                <a:spcPts val="0"/>
              </a:spcAft>
              <a:buNone/>
            </a:pPr>
            <a:r>
              <a:rPr lang="en-US" sz="1500" b="0">
                <a:solidFill>
                  <a:srgbClr val="202B33"/>
                </a:solidFill>
                <a:latin typeface="Arial"/>
                <a:ea typeface="Arial"/>
                <a:cs typeface="Arial"/>
              </a:rPr>
              <a:t xml:space="preserve">the right relevance definition. It does not</a:t>
            </a:r>
            <a:endParaRPr lang="en-US" sz="1500"/>
          </a:p>
          <a:p>
            <a:pPr marL="0" indent="0">
              <a:lnSpc>
                <a:spcPts val="1950"/>
              </a:lnSpc>
              <a:spcAft>
                <a:spcPts val="0"/>
              </a:spcAft>
              <a:buNone/>
            </a:pPr>
            <a:r>
              <a:rPr lang="en-US" sz="1500" b="0">
                <a:solidFill>
                  <a:srgbClr val="202B33"/>
                </a:solidFill>
                <a:latin typeface="Arial"/>
                <a:ea typeface="Arial"/>
                <a:cs typeface="Arial"/>
              </a:rPr>
              <a:t xml:space="preserve">tell you that a highly similar contract</a:t>
            </a:r>
            <a:endParaRPr lang="en-US" sz="1500"/>
          </a:p>
          <a:p>
            <a:pPr marL="0" indent="0">
              <a:lnSpc>
                <a:spcPts val="1950"/>
              </a:lnSpc>
              <a:spcAft>
                <a:spcPts val="0"/>
              </a:spcAft>
              <a:buNone/>
            </a:pPr>
            <a:r>
              <a:rPr lang="en-US" sz="1500" b="0">
                <a:solidFill>
                  <a:srgbClr val="202B33"/>
                </a:solidFill>
                <a:latin typeface="Arial"/>
                <a:ea typeface="Arial"/>
                <a:cs typeface="Arial"/>
              </a:rPr>
              <a:t xml:space="preserve">governs this customer. That work is still</a:t>
            </a:r>
            <a:endParaRPr lang="en-US" sz="1500"/>
          </a:p>
          <a:p>
            <a:pPr marL="0" indent="0">
              <a:lnSpc>
                <a:spcPts val="1950"/>
              </a:lnSpc>
              <a:spcAft>
                <a:spcPts val="0"/>
              </a:spcAft>
              <a:buNone/>
            </a:pPr>
            <a:r>
              <a:rPr lang="en-US" sz="1500" b="0">
                <a:solidFill>
                  <a:srgbClr val="202B33"/>
                </a:solidFill>
                <a:latin typeface="Arial"/>
                <a:ea typeface="Arial"/>
                <a:cs typeface="Arial"/>
              </a:rPr>
              <a:t xml:space="preserve">ours.</a:t>
            </a:r>
            <a:endParaRPr lang="en-US" sz="1500"/>
          </a:p>
        </p:txBody>
      </p:sp>
      <p:sp>
        <p:nvSpPr>
          <p:cNvPr id="6" name="Text 6"/>
          <p:cNvSpPr txBox="1"/>
          <p:nvPr/>
        </p:nvSpPr>
        <p:spPr>
          <a:xfrm>
            <a:off x="457200" y="7486650"/>
            <a:ext cx="8820150" cy="190500"/>
          </a:xfrm>
          <a:prstGeom prst="rect">
            <a:avLst/>
          </a:prstGeom>
          <a:noFill/>
          <a:ln>
            <a:noFill/>
          </a:ln>
        </p:spPr>
        <p:txBody>
          <a:bodyPr wrap="none" lIns="0" tIns="0" rIns="0" bIns="0" anchor="t">
            <a:noAutofit/>
          </a:bodyPr>
          <a:lstStyle/>
          <a:p>
            <a:pPr marL="0" indent="0">
              <a:lnSpc>
                <a:spcPts val="1268"/>
              </a:lnSpc>
              <a:spcAft>
                <a:spcPts val="0"/>
              </a:spcAft>
              <a:buNone/>
            </a:pPr>
            <a:r>
              <a:rPr lang="en-US" sz="975" b="0">
                <a:solidFill>
                  <a:srgbClr val="48555B"/>
                </a:solidFill>
                <a:latin typeface="Arial"/>
                <a:ea typeface="Arial"/>
                <a:cs typeface="Arial"/>
              </a:rPr>
              <a:t xml:space="preserve">Three Search Methods in a Fundable Trenchcoat</a:t>
            </a:r>
            <a:endParaRPr lang="en-US" sz="975"/>
          </a:p>
        </p:txBody>
      </p:sp>
      <p:sp>
        <p:nvSpPr>
          <p:cNvPr id="7" name="Text 7"/>
          <p:cNvSpPr txBox="1"/>
          <p:nvPr/>
        </p:nvSpPr>
        <p:spPr>
          <a:xfrm>
            <a:off x="9391650" y="7486650"/>
            <a:ext cx="238125" cy="190500"/>
          </a:xfrm>
          <a:prstGeom prst="rect">
            <a:avLst/>
          </a:prstGeom>
          <a:noFill/>
          <a:ln>
            <a:noFill/>
          </a:ln>
        </p:spPr>
        <p:txBody>
          <a:bodyPr wrap="none" lIns="0" tIns="0" rIns="0" bIns="0" anchor="t">
            <a:noAutofit/>
          </a:bodyPr>
          <a:lstStyle/>
          <a:p>
            <a:pPr marL="0" indent="0">
              <a:lnSpc>
                <a:spcPts val="1268"/>
              </a:lnSpc>
              <a:spcAft>
                <a:spcPts val="0"/>
              </a:spcAft>
              <a:buNone/>
            </a:pPr>
            <a:r>
              <a:rPr lang="en-US" sz="975" b="0">
                <a:solidFill>
                  <a:srgbClr val="48555B"/>
                </a:solidFill>
                <a:latin typeface="Arial"/>
                <a:ea typeface="Arial"/>
                <a:cs typeface="Arial"/>
              </a:rPr>
              <a:t xml:space="preserve">5</a:t>
            </a:r>
            <a:endParaRPr lang="en-US" sz="975"/>
          </a:p>
        </p:txBody>
      </p:sp>
    </p:spTree>
  </p:cSld>
  <p:clrMapOvr>
    <a:masterClrMapping/>
  </p:clrMapOvr>
</p:sld>
</file>

<file path=ppt/slides/slide6.xml><?xml version="1.0" encoding="utf-8"?>
<p:sld xmlns:a="http://schemas.openxmlformats.org/drawingml/2006/main" xmlns:r="http://schemas.openxmlformats.org/officeDocument/2006/relationships" xmlns:p="http://schemas.openxmlformats.org/presentationml/2006/main">
  <p:cSld name="Slide 6">
    <p:bg>
      <p:bgPr>
        <a:solidFill>
          <a:srgbClr val="FAFAF7"/>
        </a:solidFill>
        <a:effectLst/>
      </p:bgPr>
    </p:bg>
    <p:spTree>
      <p:nvGrpSpPr>
        <p:cNvPr id="1" name=""/>
        <p:cNvGrpSpPr/>
        <p:nvPr/>
      </p:nvGrpSpPr>
      <p:grpSpPr>
        <a:xfrm>
          <a:off x="0" y="0"/>
          <a:ext cx="0" cy="0"/>
          <a:chOff x="0" y="0"/>
          <a:chExt cx="0" cy="0"/>
        </a:xfrm>
      </p:grpSpPr>
      <p:sp>
        <p:nvSpPr>
          <p:cNvPr id="2" name="Text 2"/>
          <p:cNvSpPr txBox="1"/>
          <p:nvPr/>
        </p:nvSpPr>
        <p:spPr>
          <a:xfrm>
            <a:off x="457200" y="266700"/>
            <a:ext cx="9144000" cy="228600"/>
          </a:xfrm>
          <a:prstGeom prst="rect">
            <a:avLst/>
          </a:prstGeom>
          <a:noFill/>
          <a:ln>
            <a:noFill/>
          </a:ln>
        </p:spPr>
        <p:txBody>
          <a:bodyPr wrap="none" lIns="0" tIns="0" rIns="0" bIns="0" anchor="t">
            <a:noAutofit/>
          </a:bodyPr>
          <a:lstStyle/>
          <a:p>
            <a:pPr marL="0" indent="0">
              <a:lnSpc>
                <a:spcPts val="1365"/>
              </a:lnSpc>
              <a:spcAft>
                <a:spcPts val="0"/>
              </a:spcAft>
              <a:buNone/>
            </a:pPr>
            <a:r>
              <a:rPr lang="en-US" sz="1050" b="1">
                <a:solidFill>
                  <a:srgbClr val="246957"/>
                </a:solidFill>
                <a:latin typeface="Arial"/>
                <a:ea typeface="Arial"/>
                <a:cs typeface="Arial"/>
              </a:rPr>
              <a:t xml:space="preserve">05 / 15    SOURCE SLIDE 5</a:t>
            </a:r>
            <a:endParaRPr lang="en-US" sz="1050"/>
          </a:p>
        </p:txBody>
      </p:sp>
      <p:sp>
        <p:nvSpPr>
          <p:cNvPr id="3" name="Text 3"/>
          <p:cNvSpPr txBox="1"/>
          <p:nvPr/>
        </p:nvSpPr>
        <p:spPr>
          <a:xfrm>
            <a:off x="457200" y="657225"/>
            <a:ext cx="9144000" cy="1104900"/>
          </a:xfrm>
          <a:prstGeom prst="rect">
            <a:avLst/>
          </a:prstGeom>
          <a:noFill/>
          <a:ln>
            <a:noFill/>
          </a:ln>
        </p:spPr>
        <p:txBody>
          <a:bodyPr wrap="none" lIns="0" tIns="0" rIns="0" bIns="0" anchor="t">
            <a:noAutofit/>
          </a:bodyPr>
          <a:lstStyle/>
          <a:p>
            <a:pPr marL="0" indent="0">
              <a:lnSpc>
                <a:spcPts val="3060"/>
              </a:lnSpc>
              <a:spcAft>
                <a:spcPts val="0"/>
              </a:spcAft>
              <a:buNone/>
            </a:pPr>
            <a:r>
              <a:rPr lang="en-US" sz="2550" b="1">
                <a:solidFill>
                  <a:srgbClr val="202B33"/>
                </a:solidFill>
                <a:latin typeface="Arial"/>
                <a:ea typeface="Arial"/>
                <a:cs typeface="Arial"/>
              </a:rPr>
              <a:t xml:space="preserve">The vocabulary problem</a:t>
            </a:r>
            <a:endParaRPr lang="en-US" sz="2550"/>
          </a:p>
        </p:txBody>
      </p:sp>
      <p:sp>
        <p:nvSpPr>
          <p:cNvPr id="4" name="Text 4"/>
          <p:cNvSpPr txBox="1"/>
          <p:nvPr/>
        </p:nvSpPr>
        <p:spPr>
          <a:xfrm>
            <a:off x="457200" y="1971675"/>
            <a:ext cx="4352925" cy="5314950"/>
          </a:xfrm>
          <a:prstGeom prst="rect">
            <a:avLst/>
          </a:prstGeom>
          <a:noFill/>
          <a:ln>
            <a:noFill/>
          </a:ln>
        </p:spPr>
        <p:txBody>
          <a:bodyPr wrap="none" lIns="0" tIns="0" rIns="0" bIns="0" anchor="t">
            <a:noAutofit/>
          </a:bodyPr>
          <a:lstStyle/>
          <a:p>
            <a:pPr marL="0" indent="0">
              <a:lnSpc>
                <a:spcPts val="1950"/>
              </a:lnSpc>
              <a:spcAft>
                <a:spcPts val="0"/>
              </a:spcAft>
              <a:buNone/>
            </a:pPr>
            <a:r>
              <a:rPr lang="en-US" sz="1500" b="0">
                <a:solidFill>
                  <a:srgbClr val="202B33"/>
                </a:solidFill>
                <a:latin typeface="Arial"/>
                <a:ea typeface="Arial"/>
                <a:cs typeface="Arial"/>
              </a:rPr>
              <a:t xml:space="preserve">The customer says “stop billing”</a:t>
            </a:r>
            <a:endParaRPr lang="en-US" sz="1500"/>
          </a:p>
          <a:p>
            <a:pPr marL="0" indent="0">
              <a:lnSpc>
                <a:spcPts val="1950"/>
              </a:lnSpc>
              <a:spcAft>
                <a:spcPts val="0"/>
              </a:spcAft>
              <a:buNone/>
            </a:pPr>
            <a:r>
              <a:rPr lang="en-US" sz="1500" b="0">
                <a:solidFill>
                  <a:srgbClr val="202B33"/>
                </a:solidFill>
                <a:latin typeface="Arial"/>
                <a:ea typeface="Arial"/>
                <a:cs typeface="Arial"/>
              </a:rPr>
              <a:t xml:space="preserve"/>
            </a:r>
            <a:endParaRPr lang="en-US" sz="1500"/>
          </a:p>
          <a:p>
            <a:pPr marL="0" indent="0">
              <a:lnSpc>
                <a:spcPts val="1950"/>
              </a:lnSpc>
              <a:spcAft>
                <a:spcPts val="0"/>
              </a:spcAft>
              <a:buNone/>
            </a:pPr>
            <a:r>
              <a:rPr lang="en-US" sz="1500" b="0">
                <a:solidFill>
                  <a:srgbClr val="202B33"/>
                </a:solidFill>
                <a:latin typeface="Arial"/>
                <a:ea typeface="Arial"/>
                <a:cs typeface="Arial"/>
              </a:rPr>
              <a:t xml:space="preserve">The document says “terminate renewal”</a:t>
            </a:r>
            <a:endParaRPr lang="en-US" sz="1500"/>
          </a:p>
          <a:p>
            <a:pPr marL="0" indent="0">
              <a:lnSpc>
                <a:spcPts val="1950"/>
              </a:lnSpc>
              <a:spcAft>
                <a:spcPts val="0"/>
              </a:spcAft>
              <a:buNone/>
            </a:pPr>
            <a:r>
              <a:rPr lang="en-US" sz="1500" b="0">
                <a:solidFill>
                  <a:srgbClr val="202B33"/>
                </a:solidFill>
                <a:latin typeface="Arial"/>
                <a:ea typeface="Arial"/>
                <a:cs typeface="Arial"/>
              </a:rPr>
              <a:t xml:space="preserve"/>
            </a:r>
            <a:endParaRPr lang="en-US" sz="1500"/>
          </a:p>
          <a:p>
            <a:pPr marL="0" indent="0">
              <a:lnSpc>
                <a:spcPts val="1950"/>
              </a:lnSpc>
              <a:spcAft>
                <a:spcPts val="0"/>
              </a:spcAft>
              <a:buNone/>
            </a:pPr>
            <a:r>
              <a:rPr lang="en-US" sz="1500" b="0">
                <a:solidFill>
                  <a:srgbClr val="202B33"/>
                </a:solidFill>
                <a:latin typeface="Arial"/>
                <a:ea typeface="Arial"/>
                <a:cs typeface="Arial"/>
              </a:rPr>
              <a:t xml:space="preserve">Two people can refer to the same thing</a:t>
            </a:r>
            <a:endParaRPr lang="en-US" sz="1500"/>
          </a:p>
          <a:p>
            <a:pPr marL="0" indent="0">
              <a:lnSpc>
                <a:spcPts val="1950"/>
              </a:lnSpc>
              <a:spcAft>
                <a:spcPts val="0"/>
              </a:spcAft>
              <a:buNone/>
            </a:pPr>
            <a:r>
              <a:rPr lang="en-US" sz="1500" b="0">
                <a:solidFill>
                  <a:srgbClr val="202B33"/>
                </a:solidFill>
                <a:latin typeface="Arial"/>
                <a:ea typeface="Arial"/>
                <a:cs typeface="Arial"/>
              </a:rPr>
              <a:t xml:space="preserve">using different words. Furnas, Landauer,</a:t>
            </a:r>
            <a:endParaRPr lang="en-US" sz="1500"/>
          </a:p>
          <a:p>
            <a:pPr marL="0" indent="0">
              <a:lnSpc>
                <a:spcPts val="1950"/>
              </a:lnSpc>
              <a:spcAft>
                <a:spcPts val="0"/>
              </a:spcAft>
              <a:buNone/>
            </a:pPr>
            <a:r>
              <a:rPr lang="en-US" sz="1500" b="0">
                <a:solidFill>
                  <a:srgbClr val="202B33"/>
                </a:solidFill>
                <a:latin typeface="Arial"/>
                <a:ea typeface="Arial"/>
                <a:cs typeface="Arial"/>
              </a:rPr>
              <a:t xml:space="preserve">Gomez, and Dumais studied that vocabulary</a:t>
            </a:r>
            <a:endParaRPr lang="en-US" sz="1500"/>
          </a:p>
          <a:p>
            <a:pPr marL="0" indent="0">
              <a:lnSpc>
                <a:spcPts val="1950"/>
              </a:lnSpc>
              <a:spcAft>
                <a:spcPts val="0"/>
              </a:spcAft>
              <a:buNone/>
            </a:pPr>
            <a:r>
              <a:rPr lang="en-US" sz="1500" b="0">
                <a:solidFill>
                  <a:srgbClr val="202B33"/>
                </a:solidFill>
                <a:latin typeface="Arial"/>
                <a:ea typeface="Arial"/>
                <a:cs typeface="Arial"/>
              </a:rPr>
              <a:t xml:space="preserve">problem in human-system communication in</a:t>
            </a:r>
            <a:endParaRPr lang="en-US" sz="1500"/>
          </a:p>
          <a:p>
            <a:pPr marL="0" indent="0">
              <a:lnSpc>
                <a:spcPts val="1950"/>
              </a:lnSpc>
              <a:spcAft>
                <a:spcPts val="0"/>
              </a:spcAft>
              <a:buNone/>
            </a:pPr>
            <a:r>
              <a:rPr lang="en-US" sz="1500" b="0">
                <a:solidFill>
                  <a:srgbClr val="202B33"/>
                </a:solidFill>
                <a:latin typeface="Arial"/>
                <a:ea typeface="Arial"/>
                <a:cs typeface="Arial"/>
              </a:rPr>
              <a:t xml:space="preserve">1987.</a:t>
            </a:r>
            <a:endParaRPr lang="en-US" sz="1500"/>
          </a:p>
          <a:p>
            <a:pPr marL="0" indent="0">
              <a:lnSpc>
                <a:spcPts val="1950"/>
              </a:lnSpc>
              <a:spcAft>
                <a:spcPts val="0"/>
              </a:spcAft>
              <a:buNone/>
            </a:pPr>
            <a:r>
              <a:rPr lang="en-US" sz="1500" b="0">
                <a:solidFill>
                  <a:srgbClr val="202B33"/>
                </a:solidFill>
                <a:latin typeface="Arial"/>
                <a:ea typeface="Arial"/>
                <a:cs typeface="Arial"/>
              </a:rPr>
              <a:t xml:space="preserve"/>
            </a:r>
            <a:endParaRPr lang="en-US" sz="1500"/>
          </a:p>
          <a:p>
            <a:pPr marL="0" indent="0">
              <a:lnSpc>
                <a:spcPts val="1950"/>
              </a:lnSpc>
              <a:spcAft>
                <a:spcPts val="0"/>
              </a:spcAft>
              <a:buNone/>
            </a:pPr>
            <a:r>
              <a:rPr lang="en-US" sz="1500" b="0">
                <a:solidFill>
                  <a:srgbClr val="202B33"/>
                </a:solidFill>
                <a:latin typeface="Arial"/>
                <a:ea typeface="Arial"/>
                <a:cs typeface="Arial"/>
              </a:rPr>
              <a:t xml:space="preserve">Our customer says stop billing. The policy</a:t>
            </a:r>
            <a:endParaRPr lang="en-US" sz="1500"/>
          </a:p>
          <a:p>
            <a:pPr marL="0" indent="0">
              <a:lnSpc>
                <a:spcPts val="1950"/>
              </a:lnSpc>
              <a:spcAft>
                <a:spcPts val="0"/>
              </a:spcAft>
              <a:buNone/>
            </a:pPr>
            <a:r>
              <a:rPr lang="en-US" sz="1500" b="0">
                <a:solidFill>
                  <a:srgbClr val="202B33"/>
                </a:solidFill>
                <a:latin typeface="Arial"/>
                <a:ea typeface="Arial"/>
                <a:cs typeface="Arial"/>
              </a:rPr>
              <a:t xml:space="preserve">says terminate renewal. Exact matching has</a:t>
            </a:r>
            <a:endParaRPr lang="en-US" sz="1500"/>
          </a:p>
        </p:txBody>
      </p:sp>
      <p:sp>
        <p:nvSpPr>
          <p:cNvPr id="5" name="Text 5"/>
          <p:cNvSpPr txBox="1"/>
          <p:nvPr/>
        </p:nvSpPr>
        <p:spPr>
          <a:xfrm>
            <a:off x="5238750" y="1971675"/>
            <a:ext cx="4362450" cy="5314950"/>
          </a:xfrm>
          <a:prstGeom prst="rect">
            <a:avLst/>
          </a:prstGeom>
          <a:noFill/>
          <a:ln>
            <a:noFill/>
          </a:ln>
        </p:spPr>
        <p:txBody>
          <a:bodyPr wrap="none" lIns="0" tIns="0" rIns="0" bIns="0" anchor="t">
            <a:noAutofit/>
          </a:bodyPr>
          <a:lstStyle/>
          <a:p>
            <a:pPr marL="0" indent="0">
              <a:lnSpc>
                <a:spcPts val="1950"/>
              </a:lnSpc>
              <a:spcAft>
                <a:spcPts val="0"/>
              </a:spcAft>
              <a:buNone/>
            </a:pPr>
            <a:r>
              <a:rPr lang="en-US" sz="1500" b="0">
                <a:solidFill>
                  <a:srgbClr val="202B33"/>
                </a:solidFill>
                <a:latin typeface="Arial"/>
                <a:ea typeface="Arial"/>
                <a:cs typeface="Arial"/>
              </a:rPr>
              <a:t xml:space="preserve">a problem. A semantic representation is one</a:t>
            </a:r>
            <a:endParaRPr lang="en-US" sz="1500"/>
          </a:p>
          <a:p>
            <a:pPr marL="0" indent="0">
              <a:lnSpc>
                <a:spcPts val="1950"/>
              </a:lnSpc>
              <a:spcAft>
                <a:spcPts val="0"/>
              </a:spcAft>
              <a:buNone/>
            </a:pPr>
            <a:r>
              <a:rPr lang="en-US" sz="1500" b="0">
                <a:solidFill>
                  <a:srgbClr val="202B33"/>
                </a:solidFill>
                <a:latin typeface="Arial"/>
                <a:ea typeface="Arial"/>
                <a:cs typeface="Arial"/>
              </a:rPr>
              <a:t xml:space="preserve">answer. So are aliases, expansion, and</a:t>
            </a:r>
            <a:endParaRPr lang="en-US" sz="1500"/>
          </a:p>
          <a:p>
            <a:pPr marL="0" indent="0">
              <a:lnSpc>
                <a:spcPts val="1950"/>
              </a:lnSpc>
              <a:spcAft>
                <a:spcPts val="0"/>
              </a:spcAft>
              <a:buNone/>
            </a:pPr>
            <a:r>
              <a:rPr lang="en-US" sz="1500" b="0">
                <a:solidFill>
                  <a:srgbClr val="202B33"/>
                </a:solidFill>
                <a:latin typeface="Arial"/>
                <a:ea typeface="Arial"/>
                <a:cs typeface="Arial"/>
              </a:rPr>
              <a:t xml:space="preserve">better indexing. An embedding is a method,</a:t>
            </a:r>
            <a:endParaRPr lang="en-US" sz="1500"/>
          </a:p>
          <a:p>
            <a:pPr marL="0" indent="0">
              <a:lnSpc>
                <a:spcPts val="1950"/>
              </a:lnSpc>
              <a:spcAft>
                <a:spcPts val="0"/>
              </a:spcAft>
              <a:buNone/>
            </a:pPr>
            <a:r>
              <a:rPr lang="en-US" sz="1500" b="0">
                <a:solidFill>
                  <a:srgbClr val="202B33"/>
                </a:solidFill>
                <a:latin typeface="Arial"/>
                <a:ea typeface="Arial"/>
                <a:cs typeface="Arial"/>
              </a:rPr>
              <a:t xml:space="preserve">not the reason the problem exists.</a:t>
            </a:r>
            <a:endParaRPr lang="en-US" sz="1500"/>
          </a:p>
          <a:p>
            <a:pPr marL="0" indent="0">
              <a:lnSpc>
                <a:spcPts val="1950"/>
              </a:lnSpc>
              <a:spcAft>
                <a:spcPts val="0"/>
              </a:spcAft>
              <a:buNone/>
            </a:pPr>
            <a:r>
              <a:rPr lang="en-US" sz="1500" b="0">
                <a:solidFill>
                  <a:srgbClr val="202B33"/>
                </a:solidFill>
                <a:latin typeface="Arial"/>
                <a:ea typeface="Arial"/>
                <a:cs typeface="Arial"/>
              </a:rPr>
              <a:t xml:space="preserve"/>
            </a:r>
            <a:endParaRPr lang="en-US" sz="1500"/>
          </a:p>
          <a:p>
            <a:pPr marL="0" indent="0">
              <a:lnSpc>
                <a:spcPts val="1950"/>
              </a:lnSpc>
              <a:spcAft>
                <a:spcPts val="0"/>
              </a:spcAft>
              <a:buNone/>
            </a:pPr>
            <a:r>
              <a:rPr lang="en-US" sz="1500" b="0">
                <a:solidFill>
                  <a:srgbClr val="202B33"/>
                </a:solidFill>
                <a:latin typeface="Arial"/>
                <a:ea typeface="Arial"/>
                <a:cs typeface="Arial"/>
              </a:rPr>
              <a:t xml:space="preserve">Now reverse it. Two documents both say</a:t>
            </a:r>
            <a:endParaRPr lang="en-US" sz="1500"/>
          </a:p>
          <a:p>
            <a:pPr marL="0" indent="0">
              <a:lnSpc>
                <a:spcPts val="1950"/>
              </a:lnSpc>
              <a:spcAft>
                <a:spcPts val="0"/>
              </a:spcAft>
              <a:buNone/>
            </a:pPr>
            <a:r>
              <a:rPr lang="en-US" sz="1500" b="0">
                <a:solidFill>
                  <a:srgbClr val="202B33"/>
                </a:solidFill>
                <a:latin typeface="Arial"/>
                <a:ea typeface="Arial"/>
                <a:cs typeface="Arial"/>
              </a:rPr>
              <a:t xml:space="preserve">cancel, but one cancels a meeting and one</a:t>
            </a:r>
            <a:endParaRPr lang="en-US" sz="1500"/>
          </a:p>
          <a:p>
            <a:pPr marL="0" indent="0">
              <a:lnSpc>
                <a:spcPts val="1950"/>
              </a:lnSpc>
              <a:spcAft>
                <a:spcPts val="0"/>
              </a:spcAft>
              <a:buNone/>
            </a:pPr>
            <a:r>
              <a:rPr lang="en-US" sz="1500" b="0">
                <a:solidFill>
                  <a:srgbClr val="202B33"/>
                </a:solidFill>
                <a:latin typeface="Arial"/>
                <a:ea typeface="Arial"/>
                <a:cs typeface="Arial"/>
              </a:rPr>
              <a:t xml:space="preserve">cancels a subscription. Shared words do not</a:t>
            </a:r>
            <a:endParaRPr lang="en-US" sz="1500"/>
          </a:p>
          <a:p>
            <a:pPr marL="0" indent="0">
              <a:lnSpc>
                <a:spcPts val="1950"/>
              </a:lnSpc>
              <a:spcAft>
                <a:spcPts val="0"/>
              </a:spcAft>
              <a:buNone/>
            </a:pPr>
            <a:r>
              <a:rPr lang="en-US" sz="1500" b="0">
                <a:solidFill>
                  <a:srgbClr val="202B33"/>
                </a:solidFill>
                <a:latin typeface="Arial"/>
                <a:ea typeface="Arial"/>
                <a:cs typeface="Arial"/>
              </a:rPr>
              <a:t xml:space="preserve">establish shared intent. Evaluation needs</a:t>
            </a:r>
            <a:endParaRPr lang="en-US" sz="1500"/>
          </a:p>
          <a:p>
            <a:pPr marL="0" indent="0">
              <a:lnSpc>
                <a:spcPts val="1950"/>
              </a:lnSpc>
              <a:spcAft>
                <a:spcPts val="0"/>
              </a:spcAft>
              <a:buNone/>
            </a:pPr>
            <a:r>
              <a:rPr lang="en-US" sz="1500" b="0">
                <a:solidFill>
                  <a:srgbClr val="202B33"/>
                </a:solidFill>
                <a:latin typeface="Arial"/>
                <a:ea typeface="Arial"/>
                <a:cs typeface="Arial"/>
              </a:rPr>
              <a:t xml:space="preserve">cases for both vocabulary mismatch and</a:t>
            </a:r>
            <a:endParaRPr lang="en-US" sz="1500"/>
          </a:p>
          <a:p>
            <a:pPr marL="0" indent="0">
              <a:lnSpc>
                <a:spcPts val="1950"/>
              </a:lnSpc>
              <a:spcAft>
                <a:spcPts val="0"/>
              </a:spcAft>
              <a:buNone/>
            </a:pPr>
            <a:r>
              <a:rPr lang="en-US" sz="1500" b="0">
                <a:solidFill>
                  <a:srgbClr val="202B33"/>
                </a:solidFill>
                <a:latin typeface="Arial"/>
                <a:ea typeface="Arial"/>
                <a:cs typeface="Arial"/>
              </a:rPr>
              <a:t xml:space="preserve">misleading overlap.</a:t>
            </a:r>
            <a:endParaRPr lang="en-US" sz="1500"/>
          </a:p>
        </p:txBody>
      </p:sp>
      <p:sp>
        <p:nvSpPr>
          <p:cNvPr id="6" name="Text 6"/>
          <p:cNvSpPr txBox="1"/>
          <p:nvPr/>
        </p:nvSpPr>
        <p:spPr>
          <a:xfrm>
            <a:off x="457200" y="7486650"/>
            <a:ext cx="8820150" cy="190500"/>
          </a:xfrm>
          <a:prstGeom prst="rect">
            <a:avLst/>
          </a:prstGeom>
          <a:noFill/>
          <a:ln>
            <a:noFill/>
          </a:ln>
        </p:spPr>
        <p:txBody>
          <a:bodyPr wrap="none" lIns="0" tIns="0" rIns="0" bIns="0" anchor="t">
            <a:noAutofit/>
          </a:bodyPr>
          <a:lstStyle/>
          <a:p>
            <a:pPr marL="0" indent="0">
              <a:lnSpc>
                <a:spcPts val="1268"/>
              </a:lnSpc>
              <a:spcAft>
                <a:spcPts val="0"/>
              </a:spcAft>
              <a:buNone/>
            </a:pPr>
            <a:r>
              <a:rPr lang="en-US" sz="975" b="0">
                <a:solidFill>
                  <a:srgbClr val="48555B"/>
                </a:solidFill>
                <a:latin typeface="Arial"/>
                <a:ea typeface="Arial"/>
                <a:cs typeface="Arial"/>
              </a:rPr>
              <a:t xml:space="preserve">Three Search Methods in a Fundable Trenchcoat</a:t>
            </a:r>
            <a:endParaRPr lang="en-US" sz="975"/>
          </a:p>
        </p:txBody>
      </p:sp>
      <p:sp>
        <p:nvSpPr>
          <p:cNvPr id="7" name="Text 7"/>
          <p:cNvSpPr txBox="1"/>
          <p:nvPr/>
        </p:nvSpPr>
        <p:spPr>
          <a:xfrm>
            <a:off x="9391650" y="7486650"/>
            <a:ext cx="238125" cy="190500"/>
          </a:xfrm>
          <a:prstGeom prst="rect">
            <a:avLst/>
          </a:prstGeom>
          <a:noFill/>
          <a:ln>
            <a:noFill/>
          </a:ln>
        </p:spPr>
        <p:txBody>
          <a:bodyPr wrap="none" lIns="0" tIns="0" rIns="0" bIns="0" anchor="t">
            <a:noAutofit/>
          </a:bodyPr>
          <a:lstStyle/>
          <a:p>
            <a:pPr marL="0" indent="0">
              <a:lnSpc>
                <a:spcPts val="1268"/>
              </a:lnSpc>
              <a:spcAft>
                <a:spcPts val="0"/>
              </a:spcAft>
              <a:buNone/>
            </a:pPr>
            <a:r>
              <a:rPr lang="en-US" sz="975" b="0">
                <a:solidFill>
                  <a:srgbClr val="48555B"/>
                </a:solidFill>
                <a:latin typeface="Arial"/>
                <a:ea typeface="Arial"/>
                <a:cs typeface="Arial"/>
              </a:rPr>
              <a:t xml:space="preserve">6</a:t>
            </a:r>
            <a:endParaRPr lang="en-US" sz="975"/>
          </a:p>
        </p:txBody>
      </p:sp>
    </p:spTree>
  </p:cSld>
  <p:clrMapOvr>
    <a:masterClrMapping/>
  </p:clrMapOvr>
</p:sld>
</file>

<file path=ppt/slides/slide7.xml><?xml version="1.0" encoding="utf-8"?>
<p:sld xmlns:a="http://schemas.openxmlformats.org/drawingml/2006/main" xmlns:r="http://schemas.openxmlformats.org/officeDocument/2006/relationships" xmlns:p="http://schemas.openxmlformats.org/presentationml/2006/main">
  <p:cSld name="Slide 7">
    <p:bg>
      <p:bgPr>
        <a:solidFill>
          <a:srgbClr val="FAFAF7"/>
        </a:solidFill>
        <a:effectLst/>
      </p:bgPr>
    </p:bg>
    <p:spTree>
      <p:nvGrpSpPr>
        <p:cNvPr id="1" name=""/>
        <p:cNvGrpSpPr/>
        <p:nvPr/>
      </p:nvGrpSpPr>
      <p:grpSpPr>
        <a:xfrm>
          <a:off x="0" y="0"/>
          <a:ext cx="0" cy="0"/>
          <a:chOff x="0" y="0"/>
          <a:chExt cx="0" cy="0"/>
        </a:xfrm>
      </p:grpSpPr>
      <p:sp>
        <p:nvSpPr>
          <p:cNvPr id="2" name="Text 2"/>
          <p:cNvSpPr txBox="1"/>
          <p:nvPr/>
        </p:nvSpPr>
        <p:spPr>
          <a:xfrm>
            <a:off x="457200" y="266700"/>
            <a:ext cx="9144000" cy="228600"/>
          </a:xfrm>
          <a:prstGeom prst="rect">
            <a:avLst/>
          </a:prstGeom>
          <a:noFill/>
          <a:ln>
            <a:noFill/>
          </a:ln>
        </p:spPr>
        <p:txBody>
          <a:bodyPr wrap="none" lIns="0" tIns="0" rIns="0" bIns="0" anchor="t">
            <a:noAutofit/>
          </a:bodyPr>
          <a:lstStyle/>
          <a:p>
            <a:pPr marL="0" indent="0">
              <a:lnSpc>
                <a:spcPts val="1365"/>
              </a:lnSpc>
              <a:spcAft>
                <a:spcPts val="0"/>
              </a:spcAft>
              <a:buNone/>
            </a:pPr>
            <a:r>
              <a:rPr lang="en-US" sz="1050" b="1">
                <a:solidFill>
                  <a:srgbClr val="246957"/>
                </a:solidFill>
                <a:latin typeface="Arial"/>
                <a:ea typeface="Arial"/>
                <a:cs typeface="Arial"/>
              </a:rPr>
              <a:t xml:space="preserve">06 / 15    SOURCE SLIDE 6</a:t>
            </a:r>
            <a:endParaRPr lang="en-US" sz="1050"/>
          </a:p>
        </p:txBody>
      </p:sp>
      <p:sp>
        <p:nvSpPr>
          <p:cNvPr id="3" name="Text 3"/>
          <p:cNvSpPr txBox="1"/>
          <p:nvPr/>
        </p:nvSpPr>
        <p:spPr>
          <a:xfrm>
            <a:off x="457200" y="657225"/>
            <a:ext cx="9144000" cy="1104900"/>
          </a:xfrm>
          <a:prstGeom prst="rect">
            <a:avLst/>
          </a:prstGeom>
          <a:noFill/>
          <a:ln>
            <a:noFill/>
          </a:ln>
        </p:spPr>
        <p:txBody>
          <a:bodyPr wrap="none" lIns="0" tIns="0" rIns="0" bIns="0" anchor="t">
            <a:noAutofit/>
          </a:bodyPr>
          <a:lstStyle/>
          <a:p>
            <a:pPr marL="0" indent="0">
              <a:lnSpc>
                <a:spcPts val="3060"/>
              </a:lnSpc>
              <a:spcAft>
                <a:spcPts val="0"/>
              </a:spcAft>
              <a:buNone/>
            </a:pPr>
            <a:r>
              <a:rPr lang="en-US" sz="2550" b="1">
                <a:solidFill>
                  <a:srgbClr val="202B33"/>
                </a:solidFill>
                <a:latin typeface="Arial"/>
                <a:ea typeface="Arial"/>
                <a:cs typeface="Arial"/>
              </a:rPr>
              <a:t xml:space="preserve">Chunking is passage retrieval</a:t>
            </a:r>
            <a:endParaRPr lang="en-US" sz="2550"/>
          </a:p>
        </p:txBody>
      </p:sp>
      <p:sp>
        <p:nvSpPr>
          <p:cNvPr id="4" name="Text 4"/>
          <p:cNvSpPr txBox="1"/>
          <p:nvPr/>
        </p:nvSpPr>
        <p:spPr>
          <a:xfrm>
            <a:off x="457200" y="1971675"/>
            <a:ext cx="4352925" cy="5314950"/>
          </a:xfrm>
          <a:prstGeom prst="rect">
            <a:avLst/>
          </a:prstGeom>
          <a:noFill/>
          <a:ln>
            <a:noFill/>
          </a:ln>
        </p:spPr>
        <p:txBody>
          <a:bodyPr wrap="none" lIns="0" tIns="0" rIns="0" bIns="0" anchor="t">
            <a:noAutofit/>
          </a:bodyPr>
          <a:lstStyle/>
          <a:p>
            <a:pPr marL="0" indent="0">
              <a:lnSpc>
                <a:spcPts val="1950"/>
              </a:lnSpc>
              <a:spcAft>
                <a:spcPts val="0"/>
              </a:spcAft>
              <a:buNone/>
            </a:pPr>
            <a:r>
              <a:rPr lang="en-US" sz="1500" b="0">
                <a:solidFill>
                  <a:srgbClr val="202B33"/>
                </a:solidFill>
                <a:latin typeface="Arial"/>
                <a:ea typeface="Arial"/>
                <a:cs typeface="Arial"/>
              </a:rPr>
              <a:t xml:space="preserve">Salton, Allan, Buckley · 1993</a:t>
            </a:r>
            <a:endParaRPr lang="en-US" sz="1500"/>
          </a:p>
          <a:p>
            <a:pPr marL="0" indent="0">
              <a:lnSpc>
                <a:spcPts val="1950"/>
              </a:lnSpc>
              <a:spcAft>
                <a:spcPts val="0"/>
              </a:spcAft>
              <a:buNone/>
            </a:pPr>
            <a:r>
              <a:rPr lang="en-US" sz="1500" b="0">
                <a:solidFill>
                  <a:srgbClr val="202B33"/>
                </a:solidFill>
                <a:latin typeface="Arial"/>
                <a:ea typeface="Arial"/>
                <a:cs typeface="Arial"/>
              </a:rPr>
              <a:t xml:space="preserve"/>
            </a:r>
            <a:endParaRPr lang="en-US" sz="1500"/>
          </a:p>
          <a:p>
            <a:pPr marL="0" indent="0">
              <a:lnSpc>
                <a:spcPts val="1950"/>
              </a:lnSpc>
              <a:spcAft>
                <a:spcPts val="0"/>
              </a:spcAft>
              <a:buNone/>
            </a:pPr>
            <a:r>
              <a:rPr lang="en-US" sz="1500" b="0">
                <a:solidFill>
                  <a:srgbClr val="202B33"/>
                </a:solidFill>
                <a:latin typeface="Arial"/>
                <a:ea typeface="Arial"/>
                <a:cs typeface="Arial"/>
              </a:rPr>
              <a:t xml:space="preserve">The useful passage may cross your boundary</a:t>
            </a:r>
            <a:endParaRPr lang="en-US" sz="1500"/>
          </a:p>
          <a:p>
            <a:pPr marL="0" indent="0">
              <a:lnSpc>
                <a:spcPts val="1950"/>
              </a:lnSpc>
              <a:spcAft>
                <a:spcPts val="0"/>
              </a:spcAft>
              <a:buNone/>
            </a:pPr>
            <a:r>
              <a:rPr lang="en-US" sz="1500" b="0">
                <a:solidFill>
                  <a:srgbClr val="202B33"/>
                </a:solidFill>
                <a:latin typeface="Arial"/>
                <a:ea typeface="Arial"/>
                <a:cs typeface="Arial"/>
              </a:rPr>
              <a:t xml:space="preserve"/>
            </a:r>
            <a:endParaRPr lang="en-US" sz="1500"/>
          </a:p>
          <a:p>
            <a:pPr marL="0" indent="0">
              <a:lnSpc>
                <a:spcPts val="1950"/>
              </a:lnSpc>
              <a:spcAft>
                <a:spcPts val="0"/>
              </a:spcAft>
              <a:buNone/>
            </a:pPr>
            <a:r>
              <a:rPr lang="en-US" sz="1500" b="0">
                <a:solidFill>
                  <a:srgbClr val="202B33"/>
                </a:solidFill>
                <a:latin typeface="Arial"/>
                <a:ea typeface="Arial"/>
                <a:cs typeface="Arial"/>
              </a:rPr>
              <a:t xml:space="preserve">Passage retrieval was being studied before</a:t>
            </a:r>
            <a:endParaRPr lang="en-US" sz="1500"/>
          </a:p>
          <a:p>
            <a:pPr marL="0" indent="0">
              <a:lnSpc>
                <a:spcPts val="1950"/>
              </a:lnSpc>
              <a:spcAft>
                <a:spcPts val="0"/>
              </a:spcAft>
              <a:buNone/>
            </a:pPr>
            <a:r>
              <a:rPr lang="en-US" sz="1500" b="0">
                <a:solidFill>
                  <a:srgbClr val="202B33"/>
                </a:solidFill>
                <a:latin typeface="Arial"/>
                <a:ea typeface="Arial"/>
                <a:cs typeface="Arial"/>
              </a:rPr>
              <a:t xml:space="preserve">our chunk-size arguments acquired a token</a:t>
            </a:r>
            <a:endParaRPr lang="en-US" sz="1500"/>
          </a:p>
          <a:p>
            <a:pPr marL="0" indent="0">
              <a:lnSpc>
                <a:spcPts val="1950"/>
              </a:lnSpc>
              <a:spcAft>
                <a:spcPts val="0"/>
              </a:spcAft>
              <a:buNone/>
            </a:pPr>
            <a:r>
              <a:rPr lang="en-US" sz="1500" b="0">
                <a:solidFill>
                  <a:srgbClr val="202B33"/>
                </a:solidFill>
                <a:latin typeface="Arial"/>
                <a:ea typeface="Arial"/>
                <a:cs typeface="Arial"/>
              </a:rPr>
              <a:t xml:space="preserve">budget. Salton, Allan, and Buckley compared</a:t>
            </a:r>
            <a:endParaRPr lang="en-US" sz="1500"/>
          </a:p>
          <a:p>
            <a:pPr marL="0" indent="0">
              <a:lnSpc>
                <a:spcPts val="1950"/>
              </a:lnSpc>
              <a:spcAft>
                <a:spcPts val="0"/>
              </a:spcAft>
              <a:buNone/>
            </a:pPr>
            <a:r>
              <a:rPr lang="en-US" sz="1500" b="0">
                <a:solidFill>
                  <a:srgbClr val="202B33"/>
                </a:solidFill>
                <a:latin typeface="Arial"/>
                <a:ea typeface="Arial"/>
                <a:cs typeface="Arial"/>
              </a:rPr>
              <a:t xml:space="preserve">approaches in 1993. Chunk size was an open</a:t>
            </a:r>
            <a:endParaRPr lang="en-US" sz="1500"/>
          </a:p>
          <a:p>
            <a:pPr marL="0" indent="0">
              <a:lnSpc>
                <a:spcPts val="1950"/>
              </a:lnSpc>
              <a:spcAft>
                <a:spcPts val="0"/>
              </a:spcAft>
              <a:buNone/>
            </a:pPr>
            <a:r>
              <a:rPr lang="en-US" sz="1500" b="0">
                <a:solidFill>
                  <a:srgbClr val="202B33"/>
                </a:solidFill>
                <a:latin typeface="Arial"/>
                <a:ea typeface="Arial"/>
                <a:cs typeface="Arial"/>
              </a:rPr>
              <a:t xml:space="preserve">research question in 1993 and a forum</a:t>
            </a:r>
            <a:endParaRPr lang="en-US" sz="1500"/>
          </a:p>
          <a:p>
            <a:pPr marL="0" indent="0">
              <a:lnSpc>
                <a:spcPts val="1950"/>
              </a:lnSpc>
              <a:spcAft>
                <a:spcPts val="0"/>
              </a:spcAft>
              <a:buNone/>
            </a:pPr>
            <a:r>
              <a:rPr lang="en-US" sz="1500" b="0">
                <a:solidFill>
                  <a:srgbClr val="202B33"/>
                </a:solidFill>
                <a:latin typeface="Arial"/>
                <a:ea typeface="Arial"/>
                <a:cs typeface="Arial"/>
              </a:rPr>
              <a:t xml:space="preserve">thread in 2024. One of those had a control</a:t>
            </a:r>
            <a:endParaRPr lang="en-US" sz="1500"/>
          </a:p>
          <a:p>
            <a:pPr marL="0" indent="0">
              <a:lnSpc>
                <a:spcPts val="1950"/>
              </a:lnSpc>
              <a:spcAft>
                <a:spcPts val="0"/>
              </a:spcAft>
              <a:buNone/>
            </a:pPr>
            <a:r>
              <a:rPr lang="en-US" sz="1500" b="0">
                <a:solidFill>
                  <a:srgbClr val="202B33"/>
                </a:solidFill>
                <a:latin typeface="Arial"/>
                <a:ea typeface="Arial"/>
                <a:cs typeface="Arial"/>
              </a:rPr>
              <a:t xml:space="preserve">group.</a:t>
            </a:r>
            <a:endParaRPr lang="en-US" sz="1500"/>
          </a:p>
          <a:p>
            <a:pPr marL="0" indent="0">
              <a:lnSpc>
                <a:spcPts val="1950"/>
              </a:lnSpc>
              <a:spcAft>
                <a:spcPts val="0"/>
              </a:spcAft>
              <a:buNone/>
            </a:pPr>
            <a:r>
              <a:rPr lang="en-US" sz="1500" b="0">
                <a:solidFill>
                  <a:srgbClr val="202B33"/>
                </a:solidFill>
                <a:latin typeface="Arial"/>
                <a:ea typeface="Arial"/>
                <a:cs typeface="Arial"/>
              </a:rPr>
              <a:t xml:space="preserve"/>
            </a:r>
            <a:endParaRPr lang="en-US" sz="1500"/>
          </a:p>
          <a:p>
            <a:pPr marL="0" indent="0">
              <a:lnSpc>
                <a:spcPts val="1950"/>
              </a:lnSpc>
              <a:spcAft>
                <a:spcPts val="0"/>
              </a:spcAft>
              <a:buNone/>
            </a:pPr>
            <a:r>
              <a:rPr lang="en-US" sz="1500" b="0">
                <a:solidFill>
                  <a:srgbClr val="202B33"/>
                </a:solidFill>
                <a:latin typeface="Arial"/>
                <a:ea typeface="Arial"/>
                <a:cs typeface="Arial"/>
              </a:rPr>
              <a:t xml:space="preserve">Take a policy paragraph that says</a:t>
            </a:r>
            <a:endParaRPr lang="en-US" sz="1500"/>
          </a:p>
          <a:p>
            <a:pPr marL="0" indent="0">
              <a:lnSpc>
                <a:spcPts val="1950"/>
              </a:lnSpc>
              <a:spcAft>
                <a:spcPts val="0"/>
              </a:spcAft>
              <a:buNone/>
            </a:pPr>
            <a:r>
              <a:rPr lang="en-US" sz="1500" b="0">
                <a:solidFill>
                  <a:srgbClr val="202B33"/>
                </a:solidFill>
                <a:latin typeface="Arial"/>
                <a:ea typeface="Arial"/>
                <a:cs typeface="Arial"/>
              </a:rPr>
              <a:t xml:space="preserve">cancellation is allowed, followed by an</a:t>
            </a:r>
            <a:endParaRPr lang="en-US" sz="1500"/>
          </a:p>
          <a:p>
            <a:pPr marL="0" indent="0">
              <a:lnSpc>
                <a:spcPts val="1950"/>
              </a:lnSpc>
              <a:spcAft>
                <a:spcPts val="0"/>
              </a:spcAft>
              <a:buNone/>
            </a:pPr>
            <a:r>
              <a:rPr lang="en-US" sz="1500" b="0">
                <a:solidFill>
                  <a:srgbClr val="202B33"/>
                </a:solidFill>
                <a:latin typeface="Arial"/>
                <a:ea typeface="Arial"/>
                <a:cs typeface="Arial"/>
              </a:rPr>
              <a:t xml:space="preserve">exception for annual contracts. Split</a:t>
            </a:r>
            <a:endParaRPr lang="en-US" sz="1500"/>
          </a:p>
        </p:txBody>
      </p:sp>
      <p:sp>
        <p:nvSpPr>
          <p:cNvPr id="5" name="Text 5"/>
          <p:cNvSpPr txBox="1"/>
          <p:nvPr/>
        </p:nvSpPr>
        <p:spPr>
          <a:xfrm>
            <a:off x="5238750" y="1971675"/>
            <a:ext cx="4362450" cy="5314950"/>
          </a:xfrm>
          <a:prstGeom prst="rect">
            <a:avLst/>
          </a:prstGeom>
          <a:noFill/>
          <a:ln>
            <a:noFill/>
          </a:ln>
        </p:spPr>
        <p:txBody>
          <a:bodyPr wrap="none" lIns="0" tIns="0" rIns="0" bIns="0" anchor="t">
            <a:noAutofit/>
          </a:bodyPr>
          <a:lstStyle/>
          <a:p>
            <a:pPr marL="0" indent="0">
              <a:lnSpc>
                <a:spcPts val="1950"/>
              </a:lnSpc>
              <a:spcAft>
                <a:spcPts val="0"/>
              </a:spcAft>
              <a:buNone/>
            </a:pPr>
            <a:r>
              <a:rPr lang="en-US" sz="1500" b="0">
                <a:solidFill>
                  <a:srgbClr val="202B33"/>
                </a:solidFill>
                <a:latin typeface="Arial"/>
                <a:ea typeface="Arial"/>
                <a:cs typeface="Arial"/>
              </a:rPr>
              <a:t xml:space="preserve">between those paragraphs and the first</a:t>
            </a:r>
            <a:endParaRPr lang="en-US" sz="1500"/>
          </a:p>
          <a:p>
            <a:pPr marL="0" indent="0">
              <a:lnSpc>
                <a:spcPts val="1950"/>
              </a:lnSpc>
              <a:spcAft>
                <a:spcPts val="0"/>
              </a:spcAft>
              <a:buNone/>
            </a:pPr>
            <a:r>
              <a:rPr lang="en-US" sz="1500" b="0">
                <a:solidFill>
                  <a:srgbClr val="202B33"/>
                </a:solidFill>
                <a:latin typeface="Arial"/>
                <a:ea typeface="Arial"/>
                <a:cs typeface="Arial"/>
              </a:rPr>
              <a:t xml:space="preserve">chunk becomes a very persuasive wrong</a:t>
            </a:r>
            <a:endParaRPr lang="en-US" sz="1500"/>
          </a:p>
          <a:p>
            <a:pPr marL="0" indent="0">
              <a:lnSpc>
                <a:spcPts val="1950"/>
              </a:lnSpc>
              <a:spcAft>
                <a:spcPts val="0"/>
              </a:spcAft>
              <a:buNone/>
            </a:pPr>
            <a:r>
              <a:rPr lang="en-US" sz="1500" b="0">
                <a:solidFill>
                  <a:srgbClr val="202B33"/>
                </a:solidFill>
                <a:latin typeface="Arial"/>
                <a:ea typeface="Arial"/>
                <a:cs typeface="Arial"/>
              </a:rPr>
              <a:t xml:space="preserve">answer. Make the chunk enormous and the</a:t>
            </a:r>
            <a:endParaRPr lang="en-US" sz="1500"/>
          </a:p>
          <a:p>
            <a:pPr marL="0" indent="0">
              <a:lnSpc>
                <a:spcPts val="1950"/>
              </a:lnSpc>
              <a:spcAft>
                <a:spcPts val="0"/>
              </a:spcAft>
              <a:buNone/>
            </a:pPr>
            <a:r>
              <a:rPr lang="en-US" sz="1500" b="0">
                <a:solidFill>
                  <a:srgbClr val="202B33"/>
                </a:solidFill>
                <a:latin typeface="Arial"/>
                <a:ea typeface="Arial"/>
                <a:cs typeface="Arial"/>
              </a:rPr>
              <a:t xml:space="preserve">exception competes with a page of</a:t>
            </a:r>
            <a:endParaRPr lang="en-US" sz="1500"/>
          </a:p>
          <a:p>
            <a:pPr marL="0" indent="0">
              <a:lnSpc>
                <a:spcPts val="1950"/>
              </a:lnSpc>
              <a:spcAft>
                <a:spcPts val="0"/>
              </a:spcAft>
              <a:buNone/>
            </a:pPr>
            <a:r>
              <a:rPr lang="en-US" sz="1500" b="0">
                <a:solidFill>
                  <a:srgbClr val="202B33"/>
                </a:solidFill>
                <a:latin typeface="Arial"/>
                <a:ea typeface="Arial"/>
                <a:cs typeface="Arial"/>
              </a:rPr>
              <a:t xml:space="preserve">irrelevant material.</a:t>
            </a:r>
            <a:endParaRPr lang="en-US" sz="1500"/>
          </a:p>
          <a:p>
            <a:pPr marL="0" indent="0">
              <a:lnSpc>
                <a:spcPts val="1950"/>
              </a:lnSpc>
              <a:spcAft>
                <a:spcPts val="0"/>
              </a:spcAft>
              <a:buNone/>
            </a:pPr>
            <a:r>
              <a:rPr lang="en-US" sz="1500" b="0">
                <a:solidFill>
                  <a:srgbClr val="202B33"/>
                </a:solidFill>
                <a:latin typeface="Arial"/>
                <a:ea typeface="Arial"/>
                <a:cs typeface="Arial"/>
              </a:rPr>
              <a:t xml:space="preserve"/>
            </a:r>
            <a:endParaRPr lang="en-US" sz="1500"/>
          </a:p>
          <a:p>
            <a:pPr marL="0" indent="0">
              <a:lnSpc>
                <a:spcPts val="1950"/>
              </a:lnSpc>
              <a:spcAft>
                <a:spcPts val="0"/>
              </a:spcAft>
              <a:buNone/>
            </a:pPr>
            <a:r>
              <a:rPr lang="en-US" sz="1500" b="0">
                <a:solidFill>
                  <a:srgbClr val="202B33"/>
                </a:solidFill>
                <a:latin typeface="Arial"/>
                <a:ea typeface="Arial"/>
                <a:cs typeface="Arial"/>
              </a:rPr>
              <a:t xml:space="preserve">The old papers do not contain the perfect</a:t>
            </a:r>
            <a:endParaRPr lang="en-US" sz="1500"/>
          </a:p>
          <a:p>
            <a:pPr marL="0" indent="0">
              <a:lnSpc>
                <a:spcPts val="1950"/>
              </a:lnSpc>
              <a:spcAft>
                <a:spcPts val="0"/>
              </a:spcAft>
              <a:buNone/>
            </a:pPr>
            <a:r>
              <a:rPr lang="en-US" sz="1500" b="0">
                <a:solidFill>
                  <a:srgbClr val="202B33"/>
                </a:solidFill>
                <a:latin typeface="Arial"/>
                <a:ea typeface="Arial"/>
                <a:cs typeface="Arial"/>
              </a:rPr>
              <a:t xml:space="preserve">chunk size for your current generator. They</a:t>
            </a:r>
            <a:endParaRPr lang="en-US" sz="1500"/>
          </a:p>
          <a:p>
            <a:pPr marL="0" indent="0">
              <a:lnSpc>
                <a:spcPts val="1950"/>
              </a:lnSpc>
              <a:spcAft>
                <a:spcPts val="0"/>
              </a:spcAft>
              <a:buNone/>
            </a:pPr>
            <a:r>
              <a:rPr lang="en-US" sz="1500" b="0">
                <a:solidFill>
                  <a:srgbClr val="202B33"/>
                </a:solidFill>
                <a:latin typeface="Arial"/>
                <a:ea typeface="Arial"/>
                <a:cs typeface="Arial"/>
              </a:rPr>
              <a:t xml:space="preserve">give you experimental questions. What unit</a:t>
            </a:r>
            <a:endParaRPr lang="en-US" sz="1500"/>
          </a:p>
          <a:p>
            <a:pPr marL="0" indent="0">
              <a:lnSpc>
                <a:spcPts val="1950"/>
              </a:lnSpc>
              <a:spcAft>
                <a:spcPts val="0"/>
              </a:spcAft>
              <a:buNone/>
            </a:pPr>
            <a:r>
              <a:rPr lang="en-US" sz="1500" b="0">
                <a:solidFill>
                  <a:srgbClr val="202B33"/>
                </a:solidFill>
                <a:latin typeface="Arial"/>
                <a:ea typeface="Arial"/>
                <a:cs typeface="Arial"/>
              </a:rPr>
              <a:t xml:space="preserve">are we retrieving? What counts as enough</a:t>
            </a:r>
            <a:endParaRPr lang="en-US" sz="1500"/>
          </a:p>
          <a:p>
            <a:pPr marL="0" indent="0">
              <a:lnSpc>
                <a:spcPts val="1950"/>
              </a:lnSpc>
              <a:spcAft>
                <a:spcPts val="0"/>
              </a:spcAft>
              <a:buNone/>
            </a:pPr>
            <a:r>
              <a:rPr lang="en-US" sz="1500" b="0">
                <a:solidFill>
                  <a:srgbClr val="202B33"/>
                </a:solidFill>
                <a:latin typeface="Arial"/>
                <a:ea typeface="Arial"/>
                <a:cs typeface="Arial"/>
              </a:rPr>
              <a:t xml:space="preserve">evidence? Are we measuring the passage, the</a:t>
            </a:r>
            <a:endParaRPr lang="en-US" sz="1500"/>
          </a:p>
          <a:p>
            <a:pPr marL="0" indent="0">
              <a:lnSpc>
                <a:spcPts val="1950"/>
              </a:lnSpc>
              <a:spcAft>
                <a:spcPts val="0"/>
              </a:spcAft>
              <a:buNone/>
            </a:pPr>
            <a:r>
              <a:rPr lang="en-US" sz="1500" b="0">
                <a:solidFill>
                  <a:srgbClr val="202B33"/>
                </a:solidFill>
                <a:latin typeface="Arial"/>
                <a:ea typeface="Arial"/>
                <a:cs typeface="Arial"/>
              </a:rPr>
              <a:t xml:space="preserve">document, or the answer produced from it?</a:t>
            </a:r>
            <a:endParaRPr lang="en-US" sz="1500"/>
          </a:p>
          <a:p>
            <a:pPr marL="0" indent="0">
              <a:lnSpc>
                <a:spcPts val="1950"/>
              </a:lnSpc>
              <a:spcAft>
                <a:spcPts val="0"/>
              </a:spcAft>
              <a:buNone/>
            </a:pPr>
            <a:r>
              <a:rPr lang="en-US" sz="1500" b="0">
                <a:solidFill>
                  <a:srgbClr val="202B33"/>
                </a:solidFill>
                <a:latin typeface="Arial"/>
                <a:ea typeface="Arial"/>
                <a:cs typeface="Arial"/>
              </a:rPr>
              <a:t xml:space="preserve">Change one and the score may mean something</a:t>
            </a:r>
            <a:endParaRPr lang="en-US" sz="1500"/>
          </a:p>
          <a:p>
            <a:pPr marL="0" indent="0">
              <a:lnSpc>
                <a:spcPts val="1950"/>
              </a:lnSpc>
              <a:spcAft>
                <a:spcPts val="0"/>
              </a:spcAft>
              <a:buNone/>
            </a:pPr>
            <a:r>
              <a:rPr lang="en-US" sz="1500" b="0">
                <a:solidFill>
                  <a:srgbClr val="202B33"/>
                </a:solidFill>
                <a:latin typeface="Arial"/>
                <a:ea typeface="Arial"/>
                <a:cs typeface="Arial"/>
              </a:rPr>
              <a:t xml:space="preserve">else.</a:t>
            </a:r>
            <a:endParaRPr lang="en-US" sz="1500"/>
          </a:p>
        </p:txBody>
      </p:sp>
      <p:sp>
        <p:nvSpPr>
          <p:cNvPr id="6" name="Text 6"/>
          <p:cNvSpPr txBox="1"/>
          <p:nvPr/>
        </p:nvSpPr>
        <p:spPr>
          <a:xfrm>
            <a:off x="457200" y="7486650"/>
            <a:ext cx="8820150" cy="190500"/>
          </a:xfrm>
          <a:prstGeom prst="rect">
            <a:avLst/>
          </a:prstGeom>
          <a:noFill/>
          <a:ln>
            <a:noFill/>
          </a:ln>
        </p:spPr>
        <p:txBody>
          <a:bodyPr wrap="none" lIns="0" tIns="0" rIns="0" bIns="0" anchor="t">
            <a:noAutofit/>
          </a:bodyPr>
          <a:lstStyle/>
          <a:p>
            <a:pPr marL="0" indent="0">
              <a:lnSpc>
                <a:spcPts val="1268"/>
              </a:lnSpc>
              <a:spcAft>
                <a:spcPts val="0"/>
              </a:spcAft>
              <a:buNone/>
            </a:pPr>
            <a:r>
              <a:rPr lang="en-US" sz="975" b="0">
                <a:solidFill>
                  <a:srgbClr val="48555B"/>
                </a:solidFill>
                <a:latin typeface="Arial"/>
                <a:ea typeface="Arial"/>
                <a:cs typeface="Arial"/>
              </a:rPr>
              <a:t xml:space="preserve">Three Search Methods in a Fundable Trenchcoat</a:t>
            </a:r>
            <a:endParaRPr lang="en-US" sz="975"/>
          </a:p>
        </p:txBody>
      </p:sp>
      <p:sp>
        <p:nvSpPr>
          <p:cNvPr id="7" name="Text 7"/>
          <p:cNvSpPr txBox="1"/>
          <p:nvPr/>
        </p:nvSpPr>
        <p:spPr>
          <a:xfrm>
            <a:off x="9391650" y="7486650"/>
            <a:ext cx="238125" cy="190500"/>
          </a:xfrm>
          <a:prstGeom prst="rect">
            <a:avLst/>
          </a:prstGeom>
          <a:noFill/>
          <a:ln>
            <a:noFill/>
          </a:ln>
        </p:spPr>
        <p:txBody>
          <a:bodyPr wrap="none" lIns="0" tIns="0" rIns="0" bIns="0" anchor="t">
            <a:noAutofit/>
          </a:bodyPr>
          <a:lstStyle/>
          <a:p>
            <a:pPr marL="0" indent="0">
              <a:lnSpc>
                <a:spcPts val="1268"/>
              </a:lnSpc>
              <a:spcAft>
                <a:spcPts val="0"/>
              </a:spcAft>
              <a:buNone/>
            </a:pPr>
            <a:r>
              <a:rPr lang="en-US" sz="975" b="0">
                <a:solidFill>
                  <a:srgbClr val="48555B"/>
                </a:solidFill>
                <a:latin typeface="Arial"/>
                <a:ea typeface="Arial"/>
                <a:cs typeface="Arial"/>
              </a:rPr>
              <a:t xml:space="preserve">7</a:t>
            </a:r>
            <a:endParaRPr lang="en-US" sz="975"/>
          </a:p>
        </p:txBody>
      </p:sp>
    </p:spTree>
  </p:cSld>
  <p:clrMapOvr>
    <a:masterClrMapping/>
  </p:clrMapOvr>
</p:sld>
</file>

<file path=ppt/slides/slide8.xml><?xml version="1.0" encoding="utf-8"?>
<p:sld xmlns:a="http://schemas.openxmlformats.org/drawingml/2006/main" xmlns:r="http://schemas.openxmlformats.org/officeDocument/2006/relationships" xmlns:p="http://schemas.openxmlformats.org/presentationml/2006/main">
  <p:cSld name="Slide 8">
    <p:bg>
      <p:bgPr>
        <a:solidFill>
          <a:srgbClr val="FAFAF7"/>
        </a:solidFill>
        <a:effectLst/>
      </p:bgPr>
    </p:bg>
    <p:spTree>
      <p:nvGrpSpPr>
        <p:cNvPr id="1" name=""/>
        <p:cNvGrpSpPr/>
        <p:nvPr/>
      </p:nvGrpSpPr>
      <p:grpSpPr>
        <a:xfrm>
          <a:off x="0" y="0"/>
          <a:ext cx="0" cy="0"/>
          <a:chOff x="0" y="0"/>
          <a:chExt cx="0" cy="0"/>
        </a:xfrm>
      </p:grpSpPr>
      <p:sp>
        <p:nvSpPr>
          <p:cNvPr id="2" name="Text 2"/>
          <p:cNvSpPr txBox="1"/>
          <p:nvPr/>
        </p:nvSpPr>
        <p:spPr>
          <a:xfrm>
            <a:off x="457200" y="266700"/>
            <a:ext cx="9144000" cy="228600"/>
          </a:xfrm>
          <a:prstGeom prst="rect">
            <a:avLst/>
          </a:prstGeom>
          <a:noFill/>
          <a:ln>
            <a:noFill/>
          </a:ln>
        </p:spPr>
        <p:txBody>
          <a:bodyPr wrap="none" lIns="0" tIns="0" rIns="0" bIns="0" anchor="t">
            <a:noAutofit/>
          </a:bodyPr>
          <a:lstStyle/>
          <a:p>
            <a:pPr marL="0" indent="0">
              <a:lnSpc>
                <a:spcPts val="1365"/>
              </a:lnSpc>
              <a:spcAft>
                <a:spcPts val="0"/>
              </a:spcAft>
              <a:buNone/>
            </a:pPr>
            <a:r>
              <a:rPr lang="en-US" sz="1050" b="1">
                <a:solidFill>
                  <a:srgbClr val="246957"/>
                </a:solidFill>
                <a:latin typeface="Arial"/>
                <a:ea typeface="Arial"/>
                <a:cs typeface="Arial"/>
              </a:rPr>
              <a:t xml:space="preserve">07 / 15    SOURCE SLIDE 7</a:t>
            </a:r>
            <a:endParaRPr lang="en-US" sz="1050"/>
          </a:p>
        </p:txBody>
      </p:sp>
      <p:sp>
        <p:nvSpPr>
          <p:cNvPr id="3" name="Text 3"/>
          <p:cNvSpPr txBox="1"/>
          <p:nvPr/>
        </p:nvSpPr>
        <p:spPr>
          <a:xfrm>
            <a:off x="457200" y="657225"/>
            <a:ext cx="9144000" cy="1104900"/>
          </a:xfrm>
          <a:prstGeom prst="rect">
            <a:avLst/>
          </a:prstGeom>
          <a:noFill/>
          <a:ln>
            <a:noFill/>
          </a:ln>
        </p:spPr>
        <p:txBody>
          <a:bodyPr wrap="none" lIns="0" tIns="0" rIns="0" bIns="0" anchor="t">
            <a:noAutofit/>
          </a:bodyPr>
          <a:lstStyle/>
          <a:p>
            <a:pPr marL="0" indent="0">
              <a:lnSpc>
                <a:spcPts val="3060"/>
              </a:lnSpc>
              <a:spcAft>
                <a:spcPts val="0"/>
              </a:spcAft>
              <a:buNone/>
            </a:pPr>
            <a:r>
              <a:rPr lang="en-US" sz="2550" b="1">
                <a:solidFill>
                  <a:srgbClr val="202B33"/>
                </a:solidFill>
                <a:latin typeface="Arial"/>
                <a:ea typeface="Arial"/>
                <a:cs typeface="Arial"/>
              </a:rPr>
              <a:t xml:space="preserve">BM25 is still standing there</a:t>
            </a:r>
            <a:endParaRPr lang="en-US" sz="2550"/>
          </a:p>
        </p:txBody>
      </p:sp>
      <p:sp>
        <p:nvSpPr>
          <p:cNvPr id="4" name="Text 4"/>
          <p:cNvSpPr txBox="1"/>
          <p:nvPr/>
        </p:nvSpPr>
        <p:spPr>
          <a:xfrm>
            <a:off x="457200" y="1971675"/>
            <a:ext cx="4352925" cy="5314950"/>
          </a:xfrm>
          <a:prstGeom prst="rect">
            <a:avLst/>
          </a:prstGeom>
          <a:noFill/>
          <a:ln>
            <a:noFill/>
          </a:ln>
        </p:spPr>
        <p:txBody>
          <a:bodyPr wrap="none" lIns="0" tIns="0" rIns="0" bIns="0" anchor="t">
            <a:noAutofit/>
          </a:bodyPr>
          <a:lstStyle/>
          <a:p>
            <a:pPr marL="0" indent="0">
              <a:lnSpc>
                <a:spcPts val="1950"/>
              </a:lnSpc>
              <a:spcAft>
                <a:spcPts val="0"/>
              </a:spcAft>
              <a:buNone/>
            </a:pPr>
            <a:r>
              <a:rPr lang="en-US" sz="1500" b="0">
                <a:solidFill>
                  <a:srgbClr val="202B33"/>
                </a:solidFill>
                <a:latin typeface="Arial"/>
                <a:ea typeface="Arial"/>
                <a:cs typeface="Arial"/>
              </a:rPr>
              <a:t xml:space="preserve">BEIR, 2021: a robust lexical baseline</a:t>
            </a:r>
            <a:endParaRPr lang="en-US" sz="1500"/>
          </a:p>
          <a:p>
            <a:pPr marL="0" indent="0">
              <a:lnSpc>
                <a:spcPts val="1950"/>
              </a:lnSpc>
              <a:spcAft>
                <a:spcPts val="0"/>
              </a:spcAft>
              <a:buNone/>
            </a:pPr>
            <a:r>
              <a:rPr lang="en-US" sz="1500" b="0">
                <a:solidFill>
                  <a:srgbClr val="202B33"/>
                </a:solidFill>
                <a:latin typeface="Arial"/>
                <a:ea typeface="Arial"/>
                <a:cs typeface="Arial"/>
              </a:rPr>
              <a:t xml:space="preserve"/>
            </a:r>
            <a:endParaRPr lang="en-US" sz="1500"/>
          </a:p>
          <a:p>
            <a:pPr marL="0" indent="0">
              <a:lnSpc>
                <a:spcPts val="1950"/>
              </a:lnSpc>
              <a:spcAft>
                <a:spcPts val="0"/>
              </a:spcAft>
              <a:buNone/>
            </a:pPr>
            <a:r>
              <a:rPr lang="en-US" sz="1500" b="0">
                <a:solidFill>
                  <a:srgbClr val="202B33"/>
                </a:solidFill>
                <a:latin typeface="Arial"/>
                <a:ea typeface="Arial"/>
                <a:cs typeface="Arial"/>
              </a:rPr>
              <a:t xml:space="preserve">Compare lexical, dense, and hybrid on your</a:t>
            </a:r>
            <a:endParaRPr lang="en-US" sz="1500"/>
          </a:p>
          <a:p>
            <a:pPr marL="0" indent="0">
              <a:lnSpc>
                <a:spcPts val="1950"/>
              </a:lnSpc>
              <a:spcAft>
                <a:spcPts val="0"/>
              </a:spcAft>
              <a:buNone/>
            </a:pPr>
            <a:r>
              <a:rPr lang="en-US" sz="1500" b="0">
                <a:solidFill>
                  <a:srgbClr val="202B33"/>
                </a:solidFill>
                <a:latin typeface="Arial"/>
                <a:ea typeface="Arial"/>
                <a:cs typeface="Arial"/>
              </a:rPr>
              <a:t xml:space="preserve">task</a:t>
            </a:r>
            <a:endParaRPr lang="en-US" sz="1500"/>
          </a:p>
          <a:p>
            <a:pPr marL="0" indent="0">
              <a:lnSpc>
                <a:spcPts val="1950"/>
              </a:lnSpc>
              <a:spcAft>
                <a:spcPts val="0"/>
              </a:spcAft>
              <a:buNone/>
            </a:pPr>
            <a:r>
              <a:rPr lang="en-US" sz="1500" b="0">
                <a:solidFill>
                  <a:srgbClr val="202B33"/>
                </a:solidFill>
                <a:latin typeface="Arial"/>
                <a:ea typeface="Arial"/>
                <a:cs typeface="Arial"/>
              </a:rPr>
              <a:t xml:space="preserve"/>
            </a:r>
            <a:endParaRPr lang="en-US" sz="1500"/>
          </a:p>
          <a:p>
            <a:pPr marL="0" indent="0">
              <a:lnSpc>
                <a:spcPts val="1950"/>
              </a:lnSpc>
              <a:spcAft>
                <a:spcPts val="0"/>
              </a:spcAft>
              <a:buNone/>
            </a:pPr>
            <a:r>
              <a:rPr lang="en-US" sz="1500" b="0">
                <a:solidFill>
                  <a:srgbClr val="202B33"/>
                </a:solidFill>
                <a:latin typeface="Arial"/>
                <a:ea typeface="Arial"/>
                <a:cs typeface="Arial"/>
              </a:rPr>
              <a:t xml:space="preserve">BEIR's 2021 experiments found BM25 a robust</a:t>
            </a:r>
            <a:endParaRPr lang="en-US" sz="1500"/>
          </a:p>
          <a:p>
            <a:pPr marL="0" indent="0">
              <a:lnSpc>
                <a:spcPts val="1950"/>
              </a:lnSpc>
              <a:spcAft>
                <a:spcPts val="0"/>
              </a:spcAft>
              <a:buNone/>
            </a:pPr>
            <a:r>
              <a:rPr lang="en-US" sz="1500" b="0">
                <a:solidFill>
                  <a:srgbClr val="202B33"/>
                </a:solidFill>
                <a:latin typeface="Arial"/>
                <a:ea typeface="Arial"/>
                <a:cs typeface="Arial"/>
              </a:rPr>
              <a:t xml:space="preserve">baseline across heterogeneous retrieval</a:t>
            </a:r>
            <a:endParaRPr lang="en-US" sz="1500"/>
          </a:p>
          <a:p>
            <a:pPr marL="0" indent="0">
              <a:lnSpc>
                <a:spcPts val="1950"/>
              </a:lnSpc>
              <a:spcAft>
                <a:spcPts val="0"/>
              </a:spcAft>
              <a:buNone/>
            </a:pPr>
            <a:r>
              <a:rPr lang="en-US" sz="1500" b="0">
                <a:solidFill>
                  <a:srgbClr val="202B33"/>
                </a:solidFill>
                <a:latin typeface="Arial"/>
                <a:ea typeface="Arial"/>
                <a:cs typeface="Arial"/>
              </a:rPr>
              <a:t xml:space="preserve">tasks. Reranking and late-interaction</a:t>
            </a:r>
            <a:endParaRPr lang="en-US" sz="1500"/>
          </a:p>
          <a:p>
            <a:pPr marL="0" indent="0">
              <a:lnSpc>
                <a:spcPts val="1950"/>
              </a:lnSpc>
              <a:spcAft>
                <a:spcPts val="0"/>
              </a:spcAft>
              <a:buNone/>
            </a:pPr>
            <a:r>
              <a:rPr lang="en-US" sz="1500" b="0">
                <a:solidFill>
                  <a:srgbClr val="202B33"/>
                </a:solidFill>
                <a:latin typeface="Arial"/>
                <a:ea typeface="Arial"/>
                <a:cs typeface="Arial"/>
              </a:rPr>
              <a:t xml:space="preserve">models performed best on average in that</a:t>
            </a:r>
            <a:endParaRPr lang="en-US" sz="1500"/>
          </a:p>
          <a:p>
            <a:pPr marL="0" indent="0">
              <a:lnSpc>
                <a:spcPts val="1950"/>
              </a:lnSpc>
              <a:spcAft>
                <a:spcPts val="0"/>
              </a:spcAft>
              <a:buNone/>
            </a:pPr>
            <a:r>
              <a:rPr lang="en-US" sz="1500" b="0">
                <a:solidFill>
                  <a:srgbClr val="202B33"/>
                </a:solidFill>
                <a:latin typeface="Arial"/>
                <a:ea typeface="Arial"/>
                <a:cs typeface="Arial"/>
              </a:rPr>
              <a:t xml:space="preserve">study, at higher computational cost.</a:t>
            </a:r>
            <a:endParaRPr lang="en-US" sz="1500"/>
          </a:p>
          <a:p>
            <a:pPr marL="0" indent="0">
              <a:lnSpc>
                <a:spcPts val="1950"/>
              </a:lnSpc>
              <a:spcAft>
                <a:spcPts val="0"/>
              </a:spcAft>
              <a:buNone/>
            </a:pPr>
            <a:r>
              <a:rPr lang="en-US" sz="1500" b="0">
                <a:solidFill>
                  <a:srgbClr val="202B33"/>
                </a:solidFill>
                <a:latin typeface="Arial"/>
                <a:ea typeface="Arial"/>
                <a:cs typeface="Arial"/>
              </a:rPr>
              <a:t xml:space="preserve"/>
            </a:r>
            <a:endParaRPr lang="en-US" sz="1500"/>
          </a:p>
          <a:p>
            <a:pPr marL="0" indent="0">
              <a:lnSpc>
                <a:spcPts val="1950"/>
              </a:lnSpc>
              <a:spcAft>
                <a:spcPts val="0"/>
              </a:spcAft>
              <a:buNone/>
            </a:pPr>
            <a:r>
              <a:rPr lang="en-US" sz="1500" b="0">
                <a:solidFill>
                  <a:srgbClr val="202B33"/>
                </a:solidFill>
                <a:latin typeface="Arial"/>
                <a:ea typeface="Arial"/>
                <a:cs typeface="Arial"/>
              </a:rPr>
              <a:t xml:space="preserve">That is a dated experimental result, not a</a:t>
            </a:r>
            <a:endParaRPr lang="en-US" sz="1500"/>
          </a:p>
          <a:p>
            <a:pPr marL="0" indent="0">
              <a:lnSpc>
                <a:spcPts val="1950"/>
              </a:lnSpc>
              <a:spcAft>
                <a:spcPts val="0"/>
              </a:spcAft>
              <a:buNone/>
            </a:pPr>
            <a:r>
              <a:rPr lang="en-US" sz="1500" b="0">
                <a:solidFill>
                  <a:srgbClr val="202B33"/>
                </a:solidFill>
                <a:latin typeface="Arial"/>
                <a:ea typeface="Arial"/>
                <a:cs typeface="Arial"/>
              </a:rPr>
              <a:t xml:space="preserve">claim that BM25 wins in 2026. It is a</a:t>
            </a:r>
            <a:endParaRPr lang="en-US" sz="1500"/>
          </a:p>
        </p:txBody>
      </p:sp>
      <p:sp>
        <p:nvSpPr>
          <p:cNvPr id="5" name="Text 5"/>
          <p:cNvSpPr txBox="1"/>
          <p:nvPr/>
        </p:nvSpPr>
        <p:spPr>
          <a:xfrm>
            <a:off x="5238750" y="1971675"/>
            <a:ext cx="4362450" cy="5314950"/>
          </a:xfrm>
          <a:prstGeom prst="rect">
            <a:avLst/>
          </a:prstGeom>
          <a:noFill/>
          <a:ln>
            <a:noFill/>
          </a:ln>
        </p:spPr>
        <p:txBody>
          <a:bodyPr wrap="none" lIns="0" tIns="0" rIns="0" bIns="0" anchor="t">
            <a:noAutofit/>
          </a:bodyPr>
          <a:lstStyle/>
          <a:p>
            <a:pPr marL="0" indent="0">
              <a:lnSpc>
                <a:spcPts val="1950"/>
              </a:lnSpc>
              <a:spcAft>
                <a:spcPts val="0"/>
              </a:spcAft>
              <a:buNone/>
            </a:pPr>
            <a:r>
              <a:rPr lang="en-US" sz="1500" b="0">
                <a:solidFill>
                  <a:srgbClr val="202B33"/>
                </a:solidFill>
                <a:latin typeface="Arial"/>
                <a:ea typeface="Arial"/>
                <a:cs typeface="Arial"/>
              </a:rPr>
              <a:t xml:space="preserve">reason to include a cheap lexical baseline</a:t>
            </a:r>
            <a:endParaRPr lang="en-US" sz="1500"/>
          </a:p>
          <a:p>
            <a:pPr marL="0" indent="0">
              <a:lnSpc>
                <a:spcPts val="1950"/>
              </a:lnSpc>
              <a:spcAft>
                <a:spcPts val="0"/>
              </a:spcAft>
              <a:buNone/>
            </a:pPr>
            <a:r>
              <a:rPr lang="en-US" sz="1500" b="0">
                <a:solidFill>
                  <a:srgbClr val="202B33"/>
                </a:solidFill>
                <a:latin typeface="Arial"/>
                <a:ea typeface="Arial"/>
                <a:cs typeface="Arial"/>
              </a:rPr>
              <a:t xml:space="preserve">when measuring a new retriever. Exact</a:t>
            </a:r>
            <a:endParaRPr lang="en-US" sz="1500"/>
          </a:p>
          <a:p>
            <a:pPr marL="0" indent="0">
              <a:lnSpc>
                <a:spcPts val="1950"/>
              </a:lnSpc>
              <a:spcAft>
                <a:spcPts val="0"/>
              </a:spcAft>
              <a:buNone/>
            </a:pPr>
            <a:r>
              <a:rPr lang="en-US" sz="1500" b="0">
                <a:solidFill>
                  <a:srgbClr val="202B33"/>
                </a:solidFill>
                <a:latin typeface="Arial"/>
                <a:ea typeface="Arial"/>
                <a:cs typeface="Arial"/>
              </a:rPr>
              <a:t xml:space="preserve">identifiers and unfamiliar domain language</a:t>
            </a:r>
            <a:endParaRPr lang="en-US" sz="1500"/>
          </a:p>
          <a:p>
            <a:pPr marL="0" indent="0">
              <a:lnSpc>
                <a:spcPts val="1950"/>
              </a:lnSpc>
              <a:spcAft>
                <a:spcPts val="0"/>
              </a:spcAft>
              <a:buNone/>
            </a:pPr>
            <a:r>
              <a:rPr lang="en-US" sz="1500" b="0">
                <a:solidFill>
                  <a:srgbClr val="202B33"/>
                </a:solidFill>
                <a:latin typeface="Arial"/>
                <a:ea typeface="Arial"/>
                <a:cs typeface="Arial"/>
              </a:rPr>
              <a:t xml:space="preserve">are places where a semantic-looking system</a:t>
            </a:r>
            <a:endParaRPr lang="en-US" sz="1500"/>
          </a:p>
          <a:p>
            <a:pPr marL="0" indent="0">
              <a:lnSpc>
                <a:spcPts val="1950"/>
              </a:lnSpc>
              <a:spcAft>
                <a:spcPts val="0"/>
              </a:spcAft>
              <a:buNone/>
            </a:pPr>
            <a:r>
              <a:rPr lang="en-US" sz="1500" b="0">
                <a:solidFill>
                  <a:srgbClr val="202B33"/>
                </a:solidFill>
                <a:latin typeface="Arial"/>
                <a:ea typeface="Arial"/>
                <a:cs typeface="Arial"/>
              </a:rPr>
              <a:t xml:space="preserve">can disappoint you.</a:t>
            </a:r>
            <a:endParaRPr lang="en-US" sz="1500"/>
          </a:p>
          <a:p>
            <a:pPr marL="0" indent="0">
              <a:lnSpc>
                <a:spcPts val="1950"/>
              </a:lnSpc>
              <a:spcAft>
                <a:spcPts val="0"/>
              </a:spcAft>
              <a:buNone/>
            </a:pPr>
            <a:r>
              <a:rPr lang="en-US" sz="1500" b="0">
                <a:solidFill>
                  <a:srgbClr val="202B33"/>
                </a:solidFill>
                <a:latin typeface="Arial"/>
                <a:ea typeface="Arial"/>
                <a:cs typeface="Arial"/>
              </a:rPr>
              <a:t xml:space="preserve"/>
            </a:r>
            <a:endParaRPr lang="en-US" sz="1500"/>
          </a:p>
          <a:p>
            <a:pPr marL="0" indent="0">
              <a:lnSpc>
                <a:spcPts val="1950"/>
              </a:lnSpc>
              <a:spcAft>
                <a:spcPts val="0"/>
              </a:spcAft>
              <a:buNone/>
            </a:pPr>
            <a:r>
              <a:rPr lang="en-US" sz="1500" b="0">
                <a:solidFill>
                  <a:srgbClr val="202B33"/>
                </a:solidFill>
                <a:latin typeface="Arial"/>
                <a:ea typeface="Arial"/>
                <a:cs typeface="Arial"/>
              </a:rPr>
              <a:t xml:space="preserve">Lexical, dense, hybrid. Those are the three</a:t>
            </a:r>
            <a:endParaRPr lang="en-US" sz="1500"/>
          </a:p>
          <a:p>
            <a:pPr marL="0" indent="0">
              <a:lnSpc>
                <a:spcPts val="1950"/>
              </a:lnSpc>
              <a:spcAft>
                <a:spcPts val="0"/>
              </a:spcAft>
              <a:buNone/>
            </a:pPr>
            <a:r>
              <a:rPr lang="en-US" sz="1500" b="0">
                <a:solidFill>
                  <a:srgbClr val="202B33"/>
                </a:solidFill>
                <a:latin typeface="Arial"/>
                <a:ea typeface="Arial"/>
                <a:cs typeface="Arial"/>
              </a:rPr>
              <a:t xml:space="preserve">search methods in the trenchcoat, and the</a:t>
            </a:r>
            <a:endParaRPr lang="en-US" sz="1500"/>
          </a:p>
          <a:p>
            <a:pPr marL="0" indent="0">
              <a:lnSpc>
                <a:spcPts val="1950"/>
              </a:lnSpc>
              <a:spcAft>
                <a:spcPts val="0"/>
              </a:spcAft>
              <a:buNone/>
            </a:pPr>
            <a:r>
              <a:rPr lang="en-US" sz="1500" b="0">
                <a:solidFill>
                  <a:srgbClr val="202B33"/>
                </a:solidFill>
                <a:latin typeface="Arial"/>
                <a:ea typeface="Arial"/>
                <a:cs typeface="Arial"/>
              </a:rPr>
              <a:t xml:space="preserve">pitch usually names one of them. Run the</a:t>
            </a:r>
            <a:endParaRPr lang="en-US" sz="1500"/>
          </a:p>
          <a:p>
            <a:pPr marL="0" indent="0">
              <a:lnSpc>
                <a:spcPts val="1950"/>
              </a:lnSpc>
              <a:spcAft>
                <a:spcPts val="0"/>
              </a:spcAft>
              <a:buNone/>
            </a:pPr>
            <a:r>
              <a:rPr lang="en-US" sz="1500" b="0">
                <a:solidFill>
                  <a:srgbClr val="202B33"/>
                </a:solidFill>
                <a:latin typeface="Arial"/>
                <a:ea typeface="Arial"/>
                <a:cs typeface="Arial"/>
              </a:rPr>
              <a:t xml:space="preserve">comparison on the same corpus, queries, and</a:t>
            </a:r>
            <a:endParaRPr lang="en-US" sz="1500"/>
          </a:p>
          <a:p>
            <a:pPr marL="0" indent="0">
              <a:lnSpc>
                <a:spcPts val="1950"/>
              </a:lnSpc>
              <a:spcAft>
                <a:spcPts val="0"/>
              </a:spcAft>
              <a:buNone/>
            </a:pPr>
            <a:r>
              <a:rPr lang="en-US" sz="1500" b="0">
                <a:solidFill>
                  <a:srgbClr val="202B33"/>
                </a:solidFill>
                <a:latin typeface="Arial"/>
                <a:ea typeface="Arial"/>
                <a:cs typeface="Arial"/>
              </a:rPr>
              <a:t xml:space="preserve">judgments. Otherwise you have compared two</a:t>
            </a:r>
            <a:endParaRPr lang="en-US" sz="1500"/>
          </a:p>
          <a:p>
            <a:pPr marL="0" indent="0">
              <a:lnSpc>
                <a:spcPts val="1950"/>
              </a:lnSpc>
              <a:spcAft>
                <a:spcPts val="0"/>
              </a:spcAft>
              <a:buNone/>
            </a:pPr>
            <a:r>
              <a:rPr lang="en-US" sz="1500" b="0">
                <a:solidFill>
                  <a:srgbClr val="202B33"/>
                </a:solidFill>
                <a:latin typeface="Arial"/>
                <a:ea typeface="Arial"/>
                <a:cs typeface="Arial"/>
              </a:rPr>
              <a:t xml:space="preserve">demonstrations and called the difference a</a:t>
            </a:r>
            <a:endParaRPr lang="en-US" sz="1500"/>
          </a:p>
          <a:p>
            <a:pPr marL="0" indent="0">
              <a:lnSpc>
                <a:spcPts val="1950"/>
              </a:lnSpc>
              <a:spcAft>
                <a:spcPts val="0"/>
              </a:spcAft>
              <a:buNone/>
            </a:pPr>
            <a:r>
              <a:rPr lang="en-US" sz="1500" b="0">
                <a:solidFill>
                  <a:srgbClr val="202B33"/>
                </a:solidFill>
                <a:latin typeface="Arial"/>
                <a:ea typeface="Arial"/>
                <a:cs typeface="Arial"/>
              </a:rPr>
              <a:t xml:space="preserve">model improvement.</a:t>
            </a:r>
            <a:endParaRPr lang="en-US" sz="1500"/>
          </a:p>
        </p:txBody>
      </p:sp>
      <p:sp>
        <p:nvSpPr>
          <p:cNvPr id="6" name="Text 6"/>
          <p:cNvSpPr txBox="1"/>
          <p:nvPr/>
        </p:nvSpPr>
        <p:spPr>
          <a:xfrm>
            <a:off x="457200" y="7486650"/>
            <a:ext cx="8820150" cy="190500"/>
          </a:xfrm>
          <a:prstGeom prst="rect">
            <a:avLst/>
          </a:prstGeom>
          <a:noFill/>
          <a:ln>
            <a:noFill/>
          </a:ln>
        </p:spPr>
        <p:txBody>
          <a:bodyPr wrap="none" lIns="0" tIns="0" rIns="0" bIns="0" anchor="t">
            <a:noAutofit/>
          </a:bodyPr>
          <a:lstStyle/>
          <a:p>
            <a:pPr marL="0" indent="0">
              <a:lnSpc>
                <a:spcPts val="1268"/>
              </a:lnSpc>
              <a:spcAft>
                <a:spcPts val="0"/>
              </a:spcAft>
              <a:buNone/>
            </a:pPr>
            <a:r>
              <a:rPr lang="en-US" sz="975" b="0">
                <a:solidFill>
                  <a:srgbClr val="48555B"/>
                </a:solidFill>
                <a:latin typeface="Arial"/>
                <a:ea typeface="Arial"/>
                <a:cs typeface="Arial"/>
              </a:rPr>
              <a:t xml:space="preserve">Three Search Methods in a Fundable Trenchcoat</a:t>
            </a:r>
            <a:endParaRPr lang="en-US" sz="975"/>
          </a:p>
        </p:txBody>
      </p:sp>
      <p:sp>
        <p:nvSpPr>
          <p:cNvPr id="7" name="Text 7"/>
          <p:cNvSpPr txBox="1"/>
          <p:nvPr/>
        </p:nvSpPr>
        <p:spPr>
          <a:xfrm>
            <a:off x="9391650" y="7486650"/>
            <a:ext cx="238125" cy="190500"/>
          </a:xfrm>
          <a:prstGeom prst="rect">
            <a:avLst/>
          </a:prstGeom>
          <a:noFill/>
          <a:ln>
            <a:noFill/>
          </a:ln>
        </p:spPr>
        <p:txBody>
          <a:bodyPr wrap="none" lIns="0" tIns="0" rIns="0" bIns="0" anchor="t">
            <a:noAutofit/>
          </a:bodyPr>
          <a:lstStyle/>
          <a:p>
            <a:pPr marL="0" indent="0">
              <a:lnSpc>
                <a:spcPts val="1268"/>
              </a:lnSpc>
              <a:spcAft>
                <a:spcPts val="0"/>
              </a:spcAft>
              <a:buNone/>
            </a:pPr>
            <a:r>
              <a:rPr lang="en-US" sz="975" b="0">
                <a:solidFill>
                  <a:srgbClr val="48555B"/>
                </a:solidFill>
                <a:latin typeface="Arial"/>
                <a:ea typeface="Arial"/>
                <a:cs typeface="Arial"/>
              </a:rPr>
              <a:t xml:space="preserve">8</a:t>
            </a:r>
            <a:endParaRPr lang="en-US" sz="975"/>
          </a:p>
        </p:txBody>
      </p:sp>
    </p:spTree>
  </p:cSld>
  <p:clrMapOvr>
    <a:masterClrMapping/>
  </p:clrMapOvr>
</p:sld>
</file>

<file path=ppt/slides/slide9.xml><?xml version="1.0" encoding="utf-8"?>
<p:sld xmlns:a="http://schemas.openxmlformats.org/drawingml/2006/main" xmlns:r="http://schemas.openxmlformats.org/officeDocument/2006/relationships" xmlns:p="http://schemas.openxmlformats.org/presentationml/2006/main">
  <p:cSld name="Slide 9">
    <p:bg>
      <p:bgPr>
        <a:solidFill>
          <a:srgbClr val="FAFAF7"/>
        </a:solidFill>
        <a:effectLst/>
      </p:bgPr>
    </p:bg>
    <p:spTree>
      <p:nvGrpSpPr>
        <p:cNvPr id="1" name=""/>
        <p:cNvGrpSpPr/>
        <p:nvPr/>
      </p:nvGrpSpPr>
      <p:grpSpPr>
        <a:xfrm>
          <a:off x="0" y="0"/>
          <a:ext cx="0" cy="0"/>
          <a:chOff x="0" y="0"/>
          <a:chExt cx="0" cy="0"/>
        </a:xfrm>
      </p:grpSpPr>
      <p:sp>
        <p:nvSpPr>
          <p:cNvPr id="2" name="Text 2"/>
          <p:cNvSpPr txBox="1"/>
          <p:nvPr/>
        </p:nvSpPr>
        <p:spPr>
          <a:xfrm>
            <a:off x="457200" y="266700"/>
            <a:ext cx="9144000" cy="228600"/>
          </a:xfrm>
          <a:prstGeom prst="rect">
            <a:avLst/>
          </a:prstGeom>
          <a:noFill/>
          <a:ln>
            <a:noFill/>
          </a:ln>
        </p:spPr>
        <p:txBody>
          <a:bodyPr wrap="none" lIns="0" tIns="0" rIns="0" bIns="0" anchor="t">
            <a:noAutofit/>
          </a:bodyPr>
          <a:lstStyle/>
          <a:p>
            <a:pPr marL="0" indent="0">
              <a:lnSpc>
                <a:spcPts val="1365"/>
              </a:lnSpc>
              <a:spcAft>
                <a:spcPts val="0"/>
              </a:spcAft>
              <a:buNone/>
            </a:pPr>
            <a:r>
              <a:rPr lang="en-US" sz="1050" b="1">
                <a:solidFill>
                  <a:srgbClr val="246957"/>
                </a:solidFill>
                <a:latin typeface="Arial"/>
                <a:ea typeface="Arial"/>
                <a:cs typeface="Arial"/>
              </a:rPr>
              <a:t xml:space="preserve">08 / 15    SOURCE SLIDE 8</a:t>
            </a:r>
            <a:endParaRPr lang="en-US" sz="1050"/>
          </a:p>
        </p:txBody>
      </p:sp>
      <p:sp>
        <p:nvSpPr>
          <p:cNvPr id="3" name="Text 3"/>
          <p:cNvSpPr txBox="1"/>
          <p:nvPr/>
        </p:nvSpPr>
        <p:spPr>
          <a:xfrm>
            <a:off x="457200" y="657225"/>
            <a:ext cx="9144000" cy="1104900"/>
          </a:xfrm>
          <a:prstGeom prst="rect">
            <a:avLst/>
          </a:prstGeom>
          <a:noFill/>
          <a:ln>
            <a:noFill/>
          </a:ln>
        </p:spPr>
        <p:txBody>
          <a:bodyPr wrap="none" lIns="0" tIns="0" rIns="0" bIns="0" anchor="t">
            <a:noAutofit/>
          </a:bodyPr>
          <a:lstStyle/>
          <a:p>
            <a:pPr marL="0" indent="0">
              <a:lnSpc>
                <a:spcPts val="3060"/>
              </a:lnSpc>
              <a:spcAft>
                <a:spcPts val="0"/>
              </a:spcAft>
              <a:buNone/>
            </a:pPr>
            <a:r>
              <a:rPr lang="en-US" sz="2550" b="1">
                <a:solidFill>
                  <a:srgbClr val="202B33"/>
                </a:solidFill>
                <a:latin typeface="Arial"/>
                <a:ea typeface="Arial"/>
                <a:cs typeface="Arial"/>
              </a:rPr>
              <a:t xml:space="preserve">Judge these five documents</a:t>
            </a:r>
            <a:endParaRPr lang="en-US" sz="2550"/>
          </a:p>
        </p:txBody>
      </p:sp>
      <p:sp>
        <p:nvSpPr>
          <p:cNvPr id="4" name="Text 4"/>
          <p:cNvSpPr txBox="1"/>
          <p:nvPr/>
        </p:nvSpPr>
        <p:spPr>
          <a:xfrm>
            <a:off x="457200" y="1971675"/>
            <a:ext cx="4352925" cy="5314950"/>
          </a:xfrm>
          <a:prstGeom prst="rect">
            <a:avLst/>
          </a:prstGeom>
          <a:noFill/>
          <a:ln>
            <a:noFill/>
          </a:ln>
        </p:spPr>
        <p:txBody>
          <a:bodyPr wrap="none" lIns="0" tIns="0" rIns="0" bIns="0" anchor="t">
            <a:noAutofit/>
          </a:bodyPr>
          <a:lstStyle/>
          <a:p>
            <a:pPr marL="0" indent="0">
              <a:lnSpc>
                <a:spcPts val="1950"/>
              </a:lnSpc>
              <a:spcAft>
                <a:spcPts val="0"/>
              </a:spcAft>
              <a:buNone/>
            </a:pPr>
            <a:r>
              <a:rPr lang="en-US" sz="1500" b="0">
                <a:solidFill>
                  <a:srgbClr val="202B33"/>
                </a:solidFill>
                <a:latin typeface="Arial"/>
                <a:ea typeface="Arial"/>
                <a:cs typeface="Arial"/>
              </a:rPr>
              <a:t xml:space="preserve">A · current generic policy; 30-day notice</a:t>
            </a:r>
            <a:endParaRPr lang="en-US" sz="1500"/>
          </a:p>
          <a:p>
            <a:pPr marL="0" indent="0">
              <a:lnSpc>
                <a:spcPts val="1950"/>
              </a:lnSpc>
              <a:spcAft>
                <a:spcPts val="0"/>
              </a:spcAft>
              <a:buNone/>
            </a:pPr>
            <a:r>
              <a:rPr lang="en-US" sz="1500" b="0">
                <a:solidFill>
                  <a:srgbClr val="202B33"/>
                </a:solidFill>
                <a:latin typeface="Arial"/>
                <a:ea typeface="Arial"/>
                <a:cs typeface="Arial"/>
              </a:rPr>
              <a:t xml:space="preserve"/>
            </a:r>
            <a:endParaRPr lang="en-US" sz="1500"/>
          </a:p>
          <a:p>
            <a:pPr marL="0" indent="0">
              <a:lnSpc>
                <a:spcPts val="1950"/>
              </a:lnSpc>
              <a:spcAft>
                <a:spcPts val="0"/>
              </a:spcAft>
              <a:buNone/>
            </a:pPr>
            <a:r>
              <a:rPr lang="en-US" sz="1500" b="0">
                <a:solidFill>
                  <a:srgbClr val="202B33"/>
                </a:solidFill>
                <a:latin typeface="Arial"/>
                <a:ea typeface="Arial"/>
                <a:cs typeface="Arial"/>
              </a:rPr>
              <a:t xml:space="preserve">B · signed Acme addendum; “see Schedule R”</a:t>
            </a:r>
            <a:endParaRPr lang="en-US" sz="1500"/>
          </a:p>
          <a:p>
            <a:pPr marL="0" indent="0">
              <a:lnSpc>
                <a:spcPts val="1950"/>
              </a:lnSpc>
              <a:spcAft>
                <a:spcPts val="0"/>
              </a:spcAft>
              <a:buNone/>
            </a:pPr>
            <a:r>
              <a:rPr lang="en-US" sz="1500" b="0">
                <a:solidFill>
                  <a:srgbClr val="202B33"/>
                </a:solidFill>
                <a:latin typeface="Arial"/>
                <a:ea typeface="Arial"/>
                <a:cs typeface="Arial"/>
              </a:rPr>
              <a:t xml:space="preserve"/>
            </a:r>
            <a:endParaRPr lang="en-US" sz="1500"/>
          </a:p>
          <a:p>
            <a:pPr marL="0" indent="0">
              <a:lnSpc>
                <a:spcPts val="1950"/>
              </a:lnSpc>
              <a:spcAft>
                <a:spcPts val="0"/>
              </a:spcAft>
              <a:buNone/>
            </a:pPr>
            <a:r>
              <a:rPr lang="en-US" sz="1500" b="0">
                <a:solidFill>
                  <a:srgbClr val="202B33"/>
                </a:solidFill>
                <a:latin typeface="Arial"/>
                <a:ea typeface="Arial"/>
                <a:cs typeface="Arial"/>
              </a:rPr>
              <a:t xml:space="preserve">C · expired Acme terms; immediate</a:t>
            </a:r>
            <a:endParaRPr lang="en-US" sz="1500"/>
          </a:p>
          <a:p>
            <a:pPr marL="0" indent="0">
              <a:lnSpc>
                <a:spcPts val="1950"/>
              </a:lnSpc>
              <a:spcAft>
                <a:spcPts val="0"/>
              </a:spcAft>
              <a:buNone/>
            </a:pPr>
            <a:r>
              <a:rPr lang="en-US" sz="1500" b="0">
                <a:solidFill>
                  <a:srgbClr val="202B33"/>
                </a:solidFill>
                <a:latin typeface="Arial"/>
                <a:ea typeface="Arial"/>
                <a:cs typeface="Arial"/>
              </a:rPr>
              <a:t xml:space="preserve">cancellation</a:t>
            </a:r>
            <a:endParaRPr lang="en-US" sz="1500"/>
          </a:p>
          <a:p>
            <a:pPr marL="0" indent="0">
              <a:lnSpc>
                <a:spcPts val="1950"/>
              </a:lnSpc>
              <a:spcAft>
                <a:spcPts val="0"/>
              </a:spcAft>
              <a:buNone/>
            </a:pPr>
            <a:r>
              <a:rPr lang="en-US" sz="1500" b="0">
                <a:solidFill>
                  <a:srgbClr val="202B33"/>
                </a:solidFill>
                <a:latin typeface="Arial"/>
                <a:ea typeface="Arial"/>
                <a:cs typeface="Arial"/>
              </a:rPr>
              <a:t xml:space="preserve"/>
            </a:r>
            <a:endParaRPr lang="en-US" sz="1500"/>
          </a:p>
          <a:p>
            <a:pPr marL="0" indent="0">
              <a:lnSpc>
                <a:spcPts val="1950"/>
              </a:lnSpc>
              <a:spcAft>
                <a:spcPts val="0"/>
              </a:spcAft>
              <a:buNone/>
            </a:pPr>
            <a:r>
              <a:rPr lang="en-US" sz="1500" b="0">
                <a:solidFill>
                  <a:srgbClr val="202B33"/>
                </a:solidFill>
                <a:latin typeface="Arial"/>
                <a:ea typeface="Arial"/>
                <a:cs typeface="Arial"/>
              </a:rPr>
              <a:t xml:space="preserve">D · current terms for another customer</a:t>
            </a:r>
            <a:endParaRPr lang="en-US" sz="1500"/>
          </a:p>
          <a:p>
            <a:pPr marL="0" indent="0">
              <a:lnSpc>
                <a:spcPts val="1950"/>
              </a:lnSpc>
              <a:spcAft>
                <a:spcPts val="0"/>
              </a:spcAft>
              <a:buNone/>
            </a:pPr>
            <a:r>
              <a:rPr lang="en-US" sz="1500" b="0">
                <a:solidFill>
                  <a:srgbClr val="202B33"/>
                </a:solidFill>
                <a:latin typeface="Arial"/>
                <a:ea typeface="Arial"/>
                <a:cs typeface="Arial"/>
              </a:rPr>
              <a:t xml:space="preserve"/>
            </a:r>
            <a:endParaRPr lang="en-US" sz="1500"/>
          </a:p>
          <a:p>
            <a:pPr marL="0" indent="0">
              <a:lnSpc>
                <a:spcPts val="1950"/>
              </a:lnSpc>
              <a:spcAft>
                <a:spcPts val="0"/>
              </a:spcAft>
              <a:buNone/>
            </a:pPr>
            <a:r>
              <a:rPr lang="en-US" sz="1500" b="0">
                <a:solidFill>
                  <a:srgbClr val="202B33"/>
                </a:solidFill>
                <a:latin typeface="Arial"/>
                <a:ea typeface="Arial"/>
                <a:cs typeface="Arial"/>
              </a:rPr>
              <a:t xml:space="preserve">E · support note; “probably immediate”</a:t>
            </a:r>
            <a:endParaRPr lang="en-US" sz="1500"/>
          </a:p>
          <a:p>
            <a:pPr marL="0" indent="0">
              <a:lnSpc>
                <a:spcPts val="1950"/>
              </a:lnSpc>
              <a:spcAft>
                <a:spcPts val="0"/>
              </a:spcAft>
              <a:buNone/>
            </a:pPr>
            <a:r>
              <a:rPr lang="en-US" sz="1500" b="0">
                <a:solidFill>
                  <a:srgbClr val="202B33"/>
                </a:solidFill>
                <a:latin typeface="Arial"/>
                <a:ea typeface="Arial"/>
                <a:cs typeface="Arial"/>
              </a:rPr>
              <a:t xml:space="preserve"/>
            </a:r>
            <a:endParaRPr lang="en-US" sz="1500"/>
          </a:p>
          <a:p>
            <a:pPr marL="0" indent="0">
              <a:lnSpc>
                <a:spcPts val="1950"/>
              </a:lnSpc>
              <a:spcAft>
                <a:spcPts val="0"/>
              </a:spcAft>
              <a:buNone/>
            </a:pPr>
            <a:r>
              <a:rPr lang="en-US" sz="1500" b="0">
                <a:solidFill>
                  <a:srgbClr val="202B33"/>
                </a:solidFill>
                <a:latin typeface="Arial"/>
                <a:ea typeface="Arial"/>
                <a:cs typeface="Arial"/>
              </a:rPr>
              <a:t xml:space="preserve">Acme asks whether it can cancel today</a:t>
            </a:r>
            <a:endParaRPr lang="en-US" sz="1500"/>
          </a:p>
          <a:p>
            <a:pPr marL="0" indent="0">
              <a:lnSpc>
                <a:spcPts val="1950"/>
              </a:lnSpc>
              <a:spcAft>
                <a:spcPts val="0"/>
              </a:spcAft>
              <a:buNone/>
            </a:pPr>
            <a:r>
              <a:rPr lang="en-US" sz="1500" b="0">
                <a:solidFill>
                  <a:srgbClr val="202B33"/>
                </a:solidFill>
                <a:latin typeface="Arial"/>
                <a:ea typeface="Arial"/>
                <a:cs typeface="Arial"/>
              </a:rPr>
              <a:t xml:space="preserve">without a fee. Which documents belong in</a:t>
            </a:r>
            <a:endParaRPr lang="en-US" sz="1500"/>
          </a:p>
          <a:p>
            <a:pPr marL="0" indent="0">
              <a:lnSpc>
                <a:spcPts val="1950"/>
              </a:lnSpc>
              <a:spcAft>
                <a:spcPts val="0"/>
              </a:spcAft>
              <a:buNone/>
            </a:pPr>
            <a:r>
              <a:rPr lang="en-US" sz="1500" b="0">
                <a:solidFill>
                  <a:srgbClr val="202B33"/>
                </a:solidFill>
                <a:latin typeface="Arial"/>
                <a:ea typeface="Arial"/>
                <a:cs typeface="Arial"/>
              </a:rPr>
              <a:t xml:space="preserve">the evidence supplied to answer it? Work in</a:t>
            </a:r>
            <a:endParaRPr lang="en-US" sz="1500"/>
          </a:p>
          <a:p>
            <a:pPr marL="0" indent="0">
              <a:lnSpc>
                <a:spcPts val="1950"/>
              </a:lnSpc>
              <a:spcAft>
                <a:spcPts val="0"/>
              </a:spcAft>
              <a:buNone/>
            </a:pPr>
            <a:r>
              <a:rPr lang="en-US" sz="1500" b="0">
                <a:solidFill>
                  <a:srgbClr val="202B33"/>
                </a:solidFill>
                <a:latin typeface="Arial"/>
                <a:ea typeface="Arial"/>
                <a:cs typeface="Arial"/>
              </a:rPr>
              <a:t xml:space="preserve">pairs for sixty seconds.</a:t>
            </a:r>
            <a:endParaRPr lang="en-US" sz="1500"/>
          </a:p>
          <a:p>
            <a:pPr marL="0" indent="0">
              <a:lnSpc>
                <a:spcPts val="1950"/>
              </a:lnSpc>
              <a:spcAft>
                <a:spcPts val="0"/>
              </a:spcAft>
              <a:buNone/>
            </a:pPr>
            <a:r>
              <a:rPr lang="en-US" sz="1500" b="0">
                <a:solidFill>
                  <a:srgbClr val="202B33"/>
                </a:solidFill>
                <a:latin typeface="Arial"/>
                <a:ea typeface="Arial"/>
                <a:cs typeface="Arial"/>
              </a:rPr>
              <a:t xml:space="preserve"/>
            </a:r>
            <a:endParaRPr lang="en-US" sz="1500"/>
          </a:p>
        </p:txBody>
      </p:sp>
      <p:sp>
        <p:nvSpPr>
          <p:cNvPr id="5" name="Text 5"/>
          <p:cNvSpPr txBox="1"/>
          <p:nvPr/>
        </p:nvSpPr>
        <p:spPr>
          <a:xfrm>
            <a:off x="5238750" y="1971675"/>
            <a:ext cx="4362450" cy="5314950"/>
          </a:xfrm>
          <a:prstGeom prst="rect">
            <a:avLst/>
          </a:prstGeom>
          <a:noFill/>
          <a:ln>
            <a:noFill/>
          </a:ln>
        </p:spPr>
        <p:txBody>
          <a:bodyPr wrap="none" lIns="0" tIns="0" rIns="0" bIns="0" anchor="t">
            <a:noAutofit/>
          </a:bodyPr>
          <a:lstStyle/>
          <a:p>
            <a:pPr marL="0" indent="0">
              <a:lnSpc>
                <a:spcPts val="1950"/>
              </a:lnSpc>
              <a:spcAft>
                <a:spcPts val="0"/>
              </a:spcAft>
              <a:buNone/>
            </a:pPr>
            <a:r>
              <a:rPr lang="en-US" sz="1500" b="0">
                <a:solidFill>
                  <a:srgbClr val="202B33"/>
                </a:solidFill>
                <a:latin typeface="Arial"/>
                <a:ea typeface="Arial"/>
                <a:cs typeface="Arial"/>
              </a:rPr>
              <a:t xml:space="preserve">A is current but generic. B is signed and</a:t>
            </a:r>
            <a:endParaRPr lang="en-US" sz="1500"/>
          </a:p>
          <a:p>
            <a:pPr marL="0" indent="0">
              <a:lnSpc>
                <a:spcPts val="1950"/>
              </a:lnSpc>
              <a:spcAft>
                <a:spcPts val="0"/>
              </a:spcAft>
              <a:buNone/>
            </a:pPr>
            <a:r>
              <a:rPr lang="en-US" sz="1500" b="0">
                <a:solidFill>
                  <a:srgbClr val="202B33"/>
                </a:solidFill>
                <a:latin typeface="Arial"/>
                <a:ea typeface="Arial"/>
                <a:cs typeface="Arial"/>
              </a:rPr>
              <a:t xml:space="preserve">specific, but refers to a schedule we have</a:t>
            </a:r>
            <a:endParaRPr lang="en-US" sz="1500"/>
          </a:p>
          <a:p>
            <a:pPr marL="0" indent="0">
              <a:lnSpc>
                <a:spcPts val="1950"/>
              </a:lnSpc>
              <a:spcAft>
                <a:spcPts val="0"/>
              </a:spcAft>
              <a:buNone/>
            </a:pPr>
            <a:r>
              <a:rPr lang="en-US" sz="1500" b="0">
                <a:solidFill>
                  <a:srgbClr val="202B33"/>
                </a:solidFill>
                <a:latin typeface="Arial"/>
                <a:ea typeface="Arial"/>
                <a:cs typeface="Arial"/>
              </a:rPr>
              <a:t xml:space="preserve">not supplied. C has the answer we might</a:t>
            </a:r>
            <a:endParaRPr lang="en-US" sz="1500"/>
          </a:p>
          <a:p>
            <a:pPr marL="0" indent="0">
              <a:lnSpc>
                <a:spcPts val="1950"/>
              </a:lnSpc>
              <a:spcAft>
                <a:spcPts val="0"/>
              </a:spcAft>
              <a:buNone/>
            </a:pPr>
            <a:r>
              <a:rPr lang="en-US" sz="1500" b="0">
                <a:solidFill>
                  <a:srgbClr val="202B33"/>
                </a:solidFill>
                <a:latin typeface="Arial"/>
                <a:ea typeface="Arial"/>
                <a:cs typeface="Arial"/>
              </a:rPr>
              <a:t xml:space="preserve">like and is expired. D is about somebody</a:t>
            </a:r>
            <a:endParaRPr lang="en-US" sz="1500"/>
          </a:p>
          <a:p>
            <a:pPr marL="0" indent="0">
              <a:lnSpc>
                <a:spcPts val="1950"/>
              </a:lnSpc>
              <a:spcAft>
                <a:spcPts val="0"/>
              </a:spcAft>
              <a:buNone/>
            </a:pPr>
            <a:r>
              <a:rPr lang="en-US" sz="1500" b="0">
                <a:solidFill>
                  <a:srgbClr val="202B33"/>
                </a:solidFill>
                <a:latin typeface="Arial"/>
                <a:ea typeface="Arial"/>
                <a:cs typeface="Arial"/>
              </a:rPr>
              <a:t xml:space="preserve">else. E is an employee's guess.</a:t>
            </a:r>
            <a:endParaRPr lang="en-US" sz="1500"/>
          </a:p>
          <a:p>
            <a:pPr marL="0" indent="0">
              <a:lnSpc>
                <a:spcPts val="1950"/>
              </a:lnSpc>
              <a:spcAft>
                <a:spcPts val="0"/>
              </a:spcAft>
              <a:buNone/>
            </a:pPr>
            <a:r>
              <a:rPr lang="en-US" sz="1500" b="0">
                <a:solidFill>
                  <a:srgbClr val="202B33"/>
                </a:solidFill>
                <a:latin typeface="Arial"/>
                <a:ea typeface="Arial"/>
                <a:cs typeface="Arial"/>
              </a:rPr>
              <a:t xml:space="preserve"/>
            </a:r>
            <a:endParaRPr lang="en-US" sz="1500"/>
          </a:p>
          <a:p>
            <a:pPr marL="0" indent="0">
              <a:lnSpc>
                <a:spcPts val="1950"/>
              </a:lnSpc>
              <a:spcAft>
                <a:spcPts val="0"/>
              </a:spcAft>
              <a:buNone/>
            </a:pPr>
            <a:r>
              <a:rPr lang="en-US" sz="1500" b="0">
                <a:solidFill>
                  <a:srgbClr val="202B33"/>
                </a:solidFill>
                <a:latin typeface="Arial"/>
                <a:ea typeface="Arial"/>
                <a:cs typeface="Arial"/>
              </a:rPr>
              <a:t xml:space="preserve">Now compare answers. You just made</a:t>
            </a:r>
            <a:endParaRPr lang="en-US" sz="1500"/>
          </a:p>
          <a:p>
            <a:pPr marL="0" indent="0">
              <a:lnSpc>
                <a:spcPts val="1950"/>
              </a:lnSpc>
              <a:spcAft>
                <a:spcPts val="0"/>
              </a:spcAft>
              <a:buNone/>
            </a:pPr>
            <a:r>
              <a:rPr lang="en-US" sz="1500" b="0">
                <a:solidFill>
                  <a:srgbClr val="202B33"/>
                </a:solidFill>
                <a:latin typeface="Arial"/>
                <a:ea typeface="Arial"/>
                <a:cs typeface="Arial"/>
              </a:rPr>
              <a:t xml:space="preserve">relevance judgments. Relevant to the topic,</a:t>
            </a:r>
            <a:endParaRPr lang="en-US" sz="1500"/>
          </a:p>
          <a:p>
            <a:pPr marL="0" indent="0">
              <a:lnSpc>
                <a:spcPts val="1950"/>
              </a:lnSpc>
              <a:spcAft>
                <a:spcPts val="0"/>
              </a:spcAft>
              <a:buNone/>
            </a:pPr>
            <a:r>
              <a:rPr lang="en-US" sz="1500" b="0">
                <a:solidFill>
                  <a:srgbClr val="202B33"/>
                </a:solidFill>
                <a:latin typeface="Arial"/>
                <a:ea typeface="Arial"/>
                <a:cs typeface="Arial"/>
              </a:rPr>
              <a:t xml:space="preserve">applicable to this customer, authoritative,</a:t>
            </a:r>
            <a:endParaRPr lang="en-US" sz="1500"/>
          </a:p>
          <a:p>
            <a:pPr marL="0" indent="0">
              <a:lnSpc>
                <a:spcPts val="1950"/>
              </a:lnSpc>
              <a:spcAft>
                <a:spcPts val="0"/>
              </a:spcAft>
              <a:buNone/>
            </a:pPr>
            <a:r>
              <a:rPr lang="en-US" sz="1500" b="0">
                <a:solidFill>
                  <a:srgbClr val="202B33"/>
                </a:solidFill>
                <a:latin typeface="Arial"/>
                <a:ea typeface="Arial"/>
                <a:cs typeface="Arial"/>
              </a:rPr>
              <a:t xml:space="preserve">and sufficient to answer are different</a:t>
            </a:r>
            <a:endParaRPr lang="en-US" sz="1500"/>
          </a:p>
          <a:p>
            <a:pPr marL="0" indent="0">
              <a:lnSpc>
                <a:spcPts val="1950"/>
              </a:lnSpc>
              <a:spcAft>
                <a:spcPts val="0"/>
              </a:spcAft>
              <a:buNone/>
            </a:pPr>
            <a:r>
              <a:rPr lang="en-US" sz="1500" b="0">
                <a:solidFill>
                  <a:srgbClr val="202B33"/>
                </a:solidFill>
                <a:latin typeface="Arial"/>
                <a:ea typeface="Arial"/>
                <a:cs typeface="Arial"/>
              </a:rPr>
              <a:t xml:space="preserve">criteria. If the room agrees perfectly,</a:t>
            </a:r>
            <a:endParaRPr lang="en-US" sz="1500"/>
          </a:p>
          <a:p>
            <a:pPr marL="0" indent="0">
              <a:lnSpc>
                <a:spcPts val="1950"/>
              </a:lnSpc>
              <a:spcAft>
                <a:spcPts val="0"/>
              </a:spcAft>
              <a:buNone/>
            </a:pPr>
            <a:r>
              <a:rPr lang="en-US" sz="1500" b="0">
                <a:solidFill>
                  <a:srgbClr val="202B33"/>
                </a:solidFill>
                <a:latin typeface="Arial"/>
                <a:ea typeface="Arial"/>
                <a:cs typeface="Arial"/>
              </a:rPr>
              <a:t xml:space="preserve">change the question from "useful evidence"</a:t>
            </a:r>
            <a:endParaRPr lang="en-US" sz="1500"/>
          </a:p>
          <a:p>
            <a:pPr marL="0" indent="0">
              <a:lnSpc>
                <a:spcPts val="1950"/>
              </a:lnSpc>
              <a:spcAft>
                <a:spcPts val="0"/>
              </a:spcAft>
              <a:buNone/>
            </a:pPr>
            <a:r>
              <a:rPr lang="en-US" sz="1500" b="0">
                <a:solidFill>
                  <a:srgbClr val="202B33"/>
                </a:solidFill>
                <a:latin typeface="Arial"/>
                <a:ea typeface="Arial"/>
                <a:cs typeface="Arial"/>
              </a:rPr>
              <a:t xml:space="preserve">to "enough to authorize cancellation" and</a:t>
            </a:r>
            <a:endParaRPr lang="en-US" sz="1500"/>
          </a:p>
          <a:p>
            <a:pPr marL="0" indent="0">
              <a:lnSpc>
                <a:spcPts val="1950"/>
              </a:lnSpc>
              <a:spcAft>
                <a:spcPts val="0"/>
              </a:spcAft>
              <a:buNone/>
            </a:pPr>
            <a:r>
              <a:rPr lang="en-US" sz="1500" b="0">
                <a:solidFill>
                  <a:srgbClr val="202B33"/>
                </a:solidFill>
                <a:latin typeface="Arial"/>
                <a:ea typeface="Arial"/>
                <a:cs typeface="Arial"/>
              </a:rPr>
              <a:t xml:space="preserve">compare again. Do not manufacture</a:t>
            </a:r>
            <a:endParaRPr lang="en-US" sz="1500"/>
          </a:p>
          <a:p>
            <a:pPr marL="0" indent="0">
              <a:lnSpc>
                <a:spcPts val="1950"/>
              </a:lnSpc>
              <a:spcAft>
                <a:spcPts val="0"/>
              </a:spcAft>
              <a:buNone/>
            </a:pPr>
            <a:r>
              <a:rPr lang="en-US" sz="1500" b="0">
                <a:solidFill>
                  <a:srgbClr val="202B33"/>
                </a:solidFill>
                <a:latin typeface="Arial"/>
                <a:ea typeface="Arial"/>
                <a:cs typeface="Arial"/>
              </a:rPr>
              <a:t xml:space="preserve">disagreement for the punchline.</a:t>
            </a:r>
            <a:endParaRPr lang="en-US" sz="1500"/>
          </a:p>
        </p:txBody>
      </p:sp>
      <p:sp>
        <p:nvSpPr>
          <p:cNvPr id="6" name="Text 6"/>
          <p:cNvSpPr txBox="1"/>
          <p:nvPr/>
        </p:nvSpPr>
        <p:spPr>
          <a:xfrm>
            <a:off x="457200" y="7486650"/>
            <a:ext cx="8820150" cy="190500"/>
          </a:xfrm>
          <a:prstGeom prst="rect">
            <a:avLst/>
          </a:prstGeom>
          <a:noFill/>
          <a:ln>
            <a:noFill/>
          </a:ln>
        </p:spPr>
        <p:txBody>
          <a:bodyPr wrap="none" lIns="0" tIns="0" rIns="0" bIns="0" anchor="t">
            <a:noAutofit/>
          </a:bodyPr>
          <a:lstStyle/>
          <a:p>
            <a:pPr marL="0" indent="0">
              <a:lnSpc>
                <a:spcPts val="1268"/>
              </a:lnSpc>
              <a:spcAft>
                <a:spcPts val="0"/>
              </a:spcAft>
              <a:buNone/>
            </a:pPr>
            <a:r>
              <a:rPr lang="en-US" sz="975" b="0">
                <a:solidFill>
                  <a:srgbClr val="48555B"/>
                </a:solidFill>
                <a:latin typeface="Arial"/>
                <a:ea typeface="Arial"/>
                <a:cs typeface="Arial"/>
              </a:rPr>
              <a:t xml:space="preserve">Three Search Methods in a Fundable Trenchcoat</a:t>
            </a:r>
            <a:endParaRPr lang="en-US" sz="975"/>
          </a:p>
        </p:txBody>
      </p:sp>
      <p:sp>
        <p:nvSpPr>
          <p:cNvPr id="7" name="Text 7"/>
          <p:cNvSpPr txBox="1"/>
          <p:nvPr/>
        </p:nvSpPr>
        <p:spPr>
          <a:xfrm>
            <a:off x="9391650" y="7486650"/>
            <a:ext cx="238125" cy="190500"/>
          </a:xfrm>
          <a:prstGeom prst="rect">
            <a:avLst/>
          </a:prstGeom>
          <a:noFill/>
          <a:ln>
            <a:noFill/>
          </a:ln>
        </p:spPr>
        <p:txBody>
          <a:bodyPr wrap="none" lIns="0" tIns="0" rIns="0" bIns="0" anchor="t">
            <a:noAutofit/>
          </a:bodyPr>
          <a:lstStyle/>
          <a:p>
            <a:pPr marL="0" indent="0">
              <a:lnSpc>
                <a:spcPts val="1268"/>
              </a:lnSpc>
              <a:spcAft>
                <a:spcPts val="0"/>
              </a:spcAft>
              <a:buNone/>
            </a:pPr>
            <a:r>
              <a:rPr lang="en-US" sz="975" b="0">
                <a:solidFill>
                  <a:srgbClr val="48555B"/>
                </a:solidFill>
                <a:latin typeface="Arial"/>
                <a:ea typeface="Arial"/>
                <a:cs typeface="Arial"/>
              </a:rPr>
              <a:t xml:space="preserve">9</a:t>
            </a:r>
            <a:endParaRPr lang="en-US" sz="975"/>
          </a:p>
        </p:txBody>
      </p:sp>
    </p:spTree>
  </p:cSld>
  <p:clrMapOvr>
    <a:masterClrMapping/>
  </p:clrMapOvr>
</p:sld>
</file>

<file path=ppt/slides/slide10.xml><?xml version="1.0" encoding="utf-8"?>
<p:sld xmlns:a="http://schemas.openxmlformats.org/drawingml/2006/main" xmlns:r="http://schemas.openxmlformats.org/officeDocument/2006/relationships" xmlns:p="http://schemas.openxmlformats.org/presentationml/2006/main">
  <p:cSld name="Slide 10">
    <p:bg>
      <p:bgPr>
        <a:solidFill>
          <a:srgbClr val="FAFAF7"/>
        </a:solidFill>
        <a:effectLst/>
      </p:bgPr>
    </p:bg>
    <p:spTree>
      <p:nvGrpSpPr>
        <p:cNvPr id="1" name=""/>
        <p:cNvGrpSpPr/>
        <p:nvPr/>
      </p:nvGrpSpPr>
      <p:grpSpPr>
        <a:xfrm>
          <a:off x="0" y="0"/>
          <a:ext cx="0" cy="0"/>
          <a:chOff x="0" y="0"/>
          <a:chExt cx="0" cy="0"/>
        </a:xfrm>
      </p:grpSpPr>
      <p:sp>
        <p:nvSpPr>
          <p:cNvPr id="2" name="Text 2"/>
          <p:cNvSpPr txBox="1"/>
          <p:nvPr/>
        </p:nvSpPr>
        <p:spPr>
          <a:xfrm>
            <a:off x="457200" y="266700"/>
            <a:ext cx="9144000" cy="228600"/>
          </a:xfrm>
          <a:prstGeom prst="rect">
            <a:avLst/>
          </a:prstGeom>
          <a:noFill/>
          <a:ln>
            <a:noFill/>
          </a:ln>
        </p:spPr>
        <p:txBody>
          <a:bodyPr wrap="none" lIns="0" tIns="0" rIns="0" bIns="0" anchor="t">
            <a:noAutofit/>
          </a:bodyPr>
          <a:lstStyle/>
          <a:p>
            <a:pPr marL="0" indent="0">
              <a:lnSpc>
                <a:spcPts val="1365"/>
              </a:lnSpc>
              <a:spcAft>
                <a:spcPts val="0"/>
              </a:spcAft>
              <a:buNone/>
            </a:pPr>
            <a:r>
              <a:rPr lang="en-US" sz="1050" b="1">
                <a:solidFill>
                  <a:srgbClr val="246957"/>
                </a:solidFill>
                <a:latin typeface="Arial"/>
                <a:ea typeface="Arial"/>
                <a:cs typeface="Arial"/>
              </a:rPr>
              <a:t xml:space="preserve">09 / 15    SOURCE SLIDE 9</a:t>
            </a:r>
            <a:endParaRPr lang="en-US" sz="1050"/>
          </a:p>
        </p:txBody>
      </p:sp>
      <p:sp>
        <p:nvSpPr>
          <p:cNvPr id="3" name="Text 3"/>
          <p:cNvSpPr txBox="1"/>
          <p:nvPr/>
        </p:nvSpPr>
        <p:spPr>
          <a:xfrm>
            <a:off x="457200" y="657225"/>
            <a:ext cx="9144000" cy="1104900"/>
          </a:xfrm>
          <a:prstGeom prst="rect">
            <a:avLst/>
          </a:prstGeom>
          <a:noFill/>
          <a:ln>
            <a:noFill/>
          </a:ln>
        </p:spPr>
        <p:txBody>
          <a:bodyPr wrap="none" lIns="0" tIns="0" rIns="0" bIns="0" anchor="t">
            <a:noAutofit/>
          </a:bodyPr>
          <a:lstStyle/>
          <a:p>
            <a:pPr marL="0" indent="0">
              <a:lnSpc>
                <a:spcPts val="3060"/>
              </a:lnSpc>
              <a:spcAft>
                <a:spcPts val="0"/>
              </a:spcAft>
              <a:buNone/>
            </a:pPr>
            <a:r>
              <a:rPr lang="en-US" sz="2550" b="1">
                <a:solidFill>
                  <a:srgbClr val="202B33"/>
                </a:solidFill>
                <a:latin typeface="Arial"/>
                <a:ea typeface="Arial"/>
                <a:cs typeface="Arial"/>
              </a:rPr>
              <a:t xml:space="preserve">Cranfield, Bedfordshire, 1966</a:t>
            </a:r>
            <a:endParaRPr lang="en-US" sz="2550"/>
          </a:p>
        </p:txBody>
      </p:sp>
      <p:sp>
        <p:nvSpPr>
          <p:cNvPr id="4" name="Image background"/>
          <p:cNvSpPr/>
          <p:nvPr/>
        </p:nvSpPr>
        <p:spPr>
          <a:xfrm>
            <a:off x="1554480" y="1781175"/>
            <a:ext cx="6949440" cy="2714625"/>
          </a:xfrm>
          <a:prstGeom prst="rect">
            <a:avLst/>
          </a:prstGeom>
          <a:solidFill>
            <a:srgbClr val="161D26"/>
          </a:solidFill>
          <a:ln>
            <a:noFill/>
          </a:ln>
        </p:spPr>
      </p:sp>
      <p:pic>
        <p:nvPicPr>
          <p:cNvPr id="5" name="a6b4d212c36d475ddccc3e605d3fe5942640332d496970d4988bbc2917bbc042" descr="Cranfield, Bedfordshire, 1966"/>
          <p:cNvPicPr>
            <a:picLocks noChangeAspect="1"/>
          </p:cNvPicPr>
          <p:nvPr/>
        </p:nvPicPr>
        <p:blipFill>
          <a:blip r:embed="rIdImage1">
            <a:extLst>
              <a:ext uri="{96DAC541-7B7A-43D3-8B79-37D633B846F1}">
                <asvg:svgBlip xmlns:asvg="http://schemas.microsoft.com/office/drawing/2016/SVG/main" r:embed="rIdSvg1"/>
              </a:ext>
            </a:extLst>
          </a:blip>
          <a:stretch>
            <a:fillRect/>
          </a:stretch>
        </p:blipFill>
        <p:spPr>
          <a:xfrm>
            <a:off x="1554480" y="1781175"/>
            <a:ext cx="6949440" cy="2714625"/>
          </a:xfrm>
          <a:prstGeom prst="rect">
            <a:avLst/>
          </a:prstGeom>
          <a:ln>
            <a:noFill/>
          </a:ln>
        </p:spPr>
      </p:pic>
      <p:sp>
        <p:nvSpPr>
          <p:cNvPr id="6" name="Text 6"/>
          <p:cNvSpPr txBox="1"/>
          <p:nvPr/>
        </p:nvSpPr>
        <p:spPr>
          <a:xfrm>
            <a:off x="457200" y="4648200"/>
            <a:ext cx="4352925" cy="2647950"/>
          </a:xfrm>
          <a:prstGeom prst="rect">
            <a:avLst/>
          </a:prstGeom>
          <a:noFill/>
          <a:ln>
            <a:noFill/>
          </a:ln>
        </p:spPr>
        <p:txBody>
          <a:bodyPr wrap="none" lIns="0" tIns="0" rIns="0" bIns="0" anchor="t">
            <a:noAutofit/>
          </a:bodyPr>
          <a:lstStyle/>
          <a:p>
            <a:pPr marL="0" indent="0">
              <a:lnSpc>
                <a:spcPts val="1575"/>
              </a:lnSpc>
              <a:spcAft>
                <a:spcPts val="0"/>
              </a:spcAft>
              <a:buNone/>
            </a:pPr>
            <a:r>
              <a:rPr lang="en-US" sz="1200" b="0">
                <a:solidFill>
                  <a:srgbClr val="202B33"/>
                </a:solidFill>
                <a:latin typeface="Arial"/>
                <a:ea typeface="Arial"/>
                <a:cs typeface="Arial"/>
              </a:rPr>
              <a:t xml:space="preserve">Corpus + queries + relevance judgments</a:t>
            </a:r>
            <a:endParaRPr lang="en-US" sz="1200"/>
          </a:p>
          <a:p>
            <a:pPr marL="0" indent="0">
              <a:lnSpc>
                <a:spcPts val="1575"/>
              </a:lnSpc>
              <a:spcAft>
                <a:spcPts val="0"/>
              </a:spcAft>
              <a:buNone/>
            </a:pPr>
            <a:r>
              <a:rPr lang="en-US" sz="1200" b="0">
                <a:solidFill>
                  <a:srgbClr val="202B33"/>
                </a:solidFill>
                <a:latin typeface="Arial"/>
                <a:ea typeface="Arial"/>
                <a:cs typeface="Arial"/>
              </a:rPr>
              <a:t xml:space="preserve"/>
            </a:r>
            <a:endParaRPr lang="en-US" sz="1200"/>
          </a:p>
          <a:p>
            <a:pPr marL="0" indent="0">
              <a:lnSpc>
                <a:spcPts val="1575"/>
              </a:lnSpc>
              <a:spcAft>
                <a:spcPts val="0"/>
              </a:spcAft>
              <a:buNone/>
            </a:pPr>
            <a:r>
              <a:rPr lang="en-US" sz="1200" b="0">
                <a:solidFill>
                  <a:srgbClr val="202B33"/>
                </a:solidFill>
                <a:latin typeface="Arial"/>
                <a:ea typeface="Arial"/>
                <a:cs typeface="Arial"/>
              </a:rPr>
              <a:t xml:space="preserve">1966 → 2026 = 60 years</a:t>
            </a:r>
            <a:endParaRPr lang="en-US" sz="1200"/>
          </a:p>
          <a:p>
            <a:pPr marL="0" indent="0">
              <a:lnSpc>
                <a:spcPts val="1575"/>
              </a:lnSpc>
              <a:spcAft>
                <a:spcPts val="0"/>
              </a:spcAft>
              <a:buNone/>
            </a:pPr>
            <a:r>
              <a:rPr lang="en-US" sz="1200" b="0">
                <a:solidFill>
                  <a:srgbClr val="202B33"/>
                </a:solidFill>
                <a:latin typeface="Arial"/>
                <a:ea typeface="Arial"/>
                <a:cs typeface="Arial"/>
              </a:rPr>
              <a:t xml:space="preserve"/>
            </a:r>
            <a:endParaRPr lang="en-US" sz="1200"/>
          </a:p>
          <a:p>
            <a:pPr marL="0" indent="0">
              <a:lnSpc>
                <a:spcPts val="1575"/>
              </a:lnSpc>
              <a:spcAft>
                <a:spcPts val="0"/>
              </a:spcAft>
              <a:buNone/>
            </a:pPr>
            <a:r>
              <a:rPr lang="en-US" sz="1200" b="0">
                <a:solidFill>
                  <a:srgbClr val="202B33"/>
                </a:solidFill>
                <a:latin typeface="Arial"/>
                <a:ea typeface="Arial"/>
                <a:cs typeface="Arial"/>
              </a:rPr>
              <a:t xml:space="preserve">Cleverdon, Mills, and Keen's Cranfield report is</a:t>
            </a:r>
            <a:endParaRPr lang="en-US" sz="1200"/>
          </a:p>
          <a:p>
            <a:pPr marL="0" indent="0">
              <a:lnSpc>
                <a:spcPts val="1575"/>
              </a:lnSpc>
              <a:spcAft>
                <a:spcPts val="0"/>
              </a:spcAft>
              <a:buNone/>
            </a:pPr>
            <a:r>
              <a:rPr lang="en-US" sz="1200" b="0">
                <a:solidFill>
                  <a:srgbClr val="202B33"/>
                </a:solidFill>
                <a:latin typeface="Arial"/>
                <a:ea typeface="Arial"/>
                <a:cs typeface="Arial"/>
              </a:rPr>
              <a:t xml:space="preserve">dated 1966. Fix a document collection, define</a:t>
            </a:r>
            <a:endParaRPr lang="en-US" sz="1200"/>
          </a:p>
          <a:p>
            <a:pPr marL="0" indent="0">
              <a:lnSpc>
                <a:spcPts val="1575"/>
              </a:lnSpc>
              <a:spcAft>
                <a:spcPts val="0"/>
              </a:spcAft>
              <a:buNone/>
            </a:pPr>
            <a:r>
              <a:rPr lang="en-US" sz="1200" b="0">
                <a:solidFill>
                  <a:srgbClr val="202B33"/>
                </a:solidFill>
                <a:latin typeface="Arial"/>
                <a:ea typeface="Arial"/>
                <a:cs typeface="Arial"/>
              </a:rPr>
              <a:t xml:space="preserve">questions, judge relevance, and compare systems under</a:t>
            </a:r>
            <a:endParaRPr lang="en-US" sz="1200"/>
          </a:p>
          <a:p>
            <a:pPr marL="0" indent="0">
              <a:lnSpc>
                <a:spcPts val="1575"/>
              </a:lnSpc>
              <a:spcAft>
                <a:spcPts val="0"/>
              </a:spcAft>
              <a:buNone/>
            </a:pPr>
            <a:r>
              <a:rPr lang="en-US" sz="1200" b="0">
                <a:solidFill>
                  <a:srgbClr val="202B33"/>
                </a:solidFill>
                <a:latin typeface="Arial"/>
                <a:ea typeface="Arial"/>
                <a:cs typeface="Arial"/>
              </a:rPr>
              <a:t xml:space="preserve">the same conditions. Sixty years later, that is a</a:t>
            </a:r>
            <a:endParaRPr lang="en-US" sz="1200"/>
          </a:p>
          <a:p>
            <a:pPr marL="0" indent="0">
              <a:lnSpc>
                <a:spcPts val="1575"/>
              </a:lnSpc>
              <a:spcAft>
                <a:spcPts val="0"/>
              </a:spcAft>
              <a:buNone/>
            </a:pPr>
            <a:r>
              <a:rPr lang="en-US" sz="1200" b="0">
                <a:solidFill>
                  <a:srgbClr val="202B33"/>
                </a:solidFill>
                <a:latin typeface="Arial"/>
                <a:ea typeface="Arial"/>
                <a:cs typeface="Arial"/>
              </a:rPr>
              <a:t xml:space="preserve">recognizable shape for an eval harness.</a:t>
            </a:r>
            <a:endParaRPr lang="en-US" sz="1200"/>
          </a:p>
          <a:p>
            <a:pPr marL="0" indent="0">
              <a:lnSpc>
                <a:spcPts val="1575"/>
              </a:lnSpc>
              <a:spcAft>
                <a:spcPts val="0"/>
              </a:spcAft>
              <a:buNone/>
            </a:pPr>
            <a:r>
              <a:rPr lang="en-US" sz="1200" b="0">
                <a:solidFill>
                  <a:srgbClr val="202B33"/>
                </a:solidFill>
                <a:latin typeface="Arial"/>
                <a:ea typeface="Arial"/>
                <a:cs typeface="Arial"/>
              </a:rPr>
              <a:t xml:space="preserve"/>
            </a:r>
            <a:endParaRPr lang="en-US" sz="1200"/>
          </a:p>
        </p:txBody>
      </p:sp>
      <p:sp>
        <p:nvSpPr>
          <p:cNvPr id="7" name="Text 7"/>
          <p:cNvSpPr txBox="1"/>
          <p:nvPr/>
        </p:nvSpPr>
        <p:spPr>
          <a:xfrm>
            <a:off x="5238750" y="4648200"/>
            <a:ext cx="4362450" cy="2647950"/>
          </a:xfrm>
          <a:prstGeom prst="rect">
            <a:avLst/>
          </a:prstGeom>
          <a:noFill/>
          <a:ln>
            <a:noFill/>
          </a:ln>
        </p:spPr>
        <p:txBody>
          <a:bodyPr wrap="none" lIns="0" tIns="0" rIns="0" bIns="0" anchor="t">
            <a:noAutofit/>
          </a:bodyPr>
          <a:lstStyle/>
          <a:p>
            <a:pPr marL="0" indent="0">
              <a:lnSpc>
                <a:spcPts val="1575"/>
              </a:lnSpc>
              <a:spcAft>
                <a:spcPts val="0"/>
              </a:spcAft>
              <a:buNone/>
            </a:pPr>
            <a:r>
              <a:rPr lang="en-US" sz="1200" b="0">
                <a:solidFill>
                  <a:srgbClr val="202B33"/>
                </a:solidFill>
                <a:latin typeface="Arial"/>
                <a:ea typeface="Arial"/>
                <a:cs typeface="Arial"/>
              </a:rPr>
              <a:t xml:space="preserve">The name is the Cranfield paradigm. It gives you a</a:t>
            </a:r>
            <a:endParaRPr lang="en-US" sz="1200"/>
          </a:p>
          <a:p>
            <a:pPr marL="0" indent="0">
              <a:lnSpc>
                <a:spcPts val="1575"/>
              </a:lnSpc>
              <a:spcAft>
                <a:spcPts val="0"/>
              </a:spcAft>
              <a:buNone/>
            </a:pPr>
            <a:r>
              <a:rPr lang="en-US" sz="1200" b="0">
                <a:solidFill>
                  <a:srgbClr val="202B33"/>
                </a:solidFill>
                <a:latin typeface="Arial"/>
                <a:ea typeface="Arial"/>
                <a:cs typeface="Arial"/>
              </a:rPr>
              <a:t xml:space="preserve">controlled comparison. It also forces choices about</a:t>
            </a:r>
            <a:endParaRPr lang="en-US" sz="1200"/>
          </a:p>
          <a:p>
            <a:pPr marL="0" indent="0">
              <a:lnSpc>
                <a:spcPts val="1575"/>
              </a:lnSpc>
              <a:spcAft>
                <a:spcPts val="0"/>
              </a:spcAft>
              <a:buNone/>
            </a:pPr>
            <a:r>
              <a:rPr lang="en-US" sz="1200" b="0">
                <a:solidFill>
                  <a:srgbClr val="202B33"/>
                </a:solidFill>
                <a:latin typeface="Arial"/>
                <a:ea typeface="Arial"/>
                <a:cs typeface="Arial"/>
              </a:rPr>
              <a:t xml:space="preserve">who writes the questions, who judges the evidence,</a:t>
            </a:r>
            <a:endParaRPr lang="en-US" sz="1200"/>
          </a:p>
          <a:p>
            <a:pPr marL="0" indent="0">
              <a:lnSpc>
                <a:spcPts val="1575"/>
              </a:lnSpc>
              <a:spcAft>
                <a:spcPts val="0"/>
              </a:spcAft>
              <a:buNone/>
            </a:pPr>
            <a:r>
              <a:rPr lang="en-US" sz="1200" b="0">
                <a:solidFill>
                  <a:srgbClr val="202B33"/>
                </a:solidFill>
                <a:latin typeface="Arial"/>
                <a:ea typeface="Arial"/>
                <a:cs typeface="Arial"/>
              </a:rPr>
              <a:t xml:space="preserve">and what the collection represents.</a:t>
            </a:r>
            <a:endParaRPr lang="en-US" sz="1200"/>
          </a:p>
          <a:p>
            <a:pPr marL="0" indent="0">
              <a:lnSpc>
                <a:spcPts val="1575"/>
              </a:lnSpc>
              <a:spcAft>
                <a:spcPts val="0"/>
              </a:spcAft>
              <a:buNone/>
            </a:pPr>
            <a:r>
              <a:rPr lang="en-US" sz="1200" b="0">
                <a:solidFill>
                  <a:srgbClr val="202B33"/>
                </a:solidFill>
                <a:latin typeface="Arial"/>
                <a:ea typeface="Arial"/>
                <a:cs typeface="Arial"/>
              </a:rPr>
              <a:t xml:space="preserve"/>
            </a:r>
            <a:endParaRPr lang="en-US" sz="1200"/>
          </a:p>
          <a:p>
            <a:pPr marL="0" indent="0">
              <a:lnSpc>
                <a:spcPts val="1575"/>
              </a:lnSpc>
              <a:spcAft>
                <a:spcPts val="0"/>
              </a:spcAft>
              <a:buNone/>
            </a:pPr>
            <a:r>
              <a:rPr lang="en-US" sz="1200" b="0">
                <a:solidFill>
                  <a:srgbClr val="202B33"/>
                </a:solidFill>
                <a:latin typeface="Arial"/>
                <a:ea typeface="Arial"/>
                <a:cs typeface="Arial"/>
              </a:rPr>
              <a:t xml:space="preserve">Your golden dataset is a test collection with a</a:t>
            </a:r>
            <a:endParaRPr lang="en-US" sz="1200"/>
          </a:p>
          <a:p>
            <a:pPr marL="0" indent="0">
              <a:lnSpc>
                <a:spcPts val="1575"/>
              </a:lnSpc>
              <a:spcAft>
                <a:spcPts val="0"/>
              </a:spcAft>
              <a:buNone/>
            </a:pPr>
            <a:r>
              <a:rPr lang="en-US" sz="1200" b="0">
                <a:solidFill>
                  <a:srgbClr val="202B33"/>
                </a:solidFill>
                <a:latin typeface="Arial"/>
                <a:ea typeface="Arial"/>
                <a:cs typeface="Arial"/>
              </a:rPr>
              <a:t xml:space="preserve">flattering filename. Write down its collection</a:t>
            </a:r>
            <a:endParaRPr lang="en-US" sz="1200"/>
          </a:p>
          <a:p>
            <a:pPr marL="0" indent="0">
              <a:lnSpc>
                <a:spcPts val="1575"/>
              </a:lnSpc>
              <a:spcAft>
                <a:spcPts val="0"/>
              </a:spcAft>
              <a:buNone/>
            </a:pPr>
            <a:r>
              <a:rPr lang="en-US" sz="1200" b="0">
                <a:solidFill>
                  <a:srgbClr val="202B33"/>
                </a:solidFill>
                <a:latin typeface="Arial"/>
                <a:ea typeface="Arial"/>
                <a:cs typeface="Arial"/>
              </a:rPr>
              <a:t xml:space="preserve">protocol. If it consists of whatever your first</a:t>
            </a:r>
            <a:endParaRPr lang="en-US" sz="1200"/>
          </a:p>
          <a:p>
            <a:pPr marL="0" indent="0">
              <a:lnSpc>
                <a:spcPts val="1575"/>
              </a:lnSpc>
              <a:spcAft>
                <a:spcPts val="0"/>
              </a:spcAft>
              <a:buNone/>
            </a:pPr>
            <a:r>
              <a:rPr lang="en-US" sz="1200" b="0">
                <a:solidFill>
                  <a:srgbClr val="202B33"/>
                </a:solidFill>
                <a:latin typeface="Arial"/>
                <a:ea typeface="Arial"/>
                <a:cs typeface="Arial"/>
              </a:rPr>
              <a:t xml:space="preserve">retriever happened to find, the next slide is about</a:t>
            </a:r>
            <a:endParaRPr lang="en-US" sz="1200"/>
          </a:p>
          <a:p>
            <a:pPr marL="0" indent="0">
              <a:lnSpc>
                <a:spcPts val="1575"/>
              </a:lnSpc>
              <a:spcAft>
                <a:spcPts val="0"/>
              </a:spcAft>
              <a:buNone/>
            </a:pPr>
            <a:r>
              <a:rPr lang="en-US" sz="1200" b="0">
                <a:solidFill>
                  <a:srgbClr val="202B33"/>
                </a:solidFill>
                <a:latin typeface="Arial"/>
                <a:ea typeface="Arial"/>
                <a:cs typeface="Arial"/>
              </a:rPr>
              <a:t xml:space="preserve">you.</a:t>
            </a:r>
            <a:endParaRPr lang="en-US" sz="1200"/>
          </a:p>
        </p:txBody>
      </p:sp>
      <p:sp>
        <p:nvSpPr>
          <p:cNvPr id="8" name="Text 8"/>
          <p:cNvSpPr txBox="1"/>
          <p:nvPr/>
        </p:nvSpPr>
        <p:spPr>
          <a:xfrm>
            <a:off x="457200" y="7486650"/>
            <a:ext cx="8820150" cy="190500"/>
          </a:xfrm>
          <a:prstGeom prst="rect">
            <a:avLst/>
          </a:prstGeom>
          <a:noFill/>
          <a:ln>
            <a:noFill/>
          </a:ln>
        </p:spPr>
        <p:txBody>
          <a:bodyPr wrap="none" lIns="0" tIns="0" rIns="0" bIns="0" anchor="t">
            <a:noAutofit/>
          </a:bodyPr>
          <a:lstStyle/>
          <a:p>
            <a:pPr marL="0" indent="0">
              <a:lnSpc>
                <a:spcPts val="1268"/>
              </a:lnSpc>
              <a:spcAft>
                <a:spcPts val="0"/>
              </a:spcAft>
              <a:buNone/>
            </a:pPr>
            <a:r>
              <a:rPr lang="en-US" sz="975" b="0">
                <a:solidFill>
                  <a:srgbClr val="48555B"/>
                </a:solidFill>
                <a:latin typeface="Arial"/>
                <a:ea typeface="Arial"/>
                <a:cs typeface="Arial"/>
              </a:rPr>
              <a:t xml:space="preserve">Three Search Methods in a Fundable Trenchcoat</a:t>
            </a:r>
            <a:endParaRPr lang="en-US" sz="975"/>
          </a:p>
        </p:txBody>
      </p:sp>
      <p:sp>
        <p:nvSpPr>
          <p:cNvPr id="9" name="Text 9"/>
          <p:cNvSpPr txBox="1"/>
          <p:nvPr/>
        </p:nvSpPr>
        <p:spPr>
          <a:xfrm>
            <a:off x="9391650" y="7486650"/>
            <a:ext cx="238125" cy="190500"/>
          </a:xfrm>
          <a:prstGeom prst="rect">
            <a:avLst/>
          </a:prstGeom>
          <a:noFill/>
          <a:ln>
            <a:noFill/>
          </a:ln>
        </p:spPr>
        <p:txBody>
          <a:bodyPr wrap="none" lIns="0" tIns="0" rIns="0" bIns="0" anchor="t">
            <a:noAutofit/>
          </a:bodyPr>
          <a:lstStyle/>
          <a:p>
            <a:pPr marL="0" indent="0">
              <a:lnSpc>
                <a:spcPts val="1268"/>
              </a:lnSpc>
              <a:spcAft>
                <a:spcPts val="0"/>
              </a:spcAft>
              <a:buNone/>
            </a:pPr>
            <a:r>
              <a:rPr lang="en-US" sz="975" b="0">
                <a:solidFill>
                  <a:srgbClr val="48555B"/>
                </a:solidFill>
                <a:latin typeface="Arial"/>
                <a:ea typeface="Arial"/>
                <a:cs typeface="Arial"/>
              </a:rPr>
              <a:t xml:space="preserve">10</a:t>
            </a:r>
            <a:endParaRPr lang="en-US" sz="975"/>
          </a:p>
        </p:txBody>
      </p:sp>
    </p:spTree>
  </p:cSld>
  <p:clrMapOvr>
    <a:masterClrMapping/>
  </p:clrMapOvr>
</p:sld>
</file>

<file path=ppt/slides/slide11.xml><?xml version="1.0" encoding="utf-8"?>
<p:sld xmlns:a="http://schemas.openxmlformats.org/drawingml/2006/main" xmlns:r="http://schemas.openxmlformats.org/officeDocument/2006/relationships" xmlns:p="http://schemas.openxmlformats.org/presentationml/2006/main">
  <p:cSld name="Slide 11">
    <p:bg>
      <p:bgPr>
        <a:solidFill>
          <a:srgbClr val="FAFAF7"/>
        </a:solidFill>
        <a:effectLst/>
      </p:bgPr>
    </p:bg>
    <p:spTree>
      <p:nvGrpSpPr>
        <p:cNvPr id="1" name=""/>
        <p:cNvGrpSpPr/>
        <p:nvPr/>
      </p:nvGrpSpPr>
      <p:grpSpPr>
        <a:xfrm>
          <a:off x="0" y="0"/>
          <a:ext cx="0" cy="0"/>
          <a:chOff x="0" y="0"/>
          <a:chExt cx="0" cy="0"/>
        </a:xfrm>
      </p:grpSpPr>
      <p:sp>
        <p:nvSpPr>
          <p:cNvPr id="2" name="Text 2"/>
          <p:cNvSpPr txBox="1"/>
          <p:nvPr/>
        </p:nvSpPr>
        <p:spPr>
          <a:xfrm>
            <a:off x="457200" y="266700"/>
            <a:ext cx="9144000" cy="228600"/>
          </a:xfrm>
          <a:prstGeom prst="rect">
            <a:avLst/>
          </a:prstGeom>
          <a:noFill/>
          <a:ln>
            <a:noFill/>
          </a:ln>
        </p:spPr>
        <p:txBody>
          <a:bodyPr wrap="none" lIns="0" tIns="0" rIns="0" bIns="0" anchor="t">
            <a:noAutofit/>
          </a:bodyPr>
          <a:lstStyle/>
          <a:p>
            <a:pPr marL="0" indent="0">
              <a:lnSpc>
                <a:spcPts val="1365"/>
              </a:lnSpc>
              <a:spcAft>
                <a:spcPts val="0"/>
              </a:spcAft>
              <a:buNone/>
            </a:pPr>
            <a:r>
              <a:rPr lang="en-US" sz="1050" b="1">
                <a:solidFill>
                  <a:srgbClr val="246957"/>
                </a:solidFill>
                <a:latin typeface="Arial"/>
                <a:ea typeface="Arial"/>
                <a:cs typeface="Arial"/>
              </a:rPr>
              <a:t xml:space="preserve">10 / 15    SOURCE SLIDE 10</a:t>
            </a:r>
            <a:endParaRPr lang="en-US" sz="1050"/>
          </a:p>
        </p:txBody>
      </p:sp>
      <p:sp>
        <p:nvSpPr>
          <p:cNvPr id="3" name="Text 3"/>
          <p:cNvSpPr txBox="1"/>
          <p:nvPr/>
        </p:nvSpPr>
        <p:spPr>
          <a:xfrm>
            <a:off x="457200" y="657225"/>
            <a:ext cx="9144000" cy="1104900"/>
          </a:xfrm>
          <a:prstGeom prst="rect">
            <a:avLst/>
          </a:prstGeom>
          <a:noFill/>
          <a:ln>
            <a:noFill/>
          </a:ln>
        </p:spPr>
        <p:txBody>
          <a:bodyPr wrap="none" lIns="0" tIns="0" rIns="0" bIns="0" anchor="t">
            <a:noAutofit/>
          </a:bodyPr>
          <a:lstStyle/>
          <a:p>
            <a:pPr marL="0" indent="0">
              <a:lnSpc>
                <a:spcPts val="3060"/>
              </a:lnSpc>
              <a:spcAft>
                <a:spcPts val="0"/>
              </a:spcAft>
              <a:buNone/>
            </a:pPr>
            <a:r>
              <a:rPr lang="en-US" sz="2550" b="1">
                <a:solidFill>
                  <a:srgbClr val="202B33"/>
                </a:solidFill>
                <a:latin typeface="Arial"/>
                <a:ea typeface="Arial"/>
                <a:cs typeface="Arial"/>
              </a:rPr>
              <a:t xml:space="preserve">Fool's Golden Dataset</a:t>
            </a:r>
            <a:endParaRPr lang="en-US" sz="2550"/>
          </a:p>
        </p:txBody>
      </p:sp>
      <p:sp>
        <p:nvSpPr>
          <p:cNvPr id="4" name="Text 4"/>
          <p:cNvSpPr txBox="1"/>
          <p:nvPr/>
        </p:nvSpPr>
        <p:spPr>
          <a:xfrm>
            <a:off x="457200" y="1971675"/>
            <a:ext cx="4352925" cy="5314950"/>
          </a:xfrm>
          <a:prstGeom prst="rect">
            <a:avLst/>
          </a:prstGeom>
          <a:noFill/>
          <a:ln>
            <a:noFill/>
          </a:ln>
        </p:spPr>
        <p:txBody>
          <a:bodyPr wrap="none" lIns="0" tIns="0" rIns="0" bIns="0" anchor="t">
            <a:noAutofit/>
          </a:bodyPr>
          <a:lstStyle/>
          <a:p>
            <a:pPr marL="0" indent="0">
              <a:lnSpc>
                <a:spcPts val="1950"/>
              </a:lnSpc>
              <a:spcAft>
                <a:spcPts val="0"/>
              </a:spcAft>
              <a:buNone/>
            </a:pPr>
            <a:r>
              <a:rPr lang="en-US" sz="1500" b="0">
                <a:solidFill>
                  <a:srgbClr val="202B33"/>
                </a:solidFill>
                <a:latin typeface="Arial"/>
                <a:ea typeface="Arial"/>
                <a:cs typeface="Arial"/>
              </a:rPr>
              <a:t xml:space="preserve">Old pool: A, B, C, D, E</a:t>
            </a:r>
            <a:endParaRPr lang="en-US" sz="1500"/>
          </a:p>
          <a:p>
            <a:pPr marL="0" indent="0">
              <a:lnSpc>
                <a:spcPts val="1950"/>
              </a:lnSpc>
              <a:spcAft>
                <a:spcPts val="0"/>
              </a:spcAft>
              <a:buNone/>
            </a:pPr>
            <a:r>
              <a:rPr lang="en-US" sz="1500" b="0">
                <a:solidFill>
                  <a:srgbClr val="202B33"/>
                </a:solidFill>
                <a:latin typeface="Arial"/>
                <a:ea typeface="Arial"/>
                <a:cs typeface="Arial"/>
              </a:rPr>
              <a:t xml:space="preserve"/>
            </a:r>
            <a:endParaRPr lang="en-US" sz="1500"/>
          </a:p>
          <a:p>
            <a:pPr marL="0" indent="0">
              <a:lnSpc>
                <a:spcPts val="1950"/>
              </a:lnSpc>
              <a:spcAft>
                <a:spcPts val="0"/>
              </a:spcAft>
              <a:buNone/>
            </a:pPr>
            <a:r>
              <a:rPr lang="en-US" sz="1500" b="0">
                <a:solidFill>
                  <a:srgbClr val="202B33"/>
                </a:solidFill>
                <a:latin typeface="Arial"/>
                <a:ea typeface="Arial"/>
                <a:cs typeface="Arial"/>
              </a:rPr>
              <a:t xml:space="preserve">New result: F · signed Schedule R</a:t>
            </a:r>
            <a:endParaRPr lang="en-US" sz="1500"/>
          </a:p>
          <a:p>
            <a:pPr marL="0" indent="0">
              <a:lnSpc>
                <a:spcPts val="1950"/>
              </a:lnSpc>
              <a:spcAft>
                <a:spcPts val="0"/>
              </a:spcAft>
              <a:buNone/>
            </a:pPr>
            <a:r>
              <a:rPr lang="en-US" sz="1500" b="0">
                <a:solidFill>
                  <a:srgbClr val="202B33"/>
                </a:solidFill>
                <a:latin typeface="Arial"/>
                <a:ea typeface="Arial"/>
                <a:cs typeface="Arial"/>
              </a:rPr>
              <a:t xml:space="preserve"/>
            </a:r>
            <a:endParaRPr lang="en-US" sz="1500"/>
          </a:p>
          <a:p>
            <a:pPr marL="0" indent="0">
              <a:lnSpc>
                <a:spcPts val="1950"/>
              </a:lnSpc>
              <a:spcAft>
                <a:spcPts val="0"/>
              </a:spcAft>
              <a:buNone/>
            </a:pPr>
            <a:r>
              <a:rPr lang="en-US" sz="1500" b="0">
                <a:solidFill>
                  <a:srgbClr val="202B33"/>
                </a:solidFill>
                <a:latin typeface="Arial"/>
                <a:ea typeface="Arial"/>
                <a:cs typeface="Arial"/>
              </a:rPr>
              <a:t xml:space="preserve">Unjudged is not a relevance judgment</a:t>
            </a:r>
            <a:endParaRPr lang="en-US" sz="1500"/>
          </a:p>
          <a:p>
            <a:pPr marL="0" indent="0">
              <a:lnSpc>
                <a:spcPts val="1950"/>
              </a:lnSpc>
              <a:spcAft>
                <a:spcPts val="0"/>
              </a:spcAft>
              <a:buNone/>
            </a:pPr>
            <a:r>
              <a:rPr lang="en-US" sz="1500" b="0">
                <a:solidFill>
                  <a:srgbClr val="202B33"/>
                </a:solidFill>
                <a:latin typeface="Arial"/>
                <a:ea typeface="Arial"/>
                <a:cs typeface="Arial"/>
              </a:rPr>
              <a:t xml:space="preserve"/>
            </a:r>
            <a:endParaRPr lang="en-US" sz="1500"/>
          </a:p>
          <a:p>
            <a:pPr marL="0" indent="0">
              <a:lnSpc>
                <a:spcPts val="1950"/>
              </a:lnSpc>
              <a:spcAft>
                <a:spcPts val="0"/>
              </a:spcAft>
              <a:buNone/>
            </a:pPr>
            <a:r>
              <a:rPr lang="en-US" sz="1500" b="0">
                <a:solidFill>
                  <a:srgbClr val="202B33"/>
                </a:solidFill>
                <a:latin typeface="Arial"/>
                <a:ea typeface="Arial"/>
                <a:cs typeface="Arial"/>
              </a:rPr>
              <a:t xml:space="preserve">The old retrievers contributed A through E</a:t>
            </a:r>
            <a:endParaRPr lang="en-US" sz="1500"/>
          </a:p>
          <a:p>
            <a:pPr marL="0" indent="0">
              <a:lnSpc>
                <a:spcPts val="1950"/>
              </a:lnSpc>
              <a:spcAft>
                <a:spcPts val="0"/>
              </a:spcAft>
              <a:buNone/>
            </a:pPr>
            <a:r>
              <a:rPr lang="en-US" sz="1500" b="0">
                <a:solidFill>
                  <a:srgbClr val="202B33"/>
                </a:solidFill>
                <a:latin typeface="Arial"/>
                <a:ea typeface="Arial"/>
                <a:cs typeface="Arial"/>
              </a:rPr>
              <a:t xml:space="preserve">to the judgment pool. Our new retriever</a:t>
            </a:r>
            <a:endParaRPr lang="en-US" sz="1500"/>
          </a:p>
          <a:p>
            <a:pPr marL="0" indent="0">
              <a:lnSpc>
                <a:spcPts val="1950"/>
              </a:lnSpc>
              <a:spcAft>
                <a:spcPts val="0"/>
              </a:spcAft>
              <a:buNone/>
            </a:pPr>
            <a:r>
              <a:rPr lang="en-US" sz="1500" b="0">
                <a:solidFill>
                  <a:srgbClr val="202B33"/>
                </a:solidFill>
                <a:latin typeface="Arial"/>
                <a:ea typeface="Arial"/>
                <a:cs typeface="Arial"/>
              </a:rPr>
              <a:t xml:space="preserve">finds F: the signed Schedule R referenced</a:t>
            </a:r>
            <a:endParaRPr lang="en-US" sz="1500"/>
          </a:p>
          <a:p>
            <a:pPr marL="0" indent="0">
              <a:lnSpc>
                <a:spcPts val="1950"/>
              </a:lnSpc>
              <a:spcAft>
                <a:spcPts val="0"/>
              </a:spcAft>
              <a:buNone/>
            </a:pPr>
            <a:r>
              <a:rPr lang="en-US" sz="1500" b="0">
                <a:solidFill>
                  <a:srgbClr val="202B33"/>
                </a:solidFill>
                <a:latin typeface="Arial"/>
                <a:ea typeface="Arial"/>
                <a:cs typeface="Arial"/>
              </a:rPr>
              <a:t xml:space="preserve">by B. It waives Acme's cancellation fee.</a:t>
            </a:r>
            <a:endParaRPr lang="en-US" sz="1500"/>
          </a:p>
          <a:p>
            <a:pPr marL="0" indent="0">
              <a:lnSpc>
                <a:spcPts val="1950"/>
              </a:lnSpc>
              <a:spcAft>
                <a:spcPts val="0"/>
              </a:spcAft>
              <a:buNone/>
            </a:pPr>
            <a:r>
              <a:rPr lang="en-US" sz="1500" b="0">
                <a:solidFill>
                  <a:srgbClr val="202B33"/>
                </a:solidFill>
                <a:latin typeface="Arial"/>
                <a:ea typeface="Arial"/>
                <a:cs typeface="Arial"/>
              </a:rPr>
              <a:t xml:space="preserve">Nobody judged it because nobody retrieved</a:t>
            </a:r>
            <a:endParaRPr lang="en-US" sz="1500"/>
          </a:p>
          <a:p>
            <a:pPr marL="0" indent="0">
              <a:lnSpc>
                <a:spcPts val="1950"/>
              </a:lnSpc>
              <a:spcAft>
                <a:spcPts val="0"/>
              </a:spcAft>
              <a:buNone/>
            </a:pPr>
            <a:r>
              <a:rPr lang="en-US" sz="1500" b="0">
                <a:solidFill>
                  <a:srgbClr val="202B33"/>
                </a:solidFill>
                <a:latin typeface="Arial"/>
                <a:ea typeface="Arial"/>
                <a:cs typeface="Arial"/>
              </a:rPr>
              <a:t xml:space="preserve">it.</a:t>
            </a:r>
            <a:endParaRPr lang="en-US" sz="1500"/>
          </a:p>
          <a:p>
            <a:pPr marL="0" indent="0">
              <a:lnSpc>
                <a:spcPts val="1950"/>
              </a:lnSpc>
              <a:spcAft>
                <a:spcPts val="0"/>
              </a:spcAft>
              <a:buNone/>
            </a:pPr>
            <a:r>
              <a:rPr lang="en-US" sz="1500" b="0">
                <a:solidFill>
                  <a:srgbClr val="202B33"/>
                </a:solidFill>
                <a:latin typeface="Arial"/>
                <a:ea typeface="Arial"/>
                <a:cs typeface="Arial"/>
              </a:rPr>
              <a:t xml:space="preserve"/>
            </a:r>
            <a:endParaRPr lang="en-US" sz="1500"/>
          </a:p>
          <a:p>
            <a:pPr marL="0" indent="0">
              <a:lnSpc>
                <a:spcPts val="1950"/>
              </a:lnSpc>
              <a:spcAft>
                <a:spcPts val="0"/>
              </a:spcAft>
              <a:buNone/>
            </a:pPr>
            <a:r>
              <a:rPr lang="en-US" sz="1500" b="0">
                <a:solidFill>
                  <a:srgbClr val="202B33"/>
                </a:solidFill>
                <a:latin typeface="Arial"/>
                <a:ea typeface="Arial"/>
                <a:cs typeface="Arial"/>
              </a:rPr>
              <a:t xml:space="preserve">Our naive scorer treats unjudged as</a:t>
            </a:r>
            <a:endParaRPr lang="en-US" sz="1500"/>
          </a:p>
          <a:p>
            <a:pPr marL="0" indent="0">
              <a:lnSpc>
                <a:spcPts val="1950"/>
              </a:lnSpc>
              <a:spcAft>
                <a:spcPts val="0"/>
              </a:spcAft>
              <a:buNone/>
            </a:pPr>
            <a:r>
              <a:rPr lang="en-US" sz="1500" b="0">
                <a:solidFill>
                  <a:srgbClr val="202B33"/>
                </a:solidFill>
                <a:latin typeface="Arial"/>
                <a:ea typeface="Arial"/>
                <a:cs typeface="Arial"/>
              </a:rPr>
              <a:t xml:space="preserve">nonrelevant. Old top two, B and A: two</a:t>
            </a:r>
            <a:endParaRPr lang="en-US" sz="1500"/>
          </a:p>
          <a:p>
            <a:pPr marL="0" indent="0">
              <a:lnSpc>
                <a:spcPts val="1950"/>
              </a:lnSpc>
              <a:spcAft>
                <a:spcPts val="0"/>
              </a:spcAft>
              <a:buNone/>
            </a:pPr>
            <a:r>
              <a:rPr lang="en-US" sz="1500" b="0">
                <a:solidFill>
                  <a:srgbClr val="202B33"/>
                </a:solidFill>
                <a:latin typeface="Arial"/>
                <a:ea typeface="Arial"/>
                <a:cs typeface="Arial"/>
              </a:rPr>
              <a:t xml:space="preserve">judged relevant, precision at two equals</a:t>
            </a:r>
            <a:endParaRPr lang="en-US" sz="1500"/>
          </a:p>
          <a:p>
            <a:pPr marL="0" indent="0">
              <a:lnSpc>
                <a:spcPts val="1950"/>
              </a:lnSpc>
              <a:spcAft>
                <a:spcPts val="0"/>
              </a:spcAft>
              <a:buNone/>
            </a:pPr>
            <a:r>
              <a:rPr lang="en-US" sz="1500" b="0">
                <a:solidFill>
                  <a:srgbClr val="202B33"/>
                </a:solidFill>
                <a:latin typeface="Arial"/>
                <a:ea typeface="Arial"/>
                <a:cs typeface="Arial"/>
              </a:rPr>
              <a:t xml:space="preserve">one. New top two, B and F: only B gets</a:t>
            </a:r>
            <a:endParaRPr lang="en-US" sz="1500"/>
          </a:p>
          <a:p>
            <a:pPr marL="0" indent="0">
              <a:lnSpc>
                <a:spcPts val="1950"/>
              </a:lnSpc>
              <a:spcAft>
                <a:spcPts val="0"/>
              </a:spcAft>
              <a:buNone/>
            </a:pPr>
            <a:r>
              <a:rPr lang="en-US" sz="1500" b="0">
                <a:solidFill>
                  <a:srgbClr val="202B33"/>
                </a:solidFill>
                <a:latin typeface="Arial"/>
                <a:ea typeface="Arial"/>
                <a:cs typeface="Arial"/>
              </a:rPr>
              <a:t xml:space="preserve">credit, precision at two equals point five.</a:t>
            </a:r>
            <a:endParaRPr lang="en-US" sz="1500"/>
          </a:p>
          <a:p>
            <a:pPr marL="0" indent="0">
              <a:lnSpc>
                <a:spcPts val="1950"/>
              </a:lnSpc>
              <a:spcAft>
                <a:spcPts val="0"/>
              </a:spcAft>
              <a:buNone/>
            </a:pPr>
            <a:r>
              <a:rPr lang="en-US" sz="1500" b="0">
                <a:solidFill>
                  <a:srgbClr val="202B33"/>
                </a:solidFill>
                <a:latin typeface="Arial"/>
                <a:ea typeface="Arial"/>
                <a:cs typeface="Arial"/>
              </a:rPr>
              <a:t xml:space="preserve">Judge F under the same rubric and the new</a:t>
            </a:r>
            <a:endParaRPr lang="en-US" sz="1500"/>
          </a:p>
        </p:txBody>
      </p:sp>
      <p:sp>
        <p:nvSpPr>
          <p:cNvPr id="5" name="Text 5"/>
          <p:cNvSpPr txBox="1"/>
          <p:nvPr/>
        </p:nvSpPr>
        <p:spPr>
          <a:xfrm>
            <a:off x="5238750" y="1971675"/>
            <a:ext cx="4362450" cy="5314950"/>
          </a:xfrm>
          <a:prstGeom prst="rect">
            <a:avLst/>
          </a:prstGeom>
          <a:noFill/>
          <a:ln>
            <a:noFill/>
          </a:ln>
        </p:spPr>
        <p:txBody>
          <a:bodyPr wrap="none" lIns="0" tIns="0" rIns="0" bIns="0" anchor="t">
            <a:noAutofit/>
          </a:bodyPr>
          <a:lstStyle/>
          <a:p>
            <a:pPr marL="0" indent="0">
              <a:lnSpc>
                <a:spcPts val="1950"/>
              </a:lnSpc>
              <a:spcAft>
                <a:spcPts val="0"/>
              </a:spcAft>
              <a:buNone/>
            </a:pPr>
            <a:r>
              <a:rPr lang="en-US" sz="1500" b="0">
                <a:solidFill>
                  <a:srgbClr val="202B33"/>
                </a:solidFill>
                <a:latin typeface="Arial"/>
                <a:ea typeface="Arial"/>
                <a:cs typeface="Arial"/>
              </a:rPr>
              <a:t xml:space="preserve">run returns to one. We changed no retrieval</a:t>
            </a:r>
            <a:endParaRPr lang="en-US" sz="1500"/>
          </a:p>
          <a:p>
            <a:pPr marL="0" indent="0">
              <a:lnSpc>
                <a:spcPts val="1950"/>
              </a:lnSpc>
              <a:spcAft>
                <a:spcPts val="0"/>
              </a:spcAft>
              <a:buNone/>
            </a:pPr>
            <a:r>
              <a:rPr lang="en-US" sz="1500" b="0">
                <a:solidFill>
                  <a:srgbClr val="202B33"/>
                </a:solidFill>
                <a:latin typeface="Arial"/>
                <a:ea typeface="Arial"/>
                <a:cs typeface="Arial"/>
              </a:rPr>
              <a:t xml:space="preserve">output. We fixed the instrument.</a:t>
            </a:r>
            <a:endParaRPr lang="en-US" sz="1500"/>
          </a:p>
          <a:p>
            <a:pPr marL="0" indent="0">
              <a:lnSpc>
                <a:spcPts val="1950"/>
              </a:lnSpc>
              <a:spcAft>
                <a:spcPts val="0"/>
              </a:spcAft>
              <a:buNone/>
            </a:pPr>
            <a:r>
              <a:rPr lang="en-US" sz="1500" b="0">
                <a:solidFill>
                  <a:srgbClr val="202B33"/>
                </a:solidFill>
                <a:latin typeface="Arial"/>
                <a:ea typeface="Arial"/>
                <a:cs typeface="Arial"/>
              </a:rPr>
              <a:t xml:space="preserve"/>
            </a:r>
            <a:endParaRPr lang="en-US" sz="1500"/>
          </a:p>
          <a:p>
            <a:pPr marL="0" indent="0">
              <a:lnSpc>
                <a:spcPts val="1950"/>
              </a:lnSpc>
              <a:spcAft>
                <a:spcPts val="0"/>
              </a:spcAft>
              <a:buNone/>
            </a:pPr>
            <a:r>
              <a:rPr lang="en-US" sz="1500" b="0">
                <a:solidFill>
                  <a:srgbClr val="202B33"/>
                </a:solidFill>
                <a:latin typeface="Arial"/>
                <a:ea typeface="Arial"/>
                <a:cs typeface="Arial"/>
              </a:rPr>
              <a:t xml:space="preserve">TREC used pooling because judging every</a:t>
            </a:r>
            <a:endParaRPr lang="en-US" sz="1500"/>
          </a:p>
          <a:p>
            <a:pPr marL="0" indent="0">
              <a:lnSpc>
                <a:spcPts val="1950"/>
              </a:lnSpc>
              <a:spcAft>
                <a:spcPts val="0"/>
              </a:spcAft>
              <a:buNone/>
            </a:pPr>
            <a:r>
              <a:rPr lang="en-US" sz="1500" b="0">
                <a:solidFill>
                  <a:srgbClr val="202B33"/>
                </a:solidFill>
                <a:latin typeface="Arial"/>
                <a:ea typeface="Arial"/>
                <a:cs typeface="Arial"/>
              </a:rPr>
              <a:t xml:space="preserve">document for every query was impractical.</a:t>
            </a:r>
            <a:endParaRPr lang="en-US" sz="1500"/>
          </a:p>
          <a:p>
            <a:pPr marL="0" indent="0">
              <a:lnSpc>
                <a:spcPts val="1950"/>
              </a:lnSpc>
              <a:spcAft>
                <a:spcPts val="0"/>
              </a:spcAft>
              <a:buNone/>
            </a:pPr>
            <a:r>
              <a:rPr lang="en-US" sz="1500" b="0">
                <a:solidFill>
                  <a:srgbClr val="202B33"/>
                </a:solidFill>
                <a:latin typeface="Arial"/>
                <a:ea typeface="Arial"/>
                <a:cs typeface="Arial"/>
              </a:rPr>
              <a:t xml:space="preserve">Zobel investigated reliability with</a:t>
            </a:r>
            <a:endParaRPr lang="en-US" sz="1500"/>
          </a:p>
          <a:p>
            <a:pPr marL="0" indent="0">
              <a:lnSpc>
                <a:spcPts val="1950"/>
              </a:lnSpc>
              <a:spcAft>
                <a:spcPts val="0"/>
              </a:spcAft>
              <a:buNone/>
            </a:pPr>
            <a:r>
              <a:rPr lang="en-US" sz="1500" b="0">
                <a:solidFill>
                  <a:srgbClr val="202B33"/>
                </a:solidFill>
                <a:latin typeface="Arial"/>
                <a:ea typeface="Arial"/>
                <a:cs typeface="Arial"/>
              </a:rPr>
              <a:t xml:space="preserve">incomplete judgments. The risk is real;</a:t>
            </a:r>
            <a:endParaRPr lang="en-US" sz="1500"/>
          </a:p>
          <a:p>
            <a:pPr marL="0" indent="0">
              <a:lnSpc>
                <a:spcPts val="1950"/>
              </a:lnSpc>
              <a:spcAft>
                <a:spcPts val="0"/>
              </a:spcAft>
              <a:buNone/>
            </a:pPr>
            <a:r>
              <a:rPr lang="en-US" sz="1500" b="0">
                <a:solidFill>
                  <a:srgbClr val="202B33"/>
                </a:solidFill>
                <a:latin typeface="Arial"/>
                <a:ea typeface="Arial"/>
                <a:cs typeface="Arial"/>
              </a:rPr>
              <a:t xml:space="preserve">universal failure is not. In a 2022</a:t>
            </a:r>
            <a:endParaRPr lang="en-US" sz="1500"/>
          </a:p>
          <a:p>
            <a:pPr marL="0" indent="0">
              <a:lnSpc>
                <a:spcPts val="1950"/>
              </a:lnSpc>
              <a:spcAft>
                <a:spcPts val="0"/>
              </a:spcAft>
              <a:buNone/>
            </a:pPr>
            <a:r>
              <a:rPr lang="en-US" sz="1500" b="0">
                <a:solidFill>
                  <a:srgbClr val="202B33"/>
                </a:solidFill>
                <a:latin typeface="Arial"/>
                <a:ea typeface="Arial"/>
                <a:cs typeface="Arial"/>
              </a:rPr>
              <a:t xml:space="preserve">recheck, Voorhees, Soboroff, and Lin added</a:t>
            </a:r>
            <a:endParaRPr lang="en-US" sz="1500"/>
          </a:p>
          <a:p>
            <a:pPr marL="0" indent="0">
              <a:lnSpc>
                <a:spcPts val="1950"/>
              </a:lnSpc>
              <a:spcAft>
                <a:spcPts val="0"/>
              </a:spcAft>
              <a:buNone/>
            </a:pPr>
            <a:r>
              <a:rPr lang="en-US" sz="1500" b="0">
                <a:solidFill>
                  <a:srgbClr val="202B33"/>
                </a:solidFill>
                <a:latin typeface="Arial"/>
                <a:ea typeface="Arial"/>
                <a:cs typeface="Arial"/>
              </a:rPr>
              <a:t xml:space="preserve">judgments to TREC-8 and compared how the</a:t>
            </a:r>
            <a:endParaRPr lang="en-US" sz="1500"/>
          </a:p>
          <a:p>
            <a:pPr marL="0" indent="0">
              <a:lnSpc>
                <a:spcPts val="1950"/>
              </a:lnSpc>
              <a:spcAft>
                <a:spcPts val="0"/>
              </a:spcAft>
              <a:buNone/>
            </a:pPr>
            <a:r>
              <a:rPr lang="en-US" sz="1500" b="0">
                <a:solidFill>
                  <a:srgbClr val="202B33"/>
                </a:solidFill>
                <a:latin typeface="Arial"/>
                <a:ea typeface="Arial"/>
                <a:cs typeface="Arial"/>
              </a:rPr>
              <a:t xml:space="preserve">systems ranked before and after. The</a:t>
            </a:r>
            <a:endParaRPr lang="en-US" sz="1500"/>
          </a:p>
          <a:p>
            <a:pPr marL="0" indent="0">
              <a:lnSpc>
                <a:spcPts val="1950"/>
              </a:lnSpc>
              <a:spcAft>
                <a:spcPts val="0"/>
              </a:spcAft>
              <a:buNone/>
            </a:pPr>
            <a:r>
              <a:rPr lang="en-US" sz="1500" b="0">
                <a:solidFill>
                  <a:srgbClr val="202B33"/>
                </a:solidFill>
                <a:latin typeface="Arial"/>
                <a:ea typeface="Arial"/>
                <a:cs typeface="Arial"/>
              </a:rPr>
              <a:t xml:space="preserve">ordering barely moved. Deep, diverse pools</a:t>
            </a:r>
            <a:endParaRPr lang="en-US" sz="1500"/>
          </a:p>
          <a:p>
            <a:pPr marL="0" indent="0">
              <a:lnSpc>
                <a:spcPts val="1950"/>
              </a:lnSpc>
              <a:spcAft>
                <a:spcPts val="0"/>
              </a:spcAft>
              <a:buNone/>
            </a:pPr>
            <a:r>
              <a:rPr lang="en-US" sz="1500" b="0">
                <a:solidFill>
                  <a:srgbClr val="202B33"/>
                </a:solidFill>
                <a:latin typeface="Arial"/>
                <a:ea typeface="Arial"/>
                <a:cs typeface="Arial"/>
              </a:rPr>
              <a:t xml:space="preserve">had held up.</a:t>
            </a:r>
            <a:endParaRPr lang="en-US" sz="1500"/>
          </a:p>
          <a:p>
            <a:pPr marL="0" indent="0">
              <a:lnSpc>
                <a:spcPts val="1950"/>
              </a:lnSpc>
              <a:spcAft>
                <a:spcPts val="0"/>
              </a:spcAft>
              <a:buNone/>
            </a:pPr>
            <a:r>
              <a:rPr lang="en-US" sz="1500" b="0">
                <a:solidFill>
                  <a:srgbClr val="202B33"/>
                </a:solidFill>
                <a:latin typeface="Arial"/>
                <a:ea typeface="Arial"/>
                <a:cs typeface="Arial"/>
              </a:rPr>
              <a:t xml:space="preserve"/>
            </a:r>
            <a:endParaRPr lang="en-US" sz="1500"/>
          </a:p>
          <a:p>
            <a:pPr marL="0" indent="0">
              <a:lnSpc>
                <a:spcPts val="1950"/>
              </a:lnSpc>
              <a:spcAft>
                <a:spcPts val="0"/>
              </a:spcAft>
              <a:buNone/>
            </a:pPr>
            <a:r>
              <a:rPr lang="en-US" sz="1500" b="0">
                <a:solidFill>
                  <a:srgbClr val="202B33"/>
                </a:solidFill>
                <a:latin typeface="Arial"/>
                <a:ea typeface="Arial"/>
                <a:cs typeface="Arial"/>
              </a:rPr>
              <a:t xml:space="preserve">That is the lesson we missed. They tested</a:t>
            </a:r>
            <a:endParaRPr lang="en-US" sz="1500"/>
          </a:p>
          <a:p>
            <a:pPr marL="0" indent="0">
              <a:lnSpc>
                <a:spcPts val="1950"/>
              </a:lnSpc>
              <a:spcAft>
                <a:spcPts val="0"/>
              </a:spcAft>
              <a:buNone/>
            </a:pPr>
            <a:r>
              <a:rPr lang="en-US" sz="1500" b="0">
                <a:solidFill>
                  <a:srgbClr val="202B33"/>
                </a:solidFill>
                <a:latin typeface="Arial"/>
                <a:ea typeface="Arial"/>
                <a:cs typeface="Arial"/>
              </a:rPr>
              <a:t xml:space="preserve">whether the shortcut damaged the</a:t>
            </a:r>
            <a:endParaRPr lang="en-US" sz="1500"/>
          </a:p>
          <a:p>
            <a:pPr marL="0" indent="0">
              <a:lnSpc>
                <a:spcPts val="1950"/>
              </a:lnSpc>
              <a:spcAft>
                <a:spcPts val="0"/>
              </a:spcAft>
              <a:buNone/>
            </a:pPr>
            <a:r>
              <a:rPr lang="en-US" sz="1500" b="0">
                <a:solidFill>
                  <a:srgbClr val="202B33"/>
                </a:solidFill>
                <a:latin typeface="Arial"/>
                <a:ea typeface="Arial"/>
                <a:cs typeface="Arial"/>
              </a:rPr>
              <a:t xml:space="preserve">comparison. We called our first results</a:t>
            </a:r>
            <a:endParaRPr lang="en-US" sz="1500"/>
          </a:p>
          <a:p>
            <a:pPr marL="0" indent="0">
              <a:lnSpc>
                <a:spcPts val="1950"/>
              </a:lnSpc>
              <a:spcAft>
                <a:spcPts val="0"/>
              </a:spcAft>
              <a:buNone/>
            </a:pPr>
            <a:r>
              <a:rPr lang="en-US" sz="1500" b="0">
                <a:solidFill>
                  <a:srgbClr val="202B33"/>
                </a:solidFill>
                <a:latin typeface="Arial"/>
                <a:ea typeface="Arial"/>
                <a:cs typeface="Arial"/>
              </a:rPr>
              <a:t xml:space="preserve">golden.</a:t>
            </a:r>
            <a:endParaRPr lang="en-US" sz="1500"/>
          </a:p>
        </p:txBody>
      </p:sp>
      <p:sp>
        <p:nvSpPr>
          <p:cNvPr id="6" name="Text 6"/>
          <p:cNvSpPr txBox="1"/>
          <p:nvPr/>
        </p:nvSpPr>
        <p:spPr>
          <a:xfrm>
            <a:off x="457200" y="7486650"/>
            <a:ext cx="8820150" cy="190500"/>
          </a:xfrm>
          <a:prstGeom prst="rect">
            <a:avLst/>
          </a:prstGeom>
          <a:noFill/>
          <a:ln>
            <a:noFill/>
          </a:ln>
        </p:spPr>
        <p:txBody>
          <a:bodyPr wrap="none" lIns="0" tIns="0" rIns="0" bIns="0" anchor="t">
            <a:noAutofit/>
          </a:bodyPr>
          <a:lstStyle/>
          <a:p>
            <a:pPr marL="0" indent="0">
              <a:lnSpc>
                <a:spcPts val="1268"/>
              </a:lnSpc>
              <a:spcAft>
                <a:spcPts val="0"/>
              </a:spcAft>
              <a:buNone/>
            </a:pPr>
            <a:r>
              <a:rPr lang="en-US" sz="975" b="0">
                <a:solidFill>
                  <a:srgbClr val="48555B"/>
                </a:solidFill>
                <a:latin typeface="Arial"/>
                <a:ea typeface="Arial"/>
                <a:cs typeface="Arial"/>
              </a:rPr>
              <a:t xml:space="preserve">Three Search Methods in a Fundable Trenchcoat</a:t>
            </a:r>
            <a:endParaRPr lang="en-US" sz="975"/>
          </a:p>
        </p:txBody>
      </p:sp>
      <p:sp>
        <p:nvSpPr>
          <p:cNvPr id="7" name="Text 7"/>
          <p:cNvSpPr txBox="1"/>
          <p:nvPr/>
        </p:nvSpPr>
        <p:spPr>
          <a:xfrm>
            <a:off x="9391650" y="7486650"/>
            <a:ext cx="238125" cy="190500"/>
          </a:xfrm>
          <a:prstGeom prst="rect">
            <a:avLst/>
          </a:prstGeom>
          <a:noFill/>
          <a:ln>
            <a:noFill/>
          </a:ln>
        </p:spPr>
        <p:txBody>
          <a:bodyPr wrap="none" lIns="0" tIns="0" rIns="0" bIns="0" anchor="t">
            <a:noAutofit/>
          </a:bodyPr>
          <a:lstStyle/>
          <a:p>
            <a:pPr marL="0" indent="0">
              <a:lnSpc>
                <a:spcPts val="1268"/>
              </a:lnSpc>
              <a:spcAft>
                <a:spcPts val="0"/>
              </a:spcAft>
              <a:buNone/>
            </a:pPr>
            <a:r>
              <a:rPr lang="en-US" sz="975" b="0">
                <a:solidFill>
                  <a:srgbClr val="48555B"/>
                </a:solidFill>
                <a:latin typeface="Arial"/>
                <a:ea typeface="Arial"/>
                <a:cs typeface="Arial"/>
              </a:rPr>
              <a:t xml:space="preserve">11</a:t>
            </a:r>
            <a:endParaRPr lang="en-US" sz="975"/>
          </a:p>
        </p:txBody>
      </p:sp>
    </p:spTree>
  </p:cSld>
  <p:clrMapOvr>
    <a:masterClrMapping/>
  </p:clrMapOvr>
</p:sld>
</file>

<file path=ppt/slides/slide12.xml><?xml version="1.0" encoding="utf-8"?>
<p:sld xmlns:a="http://schemas.openxmlformats.org/drawingml/2006/main" xmlns:r="http://schemas.openxmlformats.org/officeDocument/2006/relationships" xmlns:p="http://schemas.openxmlformats.org/presentationml/2006/main">
  <p:cSld name="Slide 12">
    <p:bg>
      <p:bgPr>
        <a:solidFill>
          <a:srgbClr val="FAFAF7"/>
        </a:solidFill>
        <a:effectLst/>
      </p:bgPr>
    </p:bg>
    <p:spTree>
      <p:nvGrpSpPr>
        <p:cNvPr id="1" name=""/>
        <p:cNvGrpSpPr/>
        <p:nvPr/>
      </p:nvGrpSpPr>
      <p:grpSpPr>
        <a:xfrm>
          <a:off x="0" y="0"/>
          <a:ext cx="0" cy="0"/>
          <a:chOff x="0" y="0"/>
          <a:chExt cx="0" cy="0"/>
        </a:xfrm>
      </p:grpSpPr>
      <p:sp>
        <p:nvSpPr>
          <p:cNvPr id="2" name="Text 2"/>
          <p:cNvSpPr txBox="1"/>
          <p:nvPr/>
        </p:nvSpPr>
        <p:spPr>
          <a:xfrm>
            <a:off x="457200" y="266700"/>
            <a:ext cx="9144000" cy="228600"/>
          </a:xfrm>
          <a:prstGeom prst="rect">
            <a:avLst/>
          </a:prstGeom>
          <a:noFill/>
          <a:ln>
            <a:noFill/>
          </a:ln>
        </p:spPr>
        <p:txBody>
          <a:bodyPr wrap="none" lIns="0" tIns="0" rIns="0" bIns="0" anchor="t">
            <a:noAutofit/>
          </a:bodyPr>
          <a:lstStyle/>
          <a:p>
            <a:pPr marL="0" indent="0">
              <a:lnSpc>
                <a:spcPts val="1365"/>
              </a:lnSpc>
              <a:spcAft>
                <a:spcPts val="0"/>
              </a:spcAft>
              <a:buNone/>
            </a:pPr>
            <a:r>
              <a:rPr lang="en-US" sz="1050" b="1">
                <a:solidFill>
                  <a:srgbClr val="246957"/>
                </a:solidFill>
                <a:latin typeface="Arial"/>
                <a:ea typeface="Arial"/>
                <a:cs typeface="Arial"/>
              </a:rPr>
              <a:t xml:space="preserve">11 / 15    SOURCE SLIDE 11</a:t>
            </a:r>
            <a:endParaRPr lang="en-US" sz="1050"/>
          </a:p>
        </p:txBody>
      </p:sp>
      <p:sp>
        <p:nvSpPr>
          <p:cNvPr id="3" name="Text 3"/>
          <p:cNvSpPr txBox="1"/>
          <p:nvPr/>
        </p:nvSpPr>
        <p:spPr>
          <a:xfrm>
            <a:off x="457200" y="657225"/>
            <a:ext cx="9144000" cy="1104900"/>
          </a:xfrm>
          <a:prstGeom prst="rect">
            <a:avLst/>
          </a:prstGeom>
          <a:noFill/>
          <a:ln>
            <a:noFill/>
          </a:ln>
        </p:spPr>
        <p:txBody>
          <a:bodyPr wrap="none" lIns="0" tIns="0" rIns="0" bIns="0" anchor="t">
            <a:noAutofit/>
          </a:bodyPr>
          <a:lstStyle/>
          <a:p>
            <a:pPr marL="0" indent="0">
              <a:lnSpc>
                <a:spcPts val="3060"/>
              </a:lnSpc>
              <a:spcAft>
                <a:spcPts val="0"/>
              </a:spcAft>
              <a:buNone/>
            </a:pPr>
            <a:r>
              <a:rPr lang="en-US" sz="2550" b="1">
                <a:solidFill>
                  <a:srgbClr val="202B33"/>
                </a:solidFill>
                <a:latin typeface="Arial"/>
                <a:ea typeface="Arial"/>
                <a:cs typeface="Arial"/>
              </a:rPr>
              <a:t xml:space="preserve">Assessors disagree. Rankings can survive.</a:t>
            </a:r>
            <a:endParaRPr lang="en-US" sz="2550"/>
          </a:p>
        </p:txBody>
      </p:sp>
      <p:sp>
        <p:nvSpPr>
          <p:cNvPr id="4" name="Text 4"/>
          <p:cNvSpPr txBox="1"/>
          <p:nvPr/>
        </p:nvSpPr>
        <p:spPr>
          <a:xfrm>
            <a:off x="457200" y="1971675"/>
            <a:ext cx="4352925" cy="5314950"/>
          </a:xfrm>
          <a:prstGeom prst="rect">
            <a:avLst/>
          </a:prstGeom>
          <a:noFill/>
          <a:ln>
            <a:noFill/>
          </a:ln>
        </p:spPr>
        <p:txBody>
          <a:bodyPr wrap="none" lIns="0" tIns="0" rIns="0" bIns="0" anchor="t">
            <a:noAutofit/>
          </a:bodyPr>
          <a:lstStyle/>
          <a:p>
            <a:pPr marL="0" indent="0">
              <a:lnSpc>
                <a:spcPts val="1950"/>
              </a:lnSpc>
              <a:spcAft>
                <a:spcPts val="0"/>
              </a:spcAft>
              <a:buNone/>
            </a:pPr>
            <a:r>
              <a:rPr lang="en-US" sz="1500" b="0">
                <a:solidFill>
                  <a:srgbClr val="202B33"/>
                </a:solidFill>
                <a:latin typeface="Arial"/>
                <a:ea typeface="Arial"/>
                <a:cs typeface="Arial"/>
              </a:rPr>
              <a:t xml:space="preserve">Voorhees, 2000: changed judgments, stable</a:t>
            </a:r>
            <a:endParaRPr lang="en-US" sz="1500"/>
          </a:p>
          <a:p>
            <a:pPr marL="0" indent="0">
              <a:lnSpc>
                <a:spcPts val="1950"/>
              </a:lnSpc>
              <a:spcAft>
                <a:spcPts val="0"/>
              </a:spcAft>
              <a:buNone/>
            </a:pPr>
            <a:r>
              <a:rPr lang="en-US" sz="1500" b="0">
                <a:solidFill>
                  <a:srgbClr val="202B33"/>
                </a:solidFill>
                <a:latin typeface="Arial"/>
                <a:ea typeface="Arial"/>
                <a:cs typeface="Arial"/>
              </a:rPr>
              <a:t xml:space="preserve">comparisons</a:t>
            </a:r>
            <a:endParaRPr lang="en-US" sz="1500"/>
          </a:p>
          <a:p>
            <a:pPr marL="0" indent="0">
              <a:lnSpc>
                <a:spcPts val="1950"/>
              </a:lnSpc>
              <a:spcAft>
                <a:spcPts val="0"/>
              </a:spcAft>
              <a:buNone/>
            </a:pPr>
            <a:r>
              <a:rPr lang="en-US" sz="1500" b="0">
                <a:solidFill>
                  <a:srgbClr val="202B33"/>
                </a:solidFill>
                <a:latin typeface="Arial"/>
                <a:ea typeface="Arial"/>
                <a:cs typeface="Arial"/>
              </a:rPr>
              <a:t xml:space="preserve"/>
            </a:r>
            <a:endParaRPr lang="en-US" sz="1500"/>
          </a:p>
          <a:p>
            <a:pPr marL="0" indent="0">
              <a:lnSpc>
                <a:spcPts val="1950"/>
              </a:lnSpc>
              <a:spcAft>
                <a:spcPts val="0"/>
              </a:spcAft>
              <a:buNone/>
            </a:pPr>
            <a:r>
              <a:rPr lang="en-US" sz="1500" b="0">
                <a:solidFill>
                  <a:srgbClr val="202B33"/>
                </a:solidFill>
                <a:latin typeface="Arial"/>
                <a:ea typeface="Arial"/>
                <a:cs typeface="Arial"/>
              </a:rPr>
              <a:t xml:space="preserve">Test your comparison under more than one</a:t>
            </a:r>
            <a:endParaRPr lang="en-US" sz="1500"/>
          </a:p>
          <a:p>
            <a:pPr marL="0" indent="0">
              <a:lnSpc>
                <a:spcPts val="1950"/>
              </a:lnSpc>
              <a:spcAft>
                <a:spcPts val="0"/>
              </a:spcAft>
              <a:buNone/>
            </a:pPr>
            <a:r>
              <a:rPr lang="en-US" sz="1500" b="0">
                <a:solidFill>
                  <a:srgbClr val="202B33"/>
                </a:solidFill>
                <a:latin typeface="Arial"/>
                <a:ea typeface="Arial"/>
                <a:cs typeface="Arial"/>
              </a:rPr>
              <a:t xml:space="preserve">assessor</a:t>
            </a:r>
            <a:endParaRPr lang="en-US" sz="1500"/>
          </a:p>
          <a:p>
            <a:pPr marL="0" indent="0">
              <a:lnSpc>
                <a:spcPts val="1950"/>
              </a:lnSpc>
              <a:spcAft>
                <a:spcPts val="0"/>
              </a:spcAft>
              <a:buNone/>
            </a:pPr>
            <a:r>
              <a:rPr lang="en-US" sz="1500" b="0">
                <a:solidFill>
                  <a:srgbClr val="202B33"/>
                </a:solidFill>
                <a:latin typeface="Arial"/>
                <a:ea typeface="Arial"/>
                <a:cs typeface="Arial"/>
              </a:rPr>
              <a:t xml:space="preserve"/>
            </a:r>
            <a:endParaRPr lang="en-US" sz="1500"/>
          </a:p>
          <a:p>
            <a:pPr marL="0" indent="0">
              <a:lnSpc>
                <a:spcPts val="1950"/>
              </a:lnSpc>
              <a:spcAft>
                <a:spcPts val="0"/>
              </a:spcAft>
              <a:buNone/>
            </a:pPr>
            <a:r>
              <a:rPr lang="en-US" sz="1500" b="0">
                <a:solidFill>
                  <a:srgbClr val="202B33"/>
                </a:solidFill>
                <a:latin typeface="Arial"/>
                <a:ea typeface="Arial"/>
                <a:cs typeface="Arial"/>
              </a:rPr>
              <a:t xml:space="preserve">Voorhees varied relevance judgments and</a:t>
            </a:r>
            <a:endParaRPr lang="en-US" sz="1500"/>
          </a:p>
          <a:p>
            <a:pPr marL="0" indent="0">
              <a:lnSpc>
                <a:spcPts val="1950"/>
              </a:lnSpc>
              <a:spcAft>
                <a:spcPts val="0"/>
              </a:spcAft>
              <a:buNone/>
            </a:pPr>
            <a:r>
              <a:rPr lang="en-US" sz="1500" b="0">
                <a:solidFill>
                  <a:srgbClr val="202B33"/>
                </a:solidFill>
                <a:latin typeface="Arial"/>
                <a:ea typeface="Arial"/>
                <a:cs typeface="Arial"/>
              </a:rPr>
              <a:t xml:space="preserve">examined the resulting system rankings. The</a:t>
            </a:r>
            <a:endParaRPr lang="en-US" sz="1500"/>
          </a:p>
          <a:p>
            <a:pPr marL="0" indent="0">
              <a:lnSpc>
                <a:spcPts val="1950"/>
              </a:lnSpc>
              <a:spcAft>
                <a:spcPts val="0"/>
              </a:spcAft>
              <a:buNone/>
            </a:pPr>
            <a:r>
              <a:rPr lang="en-US" sz="1500" b="0">
                <a:solidFill>
                  <a:srgbClr val="202B33"/>
                </a:solidFill>
                <a:latin typeface="Arial"/>
                <a:ea typeface="Arial"/>
                <a:cs typeface="Arial"/>
              </a:rPr>
              <a:t xml:space="preserve">comparative results stayed stable despite</a:t>
            </a:r>
            <a:endParaRPr lang="en-US" sz="1500"/>
          </a:p>
          <a:p>
            <a:pPr marL="0" indent="0">
              <a:lnSpc>
                <a:spcPts val="1950"/>
              </a:lnSpc>
              <a:spcAft>
                <a:spcPts val="0"/>
              </a:spcAft>
              <a:buNone/>
            </a:pPr>
            <a:r>
              <a:rPr lang="en-US" sz="1500" b="0">
                <a:solidFill>
                  <a:srgbClr val="202B33"/>
                </a:solidFill>
                <a:latin typeface="Arial"/>
                <a:ea typeface="Arial"/>
                <a:cs typeface="Arial"/>
              </a:rPr>
              <a:t xml:space="preserve">substantial judgment differences in those</a:t>
            </a:r>
            <a:endParaRPr lang="en-US" sz="1500"/>
          </a:p>
          <a:p>
            <a:pPr marL="0" indent="0">
              <a:lnSpc>
                <a:spcPts val="1950"/>
              </a:lnSpc>
              <a:spcAft>
                <a:spcPts val="0"/>
              </a:spcAft>
              <a:buNone/>
            </a:pPr>
            <a:r>
              <a:rPr lang="en-US" sz="1500" b="0">
                <a:solidFill>
                  <a:srgbClr val="202B33"/>
                </a:solidFill>
                <a:latin typeface="Arial"/>
                <a:ea typeface="Arial"/>
                <a:cs typeface="Arial"/>
              </a:rPr>
              <a:t xml:space="preserve">experiments.</a:t>
            </a:r>
            <a:endParaRPr lang="en-US" sz="1500"/>
          </a:p>
          <a:p>
            <a:pPr marL="0" indent="0">
              <a:lnSpc>
                <a:spcPts val="1950"/>
              </a:lnSpc>
              <a:spcAft>
                <a:spcPts val="0"/>
              </a:spcAft>
              <a:buNone/>
            </a:pPr>
            <a:r>
              <a:rPr lang="en-US" sz="1500" b="0">
                <a:solidFill>
                  <a:srgbClr val="202B33"/>
                </a:solidFill>
                <a:latin typeface="Arial"/>
                <a:ea typeface="Arial"/>
                <a:cs typeface="Arial"/>
              </a:rPr>
              <a:t xml:space="preserve"/>
            </a:r>
            <a:endParaRPr lang="en-US" sz="1500"/>
          </a:p>
          <a:p>
            <a:pPr marL="0" indent="0">
              <a:lnSpc>
                <a:spcPts val="1950"/>
              </a:lnSpc>
              <a:spcAft>
                <a:spcPts val="0"/>
              </a:spcAft>
              <a:buNone/>
            </a:pPr>
            <a:r>
              <a:rPr lang="en-US" sz="1500" b="0">
                <a:solidFill>
                  <a:srgbClr val="202B33"/>
                </a:solidFill>
                <a:latin typeface="Arial"/>
                <a:ea typeface="Arial"/>
                <a:cs typeface="Arial"/>
              </a:rPr>
              <a:t xml:space="preserve">An absolute score and an A-versus-B</a:t>
            </a:r>
            <a:endParaRPr lang="en-US" sz="1500"/>
          </a:p>
          <a:p>
            <a:pPr marL="0" indent="0">
              <a:lnSpc>
                <a:spcPts val="1950"/>
              </a:lnSpc>
              <a:spcAft>
                <a:spcPts val="0"/>
              </a:spcAft>
              <a:buNone/>
            </a:pPr>
            <a:r>
              <a:rPr lang="en-US" sz="1500" b="0">
                <a:solidFill>
                  <a:srgbClr val="202B33"/>
                </a:solidFill>
                <a:latin typeface="Arial"/>
                <a:ea typeface="Arial"/>
                <a:cs typeface="Arial"/>
              </a:rPr>
              <a:t xml:space="preserve">ordering make different demands on the</a:t>
            </a:r>
            <a:endParaRPr lang="en-US" sz="1500"/>
          </a:p>
        </p:txBody>
      </p:sp>
      <p:sp>
        <p:nvSpPr>
          <p:cNvPr id="5" name="Text 5"/>
          <p:cNvSpPr txBox="1"/>
          <p:nvPr/>
        </p:nvSpPr>
        <p:spPr>
          <a:xfrm>
            <a:off x="5238750" y="1971675"/>
            <a:ext cx="4362450" cy="5314950"/>
          </a:xfrm>
          <a:prstGeom prst="rect">
            <a:avLst/>
          </a:prstGeom>
          <a:noFill/>
          <a:ln>
            <a:noFill/>
          </a:ln>
        </p:spPr>
        <p:txBody>
          <a:bodyPr wrap="none" lIns="0" tIns="0" rIns="0" bIns="0" anchor="t">
            <a:noAutofit/>
          </a:bodyPr>
          <a:lstStyle/>
          <a:p>
            <a:pPr marL="0" indent="0">
              <a:lnSpc>
                <a:spcPts val="1950"/>
              </a:lnSpc>
              <a:spcAft>
                <a:spcPts val="0"/>
              </a:spcAft>
              <a:buNone/>
            </a:pPr>
            <a:r>
              <a:rPr lang="en-US" sz="1500" b="0">
                <a:solidFill>
                  <a:srgbClr val="202B33"/>
                </a:solidFill>
                <a:latin typeface="Arial"/>
                <a:ea typeface="Arial"/>
                <a:cs typeface="Arial"/>
              </a:rPr>
              <a:t xml:space="preserve">labels. That does not mean a model judge is</a:t>
            </a:r>
            <a:endParaRPr lang="en-US" sz="1500"/>
          </a:p>
          <a:p>
            <a:pPr marL="0" indent="0">
              <a:lnSpc>
                <a:spcPts val="1950"/>
              </a:lnSpc>
              <a:spcAft>
                <a:spcPts val="0"/>
              </a:spcAft>
              <a:buNone/>
            </a:pPr>
            <a:r>
              <a:rPr lang="en-US" sz="1500" b="0">
                <a:solidFill>
                  <a:srgbClr val="202B33"/>
                </a:solidFill>
                <a:latin typeface="Arial"/>
                <a:ea typeface="Arial"/>
                <a:cs typeface="Arial"/>
              </a:rPr>
              <a:t xml:space="preserve">trustworthy because it ranks two answers.</a:t>
            </a:r>
            <a:endParaRPr lang="en-US" sz="1500"/>
          </a:p>
          <a:p>
            <a:pPr marL="0" indent="0">
              <a:lnSpc>
                <a:spcPts val="1950"/>
              </a:lnSpc>
              <a:spcAft>
                <a:spcPts val="0"/>
              </a:spcAft>
              <a:buNone/>
            </a:pPr>
            <a:r>
              <a:rPr lang="en-US" sz="1500" b="0">
                <a:solidFill>
                  <a:srgbClr val="202B33"/>
                </a:solidFill>
                <a:latin typeface="Arial"/>
                <a:ea typeface="Arial"/>
                <a:cs typeface="Arial"/>
              </a:rPr>
              <a:t xml:space="preserve">It means we have a specific test to run:</a:t>
            </a:r>
            <a:endParaRPr lang="en-US" sz="1500"/>
          </a:p>
          <a:p>
            <a:pPr marL="0" indent="0">
              <a:lnSpc>
                <a:spcPts val="1950"/>
              </a:lnSpc>
              <a:spcAft>
                <a:spcPts val="0"/>
              </a:spcAft>
              <a:buNone/>
            </a:pPr>
            <a:r>
              <a:rPr lang="en-US" sz="1500" b="0">
                <a:solidFill>
                  <a:srgbClr val="202B33"/>
                </a:solidFill>
                <a:latin typeface="Arial"/>
                <a:ea typeface="Arial"/>
                <a:cs typeface="Arial"/>
              </a:rPr>
              <a:t xml:space="preserve">relabel a sample independently, then see</a:t>
            </a:r>
            <a:endParaRPr lang="en-US" sz="1500"/>
          </a:p>
          <a:p>
            <a:pPr marL="0" indent="0">
              <a:lnSpc>
                <a:spcPts val="1950"/>
              </a:lnSpc>
              <a:spcAft>
                <a:spcPts val="0"/>
              </a:spcAft>
              <a:buNone/>
            </a:pPr>
            <a:r>
              <a:rPr lang="en-US" sz="1500" b="0">
                <a:solidFill>
                  <a:srgbClr val="202B33"/>
                </a:solidFill>
                <a:latin typeface="Arial"/>
                <a:ea typeface="Arial"/>
                <a:cs typeface="Arial"/>
              </a:rPr>
              <a:t xml:space="preserve">which conclusions survive.</a:t>
            </a:r>
            <a:endParaRPr lang="en-US" sz="1500"/>
          </a:p>
          <a:p>
            <a:pPr marL="0" indent="0">
              <a:lnSpc>
                <a:spcPts val="1950"/>
              </a:lnSpc>
              <a:spcAft>
                <a:spcPts val="0"/>
              </a:spcAft>
              <a:buNone/>
            </a:pPr>
            <a:r>
              <a:rPr lang="en-US" sz="1500" b="0">
                <a:solidFill>
                  <a:srgbClr val="202B33"/>
                </a:solidFill>
                <a:latin typeface="Arial"/>
                <a:ea typeface="Arial"/>
                <a:cs typeface="Arial"/>
              </a:rPr>
              <a:t xml:space="preserve"/>
            </a:r>
            <a:endParaRPr lang="en-US" sz="1500"/>
          </a:p>
          <a:p>
            <a:pPr marL="0" indent="0">
              <a:lnSpc>
                <a:spcPts val="1950"/>
              </a:lnSpc>
              <a:spcAft>
                <a:spcPts val="0"/>
              </a:spcAft>
              <a:buNone/>
            </a:pPr>
            <a:r>
              <a:rPr lang="en-US" sz="1500" b="0">
                <a:solidFill>
                  <a:srgbClr val="202B33"/>
                </a:solidFill>
                <a:latin typeface="Arial"/>
                <a:ea typeface="Arial"/>
                <a:cs typeface="Arial"/>
              </a:rPr>
              <a:t xml:space="preserve">Keep disagreement as data. Was the case</a:t>
            </a:r>
            <a:endParaRPr lang="en-US" sz="1500"/>
          </a:p>
          <a:p>
            <a:pPr marL="0" indent="0">
              <a:lnSpc>
                <a:spcPts val="1950"/>
              </a:lnSpc>
              <a:spcAft>
                <a:spcPts val="0"/>
              </a:spcAft>
              <a:buNone/>
            </a:pPr>
            <a:r>
              <a:rPr lang="en-US" sz="1500" b="0">
                <a:solidFill>
                  <a:srgbClr val="202B33"/>
                </a:solidFill>
                <a:latin typeface="Arial"/>
                <a:ea typeface="Arial"/>
                <a:cs typeface="Arial"/>
              </a:rPr>
              <a:t xml:space="preserve">ambiguous? Did the rubric ask two questions</a:t>
            </a:r>
            <a:endParaRPr lang="en-US" sz="1500"/>
          </a:p>
          <a:p>
            <a:pPr marL="0" indent="0">
              <a:lnSpc>
                <a:spcPts val="1950"/>
              </a:lnSpc>
              <a:spcAft>
                <a:spcPts val="0"/>
              </a:spcAft>
              <a:buNone/>
            </a:pPr>
            <a:r>
              <a:rPr lang="en-US" sz="1500" b="0">
                <a:solidFill>
                  <a:srgbClr val="202B33"/>
                </a:solidFill>
                <a:latin typeface="Arial"/>
                <a:ea typeface="Arial"/>
                <a:cs typeface="Arial"/>
              </a:rPr>
              <a:t xml:space="preserve">at once? Did one assessor have the signed</a:t>
            </a:r>
            <a:endParaRPr lang="en-US" sz="1500"/>
          </a:p>
          <a:p>
            <a:pPr marL="0" indent="0">
              <a:lnSpc>
                <a:spcPts val="1950"/>
              </a:lnSpc>
              <a:spcAft>
                <a:spcPts val="0"/>
              </a:spcAft>
              <a:buNone/>
            </a:pPr>
            <a:r>
              <a:rPr lang="en-US" sz="1500" b="0">
                <a:solidFill>
                  <a:srgbClr val="202B33"/>
                </a:solidFill>
                <a:latin typeface="Arial"/>
                <a:ea typeface="Arial"/>
                <a:cs typeface="Arial"/>
              </a:rPr>
              <a:t xml:space="preserve">schedule and another not? A consensus label</a:t>
            </a:r>
            <a:endParaRPr lang="en-US" sz="1500"/>
          </a:p>
          <a:p>
            <a:pPr marL="0" indent="0">
              <a:lnSpc>
                <a:spcPts val="1950"/>
              </a:lnSpc>
              <a:spcAft>
                <a:spcPts val="0"/>
              </a:spcAft>
              <a:buNone/>
            </a:pPr>
            <a:r>
              <a:rPr lang="en-US" sz="1500" b="0">
                <a:solidFill>
                  <a:srgbClr val="202B33"/>
                </a:solidFill>
                <a:latin typeface="Arial"/>
                <a:ea typeface="Arial"/>
                <a:cs typeface="Arial"/>
              </a:rPr>
              <a:t xml:space="preserve">without that explanation can conceal</a:t>
            </a:r>
            <a:endParaRPr lang="en-US" sz="1500"/>
          </a:p>
          <a:p>
            <a:pPr marL="0" indent="0">
              <a:lnSpc>
                <a:spcPts val="1950"/>
              </a:lnSpc>
              <a:spcAft>
                <a:spcPts val="0"/>
              </a:spcAft>
              <a:buNone/>
            </a:pPr>
            <a:r>
              <a:rPr lang="en-US" sz="1500" b="0">
                <a:solidFill>
                  <a:srgbClr val="202B33"/>
                </a:solidFill>
                <a:latin typeface="Arial"/>
                <a:ea typeface="Arial"/>
                <a:cs typeface="Arial"/>
              </a:rPr>
              <a:t xml:space="preserve">exactly the distinction the next system</a:t>
            </a:r>
            <a:endParaRPr lang="en-US" sz="1500"/>
          </a:p>
          <a:p>
            <a:pPr marL="0" indent="0">
              <a:lnSpc>
                <a:spcPts val="1950"/>
              </a:lnSpc>
              <a:spcAft>
                <a:spcPts val="0"/>
              </a:spcAft>
              <a:buNone/>
            </a:pPr>
            <a:r>
              <a:rPr lang="en-US" sz="1500" b="0">
                <a:solidFill>
                  <a:srgbClr val="202B33"/>
                </a:solidFill>
                <a:latin typeface="Arial"/>
                <a:ea typeface="Arial"/>
                <a:cs typeface="Arial"/>
              </a:rPr>
              <a:t xml:space="preserve">needs.</a:t>
            </a:r>
            <a:endParaRPr lang="en-US" sz="1500"/>
          </a:p>
        </p:txBody>
      </p:sp>
      <p:sp>
        <p:nvSpPr>
          <p:cNvPr id="6" name="Text 6"/>
          <p:cNvSpPr txBox="1"/>
          <p:nvPr/>
        </p:nvSpPr>
        <p:spPr>
          <a:xfrm>
            <a:off x="457200" y="7486650"/>
            <a:ext cx="8820150" cy="190500"/>
          </a:xfrm>
          <a:prstGeom prst="rect">
            <a:avLst/>
          </a:prstGeom>
          <a:noFill/>
          <a:ln>
            <a:noFill/>
          </a:ln>
        </p:spPr>
        <p:txBody>
          <a:bodyPr wrap="none" lIns="0" tIns="0" rIns="0" bIns="0" anchor="t">
            <a:noAutofit/>
          </a:bodyPr>
          <a:lstStyle/>
          <a:p>
            <a:pPr marL="0" indent="0">
              <a:lnSpc>
                <a:spcPts val="1268"/>
              </a:lnSpc>
              <a:spcAft>
                <a:spcPts val="0"/>
              </a:spcAft>
              <a:buNone/>
            </a:pPr>
            <a:r>
              <a:rPr lang="en-US" sz="975" b="0">
                <a:solidFill>
                  <a:srgbClr val="48555B"/>
                </a:solidFill>
                <a:latin typeface="Arial"/>
                <a:ea typeface="Arial"/>
                <a:cs typeface="Arial"/>
              </a:rPr>
              <a:t xml:space="preserve">Three Search Methods in a Fundable Trenchcoat</a:t>
            </a:r>
            <a:endParaRPr lang="en-US" sz="975"/>
          </a:p>
        </p:txBody>
      </p:sp>
      <p:sp>
        <p:nvSpPr>
          <p:cNvPr id="7" name="Text 7"/>
          <p:cNvSpPr txBox="1"/>
          <p:nvPr/>
        </p:nvSpPr>
        <p:spPr>
          <a:xfrm>
            <a:off x="9391650" y="7486650"/>
            <a:ext cx="238125" cy="190500"/>
          </a:xfrm>
          <a:prstGeom prst="rect">
            <a:avLst/>
          </a:prstGeom>
          <a:noFill/>
          <a:ln>
            <a:noFill/>
          </a:ln>
        </p:spPr>
        <p:txBody>
          <a:bodyPr wrap="none" lIns="0" tIns="0" rIns="0" bIns="0" anchor="t">
            <a:noAutofit/>
          </a:bodyPr>
          <a:lstStyle/>
          <a:p>
            <a:pPr marL="0" indent="0">
              <a:lnSpc>
                <a:spcPts val="1268"/>
              </a:lnSpc>
              <a:spcAft>
                <a:spcPts val="0"/>
              </a:spcAft>
              <a:buNone/>
            </a:pPr>
            <a:r>
              <a:rPr lang="en-US" sz="975" b="0">
                <a:solidFill>
                  <a:srgbClr val="48555B"/>
                </a:solidFill>
                <a:latin typeface="Arial"/>
                <a:ea typeface="Arial"/>
                <a:cs typeface="Arial"/>
              </a:rPr>
              <a:t xml:space="preserve">12</a:t>
            </a:r>
            <a:endParaRPr lang="en-US" sz="975"/>
          </a:p>
        </p:txBody>
      </p:sp>
    </p:spTree>
  </p:cSld>
  <p:clrMapOvr>
    <a:masterClrMapping/>
  </p:clrMapOvr>
</p:sld>
</file>

<file path=ppt/slides/slide13.xml><?xml version="1.0" encoding="utf-8"?>
<p:sld xmlns:a="http://schemas.openxmlformats.org/drawingml/2006/main" xmlns:r="http://schemas.openxmlformats.org/officeDocument/2006/relationships" xmlns:p="http://schemas.openxmlformats.org/presentationml/2006/main">
  <p:cSld name="Slide 13">
    <p:bg>
      <p:bgPr>
        <a:solidFill>
          <a:srgbClr val="FAFAF7"/>
        </a:solidFill>
        <a:effectLst/>
      </p:bgPr>
    </p:bg>
    <p:spTree>
      <p:nvGrpSpPr>
        <p:cNvPr id="1" name=""/>
        <p:cNvGrpSpPr/>
        <p:nvPr/>
      </p:nvGrpSpPr>
      <p:grpSpPr>
        <a:xfrm>
          <a:off x="0" y="0"/>
          <a:ext cx="0" cy="0"/>
          <a:chOff x="0" y="0"/>
          <a:chExt cx="0" cy="0"/>
        </a:xfrm>
      </p:grpSpPr>
      <p:sp>
        <p:nvSpPr>
          <p:cNvPr id="2" name="Text 2"/>
          <p:cNvSpPr txBox="1"/>
          <p:nvPr/>
        </p:nvSpPr>
        <p:spPr>
          <a:xfrm>
            <a:off x="457200" y="266700"/>
            <a:ext cx="9144000" cy="228600"/>
          </a:xfrm>
          <a:prstGeom prst="rect">
            <a:avLst/>
          </a:prstGeom>
          <a:noFill/>
          <a:ln>
            <a:noFill/>
          </a:ln>
        </p:spPr>
        <p:txBody>
          <a:bodyPr wrap="none" lIns="0" tIns="0" rIns="0" bIns="0" anchor="t">
            <a:noAutofit/>
          </a:bodyPr>
          <a:lstStyle/>
          <a:p>
            <a:pPr marL="0" indent="0">
              <a:lnSpc>
                <a:spcPts val="1365"/>
              </a:lnSpc>
              <a:spcAft>
                <a:spcPts val="0"/>
              </a:spcAft>
              <a:buNone/>
            </a:pPr>
            <a:r>
              <a:rPr lang="en-US" sz="1050" b="1">
                <a:solidFill>
                  <a:srgbClr val="246957"/>
                </a:solidFill>
                <a:latin typeface="Arial"/>
                <a:ea typeface="Arial"/>
                <a:cs typeface="Arial"/>
              </a:rPr>
              <a:t xml:space="preserve">12 / 15    SOURCE SLIDE 12</a:t>
            </a:r>
            <a:endParaRPr lang="en-US" sz="1050"/>
          </a:p>
        </p:txBody>
      </p:sp>
      <p:sp>
        <p:nvSpPr>
          <p:cNvPr id="3" name="Text 3"/>
          <p:cNvSpPr txBox="1"/>
          <p:nvPr/>
        </p:nvSpPr>
        <p:spPr>
          <a:xfrm>
            <a:off x="457200" y="657225"/>
            <a:ext cx="9144000" cy="1104900"/>
          </a:xfrm>
          <a:prstGeom prst="rect">
            <a:avLst/>
          </a:prstGeom>
          <a:noFill/>
          <a:ln>
            <a:noFill/>
          </a:ln>
        </p:spPr>
        <p:txBody>
          <a:bodyPr wrap="none" lIns="0" tIns="0" rIns="0" bIns="0" anchor="t">
            <a:noAutofit/>
          </a:bodyPr>
          <a:lstStyle/>
          <a:p>
            <a:pPr marL="0" indent="0">
              <a:lnSpc>
                <a:spcPts val="3060"/>
              </a:lnSpc>
              <a:spcAft>
                <a:spcPts val="0"/>
              </a:spcAft>
              <a:buNone/>
            </a:pPr>
            <a:r>
              <a:rPr lang="en-US" sz="2550" b="1">
                <a:solidFill>
                  <a:srgbClr val="202B33"/>
                </a:solidFill>
                <a:latin typeface="Arial"/>
                <a:ea typeface="Arial"/>
                <a:cs typeface="Arial"/>
              </a:rPr>
              <a:t xml:space="preserve">The Reader Stopped Being a Person</a:t>
            </a:r>
            <a:endParaRPr lang="en-US" sz="2550"/>
          </a:p>
        </p:txBody>
      </p:sp>
      <p:sp>
        <p:nvSpPr>
          <p:cNvPr id="4" name="Text 4"/>
          <p:cNvSpPr txBox="1"/>
          <p:nvPr/>
        </p:nvSpPr>
        <p:spPr>
          <a:xfrm>
            <a:off x="457200" y="1971675"/>
            <a:ext cx="4352925" cy="5314950"/>
          </a:xfrm>
          <a:prstGeom prst="rect">
            <a:avLst/>
          </a:prstGeom>
          <a:noFill/>
          <a:ln>
            <a:noFill/>
          </a:ln>
        </p:spPr>
        <p:txBody>
          <a:bodyPr wrap="none" lIns="0" tIns="0" rIns="0" bIns="0" anchor="t">
            <a:noAutofit/>
          </a:bodyPr>
          <a:lstStyle/>
          <a:p>
            <a:pPr marL="0" indent="0">
              <a:lnSpc>
                <a:spcPts val="1950"/>
              </a:lnSpc>
              <a:spcAft>
                <a:spcPts val="0"/>
              </a:spcAft>
              <a:buNone/>
            </a:pPr>
            <a:r>
              <a:rPr lang="en-US" sz="1500" b="0">
                <a:solidFill>
                  <a:srgbClr val="202B33"/>
                </a:solidFill>
                <a:latin typeface="Arial"/>
                <a:ea typeface="Arial"/>
                <a:cs typeface="Arial"/>
              </a:rPr>
              <a:t xml:space="preserve">Useful to inspect ≠ sufficient to answer</a:t>
            </a:r>
            <a:endParaRPr lang="en-US" sz="1500"/>
          </a:p>
          <a:p>
            <a:pPr marL="0" indent="0">
              <a:lnSpc>
                <a:spcPts val="1950"/>
              </a:lnSpc>
              <a:spcAft>
                <a:spcPts val="0"/>
              </a:spcAft>
              <a:buNone/>
            </a:pPr>
            <a:r>
              <a:rPr lang="en-US" sz="1500" b="0">
                <a:solidFill>
                  <a:srgbClr val="202B33"/>
                </a:solidFill>
                <a:latin typeface="Arial"/>
                <a:ea typeface="Arial"/>
                <a:cs typeface="Arial"/>
              </a:rPr>
              <a:t xml:space="preserve"/>
            </a:r>
            <a:endParaRPr lang="en-US" sz="1500"/>
          </a:p>
          <a:p>
            <a:pPr marL="0" indent="0">
              <a:lnSpc>
                <a:spcPts val="1950"/>
              </a:lnSpc>
              <a:spcAft>
                <a:spcPts val="0"/>
              </a:spcAft>
              <a:buNone/>
            </a:pPr>
            <a:r>
              <a:rPr lang="en-US" sz="1500" b="0">
                <a:solidFill>
                  <a:srgbClr val="202B33"/>
                </a:solidFill>
                <a:latin typeface="Arial"/>
                <a:ea typeface="Arial"/>
                <a:cs typeface="Arial"/>
              </a:rPr>
              <a:t xml:space="preserve">Score retrieval and the resulting answer</a:t>
            </a:r>
            <a:endParaRPr lang="en-US" sz="1500"/>
          </a:p>
          <a:p>
            <a:pPr marL="0" indent="0">
              <a:lnSpc>
                <a:spcPts val="1950"/>
              </a:lnSpc>
              <a:spcAft>
                <a:spcPts val="0"/>
              </a:spcAft>
              <a:buNone/>
            </a:pPr>
            <a:r>
              <a:rPr lang="en-US" sz="1500" b="0">
                <a:solidFill>
                  <a:srgbClr val="202B33"/>
                </a:solidFill>
                <a:latin typeface="Arial"/>
                <a:ea typeface="Arial"/>
                <a:cs typeface="Arial"/>
              </a:rPr>
              <a:t xml:space="preserve">separately</a:t>
            </a:r>
            <a:endParaRPr lang="en-US" sz="1500"/>
          </a:p>
          <a:p>
            <a:pPr marL="0" indent="0">
              <a:lnSpc>
                <a:spcPts val="1950"/>
              </a:lnSpc>
              <a:spcAft>
                <a:spcPts val="0"/>
              </a:spcAft>
              <a:buNone/>
            </a:pPr>
            <a:r>
              <a:rPr lang="en-US" sz="1500" b="0">
                <a:solidFill>
                  <a:srgbClr val="202B33"/>
                </a:solidFill>
                <a:latin typeface="Arial"/>
                <a:ea typeface="Arial"/>
                <a:cs typeface="Arial"/>
              </a:rPr>
              <a:t xml:space="preserve"/>
            </a:r>
            <a:endParaRPr lang="en-US" sz="1500"/>
          </a:p>
          <a:p>
            <a:pPr marL="0" indent="0">
              <a:lnSpc>
                <a:spcPts val="1950"/>
              </a:lnSpc>
              <a:spcAft>
                <a:spcPts val="0"/>
              </a:spcAft>
              <a:buNone/>
            </a:pPr>
            <a:r>
              <a:rPr lang="en-US" sz="1500" b="0">
                <a:solidFill>
                  <a:srgbClr val="202B33"/>
                </a:solidFill>
                <a:latin typeface="Arial"/>
                <a:ea typeface="Arial"/>
                <a:cs typeface="Arial"/>
              </a:rPr>
              <a:t xml:space="preserve">A person inspecting a ranked list can</a:t>
            </a:r>
            <a:endParaRPr lang="en-US" sz="1500"/>
          </a:p>
          <a:p>
            <a:pPr marL="0" indent="0">
              <a:lnSpc>
                <a:spcPts val="1950"/>
              </a:lnSpc>
              <a:spcAft>
                <a:spcPts val="0"/>
              </a:spcAft>
              <a:buNone/>
            </a:pPr>
            <a:r>
              <a:rPr lang="en-US" sz="1500" b="0">
                <a:solidFill>
                  <a:srgbClr val="202B33"/>
                </a:solidFill>
                <a:latin typeface="Arial"/>
                <a:ea typeface="Arial"/>
                <a:cs typeface="Arial"/>
              </a:rPr>
              <a:t xml:space="preserve">notice that the signed addendum refers to a</a:t>
            </a:r>
            <a:endParaRPr lang="en-US" sz="1500"/>
          </a:p>
          <a:p>
            <a:pPr marL="0" indent="0">
              <a:lnSpc>
                <a:spcPts val="1950"/>
              </a:lnSpc>
              <a:spcAft>
                <a:spcPts val="0"/>
              </a:spcAft>
              <a:buNone/>
            </a:pPr>
            <a:r>
              <a:rPr lang="en-US" sz="1500" b="0">
                <a:solidFill>
                  <a:srgbClr val="202B33"/>
                </a:solidFill>
                <a:latin typeface="Arial"/>
                <a:ea typeface="Arial"/>
                <a:cs typeface="Arial"/>
              </a:rPr>
              <a:t xml:space="preserve">missing schedule and go looking. Our</a:t>
            </a:r>
            <a:endParaRPr lang="en-US" sz="1500"/>
          </a:p>
          <a:p>
            <a:pPr marL="0" indent="0">
              <a:lnSpc>
                <a:spcPts val="1950"/>
              </a:lnSpc>
              <a:spcAft>
                <a:spcPts val="0"/>
              </a:spcAft>
              <a:buNone/>
            </a:pPr>
            <a:r>
              <a:rPr lang="en-US" sz="1500" b="0">
                <a:solidFill>
                  <a:srgbClr val="202B33"/>
                </a:solidFill>
                <a:latin typeface="Arial"/>
                <a:ea typeface="Arial"/>
                <a:cs typeface="Arial"/>
              </a:rPr>
              <a:t xml:space="preserve">generator may instead turn the generic</a:t>
            </a:r>
            <a:endParaRPr lang="en-US" sz="1500"/>
          </a:p>
          <a:p>
            <a:pPr marL="0" indent="0">
              <a:lnSpc>
                <a:spcPts val="1950"/>
              </a:lnSpc>
              <a:spcAft>
                <a:spcPts val="0"/>
              </a:spcAft>
              <a:buNone/>
            </a:pPr>
            <a:r>
              <a:rPr lang="en-US" sz="1500" b="0">
                <a:solidFill>
                  <a:srgbClr val="202B33"/>
                </a:solidFill>
                <a:latin typeface="Arial"/>
                <a:ea typeface="Arial"/>
                <a:cs typeface="Arial"/>
              </a:rPr>
              <a:t xml:space="preserve">thirty-day policy into a fluent answer</a:t>
            </a:r>
            <a:endParaRPr lang="en-US" sz="1500"/>
          </a:p>
          <a:p>
            <a:pPr marL="0" indent="0">
              <a:lnSpc>
                <a:spcPts val="1950"/>
              </a:lnSpc>
              <a:spcAft>
                <a:spcPts val="0"/>
              </a:spcAft>
              <a:buNone/>
            </a:pPr>
            <a:r>
              <a:rPr lang="en-US" sz="1500" b="0">
                <a:solidFill>
                  <a:srgbClr val="202B33"/>
                </a:solidFill>
                <a:latin typeface="Arial"/>
                <a:ea typeface="Arial"/>
                <a:cs typeface="Arial"/>
              </a:rPr>
              <a:t xml:space="preserve">about Acme.</a:t>
            </a:r>
            <a:endParaRPr lang="en-US" sz="1500"/>
          </a:p>
          <a:p>
            <a:pPr marL="0" indent="0">
              <a:lnSpc>
                <a:spcPts val="1950"/>
              </a:lnSpc>
              <a:spcAft>
                <a:spcPts val="0"/>
              </a:spcAft>
              <a:buNone/>
            </a:pPr>
            <a:r>
              <a:rPr lang="en-US" sz="1500" b="0">
                <a:solidFill>
                  <a:srgbClr val="202B33"/>
                </a:solidFill>
                <a:latin typeface="Arial"/>
                <a:ea typeface="Arial"/>
                <a:cs typeface="Arial"/>
              </a:rPr>
              <a:t xml:space="preserve"/>
            </a:r>
            <a:endParaRPr lang="en-US" sz="1500"/>
          </a:p>
          <a:p>
            <a:pPr marL="0" indent="0">
              <a:lnSpc>
                <a:spcPts val="1950"/>
              </a:lnSpc>
              <a:spcAft>
                <a:spcPts val="0"/>
              </a:spcAft>
              <a:buNone/>
            </a:pPr>
            <a:r>
              <a:rPr lang="en-US" sz="1500" b="0">
                <a:solidFill>
                  <a:srgbClr val="202B33"/>
                </a:solidFill>
                <a:latin typeface="Arial"/>
                <a:ea typeface="Arial"/>
                <a:cs typeface="Arial"/>
              </a:rPr>
              <a:t xml:space="preserve">We can build abstention and verification</a:t>
            </a:r>
            <a:endParaRPr lang="en-US" sz="1500"/>
          </a:p>
        </p:txBody>
      </p:sp>
      <p:sp>
        <p:nvSpPr>
          <p:cNvPr id="5" name="Text 5"/>
          <p:cNvSpPr txBox="1"/>
          <p:nvPr/>
        </p:nvSpPr>
        <p:spPr>
          <a:xfrm>
            <a:off x="5238750" y="1971675"/>
            <a:ext cx="4362450" cy="5314950"/>
          </a:xfrm>
          <a:prstGeom prst="rect">
            <a:avLst/>
          </a:prstGeom>
          <a:noFill/>
          <a:ln>
            <a:noFill/>
          </a:ln>
        </p:spPr>
        <p:txBody>
          <a:bodyPr wrap="none" lIns="0" tIns="0" rIns="0" bIns="0" anchor="t">
            <a:noAutofit/>
          </a:bodyPr>
          <a:lstStyle/>
          <a:p>
            <a:pPr marL="0" indent="0">
              <a:lnSpc>
                <a:spcPts val="1950"/>
              </a:lnSpc>
              <a:spcAft>
                <a:spcPts val="0"/>
              </a:spcAft>
              <a:buNone/>
            </a:pPr>
            <a:r>
              <a:rPr lang="en-US" sz="1500" b="0">
                <a:solidFill>
                  <a:srgbClr val="202B33"/>
                </a:solidFill>
                <a:latin typeface="Arial"/>
                <a:ea typeface="Arial"/>
                <a:cs typeface="Arial"/>
              </a:rPr>
              <a:t xml:space="preserve">into that system. We cannot infer that it</a:t>
            </a:r>
            <a:endParaRPr lang="en-US" sz="1500"/>
          </a:p>
          <a:p>
            <a:pPr marL="0" indent="0">
              <a:lnSpc>
                <a:spcPts val="1950"/>
              </a:lnSpc>
              <a:spcAft>
                <a:spcPts val="0"/>
              </a:spcAft>
              <a:buNone/>
            </a:pPr>
            <a:r>
              <a:rPr lang="en-US" sz="1500" b="0">
                <a:solidFill>
                  <a:srgbClr val="202B33"/>
                </a:solidFill>
                <a:latin typeface="Arial"/>
                <a:ea typeface="Arial"/>
                <a:cs typeface="Arial"/>
              </a:rPr>
              <a:t xml:space="preserve">will use them from a good retrieval score.</a:t>
            </a:r>
            <a:endParaRPr lang="en-US" sz="1500"/>
          </a:p>
          <a:p>
            <a:pPr marL="0" indent="0">
              <a:lnSpc>
                <a:spcPts val="1950"/>
              </a:lnSpc>
              <a:spcAft>
                <a:spcPts val="0"/>
              </a:spcAft>
              <a:buNone/>
            </a:pPr>
            <a:r>
              <a:rPr lang="en-US" sz="1500" b="0">
                <a:solidFill>
                  <a:srgbClr val="202B33"/>
                </a:solidFill>
                <a:latin typeface="Arial"/>
                <a:ea typeface="Arial"/>
                <a:cs typeface="Arial"/>
              </a:rPr>
              <a:t xml:space="preserve">The retrieved material must be applicable,</a:t>
            </a:r>
            <a:endParaRPr lang="en-US" sz="1500"/>
          </a:p>
          <a:p>
            <a:pPr marL="0" indent="0">
              <a:lnSpc>
                <a:spcPts val="1950"/>
              </a:lnSpc>
              <a:spcAft>
                <a:spcPts val="0"/>
              </a:spcAft>
              <a:buNone/>
            </a:pPr>
            <a:r>
              <a:rPr lang="en-US" sz="1500" b="0">
                <a:solidFill>
                  <a:srgbClr val="202B33"/>
                </a:solidFill>
                <a:latin typeface="Arial"/>
                <a:ea typeface="Arial"/>
                <a:cs typeface="Arial"/>
              </a:rPr>
              <a:t xml:space="preserve">sufficiently complete, and represented with</a:t>
            </a:r>
            <a:endParaRPr lang="en-US" sz="1500"/>
          </a:p>
          <a:p>
            <a:pPr marL="0" indent="0">
              <a:lnSpc>
                <a:spcPts val="1950"/>
              </a:lnSpc>
              <a:spcAft>
                <a:spcPts val="0"/>
              </a:spcAft>
              <a:buNone/>
            </a:pPr>
            <a:r>
              <a:rPr lang="en-US" sz="1500" b="0">
                <a:solidFill>
                  <a:srgbClr val="202B33"/>
                </a:solidFill>
                <a:latin typeface="Arial"/>
                <a:ea typeface="Arial"/>
                <a:cs typeface="Arial"/>
              </a:rPr>
              <a:t xml:space="preserve">the qualifiers the answer needs.</a:t>
            </a:r>
            <a:endParaRPr lang="en-US" sz="1500"/>
          </a:p>
          <a:p>
            <a:pPr marL="0" indent="0">
              <a:lnSpc>
                <a:spcPts val="1950"/>
              </a:lnSpc>
              <a:spcAft>
                <a:spcPts val="0"/>
              </a:spcAft>
              <a:buNone/>
            </a:pPr>
            <a:r>
              <a:rPr lang="en-US" sz="1500" b="0">
                <a:solidFill>
                  <a:srgbClr val="202B33"/>
                </a:solidFill>
                <a:latin typeface="Arial"/>
                <a:ea typeface="Arial"/>
                <a:cs typeface="Arial"/>
              </a:rPr>
              <a:t xml:space="preserve"/>
            </a:r>
            <a:endParaRPr lang="en-US" sz="1500"/>
          </a:p>
          <a:p>
            <a:pPr marL="0" indent="0">
              <a:lnSpc>
                <a:spcPts val="1950"/>
              </a:lnSpc>
              <a:spcAft>
                <a:spcPts val="0"/>
              </a:spcAft>
              <a:buNone/>
            </a:pPr>
            <a:r>
              <a:rPr lang="en-US" sz="1500" b="0">
                <a:solidFill>
                  <a:srgbClr val="202B33"/>
                </a:solidFill>
                <a:latin typeface="Arial"/>
                <a:ea typeface="Arial"/>
                <a:cs typeface="Arial"/>
              </a:rPr>
              <a:t xml:space="preserve">Evaluate the handoff. Did retrieval find B</a:t>
            </a:r>
            <a:endParaRPr lang="en-US" sz="1500"/>
          </a:p>
          <a:p>
            <a:pPr marL="0" indent="0">
              <a:lnSpc>
                <a:spcPts val="1950"/>
              </a:lnSpc>
              <a:spcAft>
                <a:spcPts val="0"/>
              </a:spcAft>
              <a:buNone/>
            </a:pPr>
            <a:r>
              <a:rPr lang="en-US" sz="1500" b="0">
                <a:solidFill>
                  <a:srgbClr val="202B33"/>
                </a:solidFill>
                <a:latin typeface="Arial"/>
                <a:ea typeface="Arial"/>
                <a:cs typeface="Arial"/>
              </a:rPr>
              <a:t xml:space="preserve">and F? Did context assembly keep their</a:t>
            </a:r>
            <a:endParaRPr lang="en-US" sz="1500"/>
          </a:p>
          <a:p>
            <a:pPr marL="0" indent="0">
              <a:lnSpc>
                <a:spcPts val="1950"/>
              </a:lnSpc>
              <a:spcAft>
                <a:spcPts val="0"/>
              </a:spcAft>
              <a:buNone/>
            </a:pPr>
            <a:r>
              <a:rPr lang="en-US" sz="1500" b="0">
                <a:solidFill>
                  <a:srgbClr val="202B33"/>
                </a:solidFill>
                <a:latin typeface="Arial"/>
                <a:ea typeface="Arial"/>
                <a:cs typeface="Arial"/>
              </a:rPr>
              <a:t xml:space="preserve">relationship? Did the answer cite the</a:t>
            </a:r>
            <a:endParaRPr lang="en-US" sz="1500"/>
          </a:p>
          <a:p>
            <a:pPr marL="0" indent="0">
              <a:lnSpc>
                <a:spcPts val="1950"/>
              </a:lnSpc>
              <a:spcAft>
                <a:spcPts val="0"/>
              </a:spcAft>
              <a:buNone/>
            </a:pPr>
            <a:r>
              <a:rPr lang="en-US" sz="1500" b="0">
                <a:solidFill>
                  <a:srgbClr val="202B33"/>
                </a:solidFill>
                <a:latin typeface="Arial"/>
                <a:ea typeface="Arial"/>
                <a:cs typeface="Arial"/>
              </a:rPr>
              <a:t xml:space="preserve">actual exception? If the answer is wrong,</a:t>
            </a:r>
            <a:endParaRPr lang="en-US" sz="1500"/>
          </a:p>
          <a:p>
            <a:pPr marL="0" indent="0">
              <a:lnSpc>
                <a:spcPts val="1950"/>
              </a:lnSpc>
              <a:spcAft>
                <a:spcPts val="0"/>
              </a:spcAft>
              <a:buNone/>
            </a:pPr>
            <a:r>
              <a:rPr lang="en-US" sz="1500" b="0">
                <a:solidFill>
                  <a:srgbClr val="202B33"/>
                </a:solidFill>
                <a:latin typeface="Arial"/>
                <a:ea typeface="Arial"/>
                <a:cs typeface="Arial"/>
              </a:rPr>
              <a:t xml:space="preserve">those checks locate the failure instead of</a:t>
            </a:r>
            <a:endParaRPr lang="en-US" sz="1500"/>
          </a:p>
          <a:p>
            <a:pPr marL="0" indent="0">
              <a:lnSpc>
                <a:spcPts val="1950"/>
              </a:lnSpc>
              <a:spcAft>
                <a:spcPts val="0"/>
              </a:spcAft>
              <a:buNone/>
            </a:pPr>
            <a:r>
              <a:rPr lang="en-US" sz="1500" b="0">
                <a:solidFill>
                  <a:srgbClr val="202B33"/>
                </a:solidFill>
                <a:latin typeface="Arial"/>
                <a:ea typeface="Arial"/>
                <a:cs typeface="Arial"/>
              </a:rPr>
              <a:t xml:space="preserve">blaming the nearest model.</a:t>
            </a:r>
            <a:endParaRPr lang="en-US" sz="1500"/>
          </a:p>
        </p:txBody>
      </p:sp>
      <p:sp>
        <p:nvSpPr>
          <p:cNvPr id="6" name="Text 6"/>
          <p:cNvSpPr txBox="1"/>
          <p:nvPr/>
        </p:nvSpPr>
        <p:spPr>
          <a:xfrm>
            <a:off x="457200" y="7486650"/>
            <a:ext cx="8820150" cy="190500"/>
          </a:xfrm>
          <a:prstGeom prst="rect">
            <a:avLst/>
          </a:prstGeom>
          <a:noFill/>
          <a:ln>
            <a:noFill/>
          </a:ln>
        </p:spPr>
        <p:txBody>
          <a:bodyPr wrap="none" lIns="0" tIns="0" rIns="0" bIns="0" anchor="t">
            <a:noAutofit/>
          </a:bodyPr>
          <a:lstStyle/>
          <a:p>
            <a:pPr marL="0" indent="0">
              <a:lnSpc>
                <a:spcPts val="1268"/>
              </a:lnSpc>
              <a:spcAft>
                <a:spcPts val="0"/>
              </a:spcAft>
              <a:buNone/>
            </a:pPr>
            <a:r>
              <a:rPr lang="en-US" sz="975" b="0">
                <a:solidFill>
                  <a:srgbClr val="48555B"/>
                </a:solidFill>
                <a:latin typeface="Arial"/>
                <a:ea typeface="Arial"/>
                <a:cs typeface="Arial"/>
              </a:rPr>
              <a:t xml:space="preserve">Three Search Methods in a Fundable Trenchcoat</a:t>
            </a:r>
            <a:endParaRPr lang="en-US" sz="975"/>
          </a:p>
        </p:txBody>
      </p:sp>
      <p:sp>
        <p:nvSpPr>
          <p:cNvPr id="7" name="Text 7"/>
          <p:cNvSpPr txBox="1"/>
          <p:nvPr/>
        </p:nvSpPr>
        <p:spPr>
          <a:xfrm>
            <a:off x="9391650" y="7486650"/>
            <a:ext cx="238125" cy="190500"/>
          </a:xfrm>
          <a:prstGeom prst="rect">
            <a:avLst/>
          </a:prstGeom>
          <a:noFill/>
          <a:ln>
            <a:noFill/>
          </a:ln>
        </p:spPr>
        <p:txBody>
          <a:bodyPr wrap="none" lIns="0" tIns="0" rIns="0" bIns="0" anchor="t">
            <a:noAutofit/>
          </a:bodyPr>
          <a:lstStyle/>
          <a:p>
            <a:pPr marL="0" indent="0">
              <a:lnSpc>
                <a:spcPts val="1268"/>
              </a:lnSpc>
              <a:spcAft>
                <a:spcPts val="0"/>
              </a:spcAft>
              <a:buNone/>
            </a:pPr>
            <a:r>
              <a:rPr lang="en-US" sz="975" b="0">
                <a:solidFill>
                  <a:srgbClr val="48555B"/>
                </a:solidFill>
                <a:latin typeface="Arial"/>
                <a:ea typeface="Arial"/>
                <a:cs typeface="Arial"/>
              </a:rPr>
              <a:t xml:space="preserve">13</a:t>
            </a:r>
            <a:endParaRPr lang="en-US" sz="975"/>
          </a:p>
        </p:txBody>
      </p:sp>
    </p:spTree>
  </p:cSld>
  <p:clrMapOvr>
    <a:masterClrMapping/>
  </p:clrMapOvr>
</p:sld>
</file>

<file path=ppt/slides/slide14.xml><?xml version="1.0" encoding="utf-8"?>
<p:sld xmlns:a="http://schemas.openxmlformats.org/drawingml/2006/main" xmlns:r="http://schemas.openxmlformats.org/officeDocument/2006/relationships" xmlns:p="http://schemas.openxmlformats.org/presentationml/2006/main">
  <p:cSld name="Slide 14">
    <p:bg>
      <p:bgPr>
        <a:solidFill>
          <a:srgbClr val="FAFAF7"/>
        </a:solidFill>
        <a:effectLst/>
      </p:bgPr>
    </p:bg>
    <p:spTree>
      <p:nvGrpSpPr>
        <p:cNvPr id="1" name=""/>
        <p:cNvGrpSpPr/>
        <p:nvPr/>
      </p:nvGrpSpPr>
      <p:grpSpPr>
        <a:xfrm>
          <a:off x="0" y="0"/>
          <a:ext cx="0" cy="0"/>
          <a:chOff x="0" y="0"/>
          <a:chExt cx="0" cy="0"/>
        </a:xfrm>
      </p:grpSpPr>
      <p:sp>
        <p:nvSpPr>
          <p:cNvPr id="2" name="Text 2"/>
          <p:cNvSpPr txBox="1"/>
          <p:nvPr/>
        </p:nvSpPr>
        <p:spPr>
          <a:xfrm>
            <a:off x="457200" y="266700"/>
            <a:ext cx="9144000" cy="228600"/>
          </a:xfrm>
          <a:prstGeom prst="rect">
            <a:avLst/>
          </a:prstGeom>
          <a:noFill/>
          <a:ln>
            <a:noFill/>
          </a:ln>
        </p:spPr>
        <p:txBody>
          <a:bodyPr wrap="none" lIns="0" tIns="0" rIns="0" bIns="0" anchor="t">
            <a:noAutofit/>
          </a:bodyPr>
          <a:lstStyle/>
          <a:p>
            <a:pPr marL="0" indent="0">
              <a:lnSpc>
                <a:spcPts val="1365"/>
              </a:lnSpc>
              <a:spcAft>
                <a:spcPts val="0"/>
              </a:spcAft>
              <a:buNone/>
            </a:pPr>
            <a:r>
              <a:rPr lang="en-US" sz="1050" b="1">
                <a:solidFill>
                  <a:srgbClr val="246957"/>
                </a:solidFill>
                <a:latin typeface="Arial"/>
                <a:ea typeface="Arial"/>
                <a:cs typeface="Arial"/>
              </a:rPr>
              <a:t xml:space="preserve">13 / 15    SOURCE SLIDE 13</a:t>
            </a:r>
            <a:endParaRPr lang="en-US" sz="1050"/>
          </a:p>
        </p:txBody>
      </p:sp>
      <p:sp>
        <p:nvSpPr>
          <p:cNvPr id="3" name="Text 3"/>
          <p:cNvSpPr txBox="1"/>
          <p:nvPr/>
        </p:nvSpPr>
        <p:spPr>
          <a:xfrm>
            <a:off x="457200" y="657225"/>
            <a:ext cx="9144000" cy="1104900"/>
          </a:xfrm>
          <a:prstGeom prst="rect">
            <a:avLst/>
          </a:prstGeom>
          <a:noFill/>
          <a:ln>
            <a:noFill/>
          </a:ln>
        </p:spPr>
        <p:txBody>
          <a:bodyPr wrap="none" lIns="0" tIns="0" rIns="0" bIns="0" anchor="t">
            <a:noAutofit/>
          </a:bodyPr>
          <a:lstStyle/>
          <a:p>
            <a:pPr marL="0" indent="0">
              <a:lnSpc>
                <a:spcPts val="3060"/>
              </a:lnSpc>
              <a:spcAft>
                <a:spcPts val="0"/>
              </a:spcAft>
              <a:buNone/>
            </a:pPr>
            <a:r>
              <a:rPr lang="en-US" sz="2550" b="1">
                <a:solidFill>
                  <a:srgbClr val="202B33"/>
                </a:solidFill>
                <a:latin typeface="Arial"/>
                <a:ea typeface="Arial"/>
                <a:cs typeface="Arial"/>
              </a:rPr>
              <a:t xml:space="preserve">Retrieved text now sits beside instructions</a:t>
            </a:r>
            <a:endParaRPr lang="en-US" sz="2550"/>
          </a:p>
        </p:txBody>
      </p:sp>
      <p:sp>
        <p:nvSpPr>
          <p:cNvPr id="4" name="Text 4"/>
          <p:cNvSpPr txBox="1"/>
          <p:nvPr/>
        </p:nvSpPr>
        <p:spPr>
          <a:xfrm>
            <a:off x="457200" y="1971675"/>
            <a:ext cx="4352925" cy="5314950"/>
          </a:xfrm>
          <a:prstGeom prst="rect">
            <a:avLst/>
          </a:prstGeom>
          <a:noFill/>
          <a:ln>
            <a:noFill/>
          </a:ln>
        </p:spPr>
        <p:txBody>
          <a:bodyPr wrap="none" lIns="0" tIns="0" rIns="0" bIns="0" anchor="t">
            <a:noAutofit/>
          </a:bodyPr>
          <a:lstStyle/>
          <a:p>
            <a:pPr marL="0" indent="0">
              <a:lnSpc>
                <a:spcPts val="1950"/>
              </a:lnSpc>
              <a:spcAft>
                <a:spcPts val="0"/>
              </a:spcAft>
              <a:buNone/>
            </a:pPr>
            <a:r>
              <a:rPr lang="en-US" sz="1500" b="0">
                <a:solidFill>
                  <a:srgbClr val="202B33"/>
                </a:solidFill>
                <a:latin typeface="Arial"/>
                <a:ea typeface="Arial"/>
                <a:cs typeface="Arial"/>
              </a:rPr>
              <a:t xml:space="preserve">Relevance gives evidence, not authority</a:t>
            </a:r>
            <a:endParaRPr lang="en-US" sz="1500"/>
          </a:p>
          <a:p>
            <a:pPr marL="0" indent="0">
              <a:lnSpc>
                <a:spcPts val="1950"/>
              </a:lnSpc>
              <a:spcAft>
                <a:spcPts val="0"/>
              </a:spcAft>
              <a:buNone/>
            </a:pPr>
            <a:r>
              <a:rPr lang="en-US" sz="1500" b="0">
                <a:solidFill>
                  <a:srgbClr val="202B33"/>
                </a:solidFill>
                <a:latin typeface="Arial"/>
                <a:ea typeface="Arial"/>
                <a:cs typeface="Arial"/>
              </a:rPr>
              <a:t xml:space="preserve"/>
            </a:r>
            <a:endParaRPr lang="en-US" sz="1500"/>
          </a:p>
          <a:p>
            <a:pPr marL="0" indent="0">
              <a:lnSpc>
                <a:spcPts val="1950"/>
              </a:lnSpc>
              <a:spcAft>
                <a:spcPts val="0"/>
              </a:spcAft>
              <a:buNone/>
            </a:pPr>
            <a:r>
              <a:rPr lang="en-US" sz="1500" b="0">
                <a:solidFill>
                  <a:srgbClr val="202B33"/>
                </a:solidFill>
                <a:latin typeface="Arial"/>
                <a:ea typeface="Arial"/>
                <a:cs typeface="Arial"/>
              </a:rPr>
              <a:t xml:space="preserve">A document cannot grant a tool permission</a:t>
            </a:r>
            <a:endParaRPr lang="en-US" sz="1500"/>
          </a:p>
          <a:p>
            <a:pPr marL="0" indent="0">
              <a:lnSpc>
                <a:spcPts val="1950"/>
              </a:lnSpc>
              <a:spcAft>
                <a:spcPts val="0"/>
              </a:spcAft>
              <a:buNone/>
            </a:pPr>
            <a:r>
              <a:rPr lang="en-US" sz="1500" b="0">
                <a:solidFill>
                  <a:srgbClr val="202B33"/>
                </a:solidFill>
                <a:latin typeface="Arial"/>
                <a:ea typeface="Arial"/>
                <a:cs typeface="Arial"/>
              </a:rPr>
              <a:t xml:space="preserve"/>
            </a:r>
            <a:endParaRPr lang="en-US" sz="1500"/>
          </a:p>
          <a:p>
            <a:pPr marL="0" indent="0">
              <a:lnSpc>
                <a:spcPts val="1950"/>
              </a:lnSpc>
              <a:spcAft>
                <a:spcPts val="0"/>
              </a:spcAft>
              <a:buNone/>
            </a:pPr>
            <a:r>
              <a:rPr lang="en-US" sz="1500" b="0">
                <a:solidFill>
                  <a:srgbClr val="202B33"/>
                </a:solidFill>
                <a:latin typeface="Arial"/>
                <a:ea typeface="Arial"/>
                <a:cs typeface="Arial"/>
              </a:rPr>
              <a:t xml:space="preserve">Put a sentence in the retrieved support</a:t>
            </a:r>
            <a:endParaRPr lang="en-US" sz="1500"/>
          </a:p>
          <a:p>
            <a:pPr marL="0" indent="0">
              <a:lnSpc>
                <a:spcPts val="1950"/>
              </a:lnSpc>
              <a:spcAft>
                <a:spcPts val="0"/>
              </a:spcAft>
              <a:buNone/>
            </a:pPr>
            <a:r>
              <a:rPr lang="en-US" sz="1500" b="0">
                <a:solidFill>
                  <a:srgbClr val="202B33"/>
                </a:solidFill>
                <a:latin typeface="Arial"/>
                <a:ea typeface="Arial"/>
                <a:cs typeface="Arial"/>
              </a:rPr>
              <a:t xml:space="preserve">note telling the assistant to ignore policy</a:t>
            </a:r>
            <a:endParaRPr lang="en-US" sz="1500"/>
          </a:p>
          <a:p>
            <a:pPr marL="0" indent="0">
              <a:lnSpc>
                <a:spcPts val="1950"/>
              </a:lnSpc>
              <a:spcAft>
                <a:spcPts val="0"/>
              </a:spcAft>
              <a:buNone/>
            </a:pPr>
            <a:r>
              <a:rPr lang="en-US" sz="1500" b="0">
                <a:solidFill>
                  <a:srgbClr val="202B33"/>
                </a:solidFill>
                <a:latin typeface="Arial"/>
                <a:ea typeface="Arial"/>
                <a:cs typeface="Arial"/>
              </a:rPr>
              <a:t xml:space="preserve">and issue a credit. It may be relevant text</a:t>
            </a:r>
            <a:endParaRPr lang="en-US" sz="1500"/>
          </a:p>
          <a:p>
            <a:pPr marL="0" indent="0">
              <a:lnSpc>
                <a:spcPts val="1950"/>
              </a:lnSpc>
              <a:spcAft>
                <a:spcPts val="0"/>
              </a:spcAft>
              <a:buNone/>
            </a:pPr>
            <a:r>
              <a:rPr lang="en-US" sz="1500" b="0">
                <a:solidFill>
                  <a:srgbClr val="202B33"/>
                </a:solidFill>
                <a:latin typeface="Arial"/>
                <a:ea typeface="Arial"/>
                <a:cs typeface="Arial"/>
              </a:rPr>
              <a:t xml:space="preserve">in a support corpus. It is still untrusted</a:t>
            </a:r>
            <a:endParaRPr lang="en-US" sz="1500"/>
          </a:p>
          <a:p>
            <a:pPr marL="0" indent="0">
              <a:lnSpc>
                <a:spcPts val="1950"/>
              </a:lnSpc>
              <a:spcAft>
                <a:spcPts val="0"/>
              </a:spcAft>
              <a:buNone/>
            </a:pPr>
            <a:r>
              <a:rPr lang="en-US" sz="1500" b="0">
                <a:solidFill>
                  <a:srgbClr val="202B33"/>
                </a:solidFill>
                <a:latin typeface="Arial"/>
                <a:ea typeface="Arial"/>
                <a:cs typeface="Arial"/>
              </a:rPr>
              <a:t xml:space="preserve">input.</a:t>
            </a:r>
            <a:endParaRPr lang="en-US" sz="1500"/>
          </a:p>
          <a:p>
            <a:pPr marL="0" indent="0">
              <a:lnSpc>
                <a:spcPts val="1950"/>
              </a:lnSpc>
              <a:spcAft>
                <a:spcPts val="0"/>
              </a:spcAft>
              <a:buNone/>
            </a:pPr>
            <a:r>
              <a:rPr lang="en-US" sz="1500" b="0">
                <a:solidFill>
                  <a:srgbClr val="202B33"/>
                </a:solidFill>
                <a:latin typeface="Arial"/>
                <a:ea typeface="Arial"/>
                <a:cs typeface="Arial"/>
              </a:rPr>
              <a:t xml:space="preserve"/>
            </a:r>
            <a:endParaRPr lang="en-US" sz="1500"/>
          </a:p>
          <a:p>
            <a:pPr marL="0" indent="0">
              <a:lnSpc>
                <a:spcPts val="1950"/>
              </a:lnSpc>
              <a:spcAft>
                <a:spcPts val="0"/>
              </a:spcAft>
              <a:buNone/>
            </a:pPr>
            <a:r>
              <a:rPr lang="en-US" sz="1500" b="0">
                <a:solidFill>
                  <a:srgbClr val="202B33"/>
                </a:solidFill>
                <a:latin typeface="Arial"/>
                <a:ea typeface="Arial"/>
                <a:cs typeface="Arial"/>
              </a:rPr>
              <a:t xml:space="preserve">The ranking score answers how well the</a:t>
            </a:r>
            <a:endParaRPr lang="en-US" sz="1500"/>
          </a:p>
          <a:p>
            <a:pPr marL="0" indent="0">
              <a:lnSpc>
                <a:spcPts val="1950"/>
              </a:lnSpc>
              <a:spcAft>
                <a:spcPts val="0"/>
              </a:spcAft>
              <a:buNone/>
            </a:pPr>
            <a:r>
              <a:rPr lang="en-US" sz="1500" b="0">
                <a:solidFill>
                  <a:srgbClr val="202B33"/>
                </a:solidFill>
                <a:latin typeface="Arial"/>
                <a:ea typeface="Arial"/>
                <a:cs typeface="Arial"/>
              </a:rPr>
              <a:t xml:space="preserve">content matches a retrieval objective. It</a:t>
            </a:r>
            <a:endParaRPr lang="en-US" sz="1500"/>
          </a:p>
        </p:txBody>
      </p:sp>
      <p:sp>
        <p:nvSpPr>
          <p:cNvPr id="5" name="Text 5"/>
          <p:cNvSpPr txBox="1"/>
          <p:nvPr/>
        </p:nvSpPr>
        <p:spPr>
          <a:xfrm>
            <a:off x="5238750" y="1971675"/>
            <a:ext cx="4362450" cy="5314950"/>
          </a:xfrm>
          <a:prstGeom prst="rect">
            <a:avLst/>
          </a:prstGeom>
          <a:noFill/>
          <a:ln>
            <a:noFill/>
          </a:ln>
        </p:spPr>
        <p:txBody>
          <a:bodyPr wrap="none" lIns="0" tIns="0" rIns="0" bIns="0" anchor="t">
            <a:noAutofit/>
          </a:bodyPr>
          <a:lstStyle/>
          <a:p>
            <a:pPr marL="0" indent="0">
              <a:lnSpc>
                <a:spcPts val="1950"/>
              </a:lnSpc>
              <a:spcAft>
                <a:spcPts val="0"/>
              </a:spcAft>
              <a:buNone/>
            </a:pPr>
            <a:r>
              <a:rPr lang="en-US" sz="1500" b="0">
                <a:solidFill>
                  <a:srgbClr val="202B33"/>
                </a:solidFill>
                <a:latin typeface="Arial"/>
                <a:ea typeface="Arial"/>
                <a:cs typeface="Arial"/>
              </a:rPr>
              <a:t xml:space="preserve">does not authorize an action. Keep tool</a:t>
            </a:r>
            <a:endParaRPr lang="en-US" sz="1500"/>
          </a:p>
          <a:p>
            <a:pPr marL="0" indent="0">
              <a:lnSpc>
                <a:spcPts val="1950"/>
              </a:lnSpc>
              <a:spcAft>
                <a:spcPts val="0"/>
              </a:spcAft>
              <a:buNone/>
            </a:pPr>
            <a:r>
              <a:rPr lang="en-US" sz="1500" b="0">
                <a:solidFill>
                  <a:srgbClr val="202B33"/>
                </a:solidFill>
                <a:latin typeface="Arial"/>
                <a:ea typeface="Arial"/>
                <a:cs typeface="Arial"/>
              </a:rPr>
              <a:t xml:space="preserve">permissions and policy checks outside the</a:t>
            </a:r>
            <a:endParaRPr lang="en-US" sz="1500"/>
          </a:p>
          <a:p>
            <a:pPr marL="0" indent="0">
              <a:lnSpc>
                <a:spcPts val="1950"/>
              </a:lnSpc>
              <a:spcAft>
                <a:spcPts val="0"/>
              </a:spcAft>
              <a:buNone/>
            </a:pPr>
            <a:r>
              <a:rPr lang="en-US" sz="1500" b="0">
                <a:solidFill>
                  <a:srgbClr val="202B33"/>
                </a:solidFill>
                <a:latin typeface="Arial"/>
                <a:ea typeface="Arial"/>
                <a:cs typeface="Arial"/>
              </a:rPr>
              <a:t xml:space="preserve">retrieved document's control. A signed</a:t>
            </a:r>
            <a:endParaRPr lang="en-US" sz="1500"/>
          </a:p>
          <a:p>
            <a:pPr marL="0" indent="0">
              <a:lnSpc>
                <a:spcPts val="1950"/>
              </a:lnSpc>
              <a:spcAft>
                <a:spcPts val="0"/>
              </a:spcAft>
              <a:buNone/>
            </a:pPr>
            <a:r>
              <a:rPr lang="en-US" sz="1500" b="0">
                <a:solidFill>
                  <a:srgbClr val="202B33"/>
                </a:solidFill>
                <a:latin typeface="Arial"/>
                <a:ea typeface="Arial"/>
                <a:cs typeface="Arial"/>
              </a:rPr>
              <a:t xml:space="preserve">cancellation exception can supply facts for</a:t>
            </a:r>
            <a:endParaRPr lang="en-US" sz="1500"/>
          </a:p>
          <a:p>
            <a:pPr marL="0" indent="0">
              <a:lnSpc>
                <a:spcPts val="1950"/>
              </a:lnSpc>
              <a:spcAft>
                <a:spcPts val="0"/>
              </a:spcAft>
              <a:buNone/>
            </a:pPr>
            <a:r>
              <a:rPr lang="en-US" sz="1500" b="0">
                <a:solidFill>
                  <a:srgbClr val="202B33"/>
                </a:solidFill>
                <a:latin typeface="Arial"/>
                <a:ea typeface="Arial"/>
                <a:cs typeface="Arial"/>
              </a:rPr>
              <a:t xml:space="preserve">a decision; it cannot change which account</a:t>
            </a:r>
            <a:endParaRPr lang="en-US" sz="1500"/>
          </a:p>
          <a:p>
            <a:pPr marL="0" indent="0">
              <a:lnSpc>
                <a:spcPts val="1950"/>
              </a:lnSpc>
              <a:spcAft>
                <a:spcPts val="0"/>
              </a:spcAft>
              <a:buNone/>
            </a:pPr>
            <a:r>
              <a:rPr lang="en-US" sz="1500" b="0">
                <a:solidFill>
                  <a:srgbClr val="202B33"/>
                </a:solidFill>
                <a:latin typeface="Arial"/>
                <a:ea typeface="Arial"/>
                <a:cs typeface="Arial"/>
              </a:rPr>
              <a:t xml:space="preserve">the tool is permitted to modify.</a:t>
            </a:r>
            <a:endParaRPr lang="en-US" sz="1500"/>
          </a:p>
          <a:p>
            <a:pPr marL="0" indent="0">
              <a:lnSpc>
                <a:spcPts val="1950"/>
              </a:lnSpc>
              <a:spcAft>
                <a:spcPts val="0"/>
              </a:spcAft>
              <a:buNone/>
            </a:pPr>
            <a:r>
              <a:rPr lang="en-US" sz="1500" b="0">
                <a:solidFill>
                  <a:srgbClr val="202B33"/>
                </a:solidFill>
                <a:latin typeface="Arial"/>
                <a:ea typeface="Arial"/>
                <a:cs typeface="Arial"/>
              </a:rPr>
              <a:t xml:space="preserve"/>
            </a:r>
            <a:endParaRPr lang="en-US" sz="1500"/>
          </a:p>
          <a:p>
            <a:pPr marL="0" indent="0">
              <a:lnSpc>
                <a:spcPts val="1950"/>
              </a:lnSpc>
              <a:spcAft>
                <a:spcPts val="0"/>
              </a:spcAft>
              <a:buNone/>
            </a:pPr>
            <a:r>
              <a:rPr lang="en-US" sz="1500" b="0">
                <a:solidFill>
                  <a:srgbClr val="202B33"/>
                </a:solidFill>
                <a:latin typeface="Arial"/>
                <a:ea typeface="Arial"/>
                <a:cs typeface="Arial"/>
              </a:rPr>
              <a:t xml:space="preserve">Keep this boundary in the end-to-end</a:t>
            </a:r>
            <a:endParaRPr lang="en-US" sz="1500"/>
          </a:p>
          <a:p>
            <a:pPr marL="0" indent="0">
              <a:lnSpc>
                <a:spcPts val="1950"/>
              </a:lnSpc>
              <a:spcAft>
                <a:spcPts val="0"/>
              </a:spcAft>
              <a:buNone/>
            </a:pPr>
            <a:r>
              <a:rPr lang="en-US" sz="1500" b="0">
                <a:solidFill>
                  <a:srgbClr val="202B33"/>
                </a:solidFill>
                <a:latin typeface="Arial"/>
                <a:ea typeface="Arial"/>
                <a:cs typeface="Arial"/>
              </a:rPr>
              <a:t xml:space="preserve">evaluation. Retrieval success, answer</a:t>
            </a:r>
            <a:endParaRPr lang="en-US" sz="1500"/>
          </a:p>
          <a:p>
            <a:pPr marL="0" indent="0">
              <a:lnSpc>
                <a:spcPts val="1950"/>
              </a:lnSpc>
              <a:spcAft>
                <a:spcPts val="0"/>
              </a:spcAft>
              <a:buNone/>
            </a:pPr>
            <a:r>
              <a:rPr lang="en-US" sz="1500" b="0">
                <a:solidFill>
                  <a:srgbClr val="202B33"/>
                </a:solidFill>
                <a:latin typeface="Arial"/>
                <a:ea typeface="Arial"/>
                <a:cs typeface="Arial"/>
              </a:rPr>
              <a:t xml:space="preserve">correctness, and action authorization are</a:t>
            </a:r>
            <a:endParaRPr lang="en-US" sz="1500"/>
          </a:p>
          <a:p>
            <a:pPr marL="0" indent="0">
              <a:lnSpc>
                <a:spcPts val="1950"/>
              </a:lnSpc>
              <a:spcAft>
                <a:spcPts val="0"/>
              </a:spcAft>
              <a:buNone/>
            </a:pPr>
            <a:r>
              <a:rPr lang="en-US" sz="1500" b="0">
                <a:solidFill>
                  <a:srgbClr val="202B33"/>
                </a:solidFill>
                <a:latin typeface="Arial"/>
                <a:ea typeface="Arial"/>
                <a:cs typeface="Arial"/>
              </a:rPr>
              <a:t xml:space="preserve">separate results. A useful citation does</a:t>
            </a:r>
            <a:endParaRPr lang="en-US" sz="1500"/>
          </a:p>
          <a:p>
            <a:pPr marL="0" indent="0">
              <a:lnSpc>
                <a:spcPts val="1950"/>
              </a:lnSpc>
              <a:spcAft>
                <a:spcPts val="0"/>
              </a:spcAft>
              <a:buNone/>
            </a:pPr>
            <a:r>
              <a:rPr lang="en-US" sz="1500" b="0">
                <a:solidFill>
                  <a:srgbClr val="202B33"/>
                </a:solidFill>
                <a:latin typeface="Arial"/>
                <a:ea typeface="Arial"/>
                <a:cs typeface="Arial"/>
              </a:rPr>
              <a:t xml:space="preserve">not turn a document into a supervisor.</a:t>
            </a:r>
            <a:endParaRPr lang="en-US" sz="1500"/>
          </a:p>
        </p:txBody>
      </p:sp>
      <p:sp>
        <p:nvSpPr>
          <p:cNvPr id="6" name="Text 6"/>
          <p:cNvSpPr txBox="1"/>
          <p:nvPr/>
        </p:nvSpPr>
        <p:spPr>
          <a:xfrm>
            <a:off x="457200" y="7486650"/>
            <a:ext cx="8820150" cy="190500"/>
          </a:xfrm>
          <a:prstGeom prst="rect">
            <a:avLst/>
          </a:prstGeom>
          <a:noFill/>
          <a:ln>
            <a:noFill/>
          </a:ln>
        </p:spPr>
        <p:txBody>
          <a:bodyPr wrap="none" lIns="0" tIns="0" rIns="0" bIns="0" anchor="t">
            <a:noAutofit/>
          </a:bodyPr>
          <a:lstStyle/>
          <a:p>
            <a:pPr marL="0" indent="0">
              <a:lnSpc>
                <a:spcPts val="1268"/>
              </a:lnSpc>
              <a:spcAft>
                <a:spcPts val="0"/>
              </a:spcAft>
              <a:buNone/>
            </a:pPr>
            <a:r>
              <a:rPr lang="en-US" sz="975" b="0">
                <a:solidFill>
                  <a:srgbClr val="48555B"/>
                </a:solidFill>
                <a:latin typeface="Arial"/>
                <a:ea typeface="Arial"/>
                <a:cs typeface="Arial"/>
              </a:rPr>
              <a:t xml:space="preserve">Three Search Methods in a Fundable Trenchcoat</a:t>
            </a:r>
            <a:endParaRPr lang="en-US" sz="975"/>
          </a:p>
        </p:txBody>
      </p:sp>
      <p:sp>
        <p:nvSpPr>
          <p:cNvPr id="7" name="Text 7"/>
          <p:cNvSpPr txBox="1"/>
          <p:nvPr/>
        </p:nvSpPr>
        <p:spPr>
          <a:xfrm>
            <a:off x="9391650" y="7486650"/>
            <a:ext cx="238125" cy="190500"/>
          </a:xfrm>
          <a:prstGeom prst="rect">
            <a:avLst/>
          </a:prstGeom>
          <a:noFill/>
          <a:ln>
            <a:noFill/>
          </a:ln>
        </p:spPr>
        <p:txBody>
          <a:bodyPr wrap="none" lIns="0" tIns="0" rIns="0" bIns="0" anchor="t">
            <a:noAutofit/>
          </a:bodyPr>
          <a:lstStyle/>
          <a:p>
            <a:pPr marL="0" indent="0">
              <a:lnSpc>
                <a:spcPts val="1268"/>
              </a:lnSpc>
              <a:spcAft>
                <a:spcPts val="0"/>
              </a:spcAft>
              <a:buNone/>
            </a:pPr>
            <a:r>
              <a:rPr lang="en-US" sz="975" b="0">
                <a:solidFill>
                  <a:srgbClr val="48555B"/>
                </a:solidFill>
                <a:latin typeface="Arial"/>
                <a:ea typeface="Arial"/>
                <a:cs typeface="Arial"/>
              </a:rPr>
              <a:t xml:space="preserve">14</a:t>
            </a:r>
            <a:endParaRPr lang="en-US" sz="975"/>
          </a:p>
        </p:txBody>
      </p:sp>
    </p:spTree>
  </p:cSld>
  <p:clrMapOvr>
    <a:masterClrMapping/>
  </p:clrMapOvr>
</p:sld>
</file>

<file path=ppt/slides/slide15.xml><?xml version="1.0" encoding="utf-8"?>
<p:sld xmlns:a="http://schemas.openxmlformats.org/drawingml/2006/main" xmlns:r="http://schemas.openxmlformats.org/officeDocument/2006/relationships" xmlns:p="http://schemas.openxmlformats.org/presentationml/2006/main">
  <p:cSld name="Slide 15">
    <p:bg>
      <p:bgPr>
        <a:solidFill>
          <a:srgbClr val="FAFAF7"/>
        </a:solidFill>
        <a:effectLst/>
      </p:bgPr>
    </p:bg>
    <p:spTree>
      <p:nvGrpSpPr>
        <p:cNvPr id="1" name=""/>
        <p:cNvGrpSpPr/>
        <p:nvPr/>
      </p:nvGrpSpPr>
      <p:grpSpPr>
        <a:xfrm>
          <a:off x="0" y="0"/>
          <a:ext cx="0" cy="0"/>
          <a:chOff x="0" y="0"/>
          <a:chExt cx="0" cy="0"/>
        </a:xfrm>
      </p:grpSpPr>
      <p:sp>
        <p:nvSpPr>
          <p:cNvPr id="2" name="Text 2"/>
          <p:cNvSpPr txBox="1"/>
          <p:nvPr/>
        </p:nvSpPr>
        <p:spPr>
          <a:xfrm>
            <a:off x="457200" y="266700"/>
            <a:ext cx="9144000" cy="228600"/>
          </a:xfrm>
          <a:prstGeom prst="rect">
            <a:avLst/>
          </a:prstGeom>
          <a:noFill/>
          <a:ln>
            <a:noFill/>
          </a:ln>
        </p:spPr>
        <p:txBody>
          <a:bodyPr wrap="none" lIns="0" tIns="0" rIns="0" bIns="0" anchor="t">
            <a:noAutofit/>
          </a:bodyPr>
          <a:lstStyle/>
          <a:p>
            <a:pPr marL="0" indent="0">
              <a:lnSpc>
                <a:spcPts val="1365"/>
              </a:lnSpc>
              <a:spcAft>
                <a:spcPts val="0"/>
              </a:spcAft>
              <a:buNone/>
            </a:pPr>
            <a:r>
              <a:rPr lang="en-US" sz="1050" b="1">
                <a:solidFill>
                  <a:srgbClr val="246957"/>
                </a:solidFill>
                <a:latin typeface="Arial"/>
                <a:ea typeface="Arial"/>
                <a:cs typeface="Arial"/>
              </a:rPr>
              <a:t xml:space="preserve">14 / 15    SOURCE SLIDE 14</a:t>
            </a:r>
            <a:endParaRPr lang="en-US" sz="1050"/>
          </a:p>
        </p:txBody>
      </p:sp>
      <p:sp>
        <p:nvSpPr>
          <p:cNvPr id="3" name="Text 3"/>
          <p:cNvSpPr txBox="1"/>
          <p:nvPr/>
        </p:nvSpPr>
        <p:spPr>
          <a:xfrm>
            <a:off x="457200" y="657225"/>
            <a:ext cx="9144000" cy="1104900"/>
          </a:xfrm>
          <a:prstGeom prst="rect">
            <a:avLst/>
          </a:prstGeom>
          <a:noFill/>
          <a:ln>
            <a:noFill/>
          </a:ln>
        </p:spPr>
        <p:txBody>
          <a:bodyPr wrap="none" lIns="0" tIns="0" rIns="0" bIns="0" anchor="t">
            <a:noAutofit/>
          </a:bodyPr>
          <a:lstStyle/>
          <a:p>
            <a:pPr marL="0" indent="0">
              <a:lnSpc>
                <a:spcPts val="3060"/>
              </a:lnSpc>
              <a:spcAft>
                <a:spcPts val="0"/>
              </a:spcAft>
              <a:buNone/>
            </a:pPr>
            <a:r>
              <a:rPr lang="en-US" sz="2550" b="1">
                <a:solidFill>
                  <a:srgbClr val="202B33"/>
                </a:solidFill>
                <a:latin typeface="Arial"/>
                <a:ea typeface="Arial"/>
                <a:cs typeface="Arial"/>
              </a:rPr>
              <a:t xml:space="preserve">The old cost of keeping knowledge current</a:t>
            </a:r>
            <a:endParaRPr lang="en-US" sz="2550"/>
          </a:p>
        </p:txBody>
      </p:sp>
      <p:sp>
        <p:nvSpPr>
          <p:cNvPr id="4" name="Text 4"/>
          <p:cNvSpPr txBox="1"/>
          <p:nvPr/>
        </p:nvSpPr>
        <p:spPr>
          <a:xfrm>
            <a:off x="457200" y="1971675"/>
            <a:ext cx="4352925" cy="5314950"/>
          </a:xfrm>
          <a:prstGeom prst="rect">
            <a:avLst/>
          </a:prstGeom>
          <a:noFill/>
          <a:ln>
            <a:noFill/>
          </a:ln>
        </p:spPr>
        <p:txBody>
          <a:bodyPr wrap="none" lIns="0" tIns="0" rIns="0" bIns="0" anchor="t">
            <a:noAutofit/>
          </a:bodyPr>
          <a:lstStyle/>
          <a:p>
            <a:pPr marL="0" indent="0">
              <a:lnSpc>
                <a:spcPts val="1950"/>
              </a:lnSpc>
              <a:spcAft>
                <a:spcPts val="0"/>
              </a:spcAft>
              <a:buNone/>
            </a:pPr>
            <a:r>
              <a:rPr lang="en-US" sz="1500" b="0">
                <a:solidFill>
                  <a:srgbClr val="202B33"/>
                </a:solidFill>
                <a:latin typeface="Arial"/>
                <a:ea typeface="Arial"/>
                <a:cs typeface="Arial"/>
              </a:rPr>
              <a:t xml:space="preserve">McDermott’s R1: a real configuration system</a:t>
            </a:r>
            <a:endParaRPr lang="en-US" sz="1500"/>
          </a:p>
          <a:p>
            <a:pPr marL="0" indent="0">
              <a:lnSpc>
                <a:spcPts val="1950"/>
              </a:lnSpc>
              <a:spcAft>
                <a:spcPts val="0"/>
              </a:spcAft>
              <a:buNone/>
            </a:pPr>
            <a:r>
              <a:rPr lang="en-US" sz="1500" b="0">
                <a:solidFill>
                  <a:srgbClr val="202B33"/>
                </a:solidFill>
                <a:latin typeface="Arial"/>
                <a:ea typeface="Arial"/>
                <a:cs typeface="Arial"/>
              </a:rPr>
              <a:t xml:space="preserve"/>
            </a:r>
            <a:endParaRPr lang="en-US" sz="1500"/>
          </a:p>
          <a:p>
            <a:pPr marL="0" indent="0">
              <a:lnSpc>
                <a:spcPts val="1950"/>
              </a:lnSpc>
              <a:spcAft>
                <a:spcPts val="0"/>
              </a:spcAft>
              <a:buNone/>
            </a:pPr>
            <a:r>
              <a:rPr lang="en-US" sz="1500" b="0">
                <a:solidFill>
                  <a:srgbClr val="202B33"/>
                </a:solidFill>
                <a:latin typeface="Arial"/>
                <a:ea typeface="Arial"/>
                <a:cs typeface="Arial"/>
              </a:rPr>
              <a:t xml:space="preserve">Who updates the knowledge when the product</a:t>
            </a:r>
            <a:endParaRPr lang="en-US" sz="1500"/>
          </a:p>
          <a:p>
            <a:pPr marL="0" indent="0">
              <a:lnSpc>
                <a:spcPts val="1950"/>
              </a:lnSpc>
              <a:spcAft>
                <a:spcPts val="0"/>
              </a:spcAft>
              <a:buNone/>
            </a:pPr>
            <a:r>
              <a:rPr lang="en-US" sz="1500" b="0">
                <a:solidFill>
                  <a:srgbClr val="202B33"/>
                </a:solidFill>
                <a:latin typeface="Arial"/>
                <a:ea typeface="Arial"/>
                <a:cs typeface="Arial"/>
              </a:rPr>
              <a:t xml:space="preserve">changes?</a:t>
            </a:r>
            <a:endParaRPr lang="en-US" sz="1500"/>
          </a:p>
          <a:p>
            <a:pPr marL="0" indent="0">
              <a:lnSpc>
                <a:spcPts val="1950"/>
              </a:lnSpc>
              <a:spcAft>
                <a:spcPts val="0"/>
              </a:spcAft>
              <a:buNone/>
            </a:pPr>
            <a:r>
              <a:rPr lang="en-US" sz="1500" b="0">
                <a:solidFill>
                  <a:srgbClr val="202B33"/>
                </a:solidFill>
                <a:latin typeface="Arial"/>
                <a:ea typeface="Arial"/>
                <a:cs typeface="Arial"/>
              </a:rPr>
              <a:t xml:space="preserve"/>
            </a:r>
            <a:endParaRPr lang="en-US" sz="1500"/>
          </a:p>
          <a:p>
            <a:pPr marL="0" indent="0">
              <a:lnSpc>
                <a:spcPts val="1950"/>
              </a:lnSpc>
              <a:spcAft>
                <a:spcPts val="0"/>
              </a:spcAft>
              <a:buNone/>
            </a:pPr>
            <a:r>
              <a:rPr lang="en-US" sz="1500" b="0">
                <a:solidFill>
                  <a:srgbClr val="202B33"/>
                </a:solidFill>
                <a:latin typeface="Arial"/>
                <a:ea typeface="Arial"/>
                <a:cs typeface="Arial"/>
              </a:rPr>
              <a:t xml:space="preserve">McDermott's R1 configured computer systems</a:t>
            </a:r>
            <a:endParaRPr lang="en-US" sz="1500"/>
          </a:p>
          <a:p>
            <a:pPr marL="0" indent="0">
              <a:lnSpc>
                <a:spcPts val="1950"/>
              </a:lnSpc>
              <a:spcAft>
                <a:spcPts val="0"/>
              </a:spcAft>
              <a:buNone/>
            </a:pPr>
            <a:r>
              <a:rPr lang="en-US" sz="1500" b="0">
                <a:solidFill>
                  <a:srgbClr val="202B33"/>
                </a:solidFill>
                <a:latin typeface="Arial"/>
                <a:ea typeface="Arial"/>
                <a:cs typeface="Arial"/>
              </a:rPr>
              <a:t xml:space="preserve">at DEC. The journal paper is from 1982.</a:t>
            </a:r>
            <a:endParaRPr lang="en-US" sz="1500"/>
          </a:p>
          <a:p>
            <a:pPr marL="0" indent="0">
              <a:lnSpc>
                <a:spcPts val="1950"/>
              </a:lnSpc>
              <a:spcAft>
                <a:spcPts val="0"/>
              </a:spcAft>
              <a:buNone/>
            </a:pPr>
            <a:r>
              <a:rPr lang="en-US" sz="1500" b="0">
                <a:solidFill>
                  <a:srgbClr val="202B33"/>
                </a:solidFill>
                <a:latin typeface="Arial"/>
                <a:ea typeface="Arial"/>
                <a:cs typeface="Arial"/>
              </a:rPr>
              <a:t xml:space="preserve">This was working software.</a:t>
            </a:r>
            <a:endParaRPr lang="en-US" sz="1500"/>
          </a:p>
          <a:p>
            <a:pPr marL="0" indent="0">
              <a:lnSpc>
                <a:spcPts val="1950"/>
              </a:lnSpc>
              <a:spcAft>
                <a:spcPts val="0"/>
              </a:spcAft>
              <a:buNone/>
            </a:pPr>
            <a:r>
              <a:rPr lang="en-US" sz="1500" b="0">
                <a:solidFill>
                  <a:srgbClr val="202B33"/>
                </a:solidFill>
                <a:latin typeface="Arial"/>
                <a:ea typeface="Arial"/>
                <a:cs typeface="Arial"/>
              </a:rPr>
              <a:t xml:space="preserve"/>
            </a:r>
            <a:endParaRPr lang="en-US" sz="1500"/>
          </a:p>
          <a:p>
            <a:pPr marL="0" indent="0">
              <a:lnSpc>
                <a:spcPts val="1950"/>
              </a:lnSpc>
              <a:spcAft>
                <a:spcPts val="0"/>
              </a:spcAft>
              <a:buNone/>
            </a:pPr>
            <a:r>
              <a:rPr lang="en-US" sz="1500" b="0">
                <a:solidFill>
                  <a:srgbClr val="202B33"/>
                </a:solidFill>
                <a:latin typeface="Arial"/>
                <a:ea typeface="Arial"/>
                <a:cs typeface="Arial"/>
              </a:rPr>
              <a:t xml:space="preserve">The useful question is who supplies and</a:t>
            </a:r>
            <a:endParaRPr lang="en-US" sz="1500"/>
          </a:p>
          <a:p>
            <a:pPr marL="0" indent="0">
              <a:lnSpc>
                <a:spcPts val="1950"/>
              </a:lnSpc>
              <a:spcAft>
                <a:spcPts val="0"/>
              </a:spcAft>
              <a:buNone/>
            </a:pPr>
            <a:r>
              <a:rPr lang="en-US" sz="1500" b="0">
                <a:solidFill>
                  <a:srgbClr val="202B33"/>
                </a:solidFill>
                <a:latin typeface="Arial"/>
                <a:ea typeface="Arial"/>
                <a:cs typeface="Arial"/>
              </a:rPr>
              <a:t xml:space="preserve">maintains the domain knowledge. Our</a:t>
            </a:r>
            <a:endParaRPr lang="en-US" sz="1500"/>
          </a:p>
          <a:p>
            <a:pPr marL="0" indent="0">
              <a:lnSpc>
                <a:spcPts val="1950"/>
              </a:lnSpc>
              <a:spcAft>
                <a:spcPts val="0"/>
              </a:spcAft>
              <a:buNone/>
            </a:pPr>
            <a:r>
              <a:rPr lang="en-US" sz="1500" b="0">
                <a:solidFill>
                  <a:srgbClr val="202B33"/>
                </a:solidFill>
                <a:latin typeface="Arial"/>
                <a:ea typeface="Arial"/>
                <a:cs typeface="Arial"/>
              </a:rPr>
              <a:t xml:space="preserve">retrieved policies and signed schedules</a:t>
            </a:r>
            <a:endParaRPr lang="en-US" sz="1500"/>
          </a:p>
        </p:txBody>
      </p:sp>
      <p:sp>
        <p:nvSpPr>
          <p:cNvPr id="5" name="Text 5"/>
          <p:cNvSpPr txBox="1"/>
          <p:nvPr/>
        </p:nvSpPr>
        <p:spPr>
          <a:xfrm>
            <a:off x="5238750" y="1971675"/>
            <a:ext cx="4362450" cy="5314950"/>
          </a:xfrm>
          <a:prstGeom prst="rect">
            <a:avLst/>
          </a:prstGeom>
          <a:noFill/>
          <a:ln>
            <a:noFill/>
          </a:ln>
        </p:spPr>
        <p:txBody>
          <a:bodyPr wrap="none" lIns="0" tIns="0" rIns="0" bIns="0" anchor="t">
            <a:noAutofit/>
          </a:bodyPr>
          <a:lstStyle/>
          <a:p>
            <a:pPr marL="0" indent="0">
              <a:lnSpc>
                <a:spcPts val="1950"/>
              </a:lnSpc>
              <a:spcAft>
                <a:spcPts val="0"/>
              </a:spcAft>
              <a:buNone/>
            </a:pPr>
            <a:r>
              <a:rPr lang="en-US" sz="1500" b="0">
                <a:solidFill>
                  <a:srgbClr val="202B33"/>
                </a:solidFill>
                <a:latin typeface="Arial"/>
                <a:ea typeface="Arial"/>
                <a:cs typeface="Arial"/>
              </a:rPr>
              <a:t xml:space="preserve">have the same operational obligation:</a:t>
            </a:r>
            <a:endParaRPr lang="en-US" sz="1500"/>
          </a:p>
          <a:p>
            <a:pPr marL="0" indent="0">
              <a:lnSpc>
                <a:spcPts val="1950"/>
              </a:lnSpc>
              <a:spcAft>
                <a:spcPts val="0"/>
              </a:spcAft>
              <a:buNone/>
            </a:pPr>
            <a:r>
              <a:rPr lang="en-US" sz="1500" b="0">
                <a:solidFill>
                  <a:srgbClr val="202B33"/>
                </a:solidFill>
                <a:latin typeface="Arial"/>
                <a:ea typeface="Arial"/>
                <a:cs typeface="Arial"/>
              </a:rPr>
              <a:t xml:space="preserve">somebody must know when they change, what</a:t>
            </a:r>
            <a:endParaRPr lang="en-US" sz="1500"/>
          </a:p>
          <a:p>
            <a:pPr marL="0" indent="0">
              <a:lnSpc>
                <a:spcPts val="1950"/>
              </a:lnSpc>
              <a:spcAft>
                <a:spcPts val="0"/>
              </a:spcAft>
              <a:buNone/>
            </a:pPr>
            <a:r>
              <a:rPr lang="en-US" sz="1500" b="0">
                <a:solidFill>
                  <a:srgbClr val="202B33"/>
                </a:solidFill>
                <a:latin typeface="Arial"/>
                <a:ea typeface="Arial"/>
                <a:cs typeface="Arial"/>
              </a:rPr>
              <a:t xml:space="preserve">supersedes them, and which decisions depend</a:t>
            </a:r>
            <a:endParaRPr lang="en-US" sz="1500"/>
          </a:p>
          <a:p>
            <a:pPr marL="0" indent="0">
              <a:lnSpc>
                <a:spcPts val="1950"/>
              </a:lnSpc>
              <a:spcAft>
                <a:spcPts val="0"/>
              </a:spcAft>
              <a:buNone/>
            </a:pPr>
            <a:r>
              <a:rPr lang="en-US" sz="1500" b="0">
                <a:solidFill>
                  <a:srgbClr val="202B33"/>
                </a:solidFill>
                <a:latin typeface="Arial"/>
                <a:ea typeface="Arial"/>
                <a:cs typeface="Arial"/>
              </a:rPr>
              <a:t xml:space="preserve">on them.</a:t>
            </a:r>
            <a:endParaRPr lang="en-US" sz="1500"/>
          </a:p>
          <a:p>
            <a:pPr marL="0" indent="0">
              <a:lnSpc>
                <a:spcPts val="1950"/>
              </a:lnSpc>
              <a:spcAft>
                <a:spcPts val="0"/>
              </a:spcAft>
              <a:buNone/>
            </a:pPr>
            <a:r>
              <a:rPr lang="en-US" sz="1500" b="0">
                <a:solidFill>
                  <a:srgbClr val="202B33"/>
                </a:solidFill>
                <a:latin typeface="Arial"/>
                <a:ea typeface="Arial"/>
                <a:cs typeface="Arial"/>
              </a:rPr>
              <a:t xml:space="preserve"/>
            </a:r>
            <a:endParaRPr lang="en-US" sz="1500"/>
          </a:p>
          <a:p>
            <a:pPr marL="0" indent="0">
              <a:lnSpc>
                <a:spcPts val="1950"/>
              </a:lnSpc>
              <a:spcAft>
                <a:spcPts val="0"/>
              </a:spcAft>
              <a:buNone/>
            </a:pPr>
            <a:r>
              <a:rPr lang="en-US" sz="1500" b="0">
                <a:solidFill>
                  <a:srgbClr val="202B33"/>
                </a:solidFill>
                <a:latin typeface="Arial"/>
                <a:ea typeface="Arial"/>
                <a:cs typeface="Arial"/>
              </a:rPr>
              <a:t xml:space="preserve">A model does not remove that obligation. It</a:t>
            </a:r>
            <a:endParaRPr lang="en-US" sz="1500"/>
          </a:p>
          <a:p>
            <a:pPr marL="0" indent="0">
              <a:lnSpc>
                <a:spcPts val="1950"/>
              </a:lnSpc>
              <a:spcAft>
                <a:spcPts val="0"/>
              </a:spcAft>
              <a:buNone/>
            </a:pPr>
            <a:r>
              <a:rPr lang="en-US" sz="1500" b="0">
                <a:solidFill>
                  <a:srgbClr val="202B33"/>
                </a:solidFill>
                <a:latin typeface="Arial"/>
                <a:ea typeface="Arial"/>
                <a:cs typeface="Arial"/>
              </a:rPr>
              <a:t xml:space="preserve">makes stale knowledge easier to turn into a</a:t>
            </a:r>
            <a:endParaRPr lang="en-US" sz="1500"/>
          </a:p>
          <a:p>
            <a:pPr marL="0" indent="0">
              <a:lnSpc>
                <a:spcPts val="1950"/>
              </a:lnSpc>
              <a:spcAft>
                <a:spcPts val="0"/>
              </a:spcAft>
              <a:buNone/>
            </a:pPr>
            <a:r>
              <a:rPr lang="en-US" sz="1500" b="0">
                <a:solidFill>
                  <a:srgbClr val="202B33"/>
                </a:solidFill>
                <a:latin typeface="Arial"/>
                <a:ea typeface="Arial"/>
                <a:cs typeface="Arial"/>
              </a:rPr>
              <a:t xml:space="preserve">confident sentence. Name the owner of the</a:t>
            </a:r>
            <a:endParaRPr lang="en-US" sz="1500"/>
          </a:p>
          <a:p>
            <a:pPr marL="0" indent="0">
              <a:lnSpc>
                <a:spcPts val="1950"/>
              </a:lnSpc>
              <a:spcAft>
                <a:spcPts val="0"/>
              </a:spcAft>
              <a:buNone/>
            </a:pPr>
            <a:r>
              <a:rPr lang="en-US" sz="1500" b="0">
                <a:solidFill>
                  <a:srgbClr val="202B33"/>
                </a:solidFill>
                <a:latin typeface="Arial"/>
                <a:ea typeface="Arial"/>
                <a:cs typeface="Arial"/>
              </a:rPr>
              <a:t xml:space="preserve">corpus and the invalidation path. We do not</a:t>
            </a:r>
            <a:endParaRPr lang="en-US" sz="1500"/>
          </a:p>
          <a:p>
            <a:pPr marL="0" indent="0">
              <a:lnSpc>
                <a:spcPts val="1950"/>
              </a:lnSpc>
              <a:spcAft>
                <a:spcPts val="0"/>
              </a:spcAft>
              <a:buNone/>
            </a:pPr>
            <a:r>
              <a:rPr lang="en-US" sz="1500" b="0">
                <a:solidFill>
                  <a:srgbClr val="202B33"/>
                </a:solidFill>
                <a:latin typeface="Arial"/>
                <a:ea typeface="Arial"/>
                <a:cs typeface="Arial"/>
              </a:rPr>
              <a:t xml:space="preserve">need a grand theory of why expert systems</a:t>
            </a:r>
            <a:endParaRPr lang="en-US" sz="1500"/>
          </a:p>
          <a:p>
            <a:pPr marL="0" indent="0">
              <a:lnSpc>
                <a:spcPts val="1950"/>
              </a:lnSpc>
              <a:spcAft>
                <a:spcPts val="0"/>
              </a:spcAft>
              <a:buNone/>
            </a:pPr>
            <a:r>
              <a:rPr lang="en-US" sz="1500" b="0">
                <a:solidFill>
                  <a:srgbClr val="202B33"/>
                </a:solidFill>
                <a:latin typeface="Arial"/>
                <a:ea typeface="Arial"/>
                <a:cs typeface="Arial"/>
              </a:rPr>
              <a:t xml:space="preserve">declined to ask who updates Schedule R.</a:t>
            </a:r>
            <a:endParaRPr lang="en-US" sz="1500"/>
          </a:p>
        </p:txBody>
      </p:sp>
      <p:sp>
        <p:nvSpPr>
          <p:cNvPr id="6" name="Text 6"/>
          <p:cNvSpPr txBox="1"/>
          <p:nvPr/>
        </p:nvSpPr>
        <p:spPr>
          <a:xfrm>
            <a:off x="457200" y="7486650"/>
            <a:ext cx="8820150" cy="190500"/>
          </a:xfrm>
          <a:prstGeom prst="rect">
            <a:avLst/>
          </a:prstGeom>
          <a:noFill/>
          <a:ln>
            <a:noFill/>
          </a:ln>
        </p:spPr>
        <p:txBody>
          <a:bodyPr wrap="none" lIns="0" tIns="0" rIns="0" bIns="0" anchor="t">
            <a:noAutofit/>
          </a:bodyPr>
          <a:lstStyle/>
          <a:p>
            <a:pPr marL="0" indent="0">
              <a:lnSpc>
                <a:spcPts val="1268"/>
              </a:lnSpc>
              <a:spcAft>
                <a:spcPts val="0"/>
              </a:spcAft>
              <a:buNone/>
            </a:pPr>
            <a:r>
              <a:rPr lang="en-US" sz="975" b="0">
                <a:solidFill>
                  <a:srgbClr val="48555B"/>
                </a:solidFill>
                <a:latin typeface="Arial"/>
                <a:ea typeface="Arial"/>
                <a:cs typeface="Arial"/>
              </a:rPr>
              <a:t xml:space="preserve">Three Search Methods in a Fundable Trenchcoat</a:t>
            </a:r>
            <a:endParaRPr lang="en-US" sz="975"/>
          </a:p>
        </p:txBody>
      </p:sp>
      <p:sp>
        <p:nvSpPr>
          <p:cNvPr id="7" name="Text 7"/>
          <p:cNvSpPr txBox="1"/>
          <p:nvPr/>
        </p:nvSpPr>
        <p:spPr>
          <a:xfrm>
            <a:off x="9391650" y="7486650"/>
            <a:ext cx="238125" cy="190500"/>
          </a:xfrm>
          <a:prstGeom prst="rect">
            <a:avLst/>
          </a:prstGeom>
          <a:noFill/>
          <a:ln>
            <a:noFill/>
          </a:ln>
        </p:spPr>
        <p:txBody>
          <a:bodyPr wrap="none" lIns="0" tIns="0" rIns="0" bIns="0" anchor="t">
            <a:noAutofit/>
          </a:bodyPr>
          <a:lstStyle/>
          <a:p>
            <a:pPr marL="0" indent="0">
              <a:lnSpc>
                <a:spcPts val="1268"/>
              </a:lnSpc>
              <a:spcAft>
                <a:spcPts val="0"/>
              </a:spcAft>
              <a:buNone/>
            </a:pPr>
            <a:r>
              <a:rPr lang="en-US" sz="975" b="0">
                <a:solidFill>
                  <a:srgbClr val="48555B"/>
                </a:solidFill>
                <a:latin typeface="Arial"/>
                <a:ea typeface="Arial"/>
                <a:cs typeface="Arial"/>
              </a:rPr>
              <a:t xml:space="preserve">15</a:t>
            </a:r>
            <a:endParaRPr lang="en-US" sz="975"/>
          </a:p>
        </p:txBody>
      </p:sp>
    </p:spTree>
  </p:cSld>
  <p:clrMapOvr>
    <a:masterClrMapping/>
  </p:clrMapOvr>
</p:sld>
</file>

<file path=ppt/slides/slide16.xml><?xml version="1.0" encoding="utf-8"?>
<p:sld xmlns:a="http://schemas.openxmlformats.org/drawingml/2006/main" xmlns:r="http://schemas.openxmlformats.org/officeDocument/2006/relationships" xmlns:p="http://schemas.openxmlformats.org/presentationml/2006/main">
  <p:cSld name="Slide 16">
    <p:bg>
      <p:bgPr>
        <a:solidFill>
          <a:srgbClr val="FAFAF7"/>
        </a:solidFill>
        <a:effectLst/>
      </p:bgPr>
    </p:bg>
    <p:spTree>
      <p:nvGrpSpPr>
        <p:cNvPr id="1" name=""/>
        <p:cNvGrpSpPr/>
        <p:nvPr/>
      </p:nvGrpSpPr>
      <p:grpSpPr>
        <a:xfrm>
          <a:off x="0" y="0"/>
          <a:ext cx="0" cy="0"/>
          <a:chOff x="0" y="0"/>
          <a:chExt cx="0" cy="0"/>
        </a:xfrm>
      </p:grpSpPr>
      <p:sp>
        <p:nvSpPr>
          <p:cNvPr id="2" name="Text 2"/>
          <p:cNvSpPr txBox="1"/>
          <p:nvPr/>
        </p:nvSpPr>
        <p:spPr>
          <a:xfrm>
            <a:off x="457200" y="266700"/>
            <a:ext cx="9144000" cy="228600"/>
          </a:xfrm>
          <a:prstGeom prst="rect">
            <a:avLst/>
          </a:prstGeom>
          <a:noFill/>
          <a:ln>
            <a:noFill/>
          </a:ln>
        </p:spPr>
        <p:txBody>
          <a:bodyPr wrap="none" lIns="0" tIns="0" rIns="0" bIns="0" anchor="t">
            <a:noAutofit/>
          </a:bodyPr>
          <a:lstStyle/>
          <a:p>
            <a:pPr marL="0" indent="0">
              <a:lnSpc>
                <a:spcPts val="1365"/>
              </a:lnSpc>
              <a:spcAft>
                <a:spcPts val="0"/>
              </a:spcAft>
              <a:buNone/>
            </a:pPr>
            <a:r>
              <a:rPr lang="en-US" sz="1050" b="1">
                <a:solidFill>
                  <a:srgbClr val="246957"/>
                </a:solidFill>
                <a:latin typeface="Arial"/>
                <a:ea typeface="Arial"/>
                <a:cs typeface="Arial"/>
              </a:rPr>
              <a:t xml:space="preserve">15 / 15    SOURCE SLIDE 15</a:t>
            </a:r>
            <a:endParaRPr lang="en-US" sz="1050"/>
          </a:p>
        </p:txBody>
      </p:sp>
      <p:sp>
        <p:nvSpPr>
          <p:cNvPr id="3" name="Text 3"/>
          <p:cNvSpPr txBox="1"/>
          <p:nvPr/>
        </p:nvSpPr>
        <p:spPr>
          <a:xfrm>
            <a:off x="457200" y="657225"/>
            <a:ext cx="9144000" cy="1104900"/>
          </a:xfrm>
          <a:prstGeom prst="rect">
            <a:avLst/>
          </a:prstGeom>
          <a:noFill/>
          <a:ln>
            <a:noFill/>
          </a:ln>
        </p:spPr>
        <p:txBody>
          <a:bodyPr wrap="none" lIns="0" tIns="0" rIns="0" bIns="0" anchor="t">
            <a:noAutofit/>
          </a:bodyPr>
          <a:lstStyle/>
          <a:p>
            <a:pPr marL="0" indent="0">
              <a:lnSpc>
                <a:spcPts val="3060"/>
              </a:lnSpc>
              <a:spcAft>
                <a:spcPts val="0"/>
              </a:spcAft>
              <a:buNone/>
            </a:pPr>
            <a:r>
              <a:rPr lang="en-US" sz="2550" b="1">
                <a:solidFill>
                  <a:srgbClr val="202B33"/>
                </a:solidFill>
                <a:latin typeface="Arial"/>
                <a:ea typeface="Arial"/>
                <a:cs typeface="Arial"/>
              </a:rPr>
              <a:t xml:space="preserve">Eight words. Sixty years. One instruction.</a:t>
            </a:r>
            <a:endParaRPr lang="en-US" sz="2550"/>
          </a:p>
        </p:txBody>
      </p:sp>
      <p:sp>
        <p:nvSpPr>
          <p:cNvPr id="4" name="Text 4"/>
          <p:cNvSpPr txBox="1"/>
          <p:nvPr/>
        </p:nvSpPr>
        <p:spPr>
          <a:xfrm>
            <a:off x="457200" y="1971675"/>
            <a:ext cx="4352925" cy="5314950"/>
          </a:xfrm>
          <a:prstGeom prst="rect">
            <a:avLst/>
          </a:prstGeom>
          <a:noFill/>
          <a:ln>
            <a:noFill/>
          </a:ln>
        </p:spPr>
        <p:txBody>
          <a:bodyPr wrap="none" lIns="0" tIns="0" rIns="0" bIns="0" anchor="t">
            <a:noAutofit/>
          </a:bodyPr>
          <a:lstStyle/>
          <a:p>
            <a:pPr marL="0" indent="0">
              <a:lnSpc>
                <a:spcPts val="1950"/>
              </a:lnSpc>
              <a:spcAft>
                <a:spcPts val="0"/>
              </a:spcAft>
              <a:buNone/>
            </a:pPr>
            <a:r>
              <a:rPr lang="en-US" sz="1500" b="0">
                <a:solidFill>
                  <a:srgbClr val="202B33"/>
                </a:solidFill>
                <a:latin typeface="Arial"/>
                <a:ea typeface="Arial"/>
                <a:cs typeface="Arial"/>
              </a:rPr>
              <a:t xml:space="preserve">Three search methods. One instrument nobody</a:t>
            </a:r>
            <a:endParaRPr lang="en-US" sz="1500"/>
          </a:p>
          <a:p>
            <a:pPr marL="0" indent="0">
              <a:lnSpc>
                <a:spcPts val="1950"/>
              </a:lnSpc>
              <a:spcAft>
                <a:spcPts val="0"/>
              </a:spcAft>
              <a:buNone/>
            </a:pPr>
            <a:r>
              <a:rPr lang="en-US" sz="1500" b="0">
                <a:solidFill>
                  <a:srgbClr val="202B33"/>
                </a:solidFill>
                <a:latin typeface="Arial"/>
                <a:ea typeface="Arial"/>
                <a:cs typeface="Arial"/>
              </a:rPr>
              <a:t xml:space="preserve">checked.</a:t>
            </a:r>
            <a:endParaRPr lang="en-US" sz="1500"/>
          </a:p>
          <a:p>
            <a:pPr marL="0" indent="0">
              <a:lnSpc>
                <a:spcPts val="1950"/>
              </a:lnSpc>
              <a:spcAft>
                <a:spcPts val="0"/>
              </a:spcAft>
              <a:buNone/>
            </a:pPr>
            <a:r>
              <a:rPr lang="en-US" sz="1500" b="0">
                <a:solidFill>
                  <a:srgbClr val="202B33"/>
                </a:solidFill>
                <a:latin typeface="Arial"/>
                <a:ea typeface="Arial"/>
                <a:cs typeface="Arial"/>
              </a:rPr>
              <a:t xml:space="preserve"/>
            </a:r>
            <a:endParaRPr lang="en-US" sz="1500"/>
          </a:p>
          <a:p>
            <a:pPr marL="0" indent="0">
              <a:lnSpc>
                <a:spcPts val="1950"/>
              </a:lnSpc>
              <a:spcAft>
                <a:spcPts val="0"/>
              </a:spcAft>
              <a:buNone/>
            </a:pPr>
            <a:r>
              <a:rPr lang="en-US" sz="1500" b="0">
                <a:solidFill>
                  <a:srgbClr val="202B33"/>
                </a:solidFill>
                <a:latin typeface="Arial"/>
                <a:ea typeface="Arial"/>
                <a:cs typeface="Arial"/>
              </a:rPr>
              <a:t xml:space="preserve">Find the documents your eval never judged.</a:t>
            </a:r>
            <a:endParaRPr lang="en-US" sz="1500"/>
          </a:p>
          <a:p>
            <a:pPr marL="0" indent="0">
              <a:lnSpc>
                <a:spcPts val="1950"/>
              </a:lnSpc>
              <a:spcAft>
                <a:spcPts val="0"/>
              </a:spcAft>
              <a:buNone/>
            </a:pPr>
            <a:r>
              <a:rPr lang="en-US" sz="1500" b="0">
                <a:solidFill>
                  <a:srgbClr val="202B33"/>
                </a:solidFill>
                <a:latin typeface="Arial"/>
                <a:ea typeface="Arial"/>
                <a:cs typeface="Arial"/>
              </a:rPr>
              <a:t xml:space="preserve"/>
            </a:r>
            <a:endParaRPr lang="en-US" sz="1500"/>
          </a:p>
          <a:p>
            <a:pPr marL="0" indent="0">
              <a:lnSpc>
                <a:spcPts val="1950"/>
              </a:lnSpc>
              <a:spcAft>
                <a:spcPts val="0"/>
              </a:spcAft>
              <a:buNone/>
            </a:pPr>
            <a:r>
              <a:rPr lang="en-US" sz="1500" b="0">
                <a:solidFill>
                  <a:srgbClr val="202B33"/>
                </a:solidFill>
                <a:latin typeface="Arial"/>
                <a:ea typeface="Arial"/>
                <a:cs typeface="Arial"/>
              </a:rPr>
              <a:t xml:space="preserve">Term specificity. Vector space model.</a:t>
            </a:r>
            <a:endParaRPr lang="en-US" sz="1500"/>
          </a:p>
          <a:p>
            <a:pPr marL="0" indent="0">
              <a:lnSpc>
                <a:spcPts val="1950"/>
              </a:lnSpc>
              <a:spcAft>
                <a:spcPts val="0"/>
              </a:spcAft>
              <a:buNone/>
            </a:pPr>
            <a:r>
              <a:rPr lang="en-US" sz="1500" b="0">
                <a:solidFill>
                  <a:srgbClr val="202B33"/>
                </a:solidFill>
                <a:latin typeface="Arial"/>
                <a:ea typeface="Arial"/>
                <a:cs typeface="Arial"/>
              </a:rPr>
              <a:t xml:space="preserve">Vocabulary problem. Passage retrieval.</a:t>
            </a:r>
            <a:endParaRPr lang="en-US" sz="1500"/>
          </a:p>
          <a:p>
            <a:pPr marL="0" indent="0">
              <a:lnSpc>
                <a:spcPts val="1950"/>
              </a:lnSpc>
              <a:spcAft>
                <a:spcPts val="0"/>
              </a:spcAft>
              <a:buNone/>
            </a:pPr>
            <a:r>
              <a:rPr lang="en-US" sz="1500" b="0">
                <a:solidFill>
                  <a:srgbClr val="202B33"/>
                </a:solidFill>
                <a:latin typeface="Arial"/>
                <a:ea typeface="Arial"/>
                <a:cs typeface="Arial"/>
              </a:rPr>
              <a:t xml:space="preserve">Relevance judgment. The Cranfield paradigm.</a:t>
            </a:r>
            <a:endParaRPr lang="en-US" sz="1500"/>
          </a:p>
          <a:p>
            <a:pPr marL="0" indent="0">
              <a:lnSpc>
                <a:spcPts val="1950"/>
              </a:lnSpc>
              <a:spcAft>
                <a:spcPts val="0"/>
              </a:spcAft>
              <a:buNone/>
            </a:pPr>
            <a:r>
              <a:rPr lang="en-US" sz="1500" b="0">
                <a:solidFill>
                  <a:srgbClr val="202B33"/>
                </a:solidFill>
                <a:latin typeface="Arial"/>
                <a:ea typeface="Arial"/>
                <a:cs typeface="Arial"/>
              </a:rPr>
              <a:t xml:space="preserve">Pooling. Assessor disagreement.</a:t>
            </a:r>
            <a:endParaRPr lang="en-US" sz="1500"/>
          </a:p>
          <a:p>
            <a:pPr marL="0" indent="0">
              <a:lnSpc>
                <a:spcPts val="1950"/>
              </a:lnSpc>
              <a:spcAft>
                <a:spcPts val="0"/>
              </a:spcAft>
              <a:buNone/>
            </a:pPr>
            <a:r>
              <a:rPr lang="en-US" sz="1500" b="0">
                <a:solidFill>
                  <a:srgbClr val="202B33"/>
                </a:solidFill>
                <a:latin typeface="Arial"/>
                <a:ea typeface="Arial"/>
                <a:cs typeface="Arial"/>
              </a:rPr>
              <a:t xml:space="preserve"/>
            </a:r>
            <a:endParaRPr lang="en-US" sz="1500"/>
          </a:p>
          <a:p>
            <a:pPr marL="0" indent="0">
              <a:lnSpc>
                <a:spcPts val="1950"/>
              </a:lnSpc>
              <a:spcAft>
                <a:spcPts val="0"/>
              </a:spcAft>
              <a:buNone/>
            </a:pPr>
            <a:r>
              <a:rPr lang="en-US" sz="1500" b="0">
                <a:solidFill>
                  <a:srgbClr val="202B33"/>
                </a:solidFill>
                <a:latin typeface="Arial"/>
                <a:ea typeface="Arial"/>
                <a:cs typeface="Arial"/>
              </a:rPr>
              <a:t xml:space="preserve">Those words tell us why rare identifiers</a:t>
            </a:r>
            <a:endParaRPr lang="en-US" sz="1500"/>
          </a:p>
          <a:p>
            <a:pPr marL="0" indent="0">
              <a:lnSpc>
                <a:spcPts val="1950"/>
              </a:lnSpc>
              <a:spcAft>
                <a:spcPts val="0"/>
              </a:spcAft>
              <a:buNone/>
            </a:pPr>
            <a:r>
              <a:rPr lang="en-US" sz="1500" b="0">
                <a:solidFill>
                  <a:srgbClr val="202B33"/>
                </a:solidFill>
                <a:latin typeface="Arial"/>
                <a:ea typeface="Arial"/>
                <a:cs typeface="Arial"/>
              </a:rPr>
              <a:t xml:space="preserve">matter, why synonyms are hard, why a</a:t>
            </a:r>
            <a:endParaRPr lang="en-US" sz="1500"/>
          </a:p>
          <a:p>
            <a:pPr marL="0" indent="0">
              <a:lnSpc>
                <a:spcPts val="1950"/>
              </a:lnSpc>
              <a:spcAft>
                <a:spcPts val="0"/>
              </a:spcAft>
              <a:buNone/>
            </a:pPr>
            <a:r>
              <a:rPr lang="en-US" sz="1500" b="0">
                <a:solidFill>
                  <a:srgbClr val="202B33"/>
                </a:solidFill>
                <a:latin typeface="Arial"/>
                <a:ea typeface="Arial"/>
                <a:cs typeface="Arial"/>
              </a:rPr>
              <a:t xml:space="preserve">passage needs its exception, and why the</a:t>
            </a:r>
            <a:endParaRPr lang="en-US" sz="1500"/>
          </a:p>
        </p:txBody>
      </p:sp>
      <p:sp>
        <p:nvSpPr>
          <p:cNvPr id="5" name="Text 5"/>
          <p:cNvSpPr txBox="1"/>
          <p:nvPr/>
        </p:nvSpPr>
        <p:spPr>
          <a:xfrm>
            <a:off x="5238750" y="1971675"/>
            <a:ext cx="4362450" cy="5314950"/>
          </a:xfrm>
          <a:prstGeom prst="rect">
            <a:avLst/>
          </a:prstGeom>
          <a:noFill/>
          <a:ln>
            <a:noFill/>
          </a:ln>
        </p:spPr>
        <p:txBody>
          <a:bodyPr wrap="none" lIns="0" tIns="0" rIns="0" bIns="0" anchor="t">
            <a:noAutofit/>
          </a:bodyPr>
          <a:lstStyle/>
          <a:p>
            <a:pPr marL="0" indent="0">
              <a:lnSpc>
                <a:spcPts val="1950"/>
              </a:lnSpc>
              <a:spcAft>
                <a:spcPts val="0"/>
              </a:spcAft>
              <a:buNone/>
            </a:pPr>
            <a:r>
              <a:rPr lang="en-US" sz="1500" b="0">
                <a:solidFill>
                  <a:srgbClr val="202B33"/>
                </a:solidFill>
                <a:latin typeface="Arial"/>
                <a:ea typeface="Arial"/>
                <a:cs typeface="Arial"/>
              </a:rPr>
              <a:t xml:space="preserve">score depends on who judged which</a:t>
            </a:r>
            <a:endParaRPr lang="en-US" sz="1500"/>
          </a:p>
          <a:p>
            <a:pPr marL="0" indent="0">
              <a:lnSpc>
                <a:spcPts val="1950"/>
              </a:lnSpc>
              <a:spcAft>
                <a:spcPts val="0"/>
              </a:spcAft>
              <a:buNone/>
            </a:pPr>
            <a:r>
              <a:rPr lang="en-US" sz="1500" b="0">
                <a:solidFill>
                  <a:srgbClr val="202B33"/>
                </a:solidFill>
                <a:latin typeface="Arial"/>
                <a:ea typeface="Arial"/>
                <a:cs typeface="Arial"/>
              </a:rPr>
              <a:t xml:space="preserve">documents. They are tools for investigating</a:t>
            </a:r>
            <a:endParaRPr lang="en-US" sz="1500"/>
          </a:p>
          <a:p>
            <a:pPr marL="0" indent="0">
              <a:lnSpc>
                <a:spcPts val="1950"/>
              </a:lnSpc>
              <a:spcAft>
                <a:spcPts val="0"/>
              </a:spcAft>
              <a:buNone/>
            </a:pPr>
            <a:r>
              <a:rPr lang="en-US" sz="1500" b="0">
                <a:solidFill>
                  <a:srgbClr val="202B33"/>
                </a:solidFill>
                <a:latin typeface="Arial"/>
                <a:ea typeface="Arial"/>
                <a:cs typeface="Arial"/>
              </a:rPr>
              <a:t xml:space="preserve">a failure, not a history quiz.</a:t>
            </a:r>
            <a:endParaRPr lang="en-US" sz="1500"/>
          </a:p>
          <a:p>
            <a:pPr marL="0" indent="0">
              <a:lnSpc>
                <a:spcPts val="1950"/>
              </a:lnSpc>
              <a:spcAft>
                <a:spcPts val="0"/>
              </a:spcAft>
              <a:buNone/>
            </a:pPr>
            <a:r>
              <a:rPr lang="en-US" sz="1500" b="0">
                <a:solidFill>
                  <a:srgbClr val="202B33"/>
                </a:solidFill>
                <a:latin typeface="Arial"/>
                <a:ea typeface="Arial"/>
                <a:cs typeface="Arial"/>
              </a:rPr>
              <a:t xml:space="preserve"/>
            </a:r>
            <a:endParaRPr lang="en-US" sz="1500"/>
          </a:p>
          <a:p>
            <a:pPr marL="0" indent="0">
              <a:lnSpc>
                <a:spcPts val="1950"/>
              </a:lnSpc>
              <a:spcAft>
                <a:spcPts val="0"/>
              </a:spcAft>
              <a:buNone/>
            </a:pPr>
            <a:r>
              <a:rPr lang="en-US" sz="1500" b="0">
                <a:solidFill>
                  <a:srgbClr val="202B33"/>
                </a:solidFill>
                <a:latin typeface="Arial"/>
                <a:ea typeface="Arial"/>
                <a:cs typeface="Arial"/>
              </a:rPr>
              <a:t xml:space="preserve">Three search methods in a fundable</a:t>
            </a:r>
            <a:endParaRPr lang="en-US" sz="1500"/>
          </a:p>
          <a:p>
            <a:pPr marL="0" indent="0">
              <a:lnSpc>
                <a:spcPts val="1950"/>
              </a:lnSpc>
              <a:spcAft>
                <a:spcPts val="0"/>
              </a:spcAft>
              <a:buNone/>
            </a:pPr>
            <a:r>
              <a:rPr lang="en-US" sz="1500" b="0">
                <a:solidFill>
                  <a:srgbClr val="202B33"/>
                </a:solidFill>
                <a:latin typeface="Arial"/>
                <a:ea typeface="Arial"/>
                <a:cs typeface="Arial"/>
              </a:rPr>
              <a:t xml:space="preserve">trenchcoat. That is a fair joke about the</a:t>
            </a:r>
            <a:endParaRPr lang="en-US" sz="1500"/>
          </a:p>
          <a:p>
            <a:pPr marL="0" indent="0">
              <a:lnSpc>
                <a:spcPts val="1950"/>
              </a:lnSpc>
              <a:spcAft>
                <a:spcPts val="0"/>
              </a:spcAft>
              <a:buNone/>
            </a:pPr>
            <a:r>
              <a:rPr lang="en-US" sz="1500" b="0">
                <a:solidFill>
                  <a:srgbClr val="202B33"/>
                </a:solidFill>
                <a:latin typeface="Arial"/>
                <a:ea typeface="Arial"/>
                <a:cs typeface="Arial"/>
              </a:rPr>
              <a:t xml:space="preserve">retriever, and the coat is not the problem.</a:t>
            </a:r>
            <a:endParaRPr lang="en-US" sz="1500"/>
          </a:p>
          <a:p>
            <a:pPr marL="0" indent="0">
              <a:lnSpc>
                <a:spcPts val="1950"/>
              </a:lnSpc>
              <a:spcAft>
                <a:spcPts val="0"/>
              </a:spcAft>
              <a:buNone/>
            </a:pPr>
            <a:r>
              <a:rPr lang="en-US" sz="1500" b="0">
                <a:solidFill>
                  <a:srgbClr val="202B33"/>
                </a:solidFill>
                <a:latin typeface="Arial"/>
                <a:ea typeface="Arial"/>
                <a:cs typeface="Arial"/>
              </a:rPr>
              <a:t xml:space="preserve">Lexical, dense, hybrid: we inherited all</a:t>
            </a:r>
            <a:endParaRPr lang="en-US" sz="1500"/>
          </a:p>
          <a:p>
            <a:pPr marL="0" indent="0">
              <a:lnSpc>
                <a:spcPts val="1950"/>
              </a:lnSpc>
              <a:spcAft>
                <a:spcPts val="0"/>
              </a:spcAft>
              <a:buNone/>
            </a:pPr>
            <a:r>
              <a:rPr lang="en-US" sz="1500" b="0">
                <a:solidFill>
                  <a:srgbClr val="202B33"/>
                </a:solidFill>
                <a:latin typeface="Arial"/>
                <a:ea typeface="Arial"/>
                <a:cs typeface="Arial"/>
              </a:rPr>
              <a:t xml:space="preserve">three. What we left behind was the sixty</a:t>
            </a:r>
            <a:endParaRPr lang="en-US" sz="1500"/>
          </a:p>
          <a:p>
            <a:pPr marL="0" indent="0">
              <a:lnSpc>
                <a:spcPts val="1950"/>
              </a:lnSpc>
              <a:spcAft>
                <a:spcPts val="0"/>
              </a:spcAft>
              <a:buNone/>
            </a:pPr>
            <a:r>
              <a:rPr lang="en-US" sz="1500" b="0">
                <a:solidFill>
                  <a:srgbClr val="202B33"/>
                </a:solidFill>
                <a:latin typeface="Arial"/>
                <a:ea typeface="Arial"/>
                <a:cs typeface="Arial"/>
              </a:rPr>
              <a:t xml:space="preserve">years of checking whether the score</a:t>
            </a:r>
            <a:endParaRPr lang="en-US" sz="1500"/>
          </a:p>
          <a:p>
            <a:pPr marL="0" indent="0">
              <a:lnSpc>
                <a:spcPts val="1950"/>
              </a:lnSpc>
              <a:spcAft>
                <a:spcPts val="0"/>
              </a:spcAft>
              <a:buNone/>
            </a:pPr>
            <a:r>
              <a:rPr lang="en-US" sz="1500" b="0">
                <a:solidFill>
                  <a:srgbClr val="202B33"/>
                </a:solidFill>
                <a:latin typeface="Arial"/>
                <a:ea typeface="Arial"/>
                <a:cs typeface="Arial"/>
              </a:rPr>
              <a:t xml:space="preserve">underneath was telling the truth. Go find</a:t>
            </a:r>
            <a:endParaRPr lang="en-US" sz="1500"/>
          </a:p>
          <a:p>
            <a:pPr marL="0" indent="0">
              <a:lnSpc>
                <a:spcPts val="1950"/>
              </a:lnSpc>
              <a:spcAft>
                <a:spcPts val="0"/>
              </a:spcAft>
              <a:buNone/>
            </a:pPr>
            <a:r>
              <a:rPr lang="en-US" sz="1500" b="0">
                <a:solidFill>
                  <a:srgbClr val="202B33"/>
                </a:solidFill>
                <a:latin typeface="Arial"/>
                <a:ea typeface="Arial"/>
                <a:cs typeface="Arial"/>
              </a:rPr>
              <a:t xml:space="preserve">the documents your eval set never judged.</a:t>
            </a:r>
            <a:endParaRPr lang="en-US" sz="1500"/>
          </a:p>
        </p:txBody>
      </p:sp>
      <p:sp>
        <p:nvSpPr>
          <p:cNvPr id="6" name="Text 6"/>
          <p:cNvSpPr txBox="1"/>
          <p:nvPr/>
        </p:nvSpPr>
        <p:spPr>
          <a:xfrm>
            <a:off x="457200" y="7486650"/>
            <a:ext cx="8820150" cy="190500"/>
          </a:xfrm>
          <a:prstGeom prst="rect">
            <a:avLst/>
          </a:prstGeom>
          <a:noFill/>
          <a:ln>
            <a:noFill/>
          </a:ln>
        </p:spPr>
        <p:txBody>
          <a:bodyPr wrap="none" lIns="0" tIns="0" rIns="0" bIns="0" anchor="t">
            <a:noAutofit/>
          </a:bodyPr>
          <a:lstStyle/>
          <a:p>
            <a:pPr marL="0" indent="0">
              <a:lnSpc>
                <a:spcPts val="1268"/>
              </a:lnSpc>
              <a:spcAft>
                <a:spcPts val="0"/>
              </a:spcAft>
              <a:buNone/>
            </a:pPr>
            <a:r>
              <a:rPr lang="en-US" sz="975" b="0">
                <a:solidFill>
                  <a:srgbClr val="48555B"/>
                </a:solidFill>
                <a:latin typeface="Arial"/>
                <a:ea typeface="Arial"/>
                <a:cs typeface="Arial"/>
              </a:rPr>
              <a:t xml:space="preserve">Three Search Methods in a Fundable Trenchcoat</a:t>
            </a:r>
            <a:endParaRPr lang="en-US" sz="975"/>
          </a:p>
        </p:txBody>
      </p:sp>
      <p:sp>
        <p:nvSpPr>
          <p:cNvPr id="7" name="Text 7"/>
          <p:cNvSpPr txBox="1"/>
          <p:nvPr/>
        </p:nvSpPr>
        <p:spPr>
          <a:xfrm>
            <a:off x="9391650" y="7486650"/>
            <a:ext cx="238125" cy="190500"/>
          </a:xfrm>
          <a:prstGeom prst="rect">
            <a:avLst/>
          </a:prstGeom>
          <a:noFill/>
          <a:ln>
            <a:noFill/>
          </a:ln>
        </p:spPr>
        <p:txBody>
          <a:bodyPr wrap="none" lIns="0" tIns="0" rIns="0" bIns="0" anchor="t">
            <a:noAutofit/>
          </a:bodyPr>
          <a:lstStyle/>
          <a:p>
            <a:pPr marL="0" indent="0">
              <a:lnSpc>
                <a:spcPts val="1268"/>
              </a:lnSpc>
              <a:spcAft>
                <a:spcPts val="0"/>
              </a:spcAft>
              <a:buNone/>
            </a:pPr>
            <a:r>
              <a:rPr lang="en-US" sz="975" b="0">
                <a:solidFill>
                  <a:srgbClr val="48555B"/>
                </a:solidFill>
                <a:latin typeface="Arial"/>
                <a:ea typeface="Arial"/>
                <a:cs typeface="Arial"/>
              </a:rPr>
              <a:t xml:space="preserve">16</a:t>
            </a:r>
            <a:endParaRPr lang="en-US" sz="975"/>
          </a:p>
        </p:txBody>
      </p:sp>
    </p:spTree>
  </p:cSld>
  <p:clrMapOvr>
    <a:masterClrMapping/>
  </p:clrMapOvr>
</p:sld>
</file>

<file path=ppt/slides/slide17.xml><?xml version="1.0" encoding="utf-8"?>
<p:sld xmlns:a="http://schemas.openxmlformats.org/drawingml/2006/main" xmlns:r="http://schemas.openxmlformats.org/officeDocument/2006/relationships" xmlns:p="http://schemas.openxmlformats.org/presentationml/2006/main">
  <p:cSld name="Slide 17">
    <p:bg>
      <p:bgPr>
        <a:solidFill>
          <a:srgbClr val="FAFAF7"/>
        </a:solidFill>
        <a:effectLst/>
      </p:bgPr>
    </p:bg>
    <p:spTree>
      <p:nvGrpSpPr>
        <p:cNvPr id="1" name=""/>
        <p:cNvGrpSpPr/>
        <p:nvPr/>
      </p:nvGrpSpPr>
      <p:grpSpPr>
        <a:xfrm>
          <a:off x="0" y="0"/>
          <a:ext cx="0" cy="0"/>
          <a:chOff x="0" y="0"/>
          <a:chExt cx="0" cy="0"/>
        </a:xfrm>
      </p:grpSpPr>
      <p:sp>
        <p:nvSpPr>
          <p:cNvPr id="2" name="Text 2"/>
          <p:cNvSpPr txBox="1"/>
          <p:nvPr/>
        </p:nvSpPr>
        <p:spPr>
          <a:xfrm>
            <a:off x="457200" y="266700"/>
            <a:ext cx="9144000" cy="228600"/>
          </a:xfrm>
          <a:prstGeom prst="rect">
            <a:avLst/>
          </a:prstGeom>
          <a:noFill/>
          <a:ln>
            <a:noFill/>
          </a:ln>
        </p:spPr>
        <p:txBody>
          <a:bodyPr wrap="none" lIns="0" tIns="0" rIns="0" bIns="0" anchor="t">
            <a:noAutofit/>
          </a:bodyPr>
          <a:lstStyle/>
          <a:p>
            <a:pPr marL="0" indent="0">
              <a:lnSpc>
                <a:spcPts val="1365"/>
              </a:lnSpc>
              <a:spcAft>
                <a:spcPts val="0"/>
              </a:spcAft>
              <a:buNone/>
            </a:pPr>
            <a:r>
              <a:rPr lang="en-US" sz="1050" b="1">
                <a:solidFill>
                  <a:srgbClr val="246957"/>
                </a:solidFill>
                <a:latin typeface="Arial"/>
                <a:ea typeface="Arial"/>
                <a:cs typeface="Arial"/>
              </a:rPr>
              <a:t xml:space="preserve">SOURCE REFERENCES</a:t>
            </a:r>
            <a:endParaRPr lang="en-US" sz="1050"/>
          </a:p>
        </p:txBody>
      </p:sp>
      <p:sp>
        <p:nvSpPr>
          <p:cNvPr id="3" name="Text 3"/>
          <p:cNvSpPr txBox="1"/>
          <p:nvPr/>
        </p:nvSpPr>
        <p:spPr>
          <a:xfrm>
            <a:off x="457200" y="657225"/>
            <a:ext cx="9144000" cy="1104900"/>
          </a:xfrm>
          <a:prstGeom prst="rect">
            <a:avLst/>
          </a:prstGeom>
          <a:noFill/>
          <a:ln>
            <a:noFill/>
          </a:ln>
        </p:spPr>
        <p:txBody>
          <a:bodyPr wrap="none" lIns="0" tIns="0" rIns="0" bIns="0" anchor="t">
            <a:noAutofit/>
          </a:bodyPr>
          <a:lstStyle/>
          <a:p>
            <a:pPr marL="0" indent="0">
              <a:lnSpc>
                <a:spcPts val="3060"/>
              </a:lnSpc>
              <a:spcAft>
                <a:spcPts val="0"/>
              </a:spcAft>
              <a:buNone/>
            </a:pPr>
            <a:r>
              <a:rPr lang="en-US" sz="2550" b="1">
                <a:solidFill>
                  <a:srgbClr val="202B33"/>
                </a:solidFill>
                <a:latin typeface="Arial"/>
                <a:ea typeface="Arial"/>
                <a:cs typeface="Arial"/>
              </a:rPr>
              <a:t xml:space="preserve">References</a:t>
            </a:r>
            <a:endParaRPr lang="en-US" sz="2550"/>
          </a:p>
        </p:txBody>
      </p:sp>
      <p:sp>
        <p:nvSpPr>
          <p:cNvPr id="4" name="Text 4"/>
          <p:cNvSpPr txBox="1"/>
          <p:nvPr/>
        </p:nvSpPr>
        <p:spPr>
          <a:xfrm>
            <a:off x="457200" y="1971675"/>
            <a:ext cx="4352925" cy="5314950"/>
          </a:xfrm>
          <a:prstGeom prst="rect">
            <a:avLst/>
          </a:prstGeom>
          <a:noFill/>
          <a:ln>
            <a:noFill/>
          </a:ln>
        </p:spPr>
        <p:txBody>
          <a:bodyPr wrap="none" lIns="0" tIns="0" rIns="0" bIns="0" anchor="t">
            <a:noAutofit/>
          </a:bodyPr>
          <a:lstStyle/>
          <a:p>
            <a:pPr marL="0" indent="0">
              <a:lnSpc>
                <a:spcPts val="1950"/>
              </a:lnSpc>
              <a:spcAft>
                <a:spcPts val="0"/>
              </a:spcAft>
              <a:buNone/>
            </a:pPr>
            <a:r>
              <a:rPr lang="en-US" sz="1500" b="0">
                <a:solidFill>
                  <a:srgbClr val="202B33"/>
                </a:solidFill>
                <a:latin typeface="Arial"/>
                <a:ea typeface="Arial"/>
                <a:cs typeface="Arial"/>
              </a:rPr>
              <a:t xml:space="preserve">Karen Spärck Jones (1972), A statistical</a:t>
            </a:r>
            <a:endParaRPr lang="en-US" sz="1500"/>
          </a:p>
          <a:p>
            <a:pPr marL="0" indent="0">
              <a:lnSpc>
                <a:spcPts val="1950"/>
              </a:lnSpc>
              <a:spcAft>
                <a:spcPts val="0"/>
              </a:spcAft>
              <a:buNone/>
            </a:pPr>
            <a:r>
              <a:rPr lang="en-US" sz="1500" b="0">
                <a:solidFill>
                  <a:srgbClr val="202B33"/>
                </a:solidFill>
                <a:latin typeface="Arial"/>
                <a:ea typeface="Arial"/>
                <a:cs typeface="Arial"/>
              </a:rPr>
              <a:t xml:space="preserve">interpretation of term specificity and its</a:t>
            </a:r>
            <a:endParaRPr lang="en-US" sz="1500"/>
          </a:p>
          <a:p>
            <a:pPr marL="0" indent="0">
              <a:lnSpc>
                <a:spcPts val="1950"/>
              </a:lnSpc>
              <a:spcAft>
                <a:spcPts val="0"/>
              </a:spcAft>
              <a:buNone/>
            </a:pPr>
            <a:r>
              <a:rPr lang="en-US" sz="1500" b="0">
                <a:solidFill>
                  <a:srgbClr val="202B33"/>
                </a:solidFill>
                <a:latin typeface="Arial"/>
                <a:ea typeface="Arial"/>
                <a:cs typeface="Arial"/>
              </a:rPr>
              <a:t xml:space="preserve">application in retrieval, Journal of</a:t>
            </a:r>
            <a:endParaRPr lang="en-US" sz="1500"/>
          </a:p>
          <a:p>
            <a:pPr marL="0" indent="0">
              <a:lnSpc>
                <a:spcPts val="1950"/>
              </a:lnSpc>
              <a:spcAft>
                <a:spcPts val="0"/>
              </a:spcAft>
              <a:buNone/>
            </a:pPr>
            <a:r>
              <a:rPr lang="en-US" sz="1500" b="0">
                <a:solidFill>
                  <a:srgbClr val="202B33"/>
                </a:solidFill>
                <a:latin typeface="Arial"/>
                <a:ea typeface="Arial"/>
                <a:cs typeface="Arial"/>
              </a:rPr>
              <a:t xml:space="preserve">Documentation 28(1), 11–21. Author’s</a:t>
            </a:r>
            <a:endParaRPr lang="en-US" sz="1500"/>
          </a:p>
          <a:p>
            <a:pPr marL="0" indent="0">
              <a:lnSpc>
                <a:spcPts val="1950"/>
              </a:lnSpc>
              <a:spcAft>
                <a:spcPts val="0"/>
              </a:spcAft>
              <a:buNone/>
            </a:pPr>
            <a:r>
              <a:rPr lang="en-US" sz="1500" b="0">
                <a:solidFill>
                  <a:srgbClr val="202B33"/>
                </a:solidFill>
                <a:latin typeface="Arial"/>
                <a:ea typeface="Arial"/>
                <a:cs typeface="Arial"/>
              </a:rPr>
              <a:t xml:space="preserve">publication archive —</a:t>
            </a:r>
            <a:endParaRPr lang="en-US" sz="1500"/>
          </a:p>
          <a:p>
            <a:pPr marL="0" indent="0">
              <a:lnSpc>
                <a:spcPts val="1950"/>
              </a:lnSpc>
              <a:spcAft>
                <a:spcPts val="0"/>
              </a:spcAft>
              <a:buNone/>
            </a:pPr>
            <a:r>
              <a:rPr lang="en-US" sz="1500" b="0">
                <a:solidFill>
                  <a:srgbClr val="202B33"/>
                </a:solidFill>
                <a:latin typeface="Arial"/>
                <a:ea typeface="Arial"/>
                <a:cs typeface="Arial"/>
              </a:rPr>
              <a:t xml:space="preserve">https://www.cl.cam.ac.uk/archive/ksj21/ksjdigipapers/ksjbib3.html.</a:t>
            </a:r>
            <a:endParaRPr lang="en-US" sz="1500"/>
          </a:p>
          <a:p>
            <a:pPr marL="0" indent="0">
              <a:lnSpc>
                <a:spcPts val="1950"/>
              </a:lnSpc>
              <a:spcAft>
                <a:spcPts val="0"/>
              </a:spcAft>
              <a:buNone/>
            </a:pPr>
            <a:r>
              <a:rPr lang="en-US" sz="1500" b="0">
                <a:solidFill>
                  <a:srgbClr val="202B33"/>
                </a:solidFill>
                <a:latin typeface="Arial"/>
                <a:ea typeface="Arial"/>
                <a:cs typeface="Arial"/>
              </a:rPr>
              <a:t xml:space="preserve"/>
            </a:r>
            <a:endParaRPr lang="en-US" sz="1500"/>
          </a:p>
          <a:p>
            <a:pPr marL="0" indent="0">
              <a:lnSpc>
                <a:spcPts val="1950"/>
              </a:lnSpc>
              <a:spcAft>
                <a:spcPts val="0"/>
              </a:spcAft>
              <a:buNone/>
            </a:pPr>
            <a:r>
              <a:rPr lang="en-US" sz="1500" b="0">
                <a:solidFill>
                  <a:srgbClr val="202B33"/>
                </a:solidFill>
                <a:latin typeface="Arial"/>
                <a:ea typeface="Arial"/>
                <a:cs typeface="Arial"/>
              </a:rPr>
              <a:t xml:space="preserve">Salton, Wong, and Yang (1975), A vector</a:t>
            </a:r>
            <a:endParaRPr lang="en-US" sz="1500"/>
          </a:p>
          <a:p>
            <a:pPr marL="0" indent="0">
              <a:lnSpc>
                <a:spcPts val="1950"/>
              </a:lnSpc>
              <a:spcAft>
                <a:spcPts val="0"/>
              </a:spcAft>
              <a:buNone/>
            </a:pPr>
            <a:r>
              <a:rPr lang="en-US" sz="1500" b="0">
                <a:solidFill>
                  <a:srgbClr val="202B33"/>
                </a:solidFill>
                <a:latin typeface="Arial"/>
                <a:ea typeface="Arial"/>
                <a:cs typeface="Arial"/>
              </a:rPr>
              <a:t xml:space="preserve">space model for automatic indexing —</a:t>
            </a:r>
            <a:endParaRPr lang="en-US" sz="1500"/>
          </a:p>
          <a:p>
            <a:pPr marL="0" indent="0">
              <a:lnSpc>
                <a:spcPts val="1950"/>
              </a:lnSpc>
              <a:spcAft>
                <a:spcPts val="0"/>
              </a:spcAft>
              <a:buNone/>
            </a:pPr>
            <a:r>
              <a:rPr lang="en-US" sz="1500" b="0">
                <a:solidFill>
                  <a:srgbClr val="202B33"/>
                </a:solidFill>
                <a:latin typeface="Arial"/>
                <a:ea typeface="Arial"/>
                <a:cs typeface="Arial"/>
              </a:rPr>
              <a:t xml:space="preserve">https://doi.org/10.1145/361219.361220),</a:t>
            </a:r>
            <a:endParaRPr lang="en-US" sz="1500"/>
          </a:p>
          <a:p>
            <a:pPr marL="0" indent="0">
              <a:lnSpc>
                <a:spcPts val="1950"/>
              </a:lnSpc>
              <a:spcAft>
                <a:spcPts val="0"/>
              </a:spcAft>
              <a:buNone/>
            </a:pPr>
            <a:r>
              <a:rPr lang="en-US" sz="1500" b="0">
                <a:solidFill>
                  <a:srgbClr val="202B33"/>
                </a:solidFill>
                <a:latin typeface="Arial"/>
                <a:ea typeface="Arial"/>
                <a:cs typeface="Arial"/>
              </a:rPr>
              <a:t xml:space="preserve">Communications of the ACM 18(11), 613–620.</a:t>
            </a:r>
            <a:endParaRPr lang="en-US" sz="1500"/>
          </a:p>
          <a:p>
            <a:pPr marL="0" indent="0">
              <a:lnSpc>
                <a:spcPts val="1950"/>
              </a:lnSpc>
              <a:spcAft>
                <a:spcPts val="0"/>
              </a:spcAft>
              <a:buNone/>
            </a:pPr>
            <a:r>
              <a:rPr lang="en-US" sz="1500" b="0">
                <a:solidFill>
                  <a:srgbClr val="202B33"/>
                </a:solidFill>
                <a:latin typeface="Arial"/>
                <a:ea typeface="Arial"/>
                <a:cs typeface="Arial"/>
              </a:rPr>
              <a:t xml:space="preserve">Deerwester, Dumais, Furnas, Landauer, and</a:t>
            </a:r>
            <a:endParaRPr lang="en-US" sz="1500"/>
          </a:p>
          <a:p>
            <a:pPr marL="0" indent="0">
              <a:lnSpc>
                <a:spcPts val="1950"/>
              </a:lnSpc>
              <a:spcAft>
                <a:spcPts val="0"/>
              </a:spcAft>
              <a:buNone/>
            </a:pPr>
            <a:r>
              <a:rPr lang="en-US" sz="1500" b="0">
                <a:solidFill>
                  <a:srgbClr val="202B33"/>
                </a:solidFill>
                <a:latin typeface="Arial"/>
                <a:ea typeface="Arial"/>
                <a:cs typeface="Arial"/>
              </a:rPr>
              <a:t xml:space="preserve">Harshman (1990), [Indexing by Latent</a:t>
            </a:r>
            <a:endParaRPr lang="en-US" sz="1500"/>
          </a:p>
          <a:p>
            <a:pPr marL="0" indent="0">
              <a:lnSpc>
                <a:spcPts val="1950"/>
              </a:lnSpc>
              <a:spcAft>
                <a:spcPts val="0"/>
              </a:spcAft>
              <a:buNone/>
            </a:pPr>
            <a:r>
              <a:rPr lang="en-US" sz="1500" b="0">
                <a:solidFill>
                  <a:srgbClr val="202B33"/>
                </a:solidFill>
                <a:latin typeface="Arial"/>
                <a:ea typeface="Arial"/>
                <a:cs typeface="Arial"/>
              </a:rPr>
              <a:t xml:space="preserve">Semantic</a:t>
            </a:r>
            <a:endParaRPr lang="en-US" sz="1500"/>
          </a:p>
          <a:p>
            <a:pPr marL="0" indent="0">
              <a:lnSpc>
                <a:spcPts val="1950"/>
              </a:lnSpc>
              <a:spcAft>
                <a:spcPts val="0"/>
              </a:spcAft>
              <a:buNone/>
            </a:pPr>
            <a:r>
              <a:rPr lang="en-US" sz="1500" b="0">
                <a:solidFill>
                  <a:srgbClr val="202B33"/>
                </a:solidFill>
                <a:latin typeface="Arial"/>
                <a:ea typeface="Arial"/>
                <a:cs typeface="Arial"/>
              </a:rPr>
              <a:t xml:space="preserve">Analysis](https://www.cs.csustan.edu/~mmartin/LDS/Deerwester-et-al.pdf),</a:t>
            </a:r>
            <a:endParaRPr lang="en-US" sz="1500"/>
          </a:p>
          <a:p>
            <a:pPr marL="0" indent="0">
              <a:lnSpc>
                <a:spcPts val="1950"/>
              </a:lnSpc>
              <a:spcAft>
                <a:spcPts val="0"/>
              </a:spcAft>
              <a:buNone/>
            </a:pPr>
            <a:r>
              <a:rPr lang="en-US" sz="1500" b="0">
                <a:solidFill>
                  <a:srgbClr val="202B33"/>
                </a:solidFill>
                <a:latin typeface="Arial"/>
                <a:ea typeface="Arial"/>
                <a:cs typeface="Arial"/>
              </a:rPr>
              <a:t xml:space="preserve">JASIS 41(6, 391–407.</a:t>
            </a:r>
            <a:endParaRPr lang="en-US" sz="1500"/>
          </a:p>
          <a:p>
            <a:pPr marL="0" indent="0">
              <a:lnSpc>
                <a:spcPts val="1950"/>
              </a:lnSpc>
              <a:spcAft>
                <a:spcPts val="0"/>
              </a:spcAft>
              <a:buNone/>
            </a:pPr>
            <a:r>
              <a:rPr lang="en-US" sz="1500" b="0">
                <a:solidFill>
                  <a:srgbClr val="202B33"/>
                </a:solidFill>
                <a:latin typeface="Arial"/>
                <a:ea typeface="Arial"/>
                <a:cs typeface="Arial"/>
              </a:rPr>
              <a:t xml:space="preserve"/>
            </a:r>
            <a:endParaRPr lang="en-US" sz="1500"/>
          </a:p>
          <a:p>
            <a:pPr marL="0" indent="0">
              <a:lnSpc>
                <a:spcPts val="1950"/>
              </a:lnSpc>
              <a:spcAft>
                <a:spcPts val="0"/>
              </a:spcAft>
              <a:buNone/>
            </a:pPr>
            <a:r>
              <a:rPr lang="en-US" sz="1500" b="0">
                <a:solidFill>
                  <a:srgbClr val="202B33"/>
                </a:solidFill>
                <a:latin typeface="Arial"/>
                <a:ea typeface="Arial"/>
                <a:cs typeface="Arial"/>
              </a:rPr>
              <a:t xml:space="preserve">Furnas, Landauer, Gomez, and Dumais (1987),</a:t>
            </a:r>
            <a:endParaRPr lang="en-US" sz="1500"/>
          </a:p>
          <a:p>
            <a:pPr marL="0" indent="0">
              <a:lnSpc>
                <a:spcPts val="1950"/>
              </a:lnSpc>
              <a:spcAft>
                <a:spcPts val="0"/>
              </a:spcAft>
              <a:buNone/>
            </a:pPr>
            <a:r>
              <a:rPr lang="en-US" sz="1500" b="0">
                <a:solidFill>
                  <a:srgbClr val="202B33"/>
                </a:solidFill>
                <a:latin typeface="Arial"/>
                <a:ea typeface="Arial"/>
                <a:cs typeface="Arial"/>
              </a:rPr>
              <a:t xml:space="preserve">The vocabulary problem in human-system</a:t>
            </a:r>
            <a:endParaRPr lang="en-US" sz="1500"/>
          </a:p>
          <a:p>
            <a:pPr marL="0" indent="0">
              <a:lnSpc>
                <a:spcPts val="1950"/>
              </a:lnSpc>
              <a:spcAft>
                <a:spcPts val="0"/>
              </a:spcAft>
              <a:buNone/>
            </a:pPr>
            <a:r>
              <a:rPr lang="en-US" sz="1500" b="0">
                <a:solidFill>
                  <a:srgbClr val="202B33"/>
                </a:solidFill>
                <a:latin typeface="Arial"/>
                <a:ea typeface="Arial"/>
                <a:cs typeface="Arial"/>
              </a:rPr>
              <a:t xml:space="preserve">communication —</a:t>
            </a:r>
            <a:endParaRPr lang="en-US" sz="1500"/>
          </a:p>
          <a:p>
            <a:pPr marL="0" indent="0">
              <a:lnSpc>
                <a:spcPts val="1950"/>
              </a:lnSpc>
              <a:spcAft>
                <a:spcPts val="0"/>
              </a:spcAft>
              <a:buNone/>
            </a:pPr>
            <a:r>
              <a:rPr lang="en-US" sz="1500" b="0">
                <a:solidFill>
                  <a:srgbClr val="202B33"/>
                </a:solidFill>
                <a:latin typeface="Arial"/>
                <a:ea typeface="Arial"/>
                <a:cs typeface="Arial"/>
              </a:rPr>
              <a:t xml:space="preserve">https://doi.org/10.1145/32206.32212),</a:t>
            </a:r>
            <a:endParaRPr lang="en-US" sz="1500"/>
          </a:p>
        </p:txBody>
      </p:sp>
      <p:sp>
        <p:nvSpPr>
          <p:cNvPr id="5" name="Text 5"/>
          <p:cNvSpPr txBox="1"/>
          <p:nvPr/>
        </p:nvSpPr>
        <p:spPr>
          <a:xfrm>
            <a:off x="5238750" y="1971675"/>
            <a:ext cx="4362450" cy="5314950"/>
          </a:xfrm>
          <a:prstGeom prst="rect">
            <a:avLst/>
          </a:prstGeom>
          <a:noFill/>
          <a:ln>
            <a:noFill/>
          </a:ln>
        </p:spPr>
        <p:txBody>
          <a:bodyPr wrap="none" lIns="0" tIns="0" rIns="0" bIns="0" anchor="t">
            <a:noAutofit/>
          </a:bodyPr>
          <a:lstStyle/>
          <a:p>
            <a:pPr marL="0" indent="0">
              <a:lnSpc>
                <a:spcPts val="1950"/>
              </a:lnSpc>
              <a:spcAft>
                <a:spcPts val="0"/>
              </a:spcAft>
              <a:buNone/>
            </a:pPr>
            <a:r>
              <a:rPr lang="en-US" sz="1500" b="0">
                <a:solidFill>
                  <a:srgbClr val="202B33"/>
                </a:solidFill>
                <a:latin typeface="Arial"/>
                <a:ea typeface="Arial"/>
                <a:cs typeface="Arial"/>
              </a:rPr>
              <a:t xml:space="preserve">Communications of the ACM 30(11, 964–971.</a:t>
            </a:r>
            <a:endParaRPr lang="en-US" sz="1500"/>
          </a:p>
          <a:p>
            <a:pPr marL="0" indent="0">
              <a:lnSpc>
                <a:spcPts val="1950"/>
              </a:lnSpc>
              <a:spcAft>
                <a:spcPts val="0"/>
              </a:spcAft>
              <a:buNone/>
            </a:pPr>
            <a:r>
              <a:rPr lang="en-US" sz="1500" b="0">
                <a:solidFill>
                  <a:srgbClr val="202B33"/>
                </a:solidFill>
                <a:latin typeface="Arial"/>
                <a:ea typeface="Arial"/>
                <a:cs typeface="Arial"/>
              </a:rPr>
              <a:t xml:space="preserve"/>
            </a:r>
            <a:endParaRPr lang="en-US" sz="1500"/>
          </a:p>
          <a:p>
            <a:pPr marL="0" indent="0">
              <a:lnSpc>
                <a:spcPts val="1950"/>
              </a:lnSpc>
              <a:spcAft>
                <a:spcPts val="0"/>
              </a:spcAft>
              <a:buNone/>
            </a:pPr>
            <a:r>
              <a:rPr lang="en-US" sz="1500" b="0">
                <a:solidFill>
                  <a:srgbClr val="202B33"/>
                </a:solidFill>
                <a:latin typeface="Arial"/>
                <a:ea typeface="Arial"/>
                <a:cs typeface="Arial"/>
              </a:rPr>
              <a:t xml:space="preserve">Salton, Allan, and Buckley (1993),</a:t>
            </a:r>
            <a:endParaRPr lang="en-US" sz="1500"/>
          </a:p>
          <a:p>
            <a:pPr marL="0" indent="0">
              <a:lnSpc>
                <a:spcPts val="1950"/>
              </a:lnSpc>
              <a:spcAft>
                <a:spcPts val="0"/>
              </a:spcAft>
              <a:buNone/>
            </a:pPr>
            <a:r>
              <a:rPr lang="en-US" sz="1500" b="0">
                <a:solidFill>
                  <a:srgbClr val="202B33"/>
                </a:solidFill>
                <a:latin typeface="Arial"/>
                <a:ea typeface="Arial"/>
                <a:cs typeface="Arial"/>
              </a:rPr>
              <a:t xml:space="preserve">Approaches to passage retrieval in full</a:t>
            </a:r>
            <a:endParaRPr lang="en-US" sz="1500"/>
          </a:p>
          <a:p>
            <a:pPr marL="0" indent="0">
              <a:lnSpc>
                <a:spcPts val="1950"/>
              </a:lnSpc>
              <a:spcAft>
                <a:spcPts val="0"/>
              </a:spcAft>
              <a:buNone/>
            </a:pPr>
            <a:r>
              <a:rPr lang="en-US" sz="1500" b="0">
                <a:solidFill>
                  <a:srgbClr val="202B33"/>
                </a:solidFill>
                <a:latin typeface="Arial"/>
                <a:ea typeface="Arial"/>
                <a:cs typeface="Arial"/>
              </a:rPr>
              <a:t xml:space="preserve">text information systems —</a:t>
            </a:r>
            <a:endParaRPr lang="en-US" sz="1500"/>
          </a:p>
          <a:p>
            <a:pPr marL="0" indent="0">
              <a:lnSpc>
                <a:spcPts val="1950"/>
              </a:lnSpc>
              <a:spcAft>
                <a:spcPts val="0"/>
              </a:spcAft>
              <a:buNone/>
            </a:pPr>
            <a:r>
              <a:rPr lang="en-US" sz="1500" b="0">
                <a:solidFill>
                  <a:srgbClr val="202B33"/>
                </a:solidFill>
                <a:latin typeface="Arial"/>
                <a:ea typeface="Arial"/>
                <a:cs typeface="Arial"/>
              </a:rPr>
              <a:t xml:space="preserve">https://doi.org/10.1145/160688.160693,</a:t>
            </a:r>
            <a:endParaRPr lang="en-US" sz="1500"/>
          </a:p>
          <a:p>
            <a:pPr marL="0" indent="0">
              <a:lnSpc>
                <a:spcPts val="1950"/>
              </a:lnSpc>
              <a:spcAft>
                <a:spcPts val="0"/>
              </a:spcAft>
              <a:buNone/>
            </a:pPr>
            <a:r>
              <a:rPr lang="en-US" sz="1500" b="0">
                <a:solidFill>
                  <a:srgbClr val="202B33"/>
                </a:solidFill>
                <a:latin typeface="Arial"/>
                <a:ea typeface="Arial"/>
                <a:cs typeface="Arial"/>
              </a:rPr>
              <a:t xml:space="preserve">SIGIR, 49–58.</a:t>
            </a:r>
            <a:endParaRPr lang="en-US" sz="1500"/>
          </a:p>
          <a:p>
            <a:pPr marL="0" indent="0">
              <a:lnSpc>
                <a:spcPts val="1950"/>
              </a:lnSpc>
              <a:spcAft>
                <a:spcPts val="0"/>
              </a:spcAft>
              <a:buNone/>
            </a:pPr>
            <a:r>
              <a:rPr lang="en-US" sz="1500" b="0">
                <a:solidFill>
                  <a:srgbClr val="202B33"/>
                </a:solidFill>
                <a:latin typeface="Arial"/>
                <a:ea typeface="Arial"/>
                <a:cs typeface="Arial"/>
              </a:rPr>
              <a:t xml:space="preserve"/>
            </a:r>
            <a:endParaRPr lang="en-US" sz="1500"/>
          </a:p>
          <a:p>
            <a:pPr marL="0" indent="0">
              <a:lnSpc>
                <a:spcPts val="1950"/>
              </a:lnSpc>
              <a:spcAft>
                <a:spcPts val="0"/>
              </a:spcAft>
              <a:buNone/>
            </a:pPr>
            <a:r>
              <a:rPr lang="en-US" sz="1500" b="0">
                <a:solidFill>
                  <a:srgbClr val="202B33"/>
                </a:solidFill>
                <a:latin typeface="Arial"/>
                <a:ea typeface="Arial"/>
                <a:cs typeface="Arial"/>
              </a:rPr>
              <a:t xml:space="preserve">Thakur et al. (2021), BEIR: A Heterogeneous</a:t>
            </a:r>
            <a:endParaRPr lang="en-US" sz="1500"/>
          </a:p>
          <a:p>
            <a:pPr marL="0" indent="0">
              <a:lnSpc>
                <a:spcPts val="1950"/>
              </a:lnSpc>
              <a:spcAft>
                <a:spcPts val="0"/>
              </a:spcAft>
              <a:buNone/>
            </a:pPr>
            <a:r>
              <a:rPr lang="en-US" sz="1500" b="0">
                <a:solidFill>
                  <a:srgbClr val="202B33"/>
                </a:solidFill>
                <a:latin typeface="Arial"/>
                <a:ea typeface="Arial"/>
                <a:cs typeface="Arial"/>
              </a:rPr>
              <a:t xml:space="preserve">Benchmark for Zero-shot Evaluation of</a:t>
            </a:r>
            <a:endParaRPr lang="en-US" sz="1500"/>
          </a:p>
          <a:p>
            <a:pPr marL="0" indent="0">
              <a:lnSpc>
                <a:spcPts val="1950"/>
              </a:lnSpc>
              <a:spcAft>
                <a:spcPts val="0"/>
              </a:spcAft>
              <a:buNone/>
            </a:pPr>
            <a:r>
              <a:rPr lang="en-US" sz="1500" b="0">
                <a:solidFill>
                  <a:srgbClr val="202B33"/>
                </a:solidFill>
                <a:latin typeface="Arial"/>
                <a:ea typeface="Arial"/>
                <a:cs typeface="Arial"/>
              </a:rPr>
              <a:t xml:space="preserve">Information Retrieval Models —</a:t>
            </a:r>
            <a:endParaRPr lang="en-US" sz="1500"/>
          </a:p>
          <a:p>
            <a:pPr marL="0" indent="0">
              <a:lnSpc>
                <a:spcPts val="1950"/>
              </a:lnSpc>
              <a:spcAft>
                <a:spcPts val="0"/>
              </a:spcAft>
              <a:buNone/>
            </a:pPr>
            <a:r>
              <a:rPr lang="en-US" sz="1500" b="0">
                <a:solidFill>
                  <a:srgbClr val="202B33"/>
                </a:solidFill>
                <a:latin typeface="Arial"/>
                <a:ea typeface="Arial"/>
                <a:cs typeface="Arial"/>
              </a:rPr>
              <a:t xml:space="preserve">https://openreview.net/pdf?id=wCu6T5xFjeJ,</a:t>
            </a:r>
            <a:endParaRPr lang="en-US" sz="1500"/>
          </a:p>
          <a:p>
            <a:pPr marL="0" indent="0">
              <a:lnSpc>
                <a:spcPts val="1950"/>
              </a:lnSpc>
              <a:spcAft>
                <a:spcPts val="0"/>
              </a:spcAft>
              <a:buNone/>
            </a:pPr>
            <a:r>
              <a:rPr lang="en-US" sz="1500" b="0">
                <a:solidFill>
                  <a:srgbClr val="202B33"/>
                </a:solidFill>
                <a:latin typeface="Arial"/>
                <a:ea typeface="Arial"/>
                <a:cs typeface="Arial"/>
              </a:rPr>
              <a:t xml:space="preserve">NeurIPS Datasets and Benchmarks. This slide</a:t>
            </a:r>
            <a:endParaRPr lang="en-US" sz="1500"/>
          </a:p>
          <a:p>
            <a:pPr marL="0" indent="0">
              <a:lnSpc>
                <a:spcPts val="1950"/>
              </a:lnSpc>
              <a:spcAft>
                <a:spcPts val="0"/>
              </a:spcAft>
              <a:buNone/>
            </a:pPr>
            <a:r>
              <a:rPr lang="en-US" sz="1500" b="0">
                <a:solidFill>
                  <a:srgbClr val="202B33"/>
                </a:solidFill>
                <a:latin typeface="Arial"/>
                <a:ea typeface="Arial"/>
                <a:cs typeface="Arial"/>
              </a:rPr>
              <a:t xml:space="preserve">reports the 2021 experiment.</a:t>
            </a:r>
            <a:endParaRPr lang="en-US" sz="1500"/>
          </a:p>
          <a:p>
            <a:pPr marL="0" indent="0">
              <a:lnSpc>
                <a:spcPts val="1950"/>
              </a:lnSpc>
              <a:spcAft>
                <a:spcPts val="0"/>
              </a:spcAft>
              <a:buNone/>
            </a:pPr>
            <a:r>
              <a:rPr lang="en-US" sz="1500" b="0">
                <a:solidFill>
                  <a:srgbClr val="202B33"/>
                </a:solidFill>
                <a:latin typeface="Arial"/>
                <a:ea typeface="Arial"/>
                <a:cs typeface="Arial"/>
              </a:rPr>
              <a:t xml:space="preserve"/>
            </a:r>
            <a:endParaRPr lang="en-US" sz="1500"/>
          </a:p>
          <a:p>
            <a:pPr marL="0" indent="0">
              <a:lnSpc>
                <a:spcPts val="1950"/>
              </a:lnSpc>
              <a:spcAft>
                <a:spcPts val="0"/>
              </a:spcAft>
              <a:buNone/>
            </a:pPr>
            <a:r>
              <a:rPr lang="en-US" sz="1500" b="0">
                <a:solidFill>
                  <a:srgbClr val="202B33"/>
                </a:solidFill>
                <a:latin typeface="Arial"/>
                <a:ea typeface="Arial"/>
                <a:cs typeface="Arial"/>
              </a:rPr>
              <a:t xml:space="preserve">Cleverdon, Mills, and Keen (1966), Factors</a:t>
            </a:r>
            <a:endParaRPr lang="en-US" sz="1500"/>
          </a:p>
          <a:p>
            <a:pPr marL="0" indent="0">
              <a:lnSpc>
                <a:spcPts val="1950"/>
              </a:lnSpc>
              <a:spcAft>
                <a:spcPts val="0"/>
              </a:spcAft>
              <a:buNone/>
            </a:pPr>
            <a:r>
              <a:rPr lang="en-US" sz="1500" b="0">
                <a:solidFill>
                  <a:srgbClr val="202B33"/>
                </a:solidFill>
                <a:latin typeface="Arial"/>
                <a:ea typeface="Arial"/>
                <a:cs typeface="Arial"/>
              </a:rPr>
              <a:t xml:space="preserve">Determining the Performance of Indexing</a:t>
            </a:r>
            <a:endParaRPr lang="en-US" sz="1500"/>
          </a:p>
          <a:p>
            <a:pPr marL="0" indent="0">
              <a:lnSpc>
                <a:spcPts val="1950"/>
              </a:lnSpc>
              <a:spcAft>
                <a:spcPts val="0"/>
              </a:spcAft>
              <a:buNone/>
            </a:pPr>
            <a:r>
              <a:rPr lang="en-US" sz="1500" b="0">
                <a:solidFill>
                  <a:srgbClr val="202B33"/>
                </a:solidFill>
                <a:latin typeface="Arial"/>
                <a:ea typeface="Arial"/>
                <a:cs typeface="Arial"/>
              </a:rPr>
              <a:t xml:space="preserve">Systems, Volume I, Design, Part 2, front</a:t>
            </a:r>
            <a:endParaRPr lang="en-US" sz="1500"/>
          </a:p>
          <a:p>
            <a:pPr marL="0" indent="0">
              <a:lnSpc>
                <a:spcPts val="1950"/>
              </a:lnSpc>
              <a:spcAft>
                <a:spcPts val="0"/>
              </a:spcAft>
              <a:buNone/>
            </a:pPr>
            <a:r>
              <a:rPr lang="en-US" sz="1500" b="0">
                <a:solidFill>
                  <a:srgbClr val="202B33"/>
                </a:solidFill>
                <a:latin typeface="Arial"/>
                <a:ea typeface="Arial"/>
                <a:cs typeface="Arial"/>
              </a:rPr>
              <a:t xml:space="preserve">matter —</a:t>
            </a:r>
            <a:endParaRPr lang="en-US" sz="1500"/>
          </a:p>
          <a:p>
            <a:pPr marL="0" indent="0">
              <a:lnSpc>
                <a:spcPts val="1950"/>
              </a:lnSpc>
              <a:spcAft>
                <a:spcPts val="0"/>
              </a:spcAft>
              <a:buNone/>
            </a:pPr>
            <a:r>
              <a:rPr lang="en-US" sz="1500" b="0">
                <a:solidFill>
                  <a:srgbClr val="202B33"/>
                </a:solidFill>
                <a:latin typeface="Arial"/>
                <a:ea typeface="Arial"/>
                <a:cs typeface="Arial"/>
              </a:rPr>
              <a:t xml:space="preserve">https://sigir.org/files/museum/Factors%20Determining%20the%20Performance%20of%20Indexing%20Systems%20Volume%20I.%20Design%20-%20Part%202.%20Appendices/pdfs/frontmatter.pdf.</a:t>
            </a:r>
            <a:endParaRPr lang="en-US" sz="1500"/>
          </a:p>
        </p:txBody>
      </p:sp>
      <p:sp>
        <p:nvSpPr>
          <p:cNvPr id="6" name="Text 6"/>
          <p:cNvSpPr txBox="1"/>
          <p:nvPr/>
        </p:nvSpPr>
        <p:spPr>
          <a:xfrm>
            <a:off x="457200" y="7486650"/>
            <a:ext cx="8820150" cy="190500"/>
          </a:xfrm>
          <a:prstGeom prst="rect">
            <a:avLst/>
          </a:prstGeom>
          <a:noFill/>
          <a:ln>
            <a:noFill/>
          </a:ln>
        </p:spPr>
        <p:txBody>
          <a:bodyPr wrap="none" lIns="0" tIns="0" rIns="0" bIns="0" anchor="t">
            <a:noAutofit/>
          </a:bodyPr>
          <a:lstStyle/>
          <a:p>
            <a:pPr marL="0" indent="0">
              <a:lnSpc>
                <a:spcPts val="1268"/>
              </a:lnSpc>
              <a:spcAft>
                <a:spcPts val="0"/>
              </a:spcAft>
              <a:buNone/>
            </a:pPr>
            <a:r>
              <a:rPr lang="en-US" sz="975" b="0">
                <a:solidFill>
                  <a:srgbClr val="48555B"/>
                </a:solidFill>
                <a:latin typeface="Arial"/>
                <a:ea typeface="Arial"/>
                <a:cs typeface="Arial"/>
              </a:rPr>
              <a:t xml:space="preserve">Three Search Methods in a Fundable Trenchcoat</a:t>
            </a:r>
            <a:endParaRPr lang="en-US" sz="975"/>
          </a:p>
        </p:txBody>
      </p:sp>
      <p:sp>
        <p:nvSpPr>
          <p:cNvPr id="7" name="Text 7"/>
          <p:cNvSpPr txBox="1"/>
          <p:nvPr/>
        </p:nvSpPr>
        <p:spPr>
          <a:xfrm>
            <a:off x="9391650" y="7486650"/>
            <a:ext cx="238125" cy="190500"/>
          </a:xfrm>
          <a:prstGeom prst="rect">
            <a:avLst/>
          </a:prstGeom>
          <a:noFill/>
          <a:ln>
            <a:noFill/>
          </a:ln>
        </p:spPr>
        <p:txBody>
          <a:bodyPr wrap="none" lIns="0" tIns="0" rIns="0" bIns="0" anchor="t">
            <a:noAutofit/>
          </a:bodyPr>
          <a:lstStyle/>
          <a:p>
            <a:pPr marL="0" indent="0">
              <a:lnSpc>
                <a:spcPts val="1268"/>
              </a:lnSpc>
              <a:spcAft>
                <a:spcPts val="0"/>
              </a:spcAft>
              <a:buNone/>
            </a:pPr>
            <a:r>
              <a:rPr lang="en-US" sz="975" b="0">
                <a:solidFill>
                  <a:srgbClr val="48555B"/>
                </a:solidFill>
                <a:latin typeface="Arial"/>
                <a:ea typeface="Arial"/>
                <a:cs typeface="Arial"/>
              </a:rPr>
              <a:t xml:space="preserve">17</a:t>
            </a:r>
            <a:endParaRPr lang="en-US" sz="975"/>
          </a:p>
        </p:txBody>
      </p:sp>
    </p:spTree>
  </p:cSld>
  <p:clrMapOvr>
    <a:masterClrMapping/>
  </p:clrMapOvr>
</p:sld>
</file>

<file path=ppt/slides/slide18.xml><?xml version="1.0" encoding="utf-8"?>
<p:sld xmlns:a="http://schemas.openxmlformats.org/drawingml/2006/main" xmlns:r="http://schemas.openxmlformats.org/officeDocument/2006/relationships" xmlns:p="http://schemas.openxmlformats.org/presentationml/2006/main">
  <p:cSld name="Slide 18">
    <p:bg>
      <p:bgPr>
        <a:solidFill>
          <a:srgbClr val="FAFAF7"/>
        </a:solidFill>
        <a:effectLst/>
      </p:bgPr>
    </p:bg>
    <p:spTree>
      <p:nvGrpSpPr>
        <p:cNvPr id="1" name=""/>
        <p:cNvGrpSpPr/>
        <p:nvPr/>
      </p:nvGrpSpPr>
      <p:grpSpPr>
        <a:xfrm>
          <a:off x="0" y="0"/>
          <a:ext cx="0" cy="0"/>
          <a:chOff x="0" y="0"/>
          <a:chExt cx="0" cy="0"/>
        </a:xfrm>
      </p:grpSpPr>
      <p:sp>
        <p:nvSpPr>
          <p:cNvPr id="2" name="Text 2"/>
          <p:cNvSpPr txBox="1"/>
          <p:nvPr/>
        </p:nvSpPr>
        <p:spPr>
          <a:xfrm>
            <a:off x="457200" y="266700"/>
            <a:ext cx="9144000" cy="228600"/>
          </a:xfrm>
          <a:prstGeom prst="rect">
            <a:avLst/>
          </a:prstGeom>
          <a:noFill/>
          <a:ln>
            <a:noFill/>
          </a:ln>
        </p:spPr>
        <p:txBody>
          <a:bodyPr wrap="none" lIns="0" tIns="0" rIns="0" bIns="0" anchor="t">
            <a:noAutofit/>
          </a:bodyPr>
          <a:lstStyle/>
          <a:p>
            <a:pPr marL="0" indent="0">
              <a:lnSpc>
                <a:spcPts val="1365"/>
              </a:lnSpc>
              <a:spcAft>
                <a:spcPts val="0"/>
              </a:spcAft>
              <a:buNone/>
            </a:pPr>
            <a:r>
              <a:rPr lang="en-US" sz="1050" b="1">
                <a:solidFill>
                  <a:srgbClr val="246957"/>
                </a:solidFill>
                <a:latin typeface="Arial"/>
                <a:ea typeface="Arial"/>
                <a:cs typeface="Arial"/>
              </a:rPr>
              <a:t xml:space="preserve">SOURCE REFERENCES</a:t>
            </a:r>
            <a:endParaRPr lang="en-US" sz="1050"/>
          </a:p>
        </p:txBody>
      </p:sp>
      <p:sp>
        <p:nvSpPr>
          <p:cNvPr id="3" name="Text 3"/>
          <p:cNvSpPr txBox="1"/>
          <p:nvPr/>
        </p:nvSpPr>
        <p:spPr>
          <a:xfrm>
            <a:off x="457200" y="657225"/>
            <a:ext cx="9144000" cy="1104900"/>
          </a:xfrm>
          <a:prstGeom prst="rect">
            <a:avLst/>
          </a:prstGeom>
          <a:noFill/>
          <a:ln>
            <a:noFill/>
          </a:ln>
        </p:spPr>
        <p:txBody>
          <a:bodyPr wrap="none" lIns="0" tIns="0" rIns="0" bIns="0" anchor="t">
            <a:noAutofit/>
          </a:bodyPr>
          <a:lstStyle/>
          <a:p>
            <a:pPr marL="0" indent="0">
              <a:lnSpc>
                <a:spcPts val="3060"/>
              </a:lnSpc>
              <a:spcAft>
                <a:spcPts val="0"/>
              </a:spcAft>
              <a:buNone/>
            </a:pPr>
            <a:r>
              <a:rPr lang="en-US" sz="2550" b="1">
                <a:solidFill>
                  <a:srgbClr val="202B33"/>
                </a:solidFill>
                <a:latin typeface="Arial"/>
                <a:ea typeface="Arial"/>
                <a:cs typeface="Arial"/>
              </a:rPr>
              <a:t xml:space="preserve">References (continued)</a:t>
            </a:r>
            <a:endParaRPr lang="en-US" sz="2550"/>
          </a:p>
        </p:txBody>
      </p:sp>
      <p:sp>
        <p:nvSpPr>
          <p:cNvPr id="4" name="Text 4"/>
          <p:cNvSpPr txBox="1"/>
          <p:nvPr/>
        </p:nvSpPr>
        <p:spPr>
          <a:xfrm>
            <a:off x="457200" y="1971675"/>
            <a:ext cx="4352925" cy="5314950"/>
          </a:xfrm>
          <a:prstGeom prst="rect">
            <a:avLst/>
          </a:prstGeom>
          <a:noFill/>
          <a:ln>
            <a:noFill/>
          </a:ln>
        </p:spPr>
        <p:txBody>
          <a:bodyPr wrap="none" lIns="0" tIns="0" rIns="0" bIns="0" anchor="t">
            <a:noAutofit/>
          </a:bodyPr>
          <a:lstStyle/>
          <a:p>
            <a:pPr marL="0" indent="0">
              <a:lnSpc>
                <a:spcPts val="1950"/>
              </a:lnSpc>
              <a:spcAft>
                <a:spcPts val="0"/>
              </a:spcAft>
              <a:buNone/>
            </a:pPr>
            <a:r>
              <a:rPr lang="en-US" sz="1500" b="0">
                <a:solidFill>
                  <a:srgbClr val="202B33"/>
                </a:solidFill>
                <a:latin typeface="Arial"/>
                <a:ea typeface="Arial"/>
                <a:cs typeface="Arial"/>
              </a:rPr>
              <a:t xml:space="preserve">Justin Zobel (1998), How reliable are the</a:t>
            </a:r>
            <a:endParaRPr lang="en-US" sz="1500"/>
          </a:p>
          <a:p>
            <a:pPr marL="0" indent="0">
              <a:lnSpc>
                <a:spcPts val="1950"/>
              </a:lnSpc>
              <a:spcAft>
                <a:spcPts val="0"/>
              </a:spcAft>
              <a:buNone/>
            </a:pPr>
            <a:r>
              <a:rPr lang="en-US" sz="1500" b="0">
                <a:solidFill>
                  <a:srgbClr val="202B33"/>
                </a:solidFill>
                <a:latin typeface="Arial"/>
                <a:ea typeface="Arial"/>
                <a:cs typeface="Arial"/>
              </a:rPr>
              <a:t xml:space="preserve">results of large-scale information</a:t>
            </a:r>
            <a:endParaRPr lang="en-US" sz="1500"/>
          </a:p>
          <a:p>
            <a:pPr marL="0" indent="0">
              <a:lnSpc>
                <a:spcPts val="1950"/>
              </a:lnSpc>
              <a:spcAft>
                <a:spcPts val="0"/>
              </a:spcAft>
              <a:buNone/>
            </a:pPr>
            <a:r>
              <a:rPr lang="en-US" sz="1500" b="0">
                <a:solidFill>
                  <a:srgbClr val="202B33"/>
                </a:solidFill>
                <a:latin typeface="Arial"/>
                <a:ea typeface="Arial"/>
                <a:cs typeface="Arial"/>
              </a:rPr>
              <a:t xml:space="preserve">retrieval experiments? —</a:t>
            </a:r>
            <a:endParaRPr lang="en-US" sz="1500"/>
          </a:p>
          <a:p>
            <a:pPr marL="0" indent="0">
              <a:lnSpc>
                <a:spcPts val="1950"/>
              </a:lnSpc>
              <a:spcAft>
                <a:spcPts val="0"/>
              </a:spcAft>
              <a:buNone/>
            </a:pPr>
            <a:r>
              <a:rPr lang="en-US" sz="1500" b="0">
                <a:solidFill>
                  <a:srgbClr val="202B33"/>
                </a:solidFill>
                <a:latin typeface="Arial"/>
                <a:ea typeface="Arial"/>
                <a:cs typeface="Arial"/>
              </a:rPr>
              <a:t xml:space="preserve">https://doi.org/10.1145/290941.291014),</a:t>
            </a:r>
            <a:endParaRPr lang="en-US" sz="1500"/>
          </a:p>
          <a:p>
            <a:pPr marL="0" indent="0">
              <a:lnSpc>
                <a:spcPts val="1950"/>
              </a:lnSpc>
              <a:spcAft>
                <a:spcPts val="0"/>
              </a:spcAft>
              <a:buNone/>
            </a:pPr>
            <a:r>
              <a:rPr lang="en-US" sz="1500" b="0">
                <a:solidFill>
                  <a:srgbClr val="202B33"/>
                </a:solidFill>
                <a:latin typeface="Arial"/>
                <a:ea typeface="Arial"/>
                <a:cs typeface="Arial"/>
              </a:rPr>
              <a:t xml:space="preserve">SIGIR, 307–314. Voorhees, Soboroff, and Lin</a:t>
            </a:r>
            <a:endParaRPr lang="en-US" sz="1500"/>
          </a:p>
          <a:p>
            <a:pPr marL="0" indent="0">
              <a:lnSpc>
                <a:spcPts val="1950"/>
              </a:lnSpc>
              <a:spcAft>
                <a:spcPts val="0"/>
              </a:spcAft>
              <a:buNone/>
            </a:pPr>
            <a:r>
              <a:rPr lang="en-US" sz="1500" b="0">
                <a:solidFill>
                  <a:srgbClr val="202B33"/>
                </a:solidFill>
                <a:latin typeface="Arial"/>
                <a:ea typeface="Arial"/>
                <a:cs typeface="Arial"/>
              </a:rPr>
              <a:t xml:space="preserve">(2022), [Can Old TREC Collections Reliably</a:t>
            </a:r>
            <a:endParaRPr lang="en-US" sz="1500"/>
          </a:p>
          <a:p>
            <a:pPr marL="0" indent="0">
              <a:lnSpc>
                <a:spcPts val="1950"/>
              </a:lnSpc>
              <a:spcAft>
                <a:spcPts val="0"/>
              </a:spcAft>
              <a:buNone/>
            </a:pPr>
            <a:r>
              <a:rPr lang="en-US" sz="1500" b="0">
                <a:solidFill>
                  <a:srgbClr val="202B33"/>
                </a:solidFill>
                <a:latin typeface="Arial"/>
                <a:ea typeface="Arial"/>
                <a:cs typeface="Arial"/>
              </a:rPr>
              <a:t xml:space="preserve">Evaluate Modern Neural Retrieval</a:t>
            </a:r>
            <a:endParaRPr lang="en-US" sz="1500"/>
          </a:p>
          <a:p>
            <a:pPr marL="0" indent="0">
              <a:lnSpc>
                <a:spcPts val="1950"/>
              </a:lnSpc>
              <a:spcAft>
                <a:spcPts val="0"/>
              </a:spcAft>
              <a:buNone/>
            </a:pPr>
            <a:r>
              <a:rPr lang="en-US" sz="1500" b="0">
                <a:solidFill>
                  <a:srgbClr val="202B33"/>
                </a:solidFill>
                <a:latin typeface="Arial"/>
                <a:ea typeface="Arial"/>
                <a:cs typeface="Arial"/>
              </a:rPr>
              <a:t xml:space="preserve">Models?](https://arxiv.org/abs/2201.11086).</a:t>
            </a:r>
            <a:endParaRPr lang="en-US" sz="1500"/>
          </a:p>
          <a:p>
            <a:pPr marL="0" indent="0">
              <a:lnSpc>
                <a:spcPts val="1950"/>
              </a:lnSpc>
              <a:spcAft>
                <a:spcPts val="0"/>
              </a:spcAft>
              <a:buNone/>
            </a:pPr>
            <a:r>
              <a:rPr lang="en-US" sz="1500" b="0">
                <a:solidFill>
                  <a:srgbClr val="202B33"/>
                </a:solidFill>
                <a:latin typeface="Arial"/>
                <a:ea typeface="Arial"/>
                <a:cs typeface="Arial"/>
              </a:rPr>
              <a:t xml:space="preserve">[NIST TREC</a:t>
            </a:r>
            <a:endParaRPr lang="en-US" sz="1500"/>
          </a:p>
          <a:p>
            <a:pPr marL="0" indent="0">
              <a:lnSpc>
                <a:spcPts val="1950"/>
              </a:lnSpc>
              <a:spcAft>
                <a:spcPts val="0"/>
              </a:spcAft>
              <a:buNone/>
            </a:pPr>
            <a:r>
              <a:rPr lang="en-US" sz="1500" b="0">
                <a:solidFill>
                  <a:srgbClr val="202B33"/>
                </a:solidFill>
                <a:latin typeface="Arial"/>
                <a:ea typeface="Arial"/>
                <a:cs typeface="Arial"/>
              </a:rPr>
              <a:t xml:space="preserve">overview](https://trec.nist.gov/overview.html,</a:t>
            </a:r>
            <a:endParaRPr lang="en-US" sz="1500"/>
          </a:p>
          <a:p>
            <a:pPr marL="0" indent="0">
              <a:lnSpc>
                <a:spcPts val="1950"/>
              </a:lnSpc>
              <a:spcAft>
                <a:spcPts val="0"/>
              </a:spcAft>
              <a:buNone/>
            </a:pPr>
            <a:r>
              <a:rPr lang="en-US" sz="1500" b="0">
                <a:solidFill>
                  <a:srgbClr val="202B33"/>
                </a:solidFill>
                <a:latin typeface="Arial"/>
                <a:ea typeface="Arial"/>
                <a:cs typeface="Arial"/>
              </a:rPr>
              <a:t xml:space="preserve">started 1992.</a:t>
            </a:r>
            <a:endParaRPr lang="en-US" sz="1500"/>
          </a:p>
          <a:p>
            <a:pPr marL="0" indent="0">
              <a:lnSpc>
                <a:spcPts val="1950"/>
              </a:lnSpc>
              <a:spcAft>
                <a:spcPts val="0"/>
              </a:spcAft>
              <a:buNone/>
            </a:pPr>
            <a:r>
              <a:rPr lang="en-US" sz="1500" b="0">
                <a:solidFill>
                  <a:srgbClr val="202B33"/>
                </a:solidFill>
                <a:latin typeface="Arial"/>
                <a:ea typeface="Arial"/>
                <a:cs typeface="Arial"/>
              </a:rPr>
              <a:t xml:space="preserve"/>
            </a:r>
            <a:endParaRPr lang="en-US" sz="1500"/>
          </a:p>
        </p:txBody>
      </p:sp>
      <p:sp>
        <p:nvSpPr>
          <p:cNvPr id="5" name="Text 5"/>
          <p:cNvSpPr txBox="1"/>
          <p:nvPr/>
        </p:nvSpPr>
        <p:spPr>
          <a:xfrm>
            <a:off x="5238750" y="1971675"/>
            <a:ext cx="4362450" cy="5314950"/>
          </a:xfrm>
          <a:prstGeom prst="rect">
            <a:avLst/>
          </a:prstGeom>
          <a:noFill/>
          <a:ln>
            <a:noFill/>
          </a:ln>
        </p:spPr>
        <p:txBody>
          <a:bodyPr wrap="none" lIns="0" tIns="0" rIns="0" bIns="0" anchor="t">
            <a:noAutofit/>
          </a:bodyPr>
          <a:lstStyle/>
          <a:p>
            <a:pPr marL="0" indent="0">
              <a:lnSpc>
                <a:spcPts val="1950"/>
              </a:lnSpc>
              <a:spcAft>
                <a:spcPts val="0"/>
              </a:spcAft>
              <a:buNone/>
            </a:pPr>
            <a:r>
              <a:rPr lang="en-US" sz="1500" b="0">
                <a:solidFill>
                  <a:srgbClr val="202B33"/>
                </a:solidFill>
                <a:latin typeface="Arial"/>
                <a:ea typeface="Arial"/>
                <a:cs typeface="Arial"/>
              </a:rPr>
              <a:t xml:space="preserve">Ellen M. Voorhees (2000), Variations in</a:t>
            </a:r>
            <a:endParaRPr lang="en-US" sz="1500"/>
          </a:p>
          <a:p>
            <a:pPr marL="0" indent="0">
              <a:lnSpc>
                <a:spcPts val="1950"/>
              </a:lnSpc>
              <a:spcAft>
                <a:spcPts val="0"/>
              </a:spcAft>
              <a:buNone/>
            </a:pPr>
            <a:r>
              <a:rPr lang="en-US" sz="1500" b="0">
                <a:solidFill>
                  <a:srgbClr val="202B33"/>
                </a:solidFill>
                <a:latin typeface="Arial"/>
                <a:ea typeface="Arial"/>
                <a:cs typeface="Arial"/>
              </a:rPr>
              <a:t xml:space="preserve">Relevance Judgments and the Measurement of</a:t>
            </a:r>
            <a:endParaRPr lang="en-US" sz="1500"/>
          </a:p>
          <a:p>
            <a:pPr marL="0" indent="0">
              <a:lnSpc>
                <a:spcPts val="1950"/>
              </a:lnSpc>
              <a:spcAft>
                <a:spcPts val="0"/>
              </a:spcAft>
              <a:buNone/>
            </a:pPr>
            <a:r>
              <a:rPr lang="en-US" sz="1500" b="0">
                <a:solidFill>
                  <a:srgbClr val="202B33"/>
                </a:solidFill>
                <a:latin typeface="Arial"/>
                <a:ea typeface="Arial"/>
                <a:cs typeface="Arial"/>
              </a:rPr>
              <a:t xml:space="preserve">Retrieval Effectiveness —</a:t>
            </a:r>
            <a:endParaRPr lang="en-US" sz="1500"/>
          </a:p>
          <a:p>
            <a:pPr marL="0" indent="0">
              <a:lnSpc>
                <a:spcPts val="1950"/>
              </a:lnSpc>
              <a:spcAft>
                <a:spcPts val="0"/>
              </a:spcAft>
              <a:buNone/>
            </a:pPr>
            <a:r>
              <a:rPr lang="en-US" sz="1500" b="0">
                <a:solidFill>
                  <a:srgbClr val="202B33"/>
                </a:solidFill>
                <a:latin typeface="Arial"/>
                <a:ea typeface="Arial"/>
                <a:cs typeface="Arial"/>
              </a:rPr>
              <a:t xml:space="preserve">https://www.nist.gov/publications/variations-relevance-judgments-and-measurement-retrieval-effectiveness),</a:t>
            </a:r>
            <a:endParaRPr lang="en-US" sz="1500"/>
          </a:p>
          <a:p>
            <a:pPr marL="0" indent="0">
              <a:lnSpc>
                <a:spcPts val="1950"/>
              </a:lnSpc>
              <a:spcAft>
                <a:spcPts val="0"/>
              </a:spcAft>
              <a:buNone/>
            </a:pPr>
            <a:r>
              <a:rPr lang="en-US" sz="1500" b="0">
                <a:solidFill>
                  <a:srgbClr val="202B33"/>
                </a:solidFill>
                <a:latin typeface="Arial"/>
                <a:ea typeface="Arial"/>
                <a:cs typeface="Arial"/>
              </a:rPr>
              <a:t xml:space="preserve">Information Processing &amp; Management 36(5,</a:t>
            </a:r>
            <a:endParaRPr lang="en-US" sz="1500"/>
          </a:p>
          <a:p>
            <a:pPr marL="0" indent="0">
              <a:lnSpc>
                <a:spcPts val="1950"/>
              </a:lnSpc>
              <a:spcAft>
                <a:spcPts val="0"/>
              </a:spcAft>
              <a:buNone/>
            </a:pPr>
            <a:r>
              <a:rPr lang="en-US" sz="1500" b="0">
                <a:solidFill>
                  <a:srgbClr val="202B33"/>
                </a:solidFill>
                <a:latin typeface="Arial"/>
                <a:ea typeface="Arial"/>
                <a:cs typeface="Arial"/>
              </a:rPr>
              <a:t xml:space="preserve">697–716.</a:t>
            </a:r>
            <a:endParaRPr lang="en-US" sz="1500"/>
          </a:p>
          <a:p>
            <a:pPr marL="0" indent="0">
              <a:lnSpc>
                <a:spcPts val="1950"/>
              </a:lnSpc>
              <a:spcAft>
                <a:spcPts val="0"/>
              </a:spcAft>
              <a:buNone/>
            </a:pPr>
            <a:r>
              <a:rPr lang="en-US" sz="1500" b="0">
                <a:solidFill>
                  <a:srgbClr val="202B33"/>
                </a:solidFill>
                <a:latin typeface="Arial"/>
                <a:ea typeface="Arial"/>
                <a:cs typeface="Arial"/>
              </a:rPr>
              <a:t xml:space="preserve"/>
            </a:r>
            <a:endParaRPr lang="en-US" sz="1500"/>
          </a:p>
          <a:p>
            <a:pPr marL="0" indent="0">
              <a:lnSpc>
                <a:spcPts val="1950"/>
              </a:lnSpc>
              <a:spcAft>
                <a:spcPts val="0"/>
              </a:spcAft>
              <a:buNone/>
            </a:pPr>
            <a:r>
              <a:rPr lang="en-US" sz="1500" b="0">
                <a:solidFill>
                  <a:srgbClr val="202B33"/>
                </a:solidFill>
                <a:latin typeface="Arial"/>
                <a:ea typeface="Arial"/>
                <a:cs typeface="Arial"/>
              </a:rPr>
              <a:t xml:space="preserve">John McDermott (1982), R1: A rule-based</a:t>
            </a:r>
            <a:endParaRPr lang="en-US" sz="1500"/>
          </a:p>
          <a:p>
            <a:pPr marL="0" indent="0">
              <a:lnSpc>
                <a:spcPts val="1950"/>
              </a:lnSpc>
              <a:spcAft>
                <a:spcPts val="0"/>
              </a:spcAft>
              <a:buNone/>
            </a:pPr>
            <a:r>
              <a:rPr lang="en-US" sz="1500" b="0">
                <a:solidFill>
                  <a:srgbClr val="202B33"/>
                </a:solidFill>
                <a:latin typeface="Arial"/>
                <a:ea typeface="Arial"/>
                <a:cs typeface="Arial"/>
              </a:rPr>
              <a:t xml:space="preserve">configurer of computer systems —</a:t>
            </a:r>
            <a:endParaRPr lang="en-US" sz="1500"/>
          </a:p>
          <a:p>
            <a:pPr marL="0" indent="0">
              <a:lnSpc>
                <a:spcPts val="1950"/>
              </a:lnSpc>
              <a:spcAft>
                <a:spcPts val="0"/>
              </a:spcAft>
              <a:buNone/>
            </a:pPr>
            <a:r>
              <a:rPr lang="en-US" sz="1500" b="0">
                <a:solidFill>
                  <a:srgbClr val="202B33"/>
                </a:solidFill>
                <a:latin typeface="Arial"/>
                <a:ea typeface="Arial"/>
                <a:cs typeface="Arial"/>
              </a:rPr>
              <a:t xml:space="preserve">https://www.sciencedirect.com/science/article/abs/pii/0004370282900212),</a:t>
            </a:r>
            <a:endParaRPr lang="en-US" sz="1500"/>
          </a:p>
          <a:p>
            <a:pPr marL="0" indent="0">
              <a:lnSpc>
                <a:spcPts val="1950"/>
              </a:lnSpc>
              <a:spcAft>
                <a:spcPts val="0"/>
              </a:spcAft>
              <a:buNone/>
            </a:pPr>
            <a:r>
              <a:rPr lang="en-US" sz="1500" b="0">
                <a:solidFill>
                  <a:srgbClr val="202B33"/>
                </a:solidFill>
                <a:latin typeface="Arial"/>
                <a:ea typeface="Arial"/>
                <a:cs typeface="Arial"/>
              </a:rPr>
              <a:t xml:space="preserve">Artificial Intelligence 19(1, 39–88.</a:t>
            </a:r>
            <a:endParaRPr lang="en-US" sz="1500"/>
          </a:p>
        </p:txBody>
      </p:sp>
      <p:sp>
        <p:nvSpPr>
          <p:cNvPr id="6" name="Text 6"/>
          <p:cNvSpPr txBox="1"/>
          <p:nvPr/>
        </p:nvSpPr>
        <p:spPr>
          <a:xfrm>
            <a:off x="457200" y="7486650"/>
            <a:ext cx="8820150" cy="190500"/>
          </a:xfrm>
          <a:prstGeom prst="rect">
            <a:avLst/>
          </a:prstGeom>
          <a:noFill/>
          <a:ln>
            <a:noFill/>
          </a:ln>
        </p:spPr>
        <p:txBody>
          <a:bodyPr wrap="none" lIns="0" tIns="0" rIns="0" bIns="0" anchor="t">
            <a:noAutofit/>
          </a:bodyPr>
          <a:lstStyle/>
          <a:p>
            <a:pPr marL="0" indent="0">
              <a:lnSpc>
                <a:spcPts val="1268"/>
              </a:lnSpc>
              <a:spcAft>
                <a:spcPts val="0"/>
              </a:spcAft>
              <a:buNone/>
            </a:pPr>
            <a:r>
              <a:rPr lang="en-US" sz="975" b="0">
                <a:solidFill>
                  <a:srgbClr val="48555B"/>
                </a:solidFill>
                <a:latin typeface="Arial"/>
                <a:ea typeface="Arial"/>
                <a:cs typeface="Arial"/>
              </a:rPr>
              <a:t xml:space="preserve">Three Search Methods in a Fundable Trenchcoat</a:t>
            </a:r>
            <a:endParaRPr lang="en-US" sz="975"/>
          </a:p>
        </p:txBody>
      </p:sp>
      <p:sp>
        <p:nvSpPr>
          <p:cNvPr id="7" name="Text 7"/>
          <p:cNvSpPr txBox="1"/>
          <p:nvPr/>
        </p:nvSpPr>
        <p:spPr>
          <a:xfrm>
            <a:off x="9391650" y="7486650"/>
            <a:ext cx="238125" cy="190500"/>
          </a:xfrm>
          <a:prstGeom prst="rect">
            <a:avLst/>
          </a:prstGeom>
          <a:noFill/>
          <a:ln>
            <a:noFill/>
          </a:ln>
        </p:spPr>
        <p:txBody>
          <a:bodyPr wrap="none" lIns="0" tIns="0" rIns="0" bIns="0" anchor="t">
            <a:noAutofit/>
          </a:bodyPr>
          <a:lstStyle/>
          <a:p>
            <a:pPr marL="0" indent="0">
              <a:lnSpc>
                <a:spcPts val="1268"/>
              </a:lnSpc>
              <a:spcAft>
                <a:spcPts val="0"/>
              </a:spcAft>
              <a:buNone/>
            </a:pPr>
            <a:r>
              <a:rPr lang="en-US" sz="975" b="0">
                <a:solidFill>
                  <a:srgbClr val="48555B"/>
                </a:solidFill>
                <a:latin typeface="Arial"/>
                <a:ea typeface="Arial"/>
                <a:cs typeface="Arial"/>
              </a:rPr>
              <a:t xml:space="preserve">18</a:t>
            </a:r>
            <a:endParaRPr lang="en-US" sz="975"/>
          </a:p>
        </p:txBody>
      </p:sp>
    </p:spTree>
  </p:cSld>
  <p:clrMapOvr>
    <a:masterClrMapping/>
  </p:clrMapOvr>
</p:sld>
</file>

<file path=ppt/theme/theme1.xml><?xml version="1.0" encoding="utf-8"?>
<a:theme xmlns:a="http://schemas.openxmlformats.org/drawingml/2006/main" name="Dan Levy talks">
  <a:themeElements>
    <a:clrScheme name="Talk palette">
      <a:dk1>
        <a:srgbClr val="202B33"/>
      </a:dk1>
      <a:lt1>
        <a:srgbClr val="FFFFFF"/>
      </a:lt1>
      <a:dk2>
        <a:srgbClr val="48555B"/>
      </a:dk2>
      <a:lt2>
        <a:srgbClr val="FAFAF7"/>
      </a:lt2>
      <a:accent1>
        <a:srgbClr val="246957"/>
      </a:accent1>
      <a:accent2>
        <a:srgbClr val="728482"/>
      </a:accent2>
      <a:accent3>
        <a:srgbClr val="53616F"/>
      </a:accent3>
      <a:accent4>
        <a:srgbClr val="9D7462"/>
      </a:accent4>
      <a:accent5>
        <a:srgbClr val="7D86A0"/>
      </a:accent5>
      <a:accent6>
        <a:srgbClr val="9E996B"/>
      </a:accent6>
      <a:hlink>
        <a:srgbClr val="246957"/>
      </a:hlink>
      <a:folHlink>
        <a:srgbClr val="925700"/>
      </a:folHlink>
    </a:clrScheme>
    <a:fontScheme name="Arial">
      <a:majorFont>
        <a:latin typeface="Arial"/>
        <a:ea typeface=""/>
        <a:cs typeface=""/>
      </a:majorFont>
      <a:minorFont>
        <a:latin typeface="Arial"/>
        <a:ea typeface=""/>
        <a:cs typeface=""/>
      </a:minorFont>
    </a:fontScheme>
    <a:fmtScheme name="Plain">
      <a:fillStyleLst>
        <a:solidFill>
          <a:schemeClr val="phClr"/>
        </a:solidFill>
        <a:solidFill>
          <a:schemeClr val="phClr"/>
        </a:solidFill>
        <a:solidFill>
          <a:schemeClr val="phClr"/>
        </a:solidFill>
      </a:fillStyleLst>
      <a:lnStyleLst>
        <a:ln w="9525">
          <a:solidFill>
            <a:schemeClr val="phClr"/>
          </a:solidFill>
          <a:prstDash val="solid"/>
        </a:ln>
        <a:ln w="9525">
          <a:solidFill>
            <a:schemeClr val="phClr"/>
          </a:solidFill>
          <a:prstDash val="solid"/>
        </a:ln>
        <a:ln w="9525">
          <a:solidFill>
            <a:schemeClr val="phClr"/>
          </a:solidFill>
          <a:prstDash val="solid"/>
        </a:ln>
      </a:lnStyleLst>
      <a:effectStyleLst>
        <a:effectStyle>
          <a:effectLst/>
        </a:effectStyle>
        <a:effectStyle>
          <a:effectLst/>
        </a:effectStyle>
        <a:effectStyle>
          <a:effectLst/>
        </a:effectStyle>
      </a:effectStyleLst>
      <a:bgFillStyleLst>
        <a:solidFill>
          <a:schemeClr val="phClr"/>
        </a:solidFill>
        <a:solidFill>
          <a:schemeClr val="phClr"/>
        </a:solidFill>
        <a:solidFill>
          <a:schemeClr val="phClr"/>
        </a:solidFill>
      </a:bgFillStyleLst>
    </a:fmtScheme>
  </a:themeElements>
</a:theme>
</file>

<file path=docProps/app.xml><?xml version="1.0" encoding="utf-8"?>
<Properties xmlns="http://schemas.openxmlformats.org/officeDocument/2006/extended-properties">
  <Application>Talk package exporter</Application>
  <Slides>18</Slides>
  <Notes>18</Notes>
</Properties>
</file>

<file path=docProps/core.xml><?xml version="1.0" encoding="utf-8"?>
<cp:coreProperties xmlns:cp="http://schemas.openxmlformats.org/package/2006/metadata/core-properties" xmlns:dc="http://purl.org/dc/elements/1.1/" xmlns:dcterms="http://purl.org/dc/terms/" xmlns:xsi="http://www.w3.org/2001/XMLSchema-instance">
  <dc:title>Three Search Methods in a Fundable Trenchcoat</dc:title>
  <dc:creator>Dan Levy</dc:creator>
  <dc:description>handout edition generated from current reviewed talk materials</dc:description>
  <dcterms:created xsi:type="dcterms:W3CDTF">2026-09-08T03:01:16Z</dcterms:created>
</cp:coreProperties>
</file>