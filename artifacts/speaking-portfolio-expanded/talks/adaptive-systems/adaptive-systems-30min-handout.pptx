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svg" ContentType="image/svg+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Master"/>
  </p:sldMasterIdLst>
  <p:notesMasterIdLst>
    <p:notesMasterId r:id="rIdNotesMaster"/>
  </p:notesMasterIdLst>
  <p:sldIdLst>
    <p:sldId id="256" r:id="rIdSlide1"/>
    <p:sldId id="257" r:id="rIdSlide2"/>
    <p:sldId id="258" r:id="rIdSlide3"/>
    <p:sldId id="259" r:id="rIdSlide4"/>
    <p:sldId id="260" r:id="rIdSlide5"/>
    <p:sldId id="261" r:id="rIdSlide6"/>
    <p:sldId id="262" r:id="rIdSlide7"/>
    <p:sldId id="263" r:id="rIdSlide8"/>
    <p:sldId id="264" r:id="rIdSlide9"/>
    <p:sldId id="265" r:id="rIdSlide10"/>
    <p:sldId id="266" r:id="rIdSlide11"/>
    <p:sldId id="267" r:id="rIdSlide12"/>
    <p:sldId id="268" r:id="rIdSlide13"/>
    <p:sldId id="269" r:id="rIdSlide14"/>
    <p:sldId id="270" r:id="rIdSlide15"/>
    <p:sldId id="271" r:id="rIdSlide16"/>
    <p:sldId id="272" r:id="rIdSlide17"/>
  </p:sldIdLst>
  <p:sldSz cx="10058400" cy="7772400" type="custom"/>
  <p:notesSz cx="6858000" cy="9144000"/>
  <p:defaultTextStyle/>
</p:presentation>
</file>

<file path=ppt/_rels/presentation.xml.rels><?xml version="1.0" encoding="UTF-8" standalone="yes"?><Relationships xmlns="http://schemas.openxmlformats.org/package/2006/relationships"><Relationship Id="rIdMaster" Type="http://schemas.openxmlformats.org/officeDocument/2006/relationships/slideMaster" Target="slideMasters/slideMaster1.xml"/><Relationship Id="rIdNotesMaster" Type="http://schemas.openxmlformats.org/officeDocument/2006/relationships/notesMaster" Target="notesMasters/notesMaster1.xml"/><Relationship Id="rIdSlide1" Type="http://schemas.openxmlformats.org/officeDocument/2006/relationships/slide" Target="slides/slide1.xml"/><Relationship Id="rIdSlide2" Type="http://schemas.openxmlformats.org/officeDocument/2006/relationships/slide" Target="slides/slide2.xml"/><Relationship Id="rIdSlide3" Type="http://schemas.openxmlformats.org/officeDocument/2006/relationships/slide" Target="slides/slide3.xml"/><Relationship Id="rIdSlide4" Type="http://schemas.openxmlformats.org/officeDocument/2006/relationships/slide" Target="slides/slide4.xml"/><Relationship Id="rIdSlide5" Type="http://schemas.openxmlformats.org/officeDocument/2006/relationships/slide" Target="slides/slide5.xml"/><Relationship Id="rIdSlide6" Type="http://schemas.openxmlformats.org/officeDocument/2006/relationships/slide" Target="slides/slide6.xml"/><Relationship Id="rIdSlide7" Type="http://schemas.openxmlformats.org/officeDocument/2006/relationships/slide" Target="slides/slide7.xml"/><Relationship Id="rIdSlide8" Type="http://schemas.openxmlformats.org/officeDocument/2006/relationships/slide" Target="slides/slide8.xml"/><Relationship Id="rIdSlide9" Type="http://schemas.openxmlformats.org/officeDocument/2006/relationships/slide" Target="slides/slide9.xml"/><Relationship Id="rIdSlide10" Type="http://schemas.openxmlformats.org/officeDocument/2006/relationships/slide" Target="slides/slide10.xml"/><Relationship Id="rIdSlide11" Type="http://schemas.openxmlformats.org/officeDocument/2006/relationships/slide" Target="slides/slide11.xml"/><Relationship Id="rIdSlide12" Type="http://schemas.openxmlformats.org/officeDocument/2006/relationships/slide" Target="slides/slide12.xml"/><Relationship Id="rIdSlide13" Type="http://schemas.openxmlformats.org/officeDocument/2006/relationships/slide" Target="slides/slide13.xml"/><Relationship Id="rIdSlide14" Type="http://schemas.openxmlformats.org/officeDocument/2006/relationships/slide" Target="slides/slide14.xml"/><Relationship Id="rIdSlide15" Type="http://schemas.openxmlformats.org/officeDocument/2006/relationships/slide" Target="slides/slide15.xml"/><Relationship Id="rIdSlide16" Type="http://schemas.openxmlformats.org/officeDocument/2006/relationships/slide" Target="slides/slide16.xml"/><Relationship Id="rIdSlide17" Type="http://schemas.openxmlformats.org/officeDocument/2006/relationships/slide" Target="slides/slide17.xml"/></Relationships>
</file>

<file path=ppt/notesMasters/_rels/notesMaster1.xml.rels><?xml version="1.0" encoding="UTF-8" standalone="yes"?><Relationships xmlns="http://schemas.openxmlformats.org/package/2006/relationships"><Relationship Id="rIdTheme"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xml version="1.0" encoding="UTF-8" standalone="yes"?><Relationships xmlns="http://schemas.openxmlformats.org/package/2006/relationships"><Relationship Id="rIdSlide" Type="http://schemas.openxmlformats.org/officeDocument/2006/relationships/slide" Target="../slides/slide1.xml"/><Relationship Id="rIdMaster" Type="http://schemas.openxmlformats.org/officeDocument/2006/relationships/notesMaster" Target="../notesMasters/notesMaster1.xml"/></Relationships>
</file>

<file path=ppt/notesSlides/_rels/notesSlide2.xml.rels><?xml version="1.0" encoding="UTF-8" standalone="yes"?><Relationships xmlns="http://schemas.openxmlformats.org/package/2006/relationships"><Relationship Id="rIdSlide" Type="http://schemas.openxmlformats.org/officeDocument/2006/relationships/slide" Target="../slides/slide2.xml"/><Relationship Id="rIdMaster" Type="http://schemas.openxmlformats.org/officeDocument/2006/relationships/notesMaster" Target="../notesMasters/notesMaster1.xml"/></Relationships>
</file>

<file path=ppt/notesSlides/_rels/notesSlide3.xml.rels><?xml version="1.0" encoding="UTF-8" standalone="yes"?><Relationships xmlns="http://schemas.openxmlformats.org/package/2006/relationships"><Relationship Id="rIdSlide" Type="http://schemas.openxmlformats.org/officeDocument/2006/relationships/slide" Target="../slides/slide3.xml"/><Relationship Id="rIdMaster" Type="http://schemas.openxmlformats.org/officeDocument/2006/relationships/notesMaster" Target="../notesMasters/notesMaster1.xml"/></Relationships>
</file>

<file path=ppt/notesSlides/_rels/notesSlide4.xml.rels><?xml version="1.0" encoding="UTF-8" standalone="yes"?><Relationships xmlns="http://schemas.openxmlformats.org/package/2006/relationships"><Relationship Id="rIdSlide" Type="http://schemas.openxmlformats.org/officeDocument/2006/relationships/slide" Target="../slides/slide4.xml"/><Relationship Id="rIdMaster" Type="http://schemas.openxmlformats.org/officeDocument/2006/relationships/notesMaster" Target="../notesMasters/notesMaster1.xml"/></Relationships>
</file>

<file path=ppt/notesSlides/_rels/notesSlide5.xml.rels><?xml version="1.0" encoding="UTF-8" standalone="yes"?><Relationships xmlns="http://schemas.openxmlformats.org/package/2006/relationships"><Relationship Id="rIdSlide" Type="http://schemas.openxmlformats.org/officeDocument/2006/relationships/slide" Target="../slides/slide5.xml"/><Relationship Id="rIdMaster" Type="http://schemas.openxmlformats.org/officeDocument/2006/relationships/notesMaster" Target="../notesMasters/notesMaster1.xml"/></Relationships>
</file>

<file path=ppt/notesSlides/_rels/notesSlide6.xml.rels><?xml version="1.0" encoding="UTF-8" standalone="yes"?><Relationships xmlns="http://schemas.openxmlformats.org/package/2006/relationships"><Relationship Id="rIdSlide" Type="http://schemas.openxmlformats.org/officeDocument/2006/relationships/slide" Target="../slides/slide6.xml"/><Relationship Id="rIdMaster" Type="http://schemas.openxmlformats.org/officeDocument/2006/relationships/notesMaster" Target="../notesMasters/notesMaster1.xml"/></Relationships>
</file>

<file path=ppt/notesSlides/_rels/notesSlide7.xml.rels><?xml version="1.0" encoding="UTF-8" standalone="yes"?><Relationships xmlns="http://schemas.openxmlformats.org/package/2006/relationships"><Relationship Id="rIdSlide" Type="http://schemas.openxmlformats.org/officeDocument/2006/relationships/slide" Target="../slides/slide7.xml"/><Relationship Id="rIdMaster" Type="http://schemas.openxmlformats.org/officeDocument/2006/relationships/notesMaster" Target="../notesMasters/notesMaster1.xml"/></Relationships>
</file>

<file path=ppt/notesSlides/_rels/notesSlide8.xml.rels><?xml version="1.0" encoding="UTF-8" standalone="yes"?><Relationships xmlns="http://schemas.openxmlformats.org/package/2006/relationships"><Relationship Id="rIdSlide" Type="http://schemas.openxmlformats.org/officeDocument/2006/relationships/slide" Target="../slides/slide8.xml"/><Relationship Id="rIdMaster" Type="http://schemas.openxmlformats.org/officeDocument/2006/relationships/notesMaster" Target="../notesMasters/notesMaster1.xml"/></Relationships>
</file>

<file path=ppt/notesSlides/_rels/notesSlide9.xml.rels><?xml version="1.0" encoding="UTF-8" standalone="yes"?><Relationships xmlns="http://schemas.openxmlformats.org/package/2006/relationships"><Relationship Id="rIdSlide" Type="http://schemas.openxmlformats.org/officeDocument/2006/relationships/slide" Target="../slides/slide9.xml"/><Relationship Id="rIdMaster" Type="http://schemas.openxmlformats.org/officeDocument/2006/relationships/notesMaster" Target="../notesMasters/notesMaster1.xml"/></Relationships>
</file>

<file path=ppt/notesSlides/_rels/notesSlide10.xml.rels><?xml version="1.0" encoding="UTF-8" standalone="yes"?><Relationships xmlns="http://schemas.openxmlformats.org/package/2006/relationships"><Relationship Id="rIdSlide" Type="http://schemas.openxmlformats.org/officeDocument/2006/relationships/slide" Target="../slides/slide10.xml"/><Relationship Id="rIdMaster" Type="http://schemas.openxmlformats.org/officeDocument/2006/relationships/notesMaster" Target="../notesMasters/notesMaster1.xml"/></Relationships>
</file>

<file path=ppt/notesSlides/_rels/notesSlide11.xml.rels><?xml version="1.0" encoding="UTF-8" standalone="yes"?><Relationships xmlns="http://schemas.openxmlformats.org/package/2006/relationships"><Relationship Id="rIdSlide" Type="http://schemas.openxmlformats.org/officeDocument/2006/relationships/slide" Target="../slides/slide11.xml"/><Relationship Id="rIdMaster" Type="http://schemas.openxmlformats.org/officeDocument/2006/relationships/notesMaster" Target="../notesMasters/notesMaster1.xml"/></Relationships>
</file>

<file path=ppt/notesSlides/_rels/notesSlide12.xml.rels><?xml version="1.0" encoding="UTF-8" standalone="yes"?><Relationships xmlns="http://schemas.openxmlformats.org/package/2006/relationships"><Relationship Id="rIdSlide" Type="http://schemas.openxmlformats.org/officeDocument/2006/relationships/slide" Target="../slides/slide12.xml"/><Relationship Id="rIdMaster" Type="http://schemas.openxmlformats.org/officeDocument/2006/relationships/notesMaster" Target="../notesMasters/notesMaster1.xml"/></Relationships>
</file>

<file path=ppt/notesSlides/_rels/notesSlide13.xml.rels><?xml version="1.0" encoding="UTF-8" standalone="yes"?><Relationships xmlns="http://schemas.openxmlformats.org/package/2006/relationships"><Relationship Id="rIdSlide" Type="http://schemas.openxmlformats.org/officeDocument/2006/relationships/slide" Target="../slides/slide13.xml"/><Relationship Id="rIdMaster" Type="http://schemas.openxmlformats.org/officeDocument/2006/relationships/notesMaster" Target="../notesMasters/notesMaster1.xml"/></Relationships>
</file>

<file path=ppt/notesSlides/_rels/notesSlide14.xml.rels><?xml version="1.0" encoding="UTF-8" standalone="yes"?><Relationships xmlns="http://schemas.openxmlformats.org/package/2006/relationships"><Relationship Id="rIdSlide" Type="http://schemas.openxmlformats.org/officeDocument/2006/relationships/slide" Target="../slides/slide14.xml"/><Relationship Id="rIdMaster" Type="http://schemas.openxmlformats.org/officeDocument/2006/relationships/notesMaster" Target="../notesMasters/notesMaster1.xml"/></Relationships>
</file>

<file path=ppt/notesSlides/_rels/notesSlide15.xml.rels><?xml version="1.0" encoding="UTF-8" standalone="yes"?><Relationships xmlns="http://schemas.openxmlformats.org/package/2006/relationships"><Relationship Id="rIdSlide" Type="http://schemas.openxmlformats.org/officeDocument/2006/relationships/slide" Target="../slides/slide15.xml"/><Relationship Id="rIdMaster" Type="http://schemas.openxmlformats.org/officeDocument/2006/relationships/notesMaster" Target="../notesMasters/notesMaster1.xml"/></Relationships>
</file>

<file path=ppt/notesSlides/_rels/notesSlide16.xml.rels><?xml version="1.0" encoding="UTF-8" standalone="yes"?><Relationships xmlns="http://schemas.openxmlformats.org/package/2006/relationships"><Relationship Id="rIdSlide" Type="http://schemas.openxmlformats.org/officeDocument/2006/relationships/slide" Target="../slides/slide16.xml"/><Relationship Id="rIdMaster" Type="http://schemas.openxmlformats.org/officeDocument/2006/relationships/notesMaster" Target="../notesMasters/notesMaster1.xml"/></Relationships>
</file>

<file path=ppt/notesSlides/_rels/notesSlide17.xml.rels><?xml version="1.0" encoding="UTF-8" standalone="yes"?><Relationships xmlns="http://schemas.openxmlformats.org/package/2006/relationships"><Relationship Id="rIdSlide" Type="http://schemas.openxmlformats.org/officeDocument/2006/relationships/slide" Target="../slides/slide17.xml"/><Relationship Id="rIdMaster"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Give each job exactly enough agent. Prove every repair. Let the app ask for its own scale.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Rewritten 2026-09-06 from Dan's notes. 40 minutes, 15 slides, four audience moments, no Q&amp;A. Add five minutes for a 45-minute booking. The design is Dan's; the incidents are composites of real integrations with the names filed off. Say that once, on slide 1, and never apologize for it again.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[Presenter scripts](../packets/adaptive-systems/script-40min.md) · [Contracts](../packets/adaptive-systems/contracts.md) · [Memory pattern and prompt](../packets/adaptive-systems/memory-pattern.md) · [Walkthrough](../packets/adaptive-systems/demo.md) · [Evidence](../packets/adaptive-systems/evidence-bank.md)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Regenerate scripts, adaptations and the browser deck with `bun artifacts/speaking-portfolio-expanded/build-talk.ts adaptive-systems`.</a:t>
            </a:r>
            <a:endParaRPr 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Adaptive, agentic apps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 00:00 to 02:00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Yesterday: zip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Today: postal_code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Your ingest stops. The status page is green.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API still returns 200. Authentication works. The vendor's status page is green. Your ingest is broken because somebody renamed a field. If you work around B2B integrations, this is a very boring way to have a very expensive morning.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 is the promise of this talk. An application can notice that, investigate it, propose a fix, prove the fix, and keep the other ninety-eight percent of records flowing, all before you wake up. And it can do that without ever holding a permission you would be scared to give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design is mine. The incidents are composites; I have had this exact morning more than once. We will follow one address ingest job through a rename, a change in meaning, and a provider that stops answering.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vendor rename you actually lived through. Name the field, the hour you noticed, and what it cost.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Hands up for a 200 response that carried a breaking change. Take one story, thirty seconds, and return to the ingest job.</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Adaptive, agentic apps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2. 02:00 to 03:30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Baseline: alert, wait for a person, replay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Agent: investigate, propose, prove, continue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Win condition: faster recovery, zero new false repairs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Before anyone gets excited about agents, name the boring alternative. A schema diff, an alert, and a human who replays the batch after coffee. It works. It costs a morning per surprise, and it does nothing for the unaffected records that are stuck behind the broken ones.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agent has to beat that. Not on vibes. On time to recover, on records kept moving, and on a number the baseline gets for free: false repairs. Alert-and-wait never turns a rename into plausible wrong data. If the adaptive version does, even once, it has made operations worse.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Write the three metrics on the board and leave them there.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Adaptive, agentic apps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3. 03:30 to 07:15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Browsers, CLIs, every SaaS: an agent layer you opt out of with --no-agent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Ten tools is forty-five pairs. One more integration is not one more path.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Accidents first. Then people who mean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Zoom out from the ingest job. The assistant with every customer's data and a toolbox that can send email, issue refunds, delete records and ship code is not a design we get to decline. It is arriving one integration at a time, and not only in our products.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 is the hazard, and it applies to the small systems too. Risk does not grow with the number of tools. It grows with the pathways between them, and every integration multiplies those. Ten tools is forty-five pairs before you count chains. Plug in one SaaS with a dozen endpoints and you did not add twelve capabilities; you added hundreds of routes from something the agent can read to something it can do. Nobody reviews those combinations. Not your security team, not the model, not you at three in the morning. The dangerous pairing is never on the roadmap. It gets discovered.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 the question is not whether to grant access. It is how many pathways are live at once. The big assistant still exists; it just never has all of its hands full at the same time, because it conjures a small agent per job with exactly enough.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Your own near miss with an over-permissioned agent, or the tool pairing you only noticed after it fired.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Write 10 → 45 on the board. Ask who could list every read-to-write pathway in the agent they run today. Pause on the third line; let the room feel that the accident case is the common 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most of the damage will be accidents — a confident mapping, a helpful cleanup, a tool called with the wrong ID — and a renamed field is untrusted input read by something that can act.</a:t>
            </a:r>
            <a:endParaRPr 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Adaptive, agentic apps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3. 03:30 to 07:15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Browsers, CLIs, every SaaS: an agent layer you opt out of with --no-agent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Ten tools is forty-five pairs. One more integration is not one more path.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Accidents first. Then people who mean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Zoom out from the ingest job. The assistant with every customer's data and a toolbox that can send email, issue refunds, delete records and ship code is not a design we get to decline. It is arriving one integration at a time, and not only in our products.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 is the hazard, and it applies to the small systems too. Risk does not grow with the number of tools. It grows with the pathways between them, and every integration multiplies those. Ten tools is forty-five pairs before you count chains. Plug in one SaaS with a dozen endpoints and you did not add twelve capabilities; you added hundreds of routes from something the agent can read to something it can do. Nobody reviews those combinations. Not your security team, not the model, not you at three in the morning. The dangerous pairing is never on the roadmap. It gets discovered.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 the question is not whether to grant access. It is how many pathways are live at once. The big assistant still exists; it just never has all of its hands full at the same time, because it conjures a small agent per job with exactly enough.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Your own near miss with an over-permissioned agent, or the tool pairing you only noticed after it fired.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Write 10 → 45 on the board. Ask who could list every read-to-write pathway in the agent they run today. Pause on the third line; let the room feel that the accident case is the common 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most of the damage will be accidents — a confident mapping, a helpful cleanup, a tool called with the wrong ID — and a renamed field is untrusted input read by something that can act.</a:t>
            </a:r>
            <a:endParaRPr 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Adaptive, agentic apps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4. 07:15 to 10:45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Tailored prompt, minimum tools, hard budget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Tool search on request, policy decides, request logged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Orchestrator loops: done, more help, or stop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 is the shape. An orchestrator reads the failure and writes a job: goal, evidence it may read, actions it may take, deadline, spend, and the conditions that end it. Then it generates an agent for that job with a tailored prompt and only the tools it expects to need. A schema-diff agent gets read access to two samples and a contract. It does not get the database.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If the agent needs something else, it asks. Dynamic tool search lets it discover a tool; policy decides whether this job may have it; the request and the answer are logged whether or not it was granted. That log is the most interesting file in the system.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orchestrator loops on the result: done, needs another specialist, or must stop. A diff agent hands to a fixture-writer hands to a reviewer, each with its own blast radius, each disposable when finished. Nobody rents a committee every time a CSV arrives — the known mapping runs as code, and only the unfamiliar case conjures anything.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This is a prototype on my own integrations. I am not giving you a success rate today because I do not have one I trust. I can tell you the log of denied tool requests taught me more about my own permissions than any audit.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What the prototype's first denied tool request was, and what it revealed.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Draw the three boxes: orchestrator, generated agent, tool catalog with policy gate. Show one request crossing the gate and being refused.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Adaptive, agentic apps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4. 07:15 to 10:45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Tailored prompt, minimum tools, hard budget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Tool search on request, policy decides, request logged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Orchestrator loops: done, more help, or stop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 is the shape. An orchestrator reads the failure and writes a job: goal, evidence it may read, actions it may take, deadline, spend, and the conditions that end it. Then it generates an agent for that job with a tailored prompt and only the tools it expects to need. A schema-diff agent gets read access to two samples and a contract. It does not get the database.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If the agent needs something else, it asks. Dynamic tool search lets it discover a tool; policy decides whether this job may have it; the request and the answer are logged whether or not it was granted. That log is the most interesting file in the system.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orchestrator loops on the result: done, needs another specialist, or must stop. A diff agent hands to a fixture-writer hands to a reviewer, each with its own blast radius, each disposable when finished. Nobody rents a committee every time a CSV arrives — the known mapping runs as code, and only the unfamiliar case conjures anything.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This is a prototype on my own integrations. I am not giving you a success rate today because I do not have one I trust. I can tell you the log of denied tool requests taught me more about my own permissions than any audit.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What the prototype's first denied tool request was, and what it revealed.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Draw the three boxes: orchestrator, generated agent, tool catalog with policy gate. Show one request crossing the gate and being refused.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Adaptive, agentic apps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5. 10:45 to 13:15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High-risk classes: write, send, pay, delete, deploy, export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Reads customer data? Then it never posts to a vendor.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signed URL is a credential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Two guards do most of the work. First, tools come in risk classes. Read is cheap to grant. Write, send, pay, delete, deploy and export each need their own approval path, and a generated agent gets at most one of them per job. Do not smuggle a destructive migration through a tool called repair mapping.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This is least privilege, written down by Saltzer and Schroeder in 1975. We have been nodding at it for fifty years while shipping service accounts that can do anything. A per-job agent is the first thing I have built where complying is easier than not.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Second, watch the boundary between systems. An agent that can read customer data and an agent that can post to a vendor are two agents, with a filter between them. That is where data leaks: not through the model being evil, but through a tool result flowing into the next tool call.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Saltzer and Schroeder (1975), [The Protection of Information in Computer Systems](https://doi.org/10.1109/PROC.1975.9939), Proceedings of the IEEE 63(9), 1278 to 1308. Least privilege is their principle (f).</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client setup with local models for sensitive data and a frontier orchestrator. Say which parts were real and which are the stronger design you would build now.</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Point at the filter between worker and planner. Ask what else crosses it: prompts, traces, error bodies, notification previews.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a signed download URL is a bearer credential; handing it to a model while asking the model not to use it is hope, not isolation.</a:t>
            </a:r>
            <a:endParaRPr lang="en-US"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Adaptive, agentic apps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6. 13:15 to 15:00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zip → postal_code: investigate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status: true → pending: stop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Back to the ingest. A name resemblance is a hypothesis, not evidence. A postal code is not always a US ZIP. Keep the leading zero, keep the country, and remember ZIP+4 has a four-digit extension that somebody, somewhere, is joining 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Boolean status becoming an enum is harder. Does true mean active, eligible, verified, or anything except cancelled? Pending cannot become true just because both are truthy in JavaScript.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 the generated agent may propose a reversible mapping when evidence supports equivalence, and it must quarantine the rest. An unexplained business-state change goes to an owner with samples and a question. Automatic recovery is useful precisely because it has somewhere honest to stop.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Show {zip:"02108"} and {postal_code:"02108"}, then {status:"pending"}. Ask what evidence is missing in each. Two answers, then move.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Adaptive, agentic apps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7. 15:00 to 16:15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Input fingerprint + mapping version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Evidence + fixtures + rollback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 silent mutation of the database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agent produces a mapping artifact, not a paragraph saying it fixed things. Parent version, input fingerprint, the transforms, the rejected cases, the evidence it read, and the fixture results.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narrow mapping change can pass a pre-authorized canary policy. A schema migration has a different blast radius and its own approval path. Keep the source records so you can replay; keep the old mapping so you can restore. Rollback changes future processing. It does not un-write yesterday's downstream rows; those need reconciliation.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Walk the mapping artifact in contracts.md. Point at parent version, activation scope, replay reference.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the repair also has to survive an exam it did not write; the walkthrough shows those fixtures.</a:t>
            </a:r>
            <a:endParaRPr lang="en-US" sz="12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Adaptive, agentic apps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9. 16:15 to 17:30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Did it fail?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Or did the answer disappear?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same ingest calls an address-verification provider. Suppose the provider accepted the batch and charged for it, then the connection dropped. Resubmitting elsewhere recovers latency and doubles the bill.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Record an operation identity before dispatch. Keep the provider's job ID. Reconcile before resubmitting, and when the provider offers no way to ask, stop with an unknown outcome and say so. A deadline ends new dispatch; it does not reverse a side effect already performed. The ledger has to hold that uncertainty, reserved money included, until the answer arrives.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Mark the moment on the timeline where your process knows less than the provider does.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Adaptive, agentic apps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10. 17:30 to 21:30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Rename → validated mapping, canary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Unknown status → quarantine, owner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Lost response → reconcile, hold the reservation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Run the design. The rename has contract evidence. The conjured diff agent proposes copy-string; now reveal the fixtures one at a time and let the room reject the one that must not be repaired. Passing both, policy permits a canary of that mapping version and the job continues for matching records.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status change has no semantic evidence. The job isolates affected records, reports what is incomplete, and hands an owner the samples and the exact question.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provider timeout has an uncertain outcome. The controller queries the saved job ID instead of submitting again, and where it cannot, it holds the unresolved operation and its reservation.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Three events, three different right answers, none of them success or failure. If your dashboard only has two states, it is hiding the most interesting 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Five minutes from demo.md. Reveal fixtures before expected results. Ask the room for the next decision before showing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Adaptive, agentic apps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11. 21:30 to 23:15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Old: ops sizes the fleet for everyone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New: the job describes its shape and asks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Per-customer, per-job cost controls and pay-for-performance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One more thing the orchestrator can conjure: compute. Scaling is still an infra decision made once for everyone — replica counts, instance classes, an autoscaler watching CPU. The agent inverts that. It knows this batch is mostly waiting on a provider, that eight sandboxes for six minutes would clear the backlog, and what this customer's plan allows.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 it asks. The request names shape, size, duration and a cost cap, charged to this job rather than a shared cluster. That is a new product surface: a customer buys a faster turnaround, and finance caps one workflow instead of an environment.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job where per-customer compute would have changed the pricing conversation.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Contrast one autoscaler threshold with one job request. Ask which one a customer could be billed for.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the compute guard is the tool guard — an approved catalog, enforced leases, and no unapproved region no matter how good the latency looks. Whatever the app changed today, an engineer sees it in one report, and authority widens only from measured outcomes on the same recorded incidents: recoveries, but also false repairs, dropped records, cost and human corrections.</a:t>
            </a:r>
            <a:endParaRPr lang="en-US"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Adaptive, agentic apps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13. 23:15 to 25:15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Shadow: propose, apply nothing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Canary: one reversible change class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Expand: from correct recoveries, false repairs, cost, interventions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Start in shadow mode: the conjured agents propose artifacts and apply none. Then permit one reversible change class, and widen authority per class from evidence about that class. Same discipline for tools and for compute. It is also the loop that tunes its own fan-out: acceptance up and false repairs flat, that job class gets more parallel attempts and a bigger budget; false repairs up, both come down.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Watch for the failure Diane Vaughan documented at NASA before Challenger and named normalization of deviance. Every widening is locally reasonable. Each one cites the last one as precedent. Nobody ever decides to be reckless. That is exactly why authority expands per class and from measured outcomes for that class, and never from how the last six went.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Vaughan (1996), The Challenger Launch Decision, University of Chicago Press, on normalization of deviance.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Thirty seconds on the recovery card in contracts.md. Take one answer and name the evidence needed to widen that authority.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Adaptive, agentic apps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14. 25:15 to 27:30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Before returning: check relevant memory and correct known mistakes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After execution: record checks, outcome, correction and frequency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Generated, executed and verified are different states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Memory is evidence, never permission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You do not need the whole agent factory to start. Take one agent that writes SQL or runs shell commands. Give it working memory for this job — goal, constraints, draft, unresolved checks — and observational memory across jobs: what it generated, what actually ran, what failed. Then make it consult that history before it hands you the next answer.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Suppose a reporting query keeps forgetting the tenant filter. It runs perfectly well and reports the wrong population. A preflight check the agent did not write rejects it before dispatch. Record the draft, the failed check, the correction. Next time, retrieve that pattern while the agent is still drafting, fix the omission before returning the SQL, and run the check again. That is adaptive behavior built from one agent and a small log.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Show the prompt in memory-pattern.md. Ask which observation proves the query ran and which proves it answered the right question. Use the tenant-filter example; no live execution is needed.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remembered output is untrusted data and grants no new permissions; the copyable prompt and record format are in the handout.</a:t>
            </a:r>
            <a:endParaRPr lang="en-US"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Adaptive, agentic apps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15. 27:30 to 30:00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Conjure exactly enough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Prove the repair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Remember the known case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And return to the assistant with everything. It is still coming; nothing on these slides stops it, and I would not want them to. What changed is how many of its pathways are live at once. Not one agent holding every combination, which nobody can check. Many small ones you can afford to.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Pick one integration that already costs your team mornings. Give it a conjured agent with a bounded way to investigate, a test it did not write, and a place to record what happened. Or start with one reporting agent: keep its execution observations, make it check them before returning work, and measure whether the same mistake comes back. That is enough to start.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Land on the third line. Stop talking.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Saltzer and Schroeder (1975), [The Protection of Information in Computer Systems](https://doi.org/10.1109/PROC.1975.9939), Proceedings of the IEEE 63(9), 1278 to 1308. Least privilege is their principle (f).</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Vaughan (1996), The Challenger Launch Decision, University of Chicago Press, on normalization of deviance.</a:t>
            </a:r>
            <a:endParaRPr lang="en-US" sz="1200"/>
          </a:p>
        </p:txBody>
      </p:sp>
    </p:spTree>
  </p:cSld>
  <p:clrMapOvr>
    <a:masterClrMapping/>
  </p:clrMapOvr>
</p:notes>
</file>

<file path=ppt/slideLayouts/_rels/slideLayout1.xml.rels><?xml version="1.0" encoding="UTF-8" standalone="yes"?><Relationships xmlns="http://schemas.openxmlformats.org/package/2006/relationships"><Relationship Id="rIdMaster"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Layout" Type="http://schemas.openxmlformats.org/officeDocument/2006/relationships/slideLayout" Target="../slideLayouts/slideLayout1.xml"/><Relationship Id="rIdTheme"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Layout"/>
  </p:sldLayoutIdLst>
  <p:txStyles>
    <p:titleStyle/>
    <p:bodyStyle/>
    <p:otherStyle/>
  </p:txStyles>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xml"/><Relationship Id="rIdImage1" Type="http://schemas.openxmlformats.org/officeDocument/2006/relationships/image" Target="../media/slide2-1.png"/><Relationship Id="rIdSvg1" Type="http://schemas.openxmlformats.org/officeDocument/2006/relationships/image" Target="../media/slide2-1.svg"/></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4.xml"/><Relationship Id="rIdImage1" Type="http://schemas.openxmlformats.org/officeDocument/2006/relationships/image" Target="../media/slide4-1.png"/><Relationship Id="rIdSvg1" Type="http://schemas.openxmlformats.org/officeDocument/2006/relationships/image" Target="../media/slide4-1.svg"/></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6.xml"/><Relationship Id="rIdImage1" Type="http://schemas.openxmlformats.org/officeDocument/2006/relationships/image" Target="../media/slide6-1.png"/><Relationship Id="rIdSvg1" Type="http://schemas.openxmlformats.org/officeDocument/2006/relationships/image" Target="../media/slide6-1.svg"/></Relationships>
</file>

<file path=ppt/slides/_rels/slide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8.xml"/><Relationship Id="rIdImage1" Type="http://schemas.openxmlformats.org/officeDocument/2006/relationships/image" Target="../media/slide8-1.png"/><Relationship Id="rIdSvg1" Type="http://schemas.openxmlformats.org/officeDocument/2006/relationships/image" Target="../media/slide8-1.svg"/></Relationships>
</file>

<file path=ppt/slides/_rels/slide9.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9.xml"/><Relationship Id="rIdImage1" Type="http://schemas.openxmlformats.org/officeDocument/2006/relationships/image" Target="../media/slide9-1.png"/><Relationship Id="rIdSvg1" Type="http://schemas.openxmlformats.org/officeDocument/2006/relationships/image" Target="../media/slide9-1.svg"/></Relationships>
</file>

<file path=ppt/slides/_rels/slide10.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0.xml"/><Relationship Id="rIdImage1" Type="http://schemas.openxmlformats.org/officeDocument/2006/relationships/image" Target="../media/slide10-1.png"/><Relationship Id="rIdSvg1" Type="http://schemas.openxmlformats.org/officeDocument/2006/relationships/image" Target="../media/slide10-1.svg"/></Relationships>
</file>

<file path=ppt/slides/_rels/slide1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1.xml"/><Relationship Id="rIdImage1" Type="http://schemas.openxmlformats.org/officeDocument/2006/relationships/image" Target="../media/slide11-1.png"/><Relationship Id="rIdSvg1" Type="http://schemas.openxmlformats.org/officeDocument/2006/relationships/image" Target="../media/slide11-1.svg"/></Relationships>
</file>

<file path=ppt/slides/_rels/slide1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2.xml"/><Relationship Id="rIdImage1" Type="http://schemas.openxmlformats.org/officeDocument/2006/relationships/image" Target="../media/slide12-1.png"/><Relationship Id="rIdSvg1" Type="http://schemas.openxmlformats.org/officeDocument/2006/relationships/image" Target="../media/slide12-1.svg"/></Relationships>
</file>

<file path=ppt/slides/_rels/slide1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3.xml"/><Relationship Id="rIdImage1" Type="http://schemas.openxmlformats.org/officeDocument/2006/relationships/image" Target="../media/slide13-1.png"/><Relationship Id="rIdSvg1" Type="http://schemas.openxmlformats.org/officeDocument/2006/relationships/image" Target="../media/slide13-1.svg"/></Relationships>
</file>

<file path=ppt/slides/_rels/slide1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5.xml"/></Relationships>
</file>

<file path=ppt/slides/_rels/slide1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6.xml"/></Relationships>
</file>

<file path=ppt/slides/_rels/slide1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514350"/>
            <a:ext cx="9144000" cy="28575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246957"/>
                </a:solidFill>
                <a:latin typeface="Arial"/>
                <a:ea typeface="Arial"/>
                <a:cs typeface="Arial"/>
              </a:rPr>
              <a:t xml:space="preserve">DAN LEVY</a:t>
            </a:r>
            <a:endParaRPr lang="en-US" sz="1350"/>
          </a:p>
        </p:txBody>
      </p:sp>
      <p:sp>
        <p:nvSpPr>
          <p:cNvPr id="3" name="Text 3"/>
          <p:cNvSpPr txBox="1"/>
          <p:nvPr/>
        </p:nvSpPr>
        <p:spPr>
          <a:xfrm>
            <a:off x="457200" y="1428750"/>
            <a:ext cx="9144000" cy="2381250"/>
          </a:xfrm>
          <a:prstGeom prst="rect">
            <a:avLst/>
          </a:prstGeom>
          <a:noFill/>
          <a:ln>
            <a:noFill/>
          </a:ln>
        </p:spPr>
        <p:txBody>
          <a:bodyPr wrap="none" lIns="0" tIns="0" rIns="0" bIns="0" anchor="t">
            <a:noAutofit/>
          </a:bodyPr>
          <a:lstStyle/>
          <a:p>
            <a:pPr marL="0" indent="0">
              <a:lnSpc>
                <a:spcPts val="4500"/>
              </a:lnSpc>
              <a:spcAft>
                <a:spcPts val="0"/>
              </a:spcAft>
              <a:buNone/>
            </a:pPr>
            <a:r>
              <a:rPr lang="en-US" sz="3750" b="1">
                <a:solidFill>
                  <a:srgbClr val="202B33"/>
                </a:solidFill>
                <a:latin typeface="Arial"/>
                <a:ea typeface="Arial"/>
                <a:cs typeface="Arial"/>
              </a:rPr>
              <a:t xml:space="preserve">Adaptive, agentic apps</a:t>
            </a:r>
            <a:endParaRPr lang="en-US" sz="3750"/>
          </a:p>
        </p:txBody>
      </p:sp>
      <p:sp>
        <p:nvSpPr>
          <p:cNvPr id="4" name="Text 4"/>
          <p:cNvSpPr txBox="1"/>
          <p:nvPr/>
        </p:nvSpPr>
        <p:spPr>
          <a:xfrm>
            <a:off x="457200" y="4476750"/>
            <a:ext cx="9144000" cy="571500"/>
          </a:xfrm>
          <a:prstGeom prst="rect">
            <a:avLst/>
          </a:prstGeom>
          <a:noFill/>
          <a:ln>
            <a:noFill/>
          </a:ln>
        </p:spPr>
        <p:txBody>
          <a:bodyPr wrap="none" lIns="0" tIns="0" rIns="0" bIns="0" anchor="t">
            <a:noAutofit/>
          </a:bodyPr>
          <a:lstStyle/>
          <a:p>
            <a:pPr marL="0" indent="0">
              <a:lnSpc>
                <a:spcPts val="2925"/>
              </a:lnSpc>
              <a:spcAft>
                <a:spcPts val="0"/>
              </a:spcAft>
              <a:buNone/>
            </a:pPr>
            <a:r>
              <a:rPr lang="en-US" sz="2250" b="0">
                <a:solidFill>
                  <a:srgbClr val="246957"/>
                </a:solidFill>
                <a:latin typeface="Arial"/>
                <a:ea typeface="Arial"/>
                <a:cs typeface="Arial"/>
              </a:rPr>
              <a:t xml:space="preserve">30-minute route · Reading edition</a:t>
            </a:r>
            <a:endParaRPr lang="en-US" sz="2250"/>
          </a:p>
        </p:txBody>
      </p:sp>
      <p:sp>
        <p:nvSpPr>
          <p:cNvPr id="5" name="Text 5"/>
          <p:cNvSpPr txBox="1"/>
          <p:nvPr/>
        </p:nvSpPr>
        <p:spPr>
          <a:xfrm>
            <a:off x="457200" y="6496050"/>
            <a:ext cx="9048750" cy="762000"/>
          </a:xfrm>
          <a:prstGeom prst="rect">
            <a:avLst/>
          </a:prstGeom>
          <a:noFill/>
          <a:ln>
            <a:noFill/>
          </a:ln>
        </p:spPr>
        <p:txBody>
          <a:bodyPr wrap="none" lIns="0" tIns="0" rIns="0" bIns="0" anchor="t">
            <a:noAutofit/>
          </a:bodyPr>
          <a:lstStyle/>
          <a:p>
            <a:pPr marL="0" indent="0">
              <a:lnSpc>
                <a:spcPts val="2175"/>
              </a:lnSpc>
              <a:spcAft>
                <a:spcPts val="0"/>
              </a:spcAft>
              <a:buNone/>
            </a:pPr>
            <a:r>
              <a:rPr lang="en-US" sz="1575" b="0">
                <a:solidFill>
                  <a:srgbClr val="202B33"/>
                </a:solidFill>
                <a:latin typeface="Arial"/>
                <a:ea typeface="Arial"/>
                <a:cs typeface="Arial"/>
              </a:rPr>
              <a:t xml:space="preserve">13 source sections</a:t>
            </a:r>
            <a:endParaRPr lang="en-US" sz="1575"/>
          </a:p>
          <a:p>
            <a:pPr marL="0" indent="0">
              <a:lnSpc>
                <a:spcPts val="2175"/>
              </a:lnSpc>
              <a:spcAft>
                <a:spcPts val="0"/>
              </a:spcAft>
              <a:buNone/>
            </a:pPr>
            <a:r>
              <a:rPr lang="en-US" sz="1575" b="0">
                <a:solidFill>
                  <a:srgbClr val="202B33"/>
                </a:solidFill>
                <a:latin typeface="Arial"/>
                <a:ea typeface="Arial"/>
                <a:cs typeface="Arial"/>
              </a:rPr>
              <a:t xml:space="preserve">September 6, 2026</a:t>
            </a:r>
            <a:endParaRPr lang="en-US" sz="1575"/>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a:t>
            </a:r>
            <a:endParaRPr lang="en-US" sz="975"/>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01 / 13    SOURCE SLIDE 1</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The vendor renamed a field</a:t>
            </a:r>
            <a:endParaRPr lang="en-US" sz="2550"/>
          </a:p>
        </p:txBody>
      </p:sp>
      <p:sp>
        <p:nvSpPr>
          <p:cNvPr id="4" name="Image background"/>
          <p:cNvSpPr/>
          <p:nvPr/>
        </p:nvSpPr>
        <p:spPr>
          <a:xfrm>
            <a:off x="1554480" y="1781175"/>
            <a:ext cx="6949440" cy="2714625"/>
          </a:xfrm>
          <a:prstGeom prst="rect">
            <a:avLst/>
          </a:prstGeom>
          <a:solidFill>
            <a:srgbClr val="122323"/>
          </a:solidFill>
          <a:ln>
            <a:noFill/>
          </a:ln>
        </p:spPr>
      </p:sp>
      <p:pic>
        <p:nvPicPr>
          <p:cNvPr id="5" name="e213641347c0f0d86f4d985b64e0e6c7512779956fa14ed978d3f3b7b34adca0" descr="HTTP success does not establish that the payload still matches your contract."/>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Yesterday: zip</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Today: postal_code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Your ingest stops. The status page is green.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API still returns 200. Authentication works. The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vendor's status page is green. Your ingest is broken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because somebody renamed a field. If you work around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B2B integrations, this is a very boring way to have a</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very expensive morning.</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Here is the promise of this talk. An application can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notice that, investigate it, propose a fix, prove the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fix, and keep the other ninety-eight percent of</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records flowing, all before you wake up. And it can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do that without ever holding a permission you would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be scared to give it.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design is mine. The incidents are composites; I</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have had this exact morning more than once. We will</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follow one address ingest job through a rename, a</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change in meaning, and a provider that stops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answering.</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2</a:t>
            </a:r>
            <a:endParaRPr lang="en-US" sz="975"/>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02 / 13    SOURCE SLIDE 2</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The Bar Is a Pager</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Baseline: alert, wait for a person, replay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Agent: investigate, propose, prove,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continue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Win condition: faster recovery, zero new</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false repairs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Before anyone gets excited about agents,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name the boring alternative. A schema diff,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 alert, and a human who replays the batch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after coffee. It works. It costs a morning</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per surprise, and it does nothing for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unaffected records that are stuck behind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broken ones.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agent has to beat that. Not on vibes.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 time to recover, on records kept moving,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on a number the baseline gets for free: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false repairs. Alert-and-wait never turns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rename into plausible wrong data. If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adaptive version does, even once, it has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made operations worse.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3</a:t>
            </a:r>
            <a:endParaRPr lang="en-US" sz="975"/>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03 / 13    SOURCE SLIDE 3</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Sorry, You're Building It</a:t>
            </a:r>
            <a:endParaRPr lang="en-US" sz="2550"/>
          </a:p>
        </p:txBody>
      </p:sp>
      <p:sp>
        <p:nvSpPr>
          <p:cNvPr id="4" name="Image background"/>
          <p:cNvSpPr/>
          <p:nvPr/>
        </p:nvSpPr>
        <p:spPr>
          <a:xfrm>
            <a:off x="1554480" y="1781175"/>
            <a:ext cx="6949440" cy="2714625"/>
          </a:xfrm>
          <a:prstGeom prst="rect">
            <a:avLst/>
          </a:prstGeom>
          <a:solidFill>
            <a:srgbClr val="122323"/>
          </a:solidFill>
          <a:ln>
            <a:noFill/>
          </a:ln>
        </p:spPr>
      </p:sp>
      <p:pic>
        <p:nvPicPr>
          <p:cNvPr id="5" name="c6f0fbb68e5ce78026448103d918b67135212db9e9f49deb90f1f192122fe3b4" descr="Every integration multiplies the pathways from something the agent can read to something it can do; nobody reviews the combinations."/>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Browsers, CLIs, every SaaS: an agent layer you opt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out of with --no-agent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Ten tools is forty-five pairs. One more integration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is not one more path.</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Accidents first. Then people who mean it.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Zoom out from the ingest job. The assistant with</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every customer's data and a toolbox that can send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email, issue refunds, delete records and ship code is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not a design we get to decline. It is arriving one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integration at a time, and not only in our products.</a:t>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Here is the hazard, and it applies to the small</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systems too. Risk does not grow with the number of</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tools. It grows with the pathways between them, and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every integration multiplies those. Ten tools is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forty-five pairs before you count chains. Plug in one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SaaS with a dozen endpoints and you did not add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twelve capabilities; you added hundreds of routes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from something the agent can read to something it can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do. Nobody reviews those combinations. Not your</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security team, not the model, not you at three in the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morning. The dangerous pairing is never on the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roadmap. It gets discovered.</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4</a:t>
            </a:r>
            <a:endParaRPr lang="en-US" sz="975"/>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03 / 13    SOURCE SLIDE 3</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Sorry, You're Building It (continued)</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So the question is not whether to grant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access. It is how many pathways are live 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once. The big assistant still exists; it</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just never has all of its hands full at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same time, because it conjures a small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agent per job with exactly enough.</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5</a:t>
            </a:r>
            <a:endParaRPr lang="en-US" sz="975"/>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04 / 13    SOURCE SLIDE 4</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Conjure the agent the job needs</a:t>
            </a:r>
            <a:endParaRPr lang="en-US" sz="2550"/>
          </a:p>
        </p:txBody>
      </p:sp>
      <p:sp>
        <p:nvSpPr>
          <p:cNvPr id="4" name="Image background"/>
          <p:cNvSpPr/>
          <p:nvPr/>
        </p:nvSpPr>
        <p:spPr>
          <a:xfrm>
            <a:off x="1554480" y="1781175"/>
            <a:ext cx="6949440" cy="2714625"/>
          </a:xfrm>
          <a:prstGeom prst="rect">
            <a:avLst/>
          </a:prstGeom>
          <a:solidFill>
            <a:srgbClr val="122323"/>
          </a:solidFill>
          <a:ln>
            <a:noFill/>
          </a:ln>
        </p:spPr>
      </p:sp>
      <p:pic>
        <p:nvPicPr>
          <p:cNvPr id="5" name="49192e4dea5444b92308c41ff8684a327f20855daa9a1cd61a760fa369e7fb39" descr="The orchestrator writes a tailored prompt, selects the minimum tools from a catalog, and loops until the job is done or must stop."/>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Tailored prompt, minimum tools, hard budget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Tool search on request, policy decides, request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logged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Orchestrator loops: done, more help, or stop</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Here is the shape. An orchestrator reads the failure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and writes a job: goal, evidence it may read, actions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it may take, deadline, spend, and the conditions that</a:t>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end it. Then it generates an agent for that job with</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 tailored prompt and only the tools it expects to</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need. A schema-diff agent gets read access to two</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samples and a contract. It does not get the database.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If the agent needs something else, it asks. Dynamic</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tool search lets it discover a tool; policy decides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whether this job may have it; the request and the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answer are logged whether or not it was granted. That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log is the most interesting file in the system.</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6</a:t>
            </a:r>
            <a:endParaRPr lang="en-US" sz="975"/>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04 / 13    SOURCE SLIDE 4</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Conjure the agent the job needs (continued)</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The orchestrator loops on the result: done,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needs another specialist, or must stop.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diff agent hands to a fixture-writer hands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 a reviewer, each with its own blast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radius, each disposable when finished.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Nobody rents a committee every time a CSV</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arrives — the known mapping runs as code,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only the unfamiliar case conjures</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anything.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This is a prototype on my own integrations.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 am not giving you a success rate today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because I do not have one I trust. I can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tell you the log of denied tool requests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taught me more about my own permissions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than any audit.</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7</a:t>
            </a:r>
            <a:endParaRPr lang="en-US" sz="975"/>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05 / 13    SOURCE SLIDE 5</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Guard the tools that can hurt</a:t>
            </a:r>
            <a:endParaRPr lang="en-US" sz="2550"/>
          </a:p>
        </p:txBody>
      </p:sp>
      <p:sp>
        <p:nvSpPr>
          <p:cNvPr id="4" name="Image background"/>
          <p:cNvSpPr/>
          <p:nvPr/>
        </p:nvSpPr>
        <p:spPr>
          <a:xfrm>
            <a:off x="1554480" y="1781175"/>
            <a:ext cx="6949440" cy="2714625"/>
          </a:xfrm>
          <a:prstGeom prst="rect">
            <a:avLst/>
          </a:prstGeom>
          <a:solidFill>
            <a:srgbClr val="122323"/>
          </a:solidFill>
          <a:ln>
            <a:noFill/>
          </a:ln>
        </p:spPr>
      </p:sp>
      <p:pic>
        <p:nvPicPr>
          <p:cNvPr id="5" name="85c7c5e5c6397daf9bbbe87ad34332d968ebbb3adc9c16b8b4f1195b93398de8" descr="Proposed boundary: the dispatcher grants worker access; only allowlisted status returns to the planner."/>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High-risk classes: write, send, pay, delete, deploy,</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export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Reads customer data? Then it never posts to a vendor.</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A signed URL is a credential</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Two guards do most of the work. First, tools come in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risk classes. Read is cheap to grant. Write, send,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pay, delete, deploy and export each need their own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approval path, and a generated agent gets at most one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of them per job. Do not smuggle a destructive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migration through a tool called repair mapping.</a:t>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This is least privilege, written down by Saltzer and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Schroeder in 1975. We have been nodding at it for</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fifty years while shipping service accounts that can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do anything. A per-job agent is the first thing I</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have built where complying is easier than not.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Second, watch the boundary between systems. An agent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that can read customer data and an agent that can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post to a vendor are two agents, with a filter</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between them. That is where data leaks: not through</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model being evil, but through a tool result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flowing into the next tool call.</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8</a:t>
            </a:r>
            <a:endParaRPr lang="en-US" sz="975"/>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06 / 13    SOURCE SLIDE 6</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Repair syntax; prove meaning</a:t>
            </a:r>
            <a:endParaRPr lang="en-US" sz="2550"/>
          </a:p>
        </p:txBody>
      </p:sp>
      <p:sp>
        <p:nvSpPr>
          <p:cNvPr id="4" name="Image background"/>
          <p:cNvSpPr/>
          <p:nvPr/>
        </p:nvSpPr>
        <p:spPr>
          <a:xfrm>
            <a:off x="1554480" y="1781175"/>
            <a:ext cx="6949440" cy="2714625"/>
          </a:xfrm>
          <a:prstGeom prst="rect">
            <a:avLst/>
          </a:prstGeom>
          <a:solidFill>
            <a:srgbClr val="122323"/>
          </a:solidFill>
          <a:ln>
            <a:noFill/>
          </a:ln>
        </p:spPr>
      </p:sp>
      <p:pic>
        <p:nvPicPr>
          <p:cNvPr id="5" name="761b061f86238b43b59089f47fb3a955ed6b83f7f51e1073ce392879feb924da" descr="A documented rename can preserve meaning; an undefined business state needs an owner."/>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zip → postal_code: investigate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status: true → pending: stop</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Back to the ingest. A name resemblance is a</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hypothesis, not evidence. A postal code is not always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 US ZIP. Keep the leading zero, keep the country,</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and remember ZIP+4 has a four-digit extension that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somebody, somewhere, is joining on.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A Boolean status becoming an enum is harder. Does</a:t>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true mean active, eligible, verified, or anything</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except cancelled? Pending cannot become true just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because both are truthy in JavaScript.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So the generated agent may propose a reversible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mapping when evidence supports equivalence, and it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must quarantine the rest. An unexplained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business-state change goes to an owner with samples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and a question. Automatic recovery is useful</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precisely because it has somewhere honest to stop.</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9</a:t>
            </a:r>
            <a:endParaRPr lang="en-US" sz="975"/>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07 / 13    SOURCE SLIDE 7</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The repair is a versioned artifact</a:t>
            </a:r>
            <a:endParaRPr lang="en-US" sz="2550"/>
          </a:p>
        </p:txBody>
      </p:sp>
      <p:sp>
        <p:nvSpPr>
          <p:cNvPr id="4" name="Image background"/>
          <p:cNvSpPr/>
          <p:nvPr/>
        </p:nvSpPr>
        <p:spPr>
          <a:xfrm>
            <a:off x="1554480" y="1781175"/>
            <a:ext cx="6949440" cy="2714625"/>
          </a:xfrm>
          <a:prstGeom prst="rect">
            <a:avLst/>
          </a:prstGeom>
          <a:solidFill>
            <a:srgbClr val="122323"/>
          </a:solidFill>
          <a:ln>
            <a:noFill/>
          </a:ln>
        </p:spPr>
      </p:sp>
      <p:pic>
        <p:nvPicPr>
          <p:cNvPr id="5" name="2dbb359f7c9040fcd9050fc87c6495205f54763b340ccc2f1b9d4a471cd71123" descr="Promote a tested mapping within its allowed scope; reconcile writes if you roll back."/>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Input fingerprint + mapping version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Evidence + fixtures + rollback</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No silent mutation of the database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agent produces a mapping artifact, not a</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paragraph saying it fixed things. Parent version,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input fingerprint, the transforms, the rejected</a:t>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cases, the evidence it read, and the fixture results.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A narrow mapping change can pass a pre-authorized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canary policy. A schema migration has a different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blast radius and its own approval path. Keep the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source records so you can replay; keep the old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mapping so you can restore. Rollback changes future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processing. It does not un-write yesterday's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downstream rows; those need reconciliation.</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10</a:t>
            </a:r>
            <a:endParaRPr lang="en-US" sz="975"/>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08 / 13    SOURCE SLIDE 9</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A lost response leaves a question</a:t>
            </a:r>
            <a:endParaRPr lang="en-US" sz="2550"/>
          </a:p>
        </p:txBody>
      </p:sp>
      <p:sp>
        <p:nvSpPr>
          <p:cNvPr id="4" name="Image background"/>
          <p:cNvSpPr/>
          <p:nvPr/>
        </p:nvSpPr>
        <p:spPr>
          <a:xfrm>
            <a:off x="1554480" y="1781175"/>
            <a:ext cx="6949440" cy="2714625"/>
          </a:xfrm>
          <a:prstGeom prst="rect">
            <a:avLst/>
          </a:prstGeom>
          <a:solidFill>
            <a:srgbClr val="122323"/>
          </a:solidFill>
          <a:ln>
            <a:noFill/>
          </a:ln>
        </p:spPr>
      </p:sp>
      <p:pic>
        <p:nvPicPr>
          <p:cNvPr id="5" name="886b18342d5b01030fa309ca30c63cddfe578d8e7d3faea08cd10ab5947a8a82" descr="Reconcile the operation identity before another submission; retain unresolved reservations."/>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Did it fail?</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Or did the answer disappear?</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same ingest calls an address-verification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provider. Suppose the provider accepted the batch and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charged for it, then the connection dropped.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Resubmitting elsewhere recovers latency and doubles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bill.</a:t>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Record an operation identity before dispatch. Keep</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provider's job ID. Reconcile before resubmitting,</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and when the provider offers no way to ask, stop with</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an unknown outcome and say so. A deadline ends new</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dispatch; it does not reverse a side effect already</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performed. The ledger has to hold that uncertainty,</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reserved money included, until the answer arrives.</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11</a:t>
            </a:r>
            <a:endParaRPr lang="en-US" sz="975"/>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09 / 13    SOURCE SLIDE 10</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Walkthrough: one ingest, three decisions</a:t>
            </a:r>
            <a:endParaRPr lang="en-US" sz="2550"/>
          </a:p>
        </p:txBody>
      </p:sp>
      <p:sp>
        <p:nvSpPr>
          <p:cNvPr id="4" name="Image background"/>
          <p:cNvSpPr/>
          <p:nvPr/>
        </p:nvSpPr>
        <p:spPr>
          <a:xfrm>
            <a:off x="1554480" y="1781175"/>
            <a:ext cx="6949440" cy="2714625"/>
          </a:xfrm>
          <a:prstGeom prst="rect">
            <a:avLst/>
          </a:prstGeom>
          <a:solidFill>
            <a:srgbClr val="122323"/>
          </a:solidFill>
          <a:ln>
            <a:noFill/>
          </a:ln>
        </p:spPr>
      </p:sp>
      <p:pic>
        <p:nvPicPr>
          <p:cNvPr id="5" name="e3a416f7af999aa267b26b235a9a87ce39013671fd2840fa5f9d8776e7e01026" descr="Recovery, quarantine and reconciliation are all legitimate outcomes of the same ingest job."/>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Rename → validated mapping, canary</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Unknown status → quarantine, owner</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Lost response → reconcile, hold the reservation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Run the design. The rename has contract evidence. The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conjured diff agent proposes copy-string; now reveal</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fixtures one at a time and let the room reject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one that must not be repaired. Passing both,</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policy permits a canary of that mapping version and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job continues for matching records.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The status change has no semantic evidence. The job</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isolates affected records, reports what is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incomplete, and hands an owner the samples and the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exact question.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provider timeout has an uncertain outcome. The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controller queries the saved job ID instead of</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submitting again, and where it cannot, it holds the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unresolved operation and its reservation.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Three events, three different right answers, none of</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them success or failure. If your dashboard only has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two states, it is hiding the most interesting one.</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12</a:t>
            </a:r>
            <a:endParaRPr lang="en-US" sz="975"/>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10 / 13    SOURCE SLIDE 11</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Compute Is a Tool Too</a:t>
            </a:r>
            <a:endParaRPr lang="en-US" sz="2550"/>
          </a:p>
        </p:txBody>
      </p:sp>
      <p:sp>
        <p:nvSpPr>
          <p:cNvPr id="4" name="Image background"/>
          <p:cNvSpPr/>
          <p:nvPr/>
        </p:nvSpPr>
        <p:spPr>
          <a:xfrm>
            <a:off x="1554480" y="1781175"/>
            <a:ext cx="6949440" cy="2714625"/>
          </a:xfrm>
          <a:prstGeom prst="rect">
            <a:avLst/>
          </a:prstGeom>
          <a:solidFill>
            <a:srgbClr val="122323"/>
          </a:solidFill>
          <a:ln>
            <a:noFill/>
          </a:ln>
        </p:spPr>
      </p:sp>
      <p:pic>
        <p:nvPicPr>
          <p:cNvPr id="5" name="af12d2cf4f8eb96ff7f1d48fcb5de85b6adf7e198168f7b8ebf9e8cb4eba2b66" descr="The orchestrator requests shape, size and duration inside a per-customer ceiling; the scheduler resolves it against a catalog and issues a lease."/>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Old: ops sizes the fleet for everyone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New: the job describes its shape and asks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Per-customer, per-job cost controls and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pay-for-performance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One more thing the orchestrator can conjure: compute.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Scaling is still an infra decision made once for</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everyone — replica counts, instance classes, an</a:t>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autoscaler watching CPU. The agent inverts that. It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knows this batch is mostly waiting on a provider,</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that eight sandboxes for six minutes would clear the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backlog, and what this customer's plan allows.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So it asks. The request names shape, size, duration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and a cost cap, charged to this job rather than a</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shared cluster. That is a new product surface: a</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customer buys a faster turnaround, and finance caps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one workflow instead of an environment.</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13</a:t>
            </a:r>
            <a:endParaRPr lang="en-US" sz="975"/>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11 / 13    SOURCE SLIDE 13</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Widen Per Class, Never Per Streak</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Shadow: propose, apply nothing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Canary: one reversible change class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Expand: from correct recoveries, false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repairs, cost, interventions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Start in shadow mode: the conjured agents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propose artifacts and apply none. Then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permit one reversible change class,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widen authority per class from evidence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about that class. Same discipline for tools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for compute. It is also the loop that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tunes its own fan-out: acceptance up and</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false repairs flat, that job class gets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more parallel attempts and a bigger budget;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false repairs up, both come down.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Watch for the failure Diane Vaughan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documented at NASA before Challenger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named normalization of deviance. Every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widening is locally reasonable. Each one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cites the last one as precedent. Nobody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ever decides to be reckless. That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exactly why authority expands per class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from measured outcomes for that class,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never from how the last six went.</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14</a:t>
            </a:r>
            <a:endParaRPr lang="en-US" sz="975"/>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12 / 13    SOURCE SLIDE 14</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Start smaller: remember what happened</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Before returning: check relevant memory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correct known mistakes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After execution: record checks, outcome,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correction and frequency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Generated, executed and verified are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different states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Memory is evidence, never permission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 do not need the whole agent factory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start. Take one agent that writes SQL 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runs shell commands. Give it working memory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for this job — goal, constraints, draft,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unresolved checks — and observational</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memory across jobs: what it generated, what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actually ran, what failed. Then make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consult that history before it hands you</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next answer.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Suppose a reporting query keeps forgetting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tenant filter. It runs perfectly well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reports the wrong population.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preflight check the agent did not write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rejects it before dispatch. Record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draft, the failed check, the correction.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Next time, retrieve that pattern while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agent is still drafting, fix the omission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before returning the SQL, and run the check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again. That is adaptive behavior built from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one agent and a small log.</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15</a:t>
            </a:r>
            <a:endParaRPr lang="en-US" sz="975"/>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13 / 13    SOURCE SLIDE 15</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The next surprise should cost less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Conjure exactly enough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Prove the repair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Remember the known case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return to the assistant with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everything. It is still coming; nothing 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these slides stops it, and I would not want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them to. What changed is how many of its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pathways are live at once. Not one agent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holding every combination, which nobody can</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check. Many small ones you can afford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Pick one integration that already costs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your team mornings. Give it a conjured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agent with a bounded way to investigate,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test it did not write, and a place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record what happened. Or start with one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reporting agent: keep its execution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observations, make it check them before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returning work, and measure whether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same mistake comes back. That is enough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start.</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16</a:t>
            </a:r>
            <a:endParaRPr lang="en-US" sz="975"/>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SOURCE REFERENCES</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References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Saltzer and Schroeder (1975),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Protection of Information in Computer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Systems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https://doi.org/10.1109/PROC.1975.9939),</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Proceedings of the IEEE 63(9), 1278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1308. Least privilege is their principle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Vaughan (1996), The Challenger Launch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Decision, University of Chicago Press, 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normalization of deviance.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17</a:t>
            </a:r>
            <a:endParaRPr lang="en-US" sz="975"/>
          </a:p>
        </p:txBody>
      </p:sp>
    </p:spTree>
  </p:cSld>
  <p:clrMapOvr>
    <a:masterClrMapping/>
  </p:clrMapOvr>
</p:sld>
</file>

<file path=ppt/theme/theme1.xml><?xml version="1.0" encoding="utf-8"?>
<a:theme xmlns:a="http://schemas.openxmlformats.org/drawingml/2006/main" name="Dan Levy talks">
  <a:themeElements>
    <a:clrScheme name="Talk palette">
      <a:dk1>
        <a:srgbClr val="202B33"/>
      </a:dk1>
      <a:lt1>
        <a:srgbClr val="FFFFFF"/>
      </a:lt1>
      <a:dk2>
        <a:srgbClr val="48555B"/>
      </a:dk2>
      <a:lt2>
        <a:srgbClr val="FAFAF7"/>
      </a:lt2>
      <a:accent1>
        <a:srgbClr val="246957"/>
      </a:accent1>
      <a:accent2>
        <a:srgbClr val="728482"/>
      </a:accent2>
      <a:accent3>
        <a:srgbClr val="53616F"/>
      </a:accent3>
      <a:accent4>
        <a:srgbClr val="9D7462"/>
      </a:accent4>
      <a:accent5>
        <a:srgbClr val="7D86A0"/>
      </a:accent5>
      <a:accent6>
        <a:srgbClr val="9E996B"/>
      </a:accent6>
      <a:hlink>
        <a:srgbClr val="246957"/>
      </a:hlink>
      <a:folHlink>
        <a:srgbClr val="925700"/>
      </a:folHlink>
    </a:clrScheme>
    <a:fontScheme name="Arial">
      <a:majorFont>
        <a:latin typeface="Arial"/>
        <a:ea typeface=""/>
        <a:cs typeface=""/>
      </a:majorFont>
      <a:minorFont>
        <a:latin typeface="Arial"/>
        <a:ea typeface=""/>
        <a:cs typeface=""/>
      </a:minorFont>
    </a:fontScheme>
    <a:fmtScheme name="Plain">
      <a:fillStyleLst>
        <a:solidFill>
          <a:schemeClr val="phClr"/>
        </a:solidFill>
        <a:solidFill>
          <a:schemeClr val="phClr"/>
        </a:solidFill>
        <a:solidFill>
          <a:schemeClr val="phClr"/>
        </a:solidFill>
      </a:fillStyleLst>
      <a:lnStyleLst>
        <a:ln w="9525">
          <a:solidFill>
            <a:schemeClr val="phClr"/>
          </a:solidFill>
          <a:prstDash val="solid"/>
        </a:ln>
        <a:ln w="9525">
          <a:solidFill>
            <a:schemeClr val="phClr"/>
          </a:solidFill>
          <a:prstDash val="solid"/>
        </a:ln>
        <a:ln w="95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Application>Talk package exporter</Application>
  <Slides>17</Slides>
  <Notes>17</Notes>
</Properties>
</file>

<file path=docProps/core.xml><?xml version="1.0" encoding="utf-8"?>
<cp:coreProperties xmlns:cp="http://schemas.openxmlformats.org/package/2006/metadata/core-properties" xmlns:dc="http://purl.org/dc/elements/1.1/" xmlns:dcterms="http://purl.org/dc/terms/" xmlns:xsi="http://www.w3.org/2001/XMLSchema-instance">
  <dc:title>Adaptive, agentic apps</dc:title>
  <dc:creator>Dan Levy</dc:creator>
  <dc:description>handout edition generated from current reviewed talk materials</dc:description>
  <dcterms:created xsi:type="dcterms:W3CDTF">2026-09-07T02:31:12Z</dcterms:created>
</cp:coreProperties>
</file>